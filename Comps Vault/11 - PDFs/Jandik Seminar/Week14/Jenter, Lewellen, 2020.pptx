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315" r:id="rId6"/>
    <p:sldId id="590" r:id="rId7"/>
    <p:sldId id="530" r:id="rId8"/>
    <p:sldId id="534" r:id="rId9"/>
    <p:sldId id="533" r:id="rId10"/>
    <p:sldId id="591" r:id="rId11"/>
    <p:sldId id="567" r:id="rId12"/>
    <p:sldId id="568" r:id="rId13"/>
    <p:sldId id="569" r:id="rId14"/>
    <p:sldId id="570" r:id="rId15"/>
    <p:sldId id="571" r:id="rId16"/>
    <p:sldId id="572" r:id="rId17"/>
    <p:sldId id="573" r:id="rId18"/>
    <p:sldId id="574" r:id="rId19"/>
    <p:sldId id="575" r:id="rId20"/>
    <p:sldId id="576" r:id="rId21"/>
    <p:sldId id="577" r:id="rId22"/>
    <p:sldId id="578" r:id="rId23"/>
    <p:sldId id="579" r:id="rId24"/>
    <p:sldId id="580" r:id="rId25"/>
    <p:sldId id="581" r:id="rId26"/>
    <p:sldId id="582" r:id="rId27"/>
    <p:sldId id="583" r:id="rId28"/>
    <p:sldId id="584" r:id="rId29"/>
    <p:sldId id="585" r:id="rId30"/>
    <p:sldId id="586" r:id="rId31"/>
    <p:sldId id="587" r:id="rId32"/>
    <p:sldId id="588" r:id="rId33"/>
    <p:sldId id="589" r:id="rId34"/>
    <p:sldId id="566" r:id="rId35"/>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590"/>
            <p14:sldId id="530"/>
            <p14:sldId id="534"/>
            <p14:sldId id="533"/>
            <p14:sldId id="591"/>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 id="586"/>
            <p14:sldId id="587"/>
            <p14:sldId id="588"/>
            <p14:sldId id="589"/>
            <p14:sldId id="566"/>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5" autoAdjust="0"/>
    <p:restoredTop sz="80131" autoAdjust="0"/>
  </p:normalViewPr>
  <p:slideViewPr>
    <p:cSldViewPr snapToGrid="0">
      <p:cViewPr varScale="1">
        <p:scale>
          <a:sx n="87" d="100"/>
          <a:sy n="87" d="100"/>
        </p:scale>
        <p:origin x="1243"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11/26/2024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a:t>
            </a:r>
          </a:p>
          <a:p>
            <a:r>
              <a:rPr lang="en-US" dirty="0">
                <a:effectLst/>
              </a:rPr>
              <a:t>This paper utilizes two primary models to examine the relationship between CEO turnover and firm performance. The first is a </a:t>
            </a:r>
            <a:r>
              <a:rPr lang="en-US" b="1" dirty="0">
                <a:effectLst/>
              </a:rPr>
              <a:t>standard probit model with performance decile indicators</a:t>
            </a:r>
            <a:r>
              <a:rPr lang="en-US" dirty="0">
                <a:effectLst/>
              </a:rPr>
              <a:t>1.</a:t>
            </a:r>
          </a:p>
          <a:p>
            <a:pPr algn="l"/>
            <a:r>
              <a:rPr lang="en-US" dirty="0">
                <a:effectLst/>
              </a:rPr>
              <a:t>○</a:t>
            </a:r>
          </a:p>
          <a:p>
            <a:r>
              <a:rPr lang="en-US" dirty="0">
                <a:effectLst/>
              </a:rPr>
              <a:t>This model assumes that the probability of performance-induced turnover is zero at a high performance threshold. Any turnover above that threshold is assumed to be unrelated to performance. The turnover rate at or above the threshold is then used to estimate the rate of "other" turnover1.</a:t>
            </a:r>
          </a:p>
          <a:p>
            <a:pPr algn="l"/>
            <a:r>
              <a:rPr lang="en-US" dirty="0">
                <a:effectLst/>
              </a:rPr>
              <a:t>○</a:t>
            </a:r>
          </a:p>
          <a:p>
            <a:r>
              <a:rPr lang="en-US" dirty="0">
                <a:effectLst/>
              </a:rPr>
              <a:t>The model has limitations as it only allows for a single performance measure and the estimated coefficients are not directly comparable to those from other models2.</a:t>
            </a:r>
          </a:p>
          <a:p>
            <a:pPr algn="l"/>
            <a:r>
              <a:rPr lang="en-US" dirty="0">
                <a:effectLst/>
              </a:rPr>
              <a:t>●</a:t>
            </a:r>
          </a:p>
          <a:p>
            <a:r>
              <a:rPr lang="en-US" dirty="0">
                <a:effectLst/>
              </a:rPr>
              <a:t>The second is a </a:t>
            </a:r>
            <a:r>
              <a:rPr lang="en-US" b="1" dirty="0">
                <a:effectLst/>
              </a:rPr>
              <a:t>two-probit model</a:t>
            </a:r>
            <a:r>
              <a:rPr lang="en-US" dirty="0">
                <a:effectLst/>
              </a:rPr>
              <a:t> that explicitly accounts for two separate turnover processes – one influenced by performance and one that isn't3.</a:t>
            </a:r>
          </a:p>
          <a:p>
            <a:pPr algn="l"/>
            <a:r>
              <a:rPr lang="en-US" dirty="0">
                <a:effectLst/>
              </a:rPr>
              <a:t>○</a:t>
            </a:r>
          </a:p>
          <a:p>
            <a:r>
              <a:rPr lang="en-US" dirty="0">
                <a:effectLst/>
              </a:rPr>
              <a:t>The first probit process estimates performance-induced turnover, while the second probit process estimates the rate of "other" turnover3.</a:t>
            </a:r>
          </a:p>
          <a:p>
            <a:pPr algn="l"/>
            <a:r>
              <a:rPr lang="en-US" dirty="0">
                <a:effectLst/>
              </a:rPr>
              <a:t>○</a:t>
            </a:r>
          </a:p>
          <a:p>
            <a:r>
              <a:rPr lang="en-US" dirty="0">
                <a:effectLst/>
              </a:rPr>
              <a:t>The two-probit model is more versatile as it can incorporate multiple performance measures and the coefficients can be used to test Bayesian learning models4.</a:t>
            </a:r>
          </a:p>
          <a:p>
            <a:pPr algn="l"/>
            <a:r>
              <a:rPr lang="en-US" dirty="0">
                <a:effectLst/>
              </a:rPr>
              <a:t>○</a:t>
            </a:r>
          </a:p>
          <a:p>
            <a:r>
              <a:rPr lang="en-US" dirty="0">
                <a:effectLst/>
              </a:rPr>
              <a:t>This model is more advantageous for estimating performance-induced turnover as it can accommodate multiple performance terms with differing weights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2794423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131314"/>
                </a:solidFill>
                <a:effectLst/>
                <a:latin typeface="Google Sans Text"/>
              </a:rPr>
              <a:t>Figure 1 from </a:t>
            </a:r>
            <a:r>
              <a:rPr lang="en-US" b="1" i="0" dirty="0" err="1">
                <a:solidFill>
                  <a:srgbClr val="131314"/>
                </a:solidFill>
                <a:effectLst/>
                <a:latin typeface="Google Sans Text"/>
              </a:rPr>
              <a:t>Jenter</a:t>
            </a:r>
            <a:r>
              <a:rPr lang="en-US" b="1" i="0" dirty="0">
                <a:solidFill>
                  <a:srgbClr val="131314"/>
                </a:solidFill>
                <a:effectLst/>
                <a:latin typeface="Google Sans Text"/>
              </a:rPr>
              <a:t> &amp; Lewellen (2020) illustrates how CEO turnover probability changes in response to firm performance.</a:t>
            </a:r>
            <a:r>
              <a:rPr lang="en-US" b="0" i="0" dirty="0">
                <a:solidFill>
                  <a:srgbClr val="131314"/>
                </a:solidFill>
                <a:effectLst/>
                <a:latin typeface="Google Sans Text"/>
              </a:rPr>
              <a:t> The horizontal axis in both panels represents firm performance, ranked into 20 percentiles based on industry-adjusted stock returns. The vertical axis indicates the annual probability of CEO turnover. Panel A examines all CEOs, showing that overall turnover ("All Turnover") increases as performance worsens. Importantly, both "Forced" and "Voluntary" turnover lines also slope downwards, indicating that even "voluntary" departures are more common after poor performance12.</a:t>
            </a:r>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a:p>
        </p:txBody>
      </p:sp>
    </p:spTree>
    <p:extLst>
      <p:ext uri="{BB962C8B-B14F-4D97-AF65-F5344CB8AC3E}">
        <p14:creationId xmlns:p14="http://schemas.microsoft.com/office/powerpoint/2010/main" val="986271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31314"/>
                </a:solidFill>
                <a:effectLst/>
                <a:latin typeface="Google Sans Text"/>
              </a:rPr>
              <a:t>Panel B focuses on CEOs aged 60 or older. Notably, the "Forced" turnover line is nearly flat, suggesting forced departures are less frequent in this age group2. However, the "All turnover" line maintains its downward slope, indicating that older CEOs are still susceptible to performance-related departures2. This difference highlights a central argument of the paper: </a:t>
            </a:r>
            <a:r>
              <a:rPr lang="en-US" b="1" i="0" dirty="0">
                <a:solidFill>
                  <a:srgbClr val="131314"/>
                </a:solidFill>
                <a:effectLst/>
                <a:latin typeface="Google Sans Text"/>
              </a:rPr>
              <a:t>classifications like "forced" vs. "voluntary" may not fully capture the influence of performance on CEO departures, especially for older CEOs who are less likely to be explicitly fired</a:t>
            </a:r>
            <a:r>
              <a:rPr lang="en-US" b="0" i="0" dirty="0">
                <a:solidFill>
                  <a:srgbClr val="131314"/>
                </a:solidFill>
                <a:effectLst/>
                <a:latin typeface="Google Sans Text"/>
              </a:rPr>
              <a:t>123</a:t>
            </a:r>
            <a:r>
              <a:rPr lang="en-US" b="1" i="0" dirty="0">
                <a:solidFill>
                  <a:srgbClr val="131314"/>
                </a:solidFill>
                <a:effectLst/>
                <a:latin typeface="Google Sans Text"/>
              </a:rPr>
              <a:t>.</a:t>
            </a:r>
            <a:r>
              <a:rPr lang="en-US" b="0" i="0" dirty="0">
                <a:solidFill>
                  <a:srgbClr val="131314"/>
                </a:solidFill>
                <a:effectLst/>
                <a:latin typeface="Google Sans Text"/>
              </a:rPr>
              <a:t> Many departures labeled "voluntary," particularly for older CEOs, might actually be triggered by poor performance, a phenomenon the authors term "performance-induced turnover"</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1194498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31314"/>
                </a:solidFill>
                <a:effectLst/>
                <a:latin typeface="Google Sans Text"/>
              </a:rPr>
              <a:t>Figure 2 from </a:t>
            </a:r>
            <a:r>
              <a:rPr lang="en-US" b="0" i="0" dirty="0" err="1">
                <a:solidFill>
                  <a:srgbClr val="131314"/>
                </a:solidFill>
                <a:effectLst/>
                <a:latin typeface="Google Sans Text"/>
              </a:rPr>
              <a:t>Jenter</a:t>
            </a:r>
            <a:r>
              <a:rPr lang="en-US" b="0" i="0" dirty="0">
                <a:solidFill>
                  <a:srgbClr val="131314"/>
                </a:solidFill>
                <a:effectLst/>
                <a:latin typeface="Google Sans Text"/>
              </a:rPr>
              <a:t> &amp; Lewellen (2020) visually represents the results of a simulated example designed to test two different methods for estimating "performance-induced" CEO turnover. </a:t>
            </a:r>
            <a:r>
              <a:rPr lang="en-US" b="1" i="0" dirty="0">
                <a:solidFill>
                  <a:srgbClr val="131314"/>
                </a:solidFill>
                <a:effectLst/>
                <a:latin typeface="Google Sans Text"/>
              </a:rPr>
              <a:t>This figure shows how accurately the two methods can identify which CEO departures were truly influenced by company performance</a:t>
            </a:r>
            <a:r>
              <a:rPr lang="en-US" b="0" i="0" dirty="0">
                <a:solidFill>
                  <a:srgbClr val="131314"/>
                </a:solidFill>
                <a:effectLst/>
                <a:latin typeface="Google Sans Text"/>
              </a:rPr>
              <a:t>.</a:t>
            </a:r>
          </a:p>
          <a:p>
            <a:endParaRPr lang="en-US" b="0" i="0" dirty="0">
              <a:solidFill>
                <a:srgbClr val="131314"/>
              </a:solidFill>
              <a:effectLst/>
              <a:latin typeface="Google Sans Text"/>
            </a:endParaRPr>
          </a:p>
          <a:p>
            <a:r>
              <a:rPr lang="en-US" dirty="0">
                <a:effectLst/>
              </a:rPr>
              <a:t>In this simulated example, the researchers created a scenario where they knew exactly which CEO departures were caused by poor performance and which were due to other factors. They then used their two estimation methods — a standard probit model with performance decile indicators and a two-probit model — to see how well each method could identify the "performance-induced" departures. </a:t>
            </a:r>
            <a:r>
              <a:rPr lang="en-US" b="1" dirty="0">
                <a:effectLst/>
              </a:rPr>
              <a:t>Figure 2 demonstrates that both methods are fairly accurate in capturing the relationship between performance and CEO turnover</a:t>
            </a:r>
            <a:r>
              <a:rPr lang="en-US" dirty="0">
                <a:effectLst/>
              </a:rPr>
              <a:t>, closely matching the actual turnover probabilities observed in the simulated data. </a:t>
            </a:r>
            <a:r>
              <a:rPr lang="en-US" b="1" dirty="0">
                <a:effectLst/>
              </a:rPr>
              <a:t>However, the two-probit model proves to be slightly more accurate, especially in identifying those performance-related departures that occur even when companies are performing relatively well</a:t>
            </a:r>
            <a:r>
              <a:rPr lang="en-US" dirty="0">
                <a:effectLst/>
              </a:rPr>
              <a:t>. This finding supports the authors' argument that a more nuanced approach, like the two-probit model, is necessary to fully understand the complex dynamics of CEO turnover.123</a:t>
            </a:r>
          </a:p>
          <a:p>
            <a:endParaRPr lang="en-US" b="0" i="0" dirty="0">
              <a:solidFill>
                <a:srgbClr val="131314"/>
              </a:solidFill>
              <a:effectLst/>
              <a:latin typeface="Google Sans Text"/>
            </a:endParaRPr>
          </a:p>
          <a:p>
            <a:endParaRPr lang="en-US" b="0" i="0" dirty="0">
              <a:solidFill>
                <a:srgbClr val="131314"/>
              </a:solidFill>
              <a:effectLst/>
              <a:latin typeface="Google Sans Tex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82087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Table 1 from </a:t>
            </a:r>
            <a:r>
              <a:rPr lang="en-US" b="1" dirty="0" err="1">
                <a:effectLst/>
              </a:rPr>
              <a:t>Jenter</a:t>
            </a:r>
            <a:r>
              <a:rPr lang="en-US" b="1" dirty="0">
                <a:effectLst/>
              </a:rPr>
              <a:t> &amp; Lewellen (2020) provides a detailed look at the results of the simulated example discussed in Figure 2, showcasing how well the authors' two methods for estimating "performance-induced" turnover perform when they know the true underlying causes of CEO departures.</a:t>
            </a:r>
            <a:r>
              <a:rPr lang="en-US" dirty="0">
                <a:effectLst/>
              </a:rPr>
              <a:t> The table is divided into two sections. The top section compares the estimated probabilities of performance-induced turnover obtained from the two methods (a standard probit model and a two-probit model) to the actual probabilities observed in the simulation. Each row in this section represents a different performance decile, with decile 1 representing the worst-performing companies and decile 10 representing the best. As you can see, both methods do a pretty good job of estimating the true probabilities, but the two-probit model consistently produces estimates that are closer to the actual values.</a:t>
            </a:r>
          </a:p>
          <a:p>
            <a:endParaRPr lang="en-US" dirty="0">
              <a:effectLst/>
            </a:endParaRPr>
          </a:p>
          <a:p>
            <a:r>
              <a:rPr lang="en-US" dirty="0">
                <a:effectLst/>
              </a:rPr>
              <a:t>The bottom section of Table 1 focuses on the estimated coefficients from the two-probit model. These coefficients represent the sensitivity of CEO turnover to changes in firm performance. Again, </a:t>
            </a:r>
            <a:r>
              <a:rPr lang="en-US" b="1" dirty="0">
                <a:effectLst/>
              </a:rPr>
              <a:t>the results demonstrate that the two-probit model can accurately recover the true parameters used in the simulation</a:t>
            </a:r>
            <a:r>
              <a:rPr lang="en-US" dirty="0">
                <a:effectLst/>
              </a:rPr>
              <a:t>. This accuracy is critical for the authors' broader argument because it provides confidence that the two-probit model can be used to reliably estimate performance-induced turnover in real-world data, where the true causes of CEO departures are not known. By demonstrating the effectiveness of their method in a controlled setting, </a:t>
            </a:r>
            <a:r>
              <a:rPr lang="en-US" dirty="0" err="1">
                <a:effectLst/>
              </a:rPr>
              <a:t>Jenter</a:t>
            </a:r>
            <a:r>
              <a:rPr lang="en-US" dirty="0">
                <a:effectLst/>
              </a:rPr>
              <a:t> &amp; Lewellen lay the groundwork for applying their insights to real companies and CEOs, ultimately leading to a more accurate understanding of the factors driving CEO turnover.</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843602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131314"/>
                </a:solidFill>
                <a:effectLst/>
                <a:latin typeface="Google Sans Text"/>
              </a:rPr>
              <a:t>it introduces us to the data they used to study CEO turnover.</a:t>
            </a:r>
            <a:r>
              <a:rPr lang="en-US" b="0" i="0" dirty="0">
                <a:solidFill>
                  <a:srgbClr val="131314"/>
                </a:solidFill>
                <a:effectLst/>
                <a:latin typeface="Google Sans Text"/>
              </a:rPr>
              <a:t> Think of it as a snapshot of the companies and CEOs included in their analysis.</a:t>
            </a:r>
          </a:p>
          <a:p>
            <a:endParaRPr lang="en-US" b="0" i="0" dirty="0">
              <a:solidFill>
                <a:srgbClr val="131314"/>
              </a:solidFill>
              <a:effectLst/>
              <a:latin typeface="Google Sans Text"/>
            </a:endParaRPr>
          </a:p>
          <a:p>
            <a:r>
              <a:rPr lang="en-US" b="0" i="0" dirty="0">
                <a:solidFill>
                  <a:srgbClr val="131314"/>
                </a:solidFill>
                <a:effectLst/>
                <a:latin typeface="Google Sans Text"/>
              </a:rPr>
              <a:t>The authors built their sample using data from </a:t>
            </a:r>
            <a:r>
              <a:rPr lang="en-US" b="1" i="0" dirty="0">
                <a:solidFill>
                  <a:srgbClr val="131314"/>
                </a:solidFill>
                <a:effectLst/>
                <a:latin typeface="Google Sans Text"/>
              </a:rPr>
              <a:t>Standard &amp; </a:t>
            </a:r>
            <a:r>
              <a:rPr lang="en-US" b="1" i="0" dirty="0" err="1">
                <a:solidFill>
                  <a:srgbClr val="131314"/>
                </a:solidFill>
                <a:effectLst/>
                <a:latin typeface="Google Sans Text"/>
              </a:rPr>
              <a:t>Poors</a:t>
            </a:r>
            <a:r>
              <a:rPr lang="en-US" b="1" i="0" dirty="0">
                <a:solidFill>
                  <a:srgbClr val="131314"/>
                </a:solidFill>
                <a:effectLst/>
                <a:latin typeface="Google Sans Text"/>
              </a:rPr>
              <a:t> </a:t>
            </a:r>
            <a:r>
              <a:rPr lang="en-US" b="1" i="0" dirty="0" err="1">
                <a:solidFill>
                  <a:srgbClr val="131314"/>
                </a:solidFill>
                <a:effectLst/>
                <a:latin typeface="Google Sans Text"/>
              </a:rPr>
              <a:t>ExecuComp</a:t>
            </a:r>
            <a:r>
              <a:rPr lang="en-US" b="1" i="0" dirty="0">
                <a:solidFill>
                  <a:srgbClr val="131314"/>
                </a:solidFill>
                <a:effectLst/>
                <a:latin typeface="Google Sans Text"/>
              </a:rPr>
              <a:t> database, a treasure trove of information about top executives in large US companies.</a:t>
            </a:r>
            <a:r>
              <a:rPr lang="en-US" b="0" i="0" dirty="0">
                <a:solidFill>
                  <a:srgbClr val="131314"/>
                </a:solidFill>
                <a:effectLst/>
                <a:latin typeface="Google Sans Text"/>
              </a:rPr>
              <a:t> They focused on the period from </a:t>
            </a:r>
            <a:r>
              <a:rPr lang="en-US" b="1" i="0" dirty="0">
                <a:solidFill>
                  <a:srgbClr val="131314"/>
                </a:solidFill>
                <a:effectLst/>
                <a:latin typeface="Google Sans Text"/>
              </a:rPr>
              <a:t>1993 to 2011</a:t>
            </a:r>
            <a:r>
              <a:rPr lang="en-US" b="0" i="0" dirty="0">
                <a:solidFill>
                  <a:srgbClr val="131314"/>
                </a:solidFill>
                <a:effectLst/>
                <a:latin typeface="Google Sans Text"/>
              </a:rPr>
              <a:t> – a pretty substantial chunk of time that captures a lot of economic ups and downs. They also carefully verified each instance of CEO turnover using news articles from </a:t>
            </a:r>
            <a:r>
              <a:rPr lang="en-US" b="1" i="0" dirty="0">
                <a:solidFill>
                  <a:srgbClr val="131314"/>
                </a:solidFill>
                <a:effectLst/>
                <a:latin typeface="Google Sans Text"/>
              </a:rPr>
              <a:t>Factiva, a powerful database for business research</a:t>
            </a:r>
            <a:r>
              <a:rPr lang="en-US" b="0" i="0" dirty="0">
                <a:solidFill>
                  <a:srgbClr val="131314"/>
                </a:solidFill>
                <a:effectLst/>
                <a:latin typeface="Google Sans Text"/>
              </a:rPr>
              <a:t>. This verification process ensures that they're working with accurate and reliable information. Why is this so important? Well, </a:t>
            </a:r>
            <a:r>
              <a:rPr lang="en-US" b="1" i="0" dirty="0">
                <a:solidFill>
                  <a:srgbClr val="131314"/>
                </a:solidFill>
                <a:effectLst/>
                <a:latin typeface="Google Sans Text"/>
              </a:rPr>
              <a:t>if the data is flawed, any conclusions drawn from it could be misleading.</a:t>
            </a:r>
            <a:r>
              <a:rPr lang="en-US" b="0" i="0" dirty="0">
                <a:solidFill>
                  <a:srgbClr val="131314"/>
                </a:solidFill>
                <a:effectLst/>
                <a:latin typeface="Google Sans Text"/>
              </a:rPr>
              <a:t> The authors are demonstrating their commitment to rigorous research by being transparent about their data sources and the steps they took to clean and verify the information.</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1332022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You're right, Table 3, Panel A is where </a:t>
            </a:r>
            <a:r>
              <a:rPr lang="en-US" dirty="0" err="1">
                <a:effectLst/>
              </a:rPr>
              <a:t>Jenter</a:t>
            </a:r>
            <a:r>
              <a:rPr lang="en-US" dirty="0">
                <a:effectLst/>
              </a:rPr>
              <a:t> &amp; Lewellen (2020) really get down to business! They've laid the groundwork by explaining their concept of performance-induced CEO turnover, and they've shown us the data they're working with. </a:t>
            </a:r>
            <a:r>
              <a:rPr lang="en-US" b="1" dirty="0">
                <a:effectLst/>
              </a:rPr>
              <a:t>Now, they're using a statistical model (a probit regression) to test whether poor company performance actually leads to CEO departures</a:t>
            </a:r>
            <a:r>
              <a:rPr lang="en-US" dirty="0">
                <a:effectLst/>
              </a:rPr>
              <a:t>.</a:t>
            </a:r>
          </a:p>
          <a:p>
            <a:r>
              <a:rPr lang="en-US" dirty="0">
                <a:effectLst/>
              </a:rPr>
              <a:t>The dependent variable in these regressions is </a:t>
            </a:r>
            <a:r>
              <a:rPr lang="en-US" b="1" dirty="0">
                <a:effectLst/>
              </a:rPr>
              <a:t>an indicator variable that equals 1 if the CEO left the company during that particular tenure year, and 0 if they stayed</a:t>
            </a:r>
            <a:r>
              <a:rPr lang="en-US" dirty="0">
                <a:effectLst/>
              </a:rPr>
              <a:t>. This means the researchers are looking at </a:t>
            </a:r>
            <a:r>
              <a:rPr lang="en-US" b="1" dirty="0">
                <a:effectLst/>
              </a:rPr>
              <a:t>whether or not a turnover occurred in a given year</a:t>
            </a:r>
            <a:r>
              <a:rPr lang="en-US" dirty="0">
                <a:effectLst/>
              </a:rPr>
              <a:t>, rather than just the CEO's overall tenure at the company. They are trying to see if </a:t>
            </a:r>
            <a:r>
              <a:rPr lang="en-US" b="1" dirty="0">
                <a:effectLst/>
              </a:rPr>
              <a:t>bad performance in a particular year increases the chances of the CEO leaving in that same year</a:t>
            </a:r>
            <a:r>
              <a:rPr lang="en-US" dirty="0">
                <a:effectLst/>
              </a:rPr>
              <a:t>.</a:t>
            </a:r>
          </a:p>
          <a:p>
            <a:br>
              <a:rPr lang="en-US" dirty="0"/>
            </a:br>
            <a:r>
              <a:rPr lang="en-US" dirty="0">
                <a:effectLst/>
              </a:rPr>
              <a:t>Again, </a:t>
            </a:r>
            <a:r>
              <a:rPr lang="en-US" b="1" dirty="0">
                <a:effectLst/>
              </a:rPr>
              <a:t>the bolded numbers in Table 3, Panel A represent the coefficients for each decile of the company's stock price performance</a:t>
            </a:r>
            <a:r>
              <a:rPr lang="en-US" dirty="0">
                <a:effectLst/>
              </a:rPr>
              <a:t>. The authors use four different models to measure performance:</a:t>
            </a:r>
          </a:p>
          <a:p>
            <a:pPr algn="l"/>
            <a:r>
              <a:rPr lang="en-US" dirty="0">
                <a:effectLst/>
              </a:rPr>
              <a:t>●</a:t>
            </a:r>
          </a:p>
          <a:p>
            <a:r>
              <a:rPr lang="en-US" dirty="0">
                <a:effectLst/>
              </a:rPr>
              <a:t>Model 1: Average stock return from the year </a:t>
            </a:r>
            <a:r>
              <a:rPr lang="en-US" i="1" dirty="0">
                <a:effectLst/>
              </a:rPr>
              <a:t>before</a:t>
            </a:r>
            <a:r>
              <a:rPr lang="en-US" dirty="0">
                <a:effectLst/>
              </a:rPr>
              <a:t> the CEO's tenure began through the year of potential turnover</a:t>
            </a:r>
          </a:p>
          <a:p>
            <a:pPr algn="l"/>
            <a:r>
              <a:rPr lang="en-US" dirty="0">
                <a:effectLst/>
              </a:rPr>
              <a:t>●</a:t>
            </a:r>
          </a:p>
          <a:p>
            <a:r>
              <a:rPr lang="en-US" dirty="0">
                <a:effectLst/>
              </a:rPr>
              <a:t>Model 2: Average stock return from </a:t>
            </a:r>
            <a:r>
              <a:rPr lang="en-US" i="1" dirty="0">
                <a:effectLst/>
              </a:rPr>
              <a:t>two years</a:t>
            </a:r>
            <a:r>
              <a:rPr lang="en-US" dirty="0">
                <a:effectLst/>
              </a:rPr>
              <a:t> before tenure began through the year of potential turnover</a:t>
            </a:r>
          </a:p>
          <a:p>
            <a:pPr algn="l"/>
            <a:r>
              <a:rPr lang="en-US" dirty="0">
                <a:effectLst/>
              </a:rPr>
              <a:t>●</a:t>
            </a:r>
          </a:p>
          <a:p>
            <a:r>
              <a:rPr lang="en-US" dirty="0">
                <a:effectLst/>
              </a:rPr>
              <a:t>Model 3: Average stock return from </a:t>
            </a:r>
            <a:r>
              <a:rPr lang="en-US" i="1" dirty="0">
                <a:effectLst/>
              </a:rPr>
              <a:t>three years</a:t>
            </a:r>
            <a:r>
              <a:rPr lang="en-US" dirty="0">
                <a:effectLst/>
              </a:rPr>
              <a:t> before tenure began through the year of potential turnover</a:t>
            </a:r>
          </a:p>
          <a:p>
            <a:pPr algn="l"/>
            <a:r>
              <a:rPr lang="en-US" dirty="0">
                <a:effectLst/>
              </a:rPr>
              <a:t>●</a:t>
            </a:r>
          </a:p>
          <a:p>
            <a:r>
              <a:rPr lang="en-US" dirty="0">
                <a:effectLst/>
              </a:rPr>
              <a:t>Model 4: Average stock return over the CEO's </a:t>
            </a:r>
            <a:r>
              <a:rPr lang="en-US" i="1" dirty="0">
                <a:effectLst/>
              </a:rPr>
              <a:t>entire tenure</a:t>
            </a:r>
            <a:r>
              <a:rPr lang="en-US" dirty="0">
                <a:effectLst/>
              </a:rPr>
              <a:t> up to and including the year of potential turnover</a:t>
            </a:r>
          </a:p>
          <a:p>
            <a:r>
              <a:rPr lang="en-US" dirty="0">
                <a:effectLst/>
              </a:rPr>
              <a:t>As you pointed out, </a:t>
            </a:r>
            <a:r>
              <a:rPr lang="en-US" b="1" dirty="0">
                <a:effectLst/>
              </a:rPr>
              <a:t>the coefficients become increasingly negative as performance worsens</a:t>
            </a:r>
            <a:r>
              <a:rPr lang="en-US" dirty="0">
                <a:effectLst/>
              </a:rPr>
              <a:t> – meaning that </a:t>
            </a:r>
            <a:r>
              <a:rPr lang="en-US" b="1" dirty="0">
                <a:effectLst/>
              </a:rPr>
              <a:t>CEOs of companies with poor stock performance are much more likely to leave their positions.</a:t>
            </a:r>
            <a:r>
              <a:rPr lang="en-US" dirty="0">
                <a:effectLst/>
              </a:rPr>
              <a:t> This finding, again, supports the authors' central argument that </a:t>
            </a:r>
            <a:r>
              <a:rPr lang="en-US" b="1" dirty="0">
                <a:effectLst/>
              </a:rPr>
              <a:t>boards pay close attention to performance</a:t>
            </a:r>
            <a:r>
              <a:rPr lang="en-US" dirty="0">
                <a:effectLst/>
              </a:rPr>
              <a:t> and are more likely to replace CEOs who aren't delivering the goods for shareholders.1</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3283567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Table 3, Panel B shifts from the raw regression results to the </a:t>
            </a:r>
            <a:r>
              <a:rPr lang="en-US" b="1" dirty="0">
                <a:effectLst/>
              </a:rPr>
              <a:t>implied turnover probabilities</a:t>
            </a:r>
            <a:r>
              <a:rPr lang="en-US" dirty="0">
                <a:effectLst/>
              </a:rPr>
              <a:t>, which are </a:t>
            </a:r>
            <a:r>
              <a:rPr lang="en-US" b="1" dirty="0">
                <a:effectLst/>
              </a:rPr>
              <a:t>calculated from the coefficient estimates shown in Panel A</a:t>
            </a:r>
            <a:r>
              <a:rPr lang="en-US" dirty="0">
                <a:effectLst/>
              </a:rPr>
              <a:t>. These probabilities provide a more intuitive understanding of the relationship between company performance and CEO turnover. </a:t>
            </a:r>
            <a:r>
              <a:rPr lang="en-US" b="1" dirty="0">
                <a:effectLst/>
              </a:rPr>
              <a:t>The authors included this panel to illustrate the practical implications of their statistical models</a:t>
            </a:r>
            <a:r>
              <a:rPr lang="en-US" dirty="0">
                <a:effectLst/>
              </a:rPr>
              <a:t>. Instead of just seeing coefficients, we can see how changes in stock performance actually translate into different likelihoods of CEO departures.</a:t>
            </a:r>
          </a:p>
          <a:p>
            <a:r>
              <a:rPr lang="en-US" dirty="0">
                <a:effectLst/>
              </a:rPr>
              <a:t>The </a:t>
            </a:r>
            <a:r>
              <a:rPr lang="en-US" b="1" dirty="0">
                <a:effectLst/>
              </a:rPr>
              <a:t>independent variables are still the different measures of stock performance</a:t>
            </a:r>
            <a:r>
              <a:rPr lang="en-US" dirty="0">
                <a:effectLst/>
              </a:rPr>
              <a:t>, categorized into deciles. The </a:t>
            </a:r>
            <a:r>
              <a:rPr lang="en-US" b="1" dirty="0">
                <a:effectLst/>
              </a:rPr>
              <a:t>dependent variables, however, are now the implied probabilities of different types of turnover</a:t>
            </a:r>
            <a:r>
              <a:rPr lang="en-US" dirty="0">
                <a:effectLst/>
              </a:rPr>
              <a:t>. The researchers calculate these probabilities based on the regression results and the assumption that turnover above the 90th percentile is unrelated to performance (what they call "other" turnover). The panel then breaks down the overall turnover probability for each decile into </a:t>
            </a:r>
            <a:r>
              <a:rPr lang="en-US" b="1" dirty="0">
                <a:effectLst/>
              </a:rPr>
              <a:t>two components: performance-induced turnover and "other" turnover.</a:t>
            </a:r>
            <a:endParaRPr lang="en-US" dirty="0">
              <a:effectLst/>
            </a:endParaRPr>
          </a:p>
          <a:p>
            <a:br>
              <a:rPr lang="en-US" dirty="0"/>
            </a:br>
            <a:br>
              <a:rPr lang="en-US" dirty="0"/>
            </a:br>
            <a:r>
              <a:rPr lang="en-US" dirty="0">
                <a:effectLst/>
              </a:rPr>
              <a:t>"Alright, so Table 3, Panel B shows us what the results from Panel A actually mean in the real world. Instead of just looking at coefficients, </a:t>
            </a:r>
            <a:r>
              <a:rPr lang="en-US" b="1" dirty="0">
                <a:effectLst/>
              </a:rPr>
              <a:t>we can now see the actual percentage chance that a CEO will leave the company based on their company's stock performance</a:t>
            </a:r>
            <a:r>
              <a:rPr lang="en-US" dirty="0">
                <a:effectLst/>
              </a:rPr>
              <a:t>. Remember, the researchers are using a statistical model to estimate these probabilities. </a:t>
            </a:r>
            <a:r>
              <a:rPr lang="en-US" b="1" dirty="0">
                <a:effectLst/>
              </a:rPr>
              <a:t>They are assuming that any CEO turnover in companies with really good stock performance – above the 90th percentile – is not due to performance issues, but rather other factors, like retirement or personal reasons</a:t>
            </a:r>
            <a:r>
              <a:rPr lang="en-US" dirty="0">
                <a:effectLst/>
              </a:rPr>
              <a:t>. They call this "other" turnover.</a:t>
            </a:r>
          </a:p>
          <a:p>
            <a:r>
              <a:rPr lang="en-US" b="1" dirty="0">
                <a:effectLst/>
              </a:rPr>
              <a:t>The table shows that the overall probability of a CEO leaving the company increases dramatically as performance gets worse.</a:t>
            </a:r>
            <a:r>
              <a:rPr lang="en-US" dirty="0">
                <a:effectLst/>
              </a:rPr>
              <a:t> For example, if we look at Model 2 (which looks at stock returns over the two years before the CEO's tenure began), the overall turnover probability is about </a:t>
            </a:r>
            <a:r>
              <a:rPr lang="en-US" b="1" dirty="0">
                <a:effectLst/>
              </a:rPr>
              <a:t>8%</a:t>
            </a:r>
            <a:r>
              <a:rPr lang="en-US" dirty="0">
                <a:effectLst/>
              </a:rPr>
              <a:t> for companies in the top performance decile, but jumps to almost </a:t>
            </a:r>
            <a:r>
              <a:rPr lang="en-US" b="1" dirty="0">
                <a:effectLst/>
              </a:rPr>
              <a:t>19%</a:t>
            </a:r>
            <a:r>
              <a:rPr lang="en-US" dirty="0">
                <a:effectLst/>
              </a:rPr>
              <a:t> for companies in the bottom decile. </a:t>
            </a:r>
            <a:r>
              <a:rPr lang="en-US" b="1" dirty="0">
                <a:effectLst/>
              </a:rPr>
              <a:t>But here's the interesting part: this increase is almost entirely driven by what the authors call performance-induced turnover – meaning turnover that is likely caused by the company's bad performance</a:t>
            </a:r>
            <a:r>
              <a:rPr lang="en-US" dirty="0">
                <a:effectLst/>
              </a:rPr>
              <a:t>. This suggests that </a:t>
            </a:r>
            <a:r>
              <a:rPr lang="en-US" b="1" dirty="0">
                <a:effectLst/>
              </a:rPr>
              <a:t>boards are actively replacing CEOs when their companies are underperforming, even if those departures are not officially classified as "forced."</a:t>
            </a:r>
            <a:r>
              <a:rPr lang="en-US" dirty="0">
                <a:effectLst/>
              </a:rPr>
              <a: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1849399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Table 4, Panel A might seem a bit intimidating at first glance, but it's really just a more refined way of looking at the same question we explored in Table 3 – </a:t>
            </a:r>
            <a:r>
              <a:rPr lang="en-US" b="1" dirty="0">
                <a:effectLst/>
              </a:rPr>
              <a:t>how does company performance affect the likelihood of a CEO leaving?</a:t>
            </a:r>
            <a:r>
              <a:rPr lang="en-US" dirty="0">
                <a:effectLst/>
              </a:rPr>
              <a:t> This time, the authors are using a statistical technique called a "two-probit model," which </a:t>
            </a:r>
            <a:r>
              <a:rPr lang="en-US" b="1" dirty="0">
                <a:effectLst/>
              </a:rPr>
              <a:t>allows them to estimate the probability of performance-induced turnover more directly without having to rely on arbitrary performance thresholds</a:t>
            </a:r>
            <a:r>
              <a:rPr lang="en-US" dirty="0">
                <a:effectLst/>
              </a:rPr>
              <a:t>.</a:t>
            </a:r>
          </a:p>
          <a:p>
            <a:r>
              <a:rPr lang="en-US" dirty="0">
                <a:effectLst/>
              </a:rPr>
              <a:t>Think of it like this: they're essentially running two separate models. </a:t>
            </a:r>
            <a:r>
              <a:rPr lang="en-US" b="1" dirty="0">
                <a:effectLst/>
              </a:rPr>
              <a:t>The first model (</a:t>
            </a:r>
            <a:r>
              <a:rPr lang="en-US" b="1" dirty="0" err="1">
                <a:effectLst/>
              </a:rPr>
              <a:t>Pperf</a:t>
            </a:r>
            <a:r>
              <a:rPr lang="en-US" b="1" dirty="0">
                <a:effectLst/>
              </a:rPr>
              <a:t>–</a:t>
            </a:r>
            <a:r>
              <a:rPr lang="en-US" b="1" dirty="0" err="1">
                <a:effectLst/>
              </a:rPr>
              <a:t>ind</a:t>
            </a:r>
            <a:r>
              <a:rPr lang="en-US" b="1" dirty="0">
                <a:effectLst/>
              </a:rPr>
              <a:t>) focuses specifically on how bad performance increases the chances of a CEO leaving</a:t>
            </a:r>
            <a:r>
              <a:rPr lang="en-US" dirty="0">
                <a:effectLst/>
              </a:rPr>
              <a:t>. It includes the same kind of stock performance measures we saw in Table 3, along with some standard control variables. </a:t>
            </a:r>
            <a:r>
              <a:rPr lang="en-US" b="1" dirty="0">
                <a:effectLst/>
              </a:rPr>
              <a:t>The second model (Pother) looks at factors </a:t>
            </a:r>
            <a:r>
              <a:rPr lang="en-US" b="1" i="1" dirty="0">
                <a:effectLst/>
              </a:rPr>
              <a:t>other than</a:t>
            </a:r>
            <a:r>
              <a:rPr lang="en-US" b="1" dirty="0">
                <a:effectLst/>
              </a:rPr>
              <a:t> performance that might lead to a CEO leaving</a:t>
            </a:r>
            <a:r>
              <a:rPr lang="en-US" dirty="0">
                <a:effectLst/>
              </a:rPr>
              <a:t>, things like age, retirement patterns, and other company characteristics. By comparing the results of these two models, the authors can </a:t>
            </a:r>
            <a:r>
              <a:rPr lang="en-US" b="1" dirty="0">
                <a:effectLst/>
              </a:rPr>
              <a:t>tease out the specific impact of poor performance on CEO turnover</a:t>
            </a:r>
            <a:r>
              <a:rPr lang="en-US" dirty="0">
                <a:effectLst/>
              </a:rPr>
              <a:t>.</a:t>
            </a:r>
          </a:p>
          <a:p>
            <a:endParaRPr lang="en-US" dirty="0">
              <a:effectLst/>
            </a:endParaRPr>
          </a:p>
          <a:p>
            <a:r>
              <a:rPr lang="en-US" dirty="0">
                <a:effectLst/>
              </a:rPr>
              <a:t>The authors included this second model to address some limitations of the standard probit model, which requires choosing an arbitrary performance threshold (the 90th percentile in Table 3) above which all turnovers are assumed to be unrelated to performance.</a:t>
            </a:r>
          </a:p>
          <a:p>
            <a:r>
              <a:rPr lang="en-US" dirty="0">
                <a:effectLst/>
              </a:rPr>
              <a:t>The dependent variable in both probit equations is the same as in Table 3 – </a:t>
            </a:r>
            <a:r>
              <a:rPr lang="en-US" b="1" dirty="0">
                <a:effectLst/>
              </a:rPr>
              <a:t>an indicator variable equal to 1 if the CEO left the company during that tenure year, and 0 if they stayed.</a:t>
            </a:r>
            <a:r>
              <a:rPr lang="en-US" dirty="0">
                <a:effectLst/>
              </a:rPr>
              <a:t> However, the independent variables differ between the two equations. The first probit equation (labeled "</a:t>
            </a:r>
            <a:r>
              <a:rPr lang="en-US" dirty="0" err="1">
                <a:effectLst/>
              </a:rPr>
              <a:t>Pperf</a:t>
            </a:r>
            <a:r>
              <a:rPr lang="en-US" dirty="0">
                <a:effectLst/>
              </a:rPr>
              <a:t>–</a:t>
            </a:r>
            <a:r>
              <a:rPr lang="en-US" dirty="0" err="1">
                <a:effectLst/>
              </a:rPr>
              <a:t>ind</a:t>
            </a:r>
            <a:r>
              <a:rPr lang="en-US" dirty="0">
                <a:effectLst/>
              </a:rPr>
              <a:t>" in the table) includes measures of the firm's stock price performance along with other control variables, allowing the researchers to estimate the probability of performance-induced turnover. The second probit equation (labeled "Pother") focuses on factors unrelated to performance, such as CEO age and retirement patterns, to estimate the probability of "other" turnover.</a:t>
            </a:r>
          </a:p>
          <a:p>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1443353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1.</a:t>
            </a:r>
          </a:p>
          <a:p>
            <a:r>
              <a:rPr lang="en-US" b="1" dirty="0">
                <a:effectLst/>
              </a:rPr>
              <a:t>High-level summary of the table:</a:t>
            </a:r>
            <a:r>
              <a:rPr lang="en-US" dirty="0">
                <a:effectLst/>
              </a:rPr>
              <a:t> Table 4, Panel B presents the </a:t>
            </a:r>
            <a:r>
              <a:rPr lang="en-US" b="1" dirty="0">
                <a:effectLst/>
              </a:rPr>
              <a:t>model-implied probabilities of CEO turnover</a:t>
            </a:r>
            <a:r>
              <a:rPr lang="en-US" dirty="0">
                <a:effectLst/>
              </a:rPr>
              <a:t> based on the two-probit model estimates from Panel A. The table shows the </a:t>
            </a:r>
            <a:r>
              <a:rPr lang="en-US" b="1" dirty="0">
                <a:effectLst/>
              </a:rPr>
              <a:t>estimated probability of a CEO leaving the company</a:t>
            </a:r>
            <a:r>
              <a:rPr lang="en-US" dirty="0">
                <a:effectLst/>
              </a:rPr>
              <a:t> for each performance percentile, along with a </a:t>
            </a:r>
            <a:r>
              <a:rPr lang="en-US" b="1" dirty="0">
                <a:effectLst/>
              </a:rPr>
              <a:t>breakdown of those probabilities into performance-induced turnover and "other" turnover</a:t>
            </a:r>
            <a:r>
              <a:rPr lang="en-US" dirty="0">
                <a:effectLst/>
              </a:rPr>
              <a:t>.1</a:t>
            </a:r>
          </a:p>
          <a:p>
            <a:pPr algn="l"/>
            <a:r>
              <a:rPr lang="en-US" dirty="0">
                <a:effectLst/>
              </a:rPr>
              <a:t>2.</a:t>
            </a:r>
          </a:p>
          <a:p>
            <a:r>
              <a:rPr lang="en-US" b="1" dirty="0">
                <a:effectLst/>
              </a:rPr>
              <a:t>How the table fits in the overall narrative, why they included it:</a:t>
            </a:r>
            <a:r>
              <a:rPr lang="en-US" dirty="0">
                <a:effectLst/>
              </a:rPr>
              <a:t> This table </a:t>
            </a:r>
            <a:r>
              <a:rPr lang="en-US" b="1" dirty="0">
                <a:effectLst/>
              </a:rPr>
              <a:t>serves a similar purpose to Table 3, Panel B</a:t>
            </a:r>
            <a:r>
              <a:rPr lang="en-US" dirty="0">
                <a:effectLst/>
              </a:rPr>
              <a:t>, providing a more concrete and interpretable way to understand the results of the statistical models. The authors included this panel to </a:t>
            </a:r>
            <a:r>
              <a:rPr lang="en-US" b="1" dirty="0">
                <a:effectLst/>
              </a:rPr>
              <a:t>demonstrate the magnitude of the relationship between company performance and CEO turnover</a:t>
            </a:r>
            <a:r>
              <a:rPr lang="en-US" dirty="0">
                <a:effectLst/>
              </a:rPr>
              <a:t>, showing that </a:t>
            </a:r>
            <a:r>
              <a:rPr lang="en-US" b="1" dirty="0">
                <a:effectLst/>
              </a:rPr>
              <a:t>the likelihood of a CEO departing increases substantially as performance worsens</a:t>
            </a:r>
            <a:r>
              <a:rPr lang="en-US" dirty="0">
                <a:effectLst/>
              </a:rPr>
              <a:t>.12</a:t>
            </a:r>
          </a:p>
          <a:p>
            <a:pPr algn="l"/>
            <a:r>
              <a:rPr lang="en-US" dirty="0">
                <a:effectLst/>
              </a:rPr>
              <a:t>3.</a:t>
            </a:r>
          </a:p>
          <a:p>
            <a:r>
              <a:rPr lang="en-US" b="1" dirty="0">
                <a:effectLst/>
              </a:rPr>
              <a:t>What the independent and dependent variables are:</a:t>
            </a:r>
            <a:endParaRPr lang="en-US" dirty="0">
              <a:effectLst/>
            </a:endParaRPr>
          </a:p>
          <a:p>
            <a:pPr algn="l"/>
            <a:r>
              <a:rPr lang="en-US" dirty="0">
                <a:effectLst/>
              </a:rPr>
              <a:t>○</a:t>
            </a:r>
          </a:p>
          <a:p>
            <a:r>
              <a:rPr lang="en-US" b="1" dirty="0">
                <a:effectLst/>
              </a:rPr>
              <a:t>Independent variables:</a:t>
            </a:r>
            <a:r>
              <a:rPr lang="en-US" dirty="0">
                <a:effectLst/>
              </a:rPr>
              <a:t> The independent variables are </a:t>
            </a:r>
            <a:r>
              <a:rPr lang="en-US" b="1" dirty="0">
                <a:effectLst/>
              </a:rPr>
              <a:t>percentiles of the company's stock price performance</a:t>
            </a:r>
            <a:r>
              <a:rPr lang="en-US" dirty="0">
                <a:effectLst/>
              </a:rPr>
              <a:t>.1</a:t>
            </a:r>
          </a:p>
          <a:p>
            <a:pPr algn="l"/>
            <a:r>
              <a:rPr lang="en-US" dirty="0">
                <a:effectLst/>
              </a:rPr>
              <a:t>○</a:t>
            </a:r>
          </a:p>
          <a:p>
            <a:r>
              <a:rPr lang="en-US" b="1" dirty="0">
                <a:effectLst/>
              </a:rPr>
              <a:t>Dependent variables:</a:t>
            </a:r>
            <a:r>
              <a:rPr lang="en-US" dirty="0">
                <a:effectLst/>
              </a:rPr>
              <a:t> The dependent variables are the </a:t>
            </a:r>
            <a:r>
              <a:rPr lang="en-US" b="1" dirty="0">
                <a:effectLst/>
              </a:rPr>
              <a:t>model-implied probabilities of total turnover, performance-induced turnover, and "other" turnover</a:t>
            </a:r>
            <a:r>
              <a:rPr lang="en-US" dirty="0">
                <a:effectLst/>
              </a:rPr>
              <a:t>.1</a:t>
            </a:r>
          </a:p>
          <a:p>
            <a:pPr algn="l"/>
            <a:r>
              <a:rPr lang="en-US" dirty="0">
                <a:effectLst/>
              </a:rPr>
              <a:t>4.</a:t>
            </a:r>
          </a:p>
          <a:p>
            <a:r>
              <a:rPr lang="en-US" b="1" dirty="0">
                <a:effectLst/>
              </a:rPr>
              <a:t>A short 2-paragraph script that I can read to explain it:</a:t>
            </a:r>
            <a:endParaRPr lang="en-US" dirty="0">
              <a:effectLst/>
            </a:endParaRPr>
          </a:p>
          <a:p>
            <a:pPr algn="l"/>
            <a:r>
              <a:rPr lang="en-US" dirty="0">
                <a:effectLst/>
              </a:rPr>
              <a:t>5.</a:t>
            </a:r>
          </a:p>
          <a:p>
            <a:r>
              <a:rPr lang="en-US" dirty="0">
                <a:effectLst/>
              </a:rPr>
              <a:t>"Table 4, Panel B takes the results from our two-probit model and </a:t>
            </a:r>
            <a:r>
              <a:rPr lang="en-US" b="1" dirty="0">
                <a:effectLst/>
              </a:rPr>
              <a:t>translates them into probabilities that are easier to grasp</a:t>
            </a:r>
            <a:r>
              <a:rPr lang="en-US" dirty="0">
                <a:effectLst/>
              </a:rPr>
              <a:t>. Basically, </a:t>
            </a:r>
            <a:r>
              <a:rPr lang="en-US" b="1" dirty="0">
                <a:effectLst/>
              </a:rPr>
              <a:t>we're looking at the percentage chance that a CEO will leave the company based on how well (or poorly) their company is performing in the stock market.</a:t>
            </a:r>
            <a:r>
              <a:rPr lang="en-US" dirty="0">
                <a:effectLst/>
              </a:rPr>
              <a:t> These probabilities are calculated directly from the model estimates in Panel A.1</a:t>
            </a:r>
          </a:p>
          <a:p>
            <a:pPr algn="l"/>
            <a:r>
              <a:rPr lang="en-US" dirty="0">
                <a:effectLst/>
              </a:rPr>
              <a:t>6.</a:t>
            </a:r>
          </a:p>
          <a:p>
            <a:r>
              <a:rPr lang="en-US" b="1" dirty="0">
                <a:effectLst/>
              </a:rPr>
              <a:t>The table shows that performance-induced turnover – meaning CEO departures that are likely due to poor company performance – is a significant factor in overall CEO turnover, even more so than the standard probit model suggested</a:t>
            </a:r>
            <a:r>
              <a:rPr lang="en-US" dirty="0">
                <a:effectLst/>
              </a:rPr>
              <a:t>. For instance, if we look at Model 1 (which considers stock returns over a three-year period), </a:t>
            </a:r>
            <a:r>
              <a:rPr lang="en-US" b="1" dirty="0">
                <a:effectLst/>
              </a:rPr>
              <a:t>the probability of a performance-induced turnover is around 13% for companies in the bottom 5th percentile of stock performance, compared to only about 2% for companies in the top 95th percentile</a:t>
            </a:r>
            <a:r>
              <a:rPr lang="en-US" dirty="0">
                <a:effectLst/>
              </a:rPr>
              <a:t>. This highlights the </a:t>
            </a:r>
            <a:r>
              <a:rPr lang="en-US" b="1" dirty="0">
                <a:effectLst/>
              </a:rPr>
              <a:t>strong link between poor performance and the likelihood of a CEO leaving the company</a:t>
            </a:r>
            <a:r>
              <a:rPr lang="en-US" dirty="0">
                <a:effectLst/>
              </a:rPr>
              <a:t> and provides further evidence that </a:t>
            </a:r>
            <a:r>
              <a:rPr lang="en-US" b="1" dirty="0">
                <a:effectLst/>
              </a:rPr>
              <a:t>boards are sensitive to performance when making CEO turnover decisions</a:t>
            </a:r>
            <a:r>
              <a:rPr lang="en-US" dirty="0">
                <a:effectLst/>
              </a:rPr>
              <a:t>.12"</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603434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Comparing Classifications: A Closer Look at Table 5</a:t>
            </a:r>
          </a:p>
          <a:p>
            <a:pPr algn="l"/>
            <a:r>
              <a:rPr lang="en-US" dirty="0">
                <a:effectLst/>
              </a:rPr>
              <a:t>1.</a:t>
            </a:r>
          </a:p>
          <a:p>
            <a:r>
              <a:rPr lang="en-US" b="1" dirty="0">
                <a:effectLst/>
              </a:rPr>
              <a:t>High-level summary of the table</a:t>
            </a:r>
            <a:r>
              <a:rPr lang="en-US" dirty="0">
                <a:effectLst/>
              </a:rPr>
              <a:t>: Table 5 directly compares the authors’ concept of </a:t>
            </a:r>
            <a:r>
              <a:rPr lang="en-US" i="1" dirty="0">
                <a:effectLst/>
              </a:rPr>
              <a:t>performance-induced</a:t>
            </a:r>
            <a:r>
              <a:rPr lang="en-US" dirty="0">
                <a:effectLst/>
              </a:rPr>
              <a:t> CEO turnover with the more traditional classification of </a:t>
            </a:r>
            <a:r>
              <a:rPr lang="en-US" i="1" dirty="0">
                <a:effectLst/>
              </a:rPr>
              <a:t>forced</a:t>
            </a:r>
            <a:r>
              <a:rPr lang="en-US" dirty="0">
                <a:effectLst/>
              </a:rPr>
              <a:t> turnover. Panel A presents a cross-tabulation of CEO departures based on both classifications, showing the percentage of turnovers that fall into each of the four possible categories (forced and performance-induced, forced but not performance-induced, etc.). Panel B then examines the characteristics of CEOs and firms associated with each of these four categories.</a:t>
            </a:r>
          </a:p>
          <a:p>
            <a:pPr algn="l"/>
            <a:r>
              <a:rPr lang="en-US" dirty="0">
                <a:effectLst/>
              </a:rPr>
              <a:t>2.</a:t>
            </a:r>
          </a:p>
          <a:p>
            <a:r>
              <a:rPr lang="en-US" b="1" dirty="0">
                <a:effectLst/>
              </a:rPr>
              <a:t>How the table fits in the overall narrative, why they included it</a:t>
            </a:r>
            <a:r>
              <a:rPr lang="en-US" dirty="0">
                <a:effectLst/>
              </a:rPr>
              <a:t>: This table addresses a crucial point: how does the idea of performance-induced turnover relate to the existing literature on forced CEO turnover? By directly comparing these two classifications, the authors demonstrate that a substantial number of CEO departures are likely driven by poor performance </a:t>
            </a:r>
            <a:r>
              <a:rPr lang="en-US" i="1" dirty="0">
                <a:effectLst/>
              </a:rPr>
              <a:t>even if they are not explicitly classified as forced</a:t>
            </a:r>
            <a:r>
              <a:rPr lang="en-US" dirty="0">
                <a:effectLst/>
              </a:rPr>
              <a:t>. This reinforces their argument that focusing solely on forced turnovers might underestimate the true impact of performance on CEO departures.</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Panel A</a:t>
            </a:r>
            <a:r>
              <a:rPr lang="en-US" dirty="0">
                <a:effectLst/>
              </a:rPr>
              <a:t>:</a:t>
            </a:r>
          </a:p>
          <a:p>
            <a:pPr algn="l"/>
            <a:r>
              <a:rPr lang="en-US" dirty="0">
                <a:effectLst/>
              </a:rPr>
              <a:t>■</a:t>
            </a:r>
          </a:p>
          <a:p>
            <a:r>
              <a:rPr lang="en-US" b="1" dirty="0">
                <a:effectLst/>
              </a:rPr>
              <a:t>Independent variables</a:t>
            </a:r>
            <a:r>
              <a:rPr lang="en-US" dirty="0">
                <a:effectLst/>
              </a:rPr>
              <a:t>: Whether the turnover was classified as </a:t>
            </a:r>
            <a:r>
              <a:rPr lang="en-US" i="1" dirty="0">
                <a:effectLst/>
              </a:rPr>
              <a:t>forced</a:t>
            </a:r>
            <a:r>
              <a:rPr lang="en-US" dirty="0">
                <a:effectLst/>
              </a:rPr>
              <a:t> (using the Parrino algorithm) and whether it was classified as </a:t>
            </a:r>
            <a:r>
              <a:rPr lang="en-US" i="1" dirty="0">
                <a:effectLst/>
              </a:rPr>
              <a:t>performance-induced</a:t>
            </a:r>
            <a:r>
              <a:rPr lang="en-US" dirty="0">
                <a:effectLst/>
              </a:rPr>
              <a:t> (using the two-probit model).</a:t>
            </a:r>
          </a:p>
          <a:p>
            <a:pPr algn="l"/>
            <a:r>
              <a:rPr lang="en-US" dirty="0">
                <a:effectLst/>
              </a:rPr>
              <a:t>■</a:t>
            </a:r>
          </a:p>
          <a:p>
            <a:r>
              <a:rPr lang="en-US" b="1" dirty="0">
                <a:effectLst/>
              </a:rPr>
              <a:t>Dependent variable</a:t>
            </a:r>
            <a:r>
              <a:rPr lang="en-US" dirty="0">
                <a:effectLst/>
              </a:rPr>
              <a:t>: Frequency (count) of CEO turnovers.</a:t>
            </a:r>
          </a:p>
          <a:p>
            <a:pPr algn="l"/>
            <a:r>
              <a:rPr lang="en-US" dirty="0">
                <a:effectLst/>
              </a:rPr>
              <a:t>○</a:t>
            </a:r>
          </a:p>
          <a:p>
            <a:r>
              <a:rPr lang="en-US" b="1" dirty="0">
                <a:effectLst/>
              </a:rPr>
              <a:t>Panel B</a:t>
            </a:r>
            <a:r>
              <a:rPr lang="en-US" dirty="0">
                <a:effectLst/>
              </a:rPr>
              <a:t>:</a:t>
            </a:r>
          </a:p>
          <a:p>
            <a:pPr algn="l"/>
            <a:r>
              <a:rPr lang="en-US" dirty="0">
                <a:effectLst/>
              </a:rPr>
              <a:t>■</a:t>
            </a:r>
          </a:p>
          <a:p>
            <a:r>
              <a:rPr lang="en-US" b="1" dirty="0">
                <a:effectLst/>
              </a:rPr>
              <a:t>Independent variables</a:t>
            </a:r>
            <a:r>
              <a:rPr lang="en-US" dirty="0">
                <a:effectLst/>
              </a:rPr>
              <a:t>: Whether the turnover was classified as </a:t>
            </a:r>
            <a:r>
              <a:rPr lang="en-US" i="1" dirty="0">
                <a:effectLst/>
              </a:rPr>
              <a:t>forced</a:t>
            </a:r>
            <a:r>
              <a:rPr lang="en-US" dirty="0">
                <a:effectLst/>
              </a:rPr>
              <a:t> and whether it was classified as </a:t>
            </a:r>
            <a:r>
              <a:rPr lang="en-US" i="1" dirty="0">
                <a:effectLst/>
              </a:rPr>
              <a:t>performance-induced</a:t>
            </a:r>
            <a:r>
              <a:rPr lang="en-US" dirty="0">
                <a:effectLst/>
              </a:rPr>
              <a:t>, resulting in four possible categories.</a:t>
            </a:r>
          </a:p>
          <a:p>
            <a:pPr algn="l"/>
            <a:r>
              <a:rPr lang="en-US" dirty="0">
                <a:effectLst/>
              </a:rPr>
              <a:t>■</a:t>
            </a:r>
          </a:p>
          <a:p>
            <a:r>
              <a:rPr lang="en-US" b="1" dirty="0">
                <a:effectLst/>
              </a:rPr>
              <a:t>Dependent variables</a:t>
            </a:r>
            <a:r>
              <a:rPr lang="en-US" dirty="0">
                <a:effectLst/>
              </a:rPr>
              <a:t>: Various characteristics of CEOs and their firms, including company size, dividend payout policy, recent stock performance, CEO age and tenure.</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5 tackles a key question: how does our concept of </a:t>
            </a:r>
            <a:r>
              <a:rPr lang="en-US" i="1" dirty="0">
                <a:effectLst/>
              </a:rPr>
              <a:t>performance-induced</a:t>
            </a:r>
            <a:r>
              <a:rPr lang="en-US" dirty="0">
                <a:effectLst/>
              </a:rPr>
              <a:t> turnover compare to the more traditional idea of </a:t>
            </a:r>
            <a:r>
              <a:rPr lang="en-US" i="1" dirty="0">
                <a:effectLst/>
              </a:rPr>
              <a:t>forced</a:t>
            </a:r>
            <a:r>
              <a:rPr lang="en-US" dirty="0">
                <a:effectLst/>
              </a:rPr>
              <a:t> turnover? To do this, we first classified CEO departures as either forced or not forced using the Parrino algorithm, a common method in the literature. Then, we used our two-probit model to classify departures as either performance-induced or not performance-induced. Panel A of the table shows the breakdown of these classifications, revealing that a significant number of turnovers – those classified as "voluntary" by the Parrino algorithm – are in fact likely driven by poor performance.</a:t>
            </a:r>
          </a:p>
          <a:p>
            <a:pPr algn="l"/>
            <a:r>
              <a:rPr lang="en-US" dirty="0">
                <a:effectLst/>
              </a:rPr>
              <a:t>6.</a:t>
            </a:r>
          </a:p>
          <a:p>
            <a:r>
              <a:rPr lang="en-US" dirty="0">
                <a:effectLst/>
              </a:rPr>
              <a:t>Panel B goes a step further by looking at the characteristics of CEOs and firms associated with each of the four possible turnover classifications. For example, we see that CEOs whose departures are both forced and performance-induced tend to be younger and have shorter tenures than CEOs who leave for other reasons. This suggests that boards may be more willing to remove younger, less entrenched CEOs when performance is lagging. The key takeaway here is that our broader definition of performance-induced turnover captures a wider range of CEO departures that are likely influenced by company performance."</a:t>
            </a:r>
          </a:p>
          <a:p>
            <a:r>
              <a:rPr lang="en-US" dirty="0">
                <a:effectLst/>
              </a:rPr>
              <a:t>It is important to note that while Panel A of Table 5 provides percentages, it's based on a specific sample of CEO turnovers. It's possible that these percentages might vary depending on the sample used and the time period studied.</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2814059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1.</a:t>
            </a:r>
          </a:p>
          <a:p>
            <a:r>
              <a:rPr lang="en-US" b="1" dirty="0">
                <a:effectLst/>
              </a:rPr>
              <a:t>High-level summary of the table:</a:t>
            </a:r>
            <a:r>
              <a:rPr lang="en-US" dirty="0">
                <a:effectLst/>
              </a:rPr>
              <a:t> Table 6 presents the results of standard probit regressions examining the relationship between </a:t>
            </a:r>
            <a:r>
              <a:rPr lang="en-US" i="1" dirty="0">
                <a:effectLst/>
              </a:rPr>
              <a:t>forced</a:t>
            </a:r>
            <a:r>
              <a:rPr lang="en-US" dirty="0">
                <a:effectLst/>
              </a:rPr>
              <a:t> CEO turnover and firm performance, mirroring the traditional approach in the CEO turnover literature. Panel A presents the regression coefficients for various measures of company performance and control variables. Panel B then shows the model-implied probabilities of a forced turnover for different percentiles of company performance.</a:t>
            </a:r>
          </a:p>
          <a:p>
            <a:pPr algn="l"/>
            <a:r>
              <a:rPr lang="en-US" dirty="0">
                <a:effectLst/>
              </a:rPr>
              <a:t>2.</a:t>
            </a:r>
          </a:p>
          <a:p>
            <a:r>
              <a:rPr lang="en-US" b="1" dirty="0">
                <a:effectLst/>
              </a:rPr>
              <a:t>How the table fits in the overall narrative, why they included it</a:t>
            </a:r>
            <a:r>
              <a:rPr lang="en-US" dirty="0">
                <a:effectLst/>
              </a:rPr>
              <a:t>: This table allows for a direct comparison between the authors’ new measure of performance-induced turnover and the traditional measure of forced turnover. By replicating the common approach of past research, the authors can directly demonstrate that focusing solely on </a:t>
            </a:r>
            <a:r>
              <a:rPr lang="en-US" i="1" dirty="0">
                <a:effectLst/>
              </a:rPr>
              <a:t>forced</a:t>
            </a:r>
            <a:r>
              <a:rPr lang="en-US" dirty="0">
                <a:effectLst/>
              </a:rPr>
              <a:t> turnovers likely </a:t>
            </a:r>
            <a:r>
              <a:rPr lang="en-US" i="1" dirty="0">
                <a:effectLst/>
              </a:rPr>
              <a:t>underestimates</a:t>
            </a:r>
            <a:r>
              <a:rPr lang="en-US" dirty="0">
                <a:effectLst/>
              </a:rPr>
              <a:t> the number of CEO departures caused by poor performance. This highlights the importance of their new, broader measure.12</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Panel A</a:t>
            </a:r>
            <a:r>
              <a:rPr lang="en-US" dirty="0">
                <a:effectLst/>
              </a:rPr>
              <a:t>:</a:t>
            </a:r>
          </a:p>
          <a:p>
            <a:pPr algn="l"/>
            <a:r>
              <a:rPr lang="en-US" dirty="0">
                <a:effectLst/>
              </a:rPr>
              <a:t>■</a:t>
            </a:r>
          </a:p>
          <a:p>
            <a:r>
              <a:rPr lang="en-US" b="1" dirty="0">
                <a:effectLst/>
              </a:rPr>
              <a:t>Dependent variable</a:t>
            </a:r>
            <a:r>
              <a:rPr lang="en-US" dirty="0">
                <a:effectLst/>
              </a:rPr>
              <a:t>: An indicator variable equal to 1 for tenure years with a forced CEO turnover and 0 otherwise.13</a:t>
            </a:r>
          </a:p>
          <a:p>
            <a:pPr algn="l"/>
            <a:r>
              <a:rPr lang="en-US" dirty="0">
                <a:effectLst/>
              </a:rPr>
              <a:t>■</a:t>
            </a:r>
          </a:p>
          <a:p>
            <a:r>
              <a:rPr lang="en-US" b="1" dirty="0">
                <a:effectLst/>
              </a:rPr>
              <a:t>Independent variables</a:t>
            </a:r>
            <a:r>
              <a:rPr lang="en-US" dirty="0">
                <a:effectLst/>
              </a:rPr>
              <a:t>: Decile indicators for the firm’s stock price performance (measured as the average industry-adjusted monthly stock return, scaled by their standard deviation), and a set of control variables including CEO age, CEO tenure, firm size, and an indicator for dividend payers.13</a:t>
            </a:r>
          </a:p>
          <a:p>
            <a:pPr algn="l"/>
            <a:r>
              <a:rPr lang="en-US" dirty="0">
                <a:effectLst/>
              </a:rPr>
              <a:t>○</a:t>
            </a:r>
          </a:p>
          <a:p>
            <a:r>
              <a:rPr lang="en-US" b="1" dirty="0">
                <a:effectLst/>
              </a:rPr>
              <a:t>Panel B</a:t>
            </a:r>
            <a:r>
              <a:rPr lang="en-US" dirty="0">
                <a:effectLst/>
              </a:rPr>
              <a:t>:</a:t>
            </a:r>
          </a:p>
          <a:p>
            <a:pPr algn="l"/>
            <a:r>
              <a:rPr lang="en-US" dirty="0">
                <a:effectLst/>
              </a:rPr>
              <a:t>■</a:t>
            </a:r>
          </a:p>
          <a:p>
            <a:r>
              <a:rPr lang="en-US" b="1" dirty="0">
                <a:effectLst/>
              </a:rPr>
              <a:t>Independent variables</a:t>
            </a:r>
            <a:r>
              <a:rPr lang="en-US" dirty="0">
                <a:effectLst/>
              </a:rPr>
              <a:t>: Percentiles of the company's stock price performance.4</a:t>
            </a:r>
          </a:p>
          <a:p>
            <a:pPr algn="l"/>
            <a:r>
              <a:rPr lang="en-US" dirty="0">
                <a:effectLst/>
              </a:rPr>
              <a:t>■</a:t>
            </a:r>
          </a:p>
          <a:p>
            <a:r>
              <a:rPr lang="en-US" b="1" dirty="0">
                <a:effectLst/>
              </a:rPr>
              <a:t>Dependent variable</a:t>
            </a:r>
            <a:r>
              <a:rPr lang="en-US" dirty="0">
                <a:effectLst/>
              </a:rPr>
              <a:t>: Model-implied probabilities of a forced turnover, calculated by setting the performance measure to the desired percentile and leaving all other variables at their actual values.4</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6 presents the results of a standard statistical analysis of </a:t>
            </a:r>
            <a:r>
              <a:rPr lang="en-US" i="1" dirty="0">
                <a:effectLst/>
              </a:rPr>
              <a:t>forced</a:t>
            </a:r>
            <a:r>
              <a:rPr lang="en-US" dirty="0">
                <a:effectLst/>
              </a:rPr>
              <a:t> CEO turnover – the kind commonly used in academic research. The goal here is to directly compare this traditional approach with our new concept of performance-induced turnover. What we find is striking: </a:t>
            </a:r>
            <a:r>
              <a:rPr lang="en-US" b="1" dirty="0">
                <a:effectLst/>
              </a:rPr>
              <a:t>while forced turnover is certainly related to company performance, both the overall rate of forced turnover and its sensitivity to poor performance are </a:t>
            </a:r>
            <a:r>
              <a:rPr lang="en-US" b="1" i="1" dirty="0">
                <a:effectLst/>
              </a:rPr>
              <a:t>lower</a:t>
            </a:r>
            <a:r>
              <a:rPr lang="en-US" b="1" dirty="0">
                <a:effectLst/>
              </a:rPr>
              <a:t> than what we see with performance-induced turnover</a:t>
            </a:r>
            <a:r>
              <a:rPr lang="en-US" dirty="0">
                <a:effectLst/>
              </a:rPr>
              <a:t> (as shown in previous tables).1</a:t>
            </a:r>
          </a:p>
          <a:p>
            <a:pPr algn="l"/>
            <a:r>
              <a:rPr lang="en-US" dirty="0">
                <a:effectLst/>
              </a:rPr>
              <a:t>6.</a:t>
            </a:r>
          </a:p>
          <a:p>
            <a:r>
              <a:rPr lang="en-US" dirty="0">
                <a:effectLst/>
              </a:rPr>
              <a:t>This difference arises because the traditional approach misses a crucial piece of the puzzle: many CEO departures that are classified as “voluntary” actually occur after periods of bad performance. </a:t>
            </a:r>
            <a:r>
              <a:rPr lang="en-US" b="1" dirty="0">
                <a:effectLst/>
              </a:rPr>
              <a:t>By only looking at </a:t>
            </a:r>
            <a:r>
              <a:rPr lang="en-US" b="1" i="1" dirty="0">
                <a:effectLst/>
              </a:rPr>
              <a:t>forced</a:t>
            </a:r>
            <a:r>
              <a:rPr lang="en-US" b="1" dirty="0">
                <a:effectLst/>
              </a:rPr>
              <a:t> turnovers, we miss this broader trend and underestimate the true impact of performance on CEO departures.</a:t>
            </a:r>
            <a:r>
              <a:rPr lang="en-US" dirty="0">
                <a:effectLst/>
              </a:rPr>
              <a:t> This reinforces the importance of using our new measure of performance-induced turnover to capture the full scope of how company performance affects CEO departures."2</a:t>
            </a:r>
          </a:p>
          <a:p>
            <a:r>
              <a:rPr lang="en-US" dirty="0" err="1">
                <a:effectLst/>
              </a:rPr>
              <a:t>copy_all</a:t>
            </a:r>
            <a:endParaRPr lang="en-US" dirty="0">
              <a:effectLst/>
            </a:endParaRPr>
          </a:p>
          <a:p>
            <a:r>
              <a:rPr lang="en-US" dirty="0" err="1">
                <a:effectLst/>
              </a:rPr>
              <a:t>thumb_up</a:t>
            </a:r>
            <a:endParaRPr lang="en-US" dirty="0">
              <a:effectLst/>
            </a:endParaRPr>
          </a:p>
          <a:p>
            <a:r>
              <a:rPr lang="en-US" dirty="0" err="1">
                <a:effectLst/>
              </a:rPr>
              <a:t>thumb_down</a:t>
            </a:r>
            <a:endParaRPr lang="en-US" dirty="0">
              <a:effectLst/>
            </a:endParaRPr>
          </a:p>
          <a:p>
            <a:r>
              <a:rPr lang="en-US" dirty="0" err="1">
                <a:effectLst/>
              </a:rPr>
              <a:t>keep_pinSave</a:t>
            </a:r>
            <a:r>
              <a:rPr lang="en-US" dirty="0">
                <a:effectLst/>
              </a:rPr>
              <a:t> to note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1715176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Voluntary Turnover and Performance: Insights from Table 7</a:t>
            </a:r>
          </a:p>
          <a:p>
            <a:pPr algn="l"/>
            <a:r>
              <a:rPr lang="en-US" dirty="0">
                <a:effectLst/>
              </a:rPr>
              <a:t>1.</a:t>
            </a:r>
          </a:p>
          <a:p>
            <a:r>
              <a:rPr lang="en-US" b="1" dirty="0">
                <a:effectLst/>
              </a:rPr>
              <a:t>High-level summary of the table</a:t>
            </a:r>
            <a:r>
              <a:rPr lang="en-US" dirty="0">
                <a:effectLst/>
              </a:rPr>
              <a:t>: Table 7 examines the relationship between CEO departures classified as </a:t>
            </a:r>
            <a:r>
              <a:rPr lang="en-US" i="1" dirty="0">
                <a:effectLst/>
              </a:rPr>
              <a:t>voluntary</a:t>
            </a:r>
            <a:r>
              <a:rPr lang="en-US" dirty="0">
                <a:effectLst/>
              </a:rPr>
              <a:t> and firm performance. Similar in structure to Table 6, Panel A presents the results of probit regressions with voluntary turnover as the dependent variable. Panel B then presents the model-implied probabilities of voluntary turnover for different percentiles of company performance.</a:t>
            </a:r>
          </a:p>
          <a:p>
            <a:pPr algn="l"/>
            <a:r>
              <a:rPr lang="en-US" dirty="0">
                <a:effectLst/>
              </a:rPr>
              <a:t>2.</a:t>
            </a:r>
          </a:p>
          <a:p>
            <a:r>
              <a:rPr lang="en-US" b="1" dirty="0">
                <a:effectLst/>
              </a:rPr>
              <a:t>How the table fits in the overall narrative, why they included it</a:t>
            </a:r>
            <a:r>
              <a:rPr lang="en-US" dirty="0">
                <a:effectLst/>
              </a:rPr>
              <a:t>: This table is crucial in demonstrating why the traditional focus on forced turnover underestimates the impact of poor performance on CEO departures. By showing that even </a:t>
            </a:r>
            <a:r>
              <a:rPr lang="en-US" i="1" dirty="0">
                <a:effectLst/>
              </a:rPr>
              <a:t>voluntary</a:t>
            </a:r>
            <a:r>
              <a:rPr lang="en-US" dirty="0">
                <a:effectLst/>
              </a:rPr>
              <a:t> turnovers are more likely to occur following bad performance, the sources argue that many of these departures are actually </a:t>
            </a:r>
            <a:r>
              <a:rPr lang="en-US" i="1" dirty="0">
                <a:effectLst/>
              </a:rPr>
              <a:t>performance-induced</a:t>
            </a:r>
            <a:r>
              <a:rPr lang="en-US" dirty="0">
                <a:effectLst/>
              </a:rPr>
              <a:t> but masked as voluntary12. This reinforces the need for their broader measure of performance-induced turnover.</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Panel A</a:t>
            </a:r>
            <a:r>
              <a:rPr lang="en-US" dirty="0">
                <a:effectLst/>
              </a:rPr>
              <a:t>:</a:t>
            </a:r>
          </a:p>
          <a:p>
            <a:pPr algn="l"/>
            <a:r>
              <a:rPr lang="en-US" dirty="0">
                <a:effectLst/>
              </a:rPr>
              <a:t>■</a:t>
            </a:r>
          </a:p>
          <a:p>
            <a:r>
              <a:rPr lang="en-US" b="1" dirty="0">
                <a:effectLst/>
              </a:rPr>
              <a:t>Dependent variable</a:t>
            </a:r>
            <a:r>
              <a:rPr lang="en-US" dirty="0">
                <a:effectLst/>
              </a:rPr>
              <a:t>: An indicator variable equal to 1 for tenure years with a </a:t>
            </a:r>
            <a:r>
              <a:rPr lang="en-US" i="1" dirty="0">
                <a:effectLst/>
              </a:rPr>
              <a:t>voluntary</a:t>
            </a:r>
            <a:r>
              <a:rPr lang="en-US" dirty="0">
                <a:effectLst/>
              </a:rPr>
              <a:t> CEO turnover and 0 otherwise.</a:t>
            </a:r>
          </a:p>
          <a:p>
            <a:pPr algn="l"/>
            <a:r>
              <a:rPr lang="en-US" dirty="0">
                <a:effectLst/>
              </a:rPr>
              <a:t>■</a:t>
            </a:r>
          </a:p>
          <a:p>
            <a:r>
              <a:rPr lang="en-US" b="1" dirty="0">
                <a:effectLst/>
              </a:rPr>
              <a:t>Independent variables</a:t>
            </a:r>
            <a:r>
              <a:rPr lang="en-US" dirty="0">
                <a:effectLst/>
              </a:rPr>
              <a:t>: Decile indicators for the firm's stock price performance (measured as average industry-adjusted monthly stock returns scaled by their standard deviation) and a set of control variables including CEO age, CEO tenure, firm size, and an indicator for dividend payers.</a:t>
            </a:r>
          </a:p>
          <a:p>
            <a:pPr algn="l"/>
            <a:r>
              <a:rPr lang="en-US" dirty="0">
                <a:effectLst/>
              </a:rPr>
              <a:t>○</a:t>
            </a:r>
          </a:p>
          <a:p>
            <a:r>
              <a:rPr lang="en-US" b="1" dirty="0">
                <a:effectLst/>
              </a:rPr>
              <a:t>Panel B</a:t>
            </a:r>
            <a:r>
              <a:rPr lang="en-US" dirty="0">
                <a:effectLst/>
              </a:rPr>
              <a:t>:</a:t>
            </a:r>
          </a:p>
          <a:p>
            <a:pPr algn="l"/>
            <a:r>
              <a:rPr lang="en-US" dirty="0">
                <a:effectLst/>
              </a:rPr>
              <a:t>■</a:t>
            </a:r>
          </a:p>
          <a:p>
            <a:r>
              <a:rPr lang="en-US" b="1" dirty="0">
                <a:effectLst/>
              </a:rPr>
              <a:t>Independent variables</a:t>
            </a:r>
            <a:r>
              <a:rPr lang="en-US" dirty="0">
                <a:effectLst/>
              </a:rPr>
              <a:t>: Percentiles of the company's stock price performance.</a:t>
            </a:r>
          </a:p>
          <a:p>
            <a:pPr algn="l"/>
            <a:r>
              <a:rPr lang="en-US" dirty="0">
                <a:effectLst/>
              </a:rPr>
              <a:t>■</a:t>
            </a:r>
          </a:p>
          <a:p>
            <a:r>
              <a:rPr lang="en-US" b="1" dirty="0">
                <a:effectLst/>
              </a:rPr>
              <a:t>Dependent variable</a:t>
            </a:r>
            <a:r>
              <a:rPr lang="en-US" dirty="0">
                <a:effectLst/>
              </a:rPr>
              <a:t>: Model-implied probabilities of a </a:t>
            </a:r>
            <a:r>
              <a:rPr lang="en-US" i="1" dirty="0">
                <a:effectLst/>
              </a:rPr>
              <a:t>voluntary</a:t>
            </a:r>
            <a:r>
              <a:rPr lang="en-US" dirty="0">
                <a:effectLst/>
              </a:rPr>
              <a:t> turnover, calculated by setting the performance measure to the desired percentile and leaving all other variables at their actual values.</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7 digs deeper into the relationship between company performance and CEO departures that are classified as </a:t>
            </a:r>
            <a:r>
              <a:rPr lang="en-US" i="1" dirty="0">
                <a:effectLst/>
              </a:rPr>
              <a:t>voluntary</a:t>
            </a:r>
            <a:r>
              <a:rPr lang="en-US" dirty="0">
                <a:effectLst/>
              </a:rPr>
              <a:t>. What we see here challenges the traditional assumption that voluntary departures are entirely unrelated to performance. The regression results in Panel A show a statistically significant negative relationship between company performance and the likelihood of a voluntary turnover.</a:t>
            </a:r>
          </a:p>
          <a:p>
            <a:pPr algn="l"/>
            <a:r>
              <a:rPr lang="en-US" dirty="0">
                <a:effectLst/>
              </a:rPr>
              <a:t>6.</a:t>
            </a:r>
          </a:p>
          <a:p>
            <a:r>
              <a:rPr lang="en-US" dirty="0">
                <a:effectLst/>
              </a:rPr>
              <a:t>This means that even though these departures aren't classified as </a:t>
            </a:r>
            <a:r>
              <a:rPr lang="en-US" i="1" dirty="0">
                <a:effectLst/>
              </a:rPr>
              <a:t>forced</a:t>
            </a:r>
            <a:r>
              <a:rPr lang="en-US" dirty="0">
                <a:effectLst/>
              </a:rPr>
              <a:t>, they are still more likely to happen when the company is doing poorly. Panel B makes this even clearer: the chance of a CEO leaving voluntarily increases significantly as we move from the top performers to the bottom performers. This supports our argument that many so-called “voluntary” departures are actually driven by poor performance, further emphasizing the need to look beyond the traditional forced turnover measure."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1964958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Tenure and Turnover Dynamics: Analyzing Table 8</a:t>
            </a:r>
          </a:p>
          <a:p>
            <a:r>
              <a:rPr lang="en-US" dirty="0"/>
              <a:t>1.</a:t>
            </a:r>
          </a:p>
          <a:p>
            <a:r>
              <a:rPr lang="en-US" dirty="0"/>
              <a:t>High-level summary of the table: Table 8 presents the results of a two-probit model that examines how the relationship between firm performance and performance-induced CEO turnover changes as CEOs gain more tenure. The table presents coefficients for separate performance measures for each of seven tenure periods: year 2, years 3-4, years 5-6, years 7-8, years 9-11, years 12-16, and 17 or more years.</a:t>
            </a:r>
          </a:p>
          <a:p>
            <a:r>
              <a:rPr lang="en-US" dirty="0"/>
              <a:t>2.</a:t>
            </a:r>
          </a:p>
          <a:p>
            <a:r>
              <a:rPr lang="en-US" dirty="0"/>
              <a:t>How the table fits in the overall narrative, why they included it: This table examines a key prediction of Bayesian learning models of CEO turnover: boards should become more certain about a CEO's ability over time, leading to a weaker relationship between performance and turnover as CEO tenure increases. This analysis allows the sources to further explore whether observed turnover patterns are consistent with these models.</a:t>
            </a:r>
          </a:p>
          <a:p>
            <a:r>
              <a:rPr lang="en-US" dirty="0"/>
              <a:t>3.</a:t>
            </a:r>
          </a:p>
          <a:p>
            <a:r>
              <a:rPr lang="en-US" dirty="0"/>
              <a:t>What the independent and dependent variables are:</a:t>
            </a:r>
          </a:p>
          <a:p>
            <a:r>
              <a:rPr lang="en-US" dirty="0"/>
              <a:t>○</a:t>
            </a:r>
          </a:p>
          <a:p>
            <a:r>
              <a:rPr lang="en-US" dirty="0"/>
              <a:t>Dependent variable: An indicator variable equal to 1 if the CEO left the firm in a given year and 0 otherwise. This is modeled using two probit equations: one to capture performance-induced turnover (</a:t>
            </a:r>
            <a:r>
              <a:rPr lang="en-US" dirty="0" err="1"/>
              <a:t>Pperf-ind</a:t>
            </a:r>
            <a:r>
              <a:rPr lang="en-US" dirty="0"/>
              <a:t>) and one to capture other types of turnover (Pother).</a:t>
            </a:r>
          </a:p>
          <a:p>
            <a:r>
              <a:rPr lang="en-US" dirty="0"/>
              <a:t>○</a:t>
            </a:r>
          </a:p>
          <a:p>
            <a:r>
              <a:rPr lang="en-US" dirty="0"/>
              <a:t>Independent variables:</a:t>
            </a:r>
          </a:p>
          <a:p>
            <a:r>
              <a:rPr lang="en-US" dirty="0"/>
              <a:t>■</a:t>
            </a:r>
          </a:p>
          <a:p>
            <a:r>
              <a:rPr lang="en-US" dirty="0"/>
              <a:t>For </a:t>
            </a:r>
            <a:r>
              <a:rPr lang="en-US" dirty="0" err="1"/>
              <a:t>Pperf-ind</a:t>
            </a:r>
            <a:r>
              <a:rPr lang="en-US" dirty="0"/>
              <a:t>: Average industry-adjusted monthly stock returns per tenure year (scaled by their standard deviation) for each of the past four years, interacted with indicators for each of the seven tenure periods.</a:t>
            </a:r>
          </a:p>
          <a:p>
            <a:r>
              <a:rPr lang="en-US" dirty="0"/>
              <a:t>■</a:t>
            </a:r>
          </a:p>
          <a:p>
            <a:r>
              <a:rPr lang="en-US" dirty="0"/>
              <a:t>For Pother: CEO age, indicator variables for three age ranges (61-63, 64-66, 66+), CEO tenure, an indicator for dividend-paying firms, and the log of the firm's book assets. Control variables are the same for both probit equations.</a:t>
            </a:r>
          </a:p>
          <a:p>
            <a:r>
              <a:rPr lang="en-US" dirty="0"/>
              <a:t>4.</a:t>
            </a:r>
          </a:p>
          <a:p>
            <a:r>
              <a:rPr lang="en-US" dirty="0"/>
              <a:t>A short 2-paragraph script that I can read to explain it:</a:t>
            </a:r>
          </a:p>
          <a:p>
            <a:r>
              <a:rPr lang="en-US" dirty="0"/>
              <a:t>5.</a:t>
            </a:r>
          </a:p>
          <a:p>
            <a:r>
              <a:rPr lang="en-US" dirty="0"/>
              <a:t>"Table 8 explores how the link between company performance and performance-induced CEO turnover changes as CEOs gain experience. The standard Bayesian learning model suggests that as CEOs spend more time at a firm, boards should become more confident in their assessment of their abilities. This increased certainty should, in theory, lead to a weaker connection between recent performance and the likelihood of a performance-induced departure.</a:t>
            </a:r>
          </a:p>
          <a:p>
            <a:r>
              <a:rPr lang="en-US" dirty="0"/>
              <a:t>6.</a:t>
            </a:r>
          </a:p>
          <a:p>
            <a:r>
              <a:rPr lang="en-US" dirty="0"/>
              <a:t>However, our analysis challenges this prediction. We find that the sensitivity of performance-induced turnover to recent performance doesn't decline significantly, at least for the first 10 years of a CEO's tenure. This suggests that boards may continue to rely heavily on recent performance even when a CEO has a long track record. This finding is consistent with a model in which CEO ability isn't constant, but rather is subject to shocks and changes over time, making it harder for boards to form a stable, long-term assessment."</a:t>
            </a: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4190826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Analyzing the Relationship Between Tenure and Forced Turnover: Table 9</a:t>
            </a:r>
          </a:p>
          <a:p>
            <a:pPr algn="l"/>
            <a:r>
              <a:rPr lang="en-US" dirty="0">
                <a:effectLst/>
              </a:rPr>
              <a:t>1.</a:t>
            </a:r>
          </a:p>
          <a:p>
            <a:r>
              <a:rPr lang="en-US" b="1" dirty="0">
                <a:effectLst/>
              </a:rPr>
              <a:t>High-level summary of the table:</a:t>
            </a:r>
            <a:r>
              <a:rPr lang="en-US" dirty="0">
                <a:effectLst/>
              </a:rPr>
              <a:t> Table 9 examines how the relationship between firm performance and </a:t>
            </a:r>
            <a:r>
              <a:rPr lang="en-US" i="1" dirty="0">
                <a:effectLst/>
              </a:rPr>
              <a:t>forced</a:t>
            </a:r>
            <a:r>
              <a:rPr lang="en-US" dirty="0">
                <a:effectLst/>
              </a:rPr>
              <a:t> CEO turnover changes as CEOs accumulate more tenure. It presents the results of a standard probit regression, with forced turnover as the dependent variable, where performance measures are interacted with dummies for seven different CEO tenure periods: year 2, years 3-4, years 5-6, years 7-8, years 9-11, years 12-16, and 17 or more years.12</a:t>
            </a:r>
          </a:p>
          <a:p>
            <a:pPr algn="l"/>
            <a:r>
              <a:rPr lang="en-US" dirty="0">
                <a:effectLst/>
              </a:rPr>
              <a:t>2.</a:t>
            </a:r>
          </a:p>
          <a:p>
            <a:r>
              <a:rPr lang="en-US" b="1" dirty="0">
                <a:effectLst/>
              </a:rPr>
              <a:t>How the table fits in the overall narrative, why they included it:</a:t>
            </a:r>
            <a:r>
              <a:rPr lang="en-US" dirty="0">
                <a:effectLst/>
              </a:rPr>
              <a:t> This table serves two main purposes. First, it replicates the analysis from Table 8, which focused on </a:t>
            </a:r>
            <a:r>
              <a:rPr lang="en-US" i="1" dirty="0">
                <a:effectLst/>
              </a:rPr>
              <a:t>performance-induced</a:t>
            </a:r>
            <a:r>
              <a:rPr lang="en-US" dirty="0">
                <a:effectLst/>
              </a:rPr>
              <a:t> turnover, but now using the traditional measure of </a:t>
            </a:r>
            <a:r>
              <a:rPr lang="en-US" i="1" dirty="0">
                <a:effectLst/>
              </a:rPr>
              <a:t>forced</a:t>
            </a:r>
            <a:r>
              <a:rPr lang="en-US" dirty="0">
                <a:effectLst/>
              </a:rPr>
              <a:t> turnover. This helps to ensure that the conclusions from the previous analysis aren't simply an artifact of using the new performance-induced turnover measure. Second, it allows the sources to further explore whether the observed patterns of forced CEO turnover are consistent with predictions from Bayesian learning models. The expectation, based on those models, is that boards should become more certain about a CEO's ability as their tenure grows, leading to a weaker relationship between performance and the likelihood of forced turnover.13</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Dependent variable</a:t>
            </a:r>
            <a:r>
              <a:rPr lang="en-US" dirty="0">
                <a:effectLst/>
              </a:rPr>
              <a:t>: An indicator variable equal to 1 if the CEO was forced out of the firm in a given year and 0 otherwise.2</a:t>
            </a:r>
          </a:p>
          <a:p>
            <a:pPr algn="l"/>
            <a:r>
              <a:rPr lang="en-US" dirty="0">
                <a:effectLst/>
              </a:rPr>
              <a:t>○</a:t>
            </a:r>
          </a:p>
          <a:p>
            <a:r>
              <a:rPr lang="en-US" b="1" dirty="0">
                <a:effectLst/>
              </a:rPr>
              <a:t>Independent variables</a:t>
            </a:r>
            <a:r>
              <a:rPr lang="en-US" dirty="0">
                <a:effectLst/>
              </a:rPr>
              <a:t>:</a:t>
            </a:r>
          </a:p>
          <a:p>
            <a:pPr algn="l"/>
            <a:r>
              <a:rPr lang="en-US" dirty="0">
                <a:effectLst/>
              </a:rPr>
              <a:t>■</a:t>
            </a:r>
          </a:p>
          <a:p>
            <a:r>
              <a:rPr lang="en-US" dirty="0">
                <a:effectLst/>
              </a:rPr>
              <a:t>Average industry-adjusted monthly stock returns per tenure year (scaled by their standard deviation) for each of the past four years, interacted with indicators for each of the seven tenure periods.2</a:t>
            </a:r>
          </a:p>
          <a:p>
            <a:pPr algn="l"/>
            <a:r>
              <a:rPr lang="en-US" dirty="0">
                <a:effectLst/>
              </a:rPr>
              <a:t>■</a:t>
            </a:r>
          </a:p>
          <a:p>
            <a:r>
              <a:rPr lang="en-US" dirty="0">
                <a:effectLst/>
              </a:rPr>
              <a:t>Control variables including CEO age, indicator variables for three age ranges (61-63, 64-66, 66+), CEO tenure, an indicator for dividend-paying firms, and the log of the firm's book assets.2</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9 examines how the likelihood of a </a:t>
            </a:r>
            <a:r>
              <a:rPr lang="en-US" i="1" dirty="0">
                <a:effectLst/>
              </a:rPr>
              <a:t>forced</a:t>
            </a:r>
            <a:r>
              <a:rPr lang="en-US" dirty="0">
                <a:effectLst/>
              </a:rPr>
              <a:t> CEO turnover changes with both company performance and the CEO’s time in office. Bayesian learning models suggest that as a CEO gains tenure, the board should become more certain of their abilities, making recent performance less important in their decision to fire them. In theory, this means we should see a weaker relationship between recent performance and forced turnover as CEOs gain experience.</a:t>
            </a:r>
          </a:p>
          <a:p>
            <a:pPr algn="l"/>
            <a:r>
              <a:rPr lang="en-US" dirty="0">
                <a:effectLst/>
              </a:rPr>
              <a:t>6.</a:t>
            </a:r>
          </a:p>
          <a:p>
            <a:r>
              <a:rPr lang="en-US" dirty="0">
                <a:effectLst/>
              </a:rPr>
              <a:t>However, our analysis doesn’t fully support this prediction. While there's some indication that the sensitivity to performance </a:t>
            </a:r>
            <a:r>
              <a:rPr lang="en-US" i="1" dirty="0">
                <a:effectLst/>
              </a:rPr>
              <a:t>might</a:t>
            </a:r>
            <a:r>
              <a:rPr lang="en-US" dirty="0">
                <a:effectLst/>
              </a:rPr>
              <a:t> decrease slightly after 11 years of tenure, </a:t>
            </a:r>
            <a:r>
              <a:rPr lang="en-US" b="1" dirty="0">
                <a:effectLst/>
              </a:rPr>
              <a:t>we find that the relationship between recent performance and forced turnover remains relatively strong even for CEOs with long tenures</a:t>
            </a:r>
            <a:r>
              <a:rPr lang="en-US" dirty="0">
                <a:effectLst/>
              </a:rPr>
              <a:t>. This, again, suggests that boards might not gain as much certainty about a CEO's ability over time as traditional models predict. It could be that CEO ability changes over time, making it difficult for boards to develop a stable, long-term assessment.”12</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3805577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effectLst/>
              </a:rPr>
              <a:t>1.</a:t>
            </a:r>
          </a:p>
          <a:p>
            <a:r>
              <a:rPr lang="en-US" b="1" dirty="0">
                <a:effectLst/>
              </a:rPr>
              <a:t>High-level summary of the table:</a:t>
            </a:r>
            <a:r>
              <a:rPr lang="en-US" dirty="0">
                <a:effectLst/>
              </a:rPr>
              <a:t> Table 10 explores CEO turnover in the aftermath of corporate misconduct. Panel A presents descriptive statistics on the frequency of CEO departures in the five years following the end of a misconduct event. Panel B focuses specifically on those CEO turnovers that occurred after misconduct, examining the proportion categorized as forced, the average probability of being performance-induced, and the average 3-year industry-adjusted cumulative abnormal returns (CARs) leading up to the turnover.</a:t>
            </a:r>
          </a:p>
          <a:p>
            <a:pPr algn="l"/>
            <a:r>
              <a:rPr lang="en-US" dirty="0">
                <a:effectLst/>
              </a:rPr>
              <a:t>2.</a:t>
            </a:r>
          </a:p>
          <a:p>
            <a:r>
              <a:rPr lang="en-US" b="1" dirty="0">
                <a:effectLst/>
              </a:rPr>
              <a:t>How the table fits in the overall narrative, why they included it:</a:t>
            </a:r>
            <a:r>
              <a:rPr lang="en-US" dirty="0">
                <a:effectLst/>
              </a:rPr>
              <a:t> This table allows the sources to explore a specific context where the distinction between performance-induced and forced turnover may be particularly relevant. Corporate misconduct provides a unique setting to analyze how boards react to negative events that may not be directly tied to firm performance. The analysis of CEO turnover following misconduct sheds further light on the dynamics of performance-induced turnover and the factors influencing board decisions.</a:t>
            </a:r>
          </a:p>
          <a:p>
            <a:pPr algn="l"/>
            <a:r>
              <a:rPr lang="en-US" dirty="0">
                <a:effectLst/>
              </a:rPr>
              <a:t>3.</a:t>
            </a:r>
          </a:p>
          <a:p>
            <a:r>
              <a:rPr lang="en-US" b="1" dirty="0">
                <a:effectLst/>
              </a:rPr>
              <a:t>What the independent and dependent variables are:</a:t>
            </a:r>
            <a:endParaRPr lang="en-US" dirty="0">
              <a:effectLst/>
            </a:endParaRPr>
          </a:p>
          <a:p>
            <a:pPr algn="l"/>
            <a:r>
              <a:rPr lang="en-US" dirty="0">
                <a:effectLst/>
              </a:rPr>
              <a:t>○</a:t>
            </a:r>
          </a:p>
          <a:p>
            <a:r>
              <a:rPr lang="en-US" dirty="0">
                <a:effectLst/>
              </a:rPr>
              <a:t>Not applicable. Table 10 presents descriptive statistics rather than the results of a regression analysis. It summarizes observed patterns of CEO turnover following instances of corporate misconduct.</a:t>
            </a:r>
          </a:p>
          <a:p>
            <a:pPr algn="l"/>
            <a:r>
              <a:rPr lang="en-US" dirty="0">
                <a:effectLst/>
              </a:rPr>
              <a:t>4.</a:t>
            </a:r>
          </a:p>
          <a:p>
            <a:r>
              <a:rPr lang="en-US" b="1" dirty="0">
                <a:effectLst/>
              </a:rPr>
              <a:t>A short 2-paragraph script that I can read to explain it:</a:t>
            </a:r>
            <a:endParaRPr lang="en-US" dirty="0">
              <a:effectLst/>
            </a:endParaRPr>
          </a:p>
          <a:p>
            <a:pPr algn="l"/>
            <a:r>
              <a:rPr lang="en-US" dirty="0">
                <a:effectLst/>
              </a:rPr>
              <a:t>5.</a:t>
            </a:r>
          </a:p>
          <a:p>
            <a:r>
              <a:rPr lang="en-US" dirty="0">
                <a:effectLst/>
              </a:rPr>
              <a:t>"Table 10 shifts our attention to CEO departures following incidents of corporate misconduct, like accounting irregularities or regulatory violations. We examine how often CEOs leave their positions in the five years after these events conclude. Panel A shows a notable increase in CEO turnover during this period, with a departure rate of 21% per year compared to 12% in other years. This suggests that misconduct does have a significant impact on the stability of CEO positions.</a:t>
            </a:r>
          </a:p>
          <a:p>
            <a:pPr algn="l"/>
            <a:r>
              <a:rPr lang="en-US" dirty="0">
                <a:effectLst/>
              </a:rPr>
              <a:t>6.</a:t>
            </a:r>
          </a:p>
          <a:p>
            <a:r>
              <a:rPr lang="en-US" dirty="0">
                <a:effectLst/>
              </a:rPr>
              <a:t>Panel B digs deeper into the nature of these post-misconduct departures. Interestingly, we see a much higher proportion of these turnovers classified as </a:t>
            </a:r>
            <a:r>
              <a:rPr lang="en-US" i="1" dirty="0">
                <a:effectLst/>
              </a:rPr>
              <a:t>forced</a:t>
            </a:r>
            <a:r>
              <a:rPr lang="en-US" dirty="0">
                <a:effectLst/>
              </a:rPr>
              <a:t>, almost half, compared to 22% in other years. This makes sense, as boards may be more likely to explicitly remove a CEO following a serious transgression. We also find that these post-misconduct departures are more likely to occur after periods of poor stock performance, indicated by the negative 3-year CARs."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3380478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Investigating the Impact of Misconduct on Turnover: Table 11</a:t>
            </a:r>
          </a:p>
          <a:p>
            <a:pPr algn="l"/>
            <a:r>
              <a:rPr lang="en-US" dirty="0">
                <a:effectLst/>
              </a:rPr>
              <a:t>1.</a:t>
            </a:r>
          </a:p>
          <a:p>
            <a:r>
              <a:rPr lang="en-US" b="1" dirty="0">
                <a:effectLst/>
              </a:rPr>
              <a:t>High-level summary of the table</a:t>
            </a:r>
            <a:r>
              <a:rPr lang="en-US" dirty="0">
                <a:effectLst/>
              </a:rPr>
              <a:t>: Table 11 uses a two-probit model to assess how corporate misconduct influences both performance-induced and other types of CEO turnover. The key feature of this analysis is the inclusion of a misconduct indicator and its interaction with firm performance in the performance-induced turnover portion of the model. This allows the sources to isolate the unique effect of misconduct on CEO departures.</a:t>
            </a:r>
          </a:p>
          <a:p>
            <a:pPr algn="l"/>
            <a:r>
              <a:rPr lang="en-US" dirty="0">
                <a:effectLst/>
              </a:rPr>
              <a:t>2.</a:t>
            </a:r>
          </a:p>
          <a:p>
            <a:r>
              <a:rPr lang="en-US" b="1" dirty="0">
                <a:effectLst/>
              </a:rPr>
              <a:t>How the table fits in the overall narrative, why they included it</a:t>
            </a:r>
            <a:r>
              <a:rPr lang="en-US" dirty="0">
                <a:effectLst/>
              </a:rPr>
              <a:t>: This analysis builds upon the previous exploration of performance-induced and forced turnover. The sources have established that misconduct often leads to elevated CEO turnover. Now, they seek to determine </a:t>
            </a:r>
            <a:r>
              <a:rPr lang="en-US" b="1" dirty="0">
                <a:effectLst/>
              </a:rPr>
              <a:t>how misconduct affects the relationship between performance and turnover</a:t>
            </a:r>
            <a:r>
              <a:rPr lang="en-US" dirty="0">
                <a:effectLst/>
              </a:rPr>
              <a:t>. This table helps to understand whether boards hold CEOs to a different standard of performance in the wake of misconduct and whether misconduct itself acts as a distinct signal that can trigger a CEO's departure.</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Dependent variable</a:t>
            </a:r>
            <a:r>
              <a:rPr lang="en-US" dirty="0">
                <a:effectLst/>
              </a:rPr>
              <a:t>: An indicator variable equal to 1 if the CEO left the firm in a given year and 0 otherwise. This is modeled using two probit equations: one to capture performance-induced turnover (</a:t>
            </a:r>
            <a:r>
              <a:rPr lang="en-US" dirty="0" err="1">
                <a:effectLst/>
                <a:latin typeface="Courier New" panose="02070309020205020404" pitchFamily="49" charset="0"/>
              </a:rPr>
              <a:t>Pperf-ind</a:t>
            </a:r>
            <a:r>
              <a:rPr lang="en-US" dirty="0">
                <a:effectLst/>
              </a:rPr>
              <a:t>) and one to capture other types of turnover (</a:t>
            </a:r>
            <a:r>
              <a:rPr lang="en-US" dirty="0">
                <a:effectLst/>
                <a:latin typeface="Courier New" panose="02070309020205020404" pitchFamily="49" charset="0"/>
              </a:rPr>
              <a:t>Pother</a:t>
            </a:r>
            <a:r>
              <a:rPr lang="en-US" dirty="0">
                <a:effectLst/>
              </a:rPr>
              <a:t>).</a:t>
            </a:r>
          </a:p>
          <a:p>
            <a:pPr algn="l"/>
            <a:r>
              <a:rPr lang="en-US" dirty="0">
                <a:effectLst/>
              </a:rPr>
              <a:t>○</a:t>
            </a:r>
          </a:p>
          <a:p>
            <a:r>
              <a:rPr lang="en-US" b="1" dirty="0">
                <a:effectLst/>
              </a:rPr>
              <a:t>Independent variables</a:t>
            </a:r>
            <a:r>
              <a:rPr lang="en-US" dirty="0">
                <a:effectLst/>
              </a:rPr>
              <a:t>:</a:t>
            </a:r>
          </a:p>
          <a:p>
            <a:pPr algn="l"/>
            <a:r>
              <a:rPr lang="en-US" dirty="0">
                <a:effectLst/>
              </a:rPr>
              <a:t>■</a:t>
            </a:r>
          </a:p>
          <a:p>
            <a:r>
              <a:rPr lang="en-US" dirty="0">
                <a:effectLst/>
              </a:rPr>
              <a:t>For </a:t>
            </a:r>
            <a:r>
              <a:rPr lang="en-US" dirty="0" err="1">
                <a:effectLst/>
                <a:latin typeface="Courier New" panose="02070309020205020404" pitchFamily="49" charset="0"/>
              </a:rPr>
              <a:t>Pperf-ind</a:t>
            </a:r>
            <a:r>
              <a:rPr lang="en-US" dirty="0">
                <a:effectLst/>
              </a:rPr>
              <a:t>: The primary variables of interest are (1) a misconduct indicator that spans from the year the misconduct ends to 1 to 4 years later (depending on the model specification) and (2) the interaction of this indicator with average industry-adjusted monthly stock returns over the past three years (scaled by their standard deviation). The model also includes the scaled returns themselves and controls for CEO age, tenure, whether the firm pays dividends, and the log of its book assets.</a:t>
            </a:r>
          </a:p>
          <a:p>
            <a:pPr algn="l"/>
            <a:r>
              <a:rPr lang="en-US" dirty="0">
                <a:effectLst/>
              </a:rPr>
              <a:t>■</a:t>
            </a:r>
          </a:p>
          <a:p>
            <a:r>
              <a:rPr lang="en-US" dirty="0">
                <a:effectLst/>
              </a:rPr>
              <a:t>For </a:t>
            </a:r>
            <a:r>
              <a:rPr lang="en-US" dirty="0">
                <a:effectLst/>
                <a:latin typeface="Courier New" panose="02070309020205020404" pitchFamily="49" charset="0"/>
              </a:rPr>
              <a:t>Pother</a:t>
            </a:r>
            <a:r>
              <a:rPr lang="en-US" dirty="0">
                <a:effectLst/>
              </a:rPr>
              <a:t>: The same control variables as in the </a:t>
            </a:r>
            <a:r>
              <a:rPr lang="en-US" dirty="0" err="1">
                <a:effectLst/>
                <a:latin typeface="Courier New" panose="02070309020205020404" pitchFamily="49" charset="0"/>
              </a:rPr>
              <a:t>Pperf-ind</a:t>
            </a:r>
            <a:r>
              <a:rPr lang="en-US" dirty="0">
                <a:effectLst/>
              </a:rPr>
              <a:t> equation are included, along with a standalone misconduct indicator (without interaction with performance).</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11 examines the specific influence of corporate misconduct on CEO turnover. We know from previous analysis that CEOs are more likely to leave their positions following misconduct. Here, we investigate whether this is simply due to poor performance that often accompanies these events, or if the misconduct itself has an independent impact on the board's decision-making. To do this, we incorporate a misconduct indicator into our two-probit model, which already accounts for the relationship between firm performance and turnover.</a:t>
            </a:r>
          </a:p>
          <a:p>
            <a:pPr algn="l"/>
            <a:r>
              <a:rPr lang="en-US" dirty="0">
                <a:effectLst/>
              </a:rPr>
              <a:t>6.</a:t>
            </a:r>
          </a:p>
          <a:p>
            <a:r>
              <a:rPr lang="en-US" dirty="0">
                <a:effectLst/>
              </a:rPr>
              <a:t>Our findings indicate that misconduct does have a unique effect, separate from performance, on the likelihood of a CEO leaving. </a:t>
            </a:r>
            <a:r>
              <a:rPr lang="en-US" b="1" dirty="0">
                <a:effectLst/>
              </a:rPr>
              <a:t>The presence of misconduct significantly increases the probability of a performance-induced turnover, even after controlling for company performance</a:t>
            </a:r>
            <a:r>
              <a:rPr lang="en-US" dirty="0">
                <a:effectLst/>
              </a:rPr>
              <a:t>. This suggests that boards may be more inclined to remove CEOs after misconduct, holding them to a higher standard or treating the misconduct as a distinct negative signal about their leadership."</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862443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Shareholder Influence and CEO Turnover: Examining Table 12</a:t>
            </a:r>
          </a:p>
          <a:p>
            <a:pPr algn="l"/>
            <a:r>
              <a:rPr lang="en-US" dirty="0">
                <a:effectLst/>
              </a:rPr>
              <a:t>1.</a:t>
            </a:r>
          </a:p>
          <a:p>
            <a:r>
              <a:rPr lang="en-US" b="1" dirty="0">
                <a:effectLst/>
              </a:rPr>
              <a:t>High-level summary of the table:</a:t>
            </a:r>
            <a:r>
              <a:rPr lang="en-US" dirty="0">
                <a:effectLst/>
              </a:rPr>
              <a:t> Table 12 presents descriptive statistics on CEO turnover in the three years following two types of significant shareholder events: activist campaigns (Panel A) and large declines in institutional ownership (Panel B). For each event type, it reports the number of CEOs experiencing the event, the overall CEO turnover probability, the proportion of turnovers classified as forced, the average probability of being performance-induced, and the average 3-year industry-adjusted cumulative abnormal returns (CARs) preceding the turnover.</a:t>
            </a:r>
          </a:p>
          <a:p>
            <a:pPr algn="l"/>
            <a:r>
              <a:rPr lang="en-US" dirty="0">
                <a:effectLst/>
              </a:rPr>
              <a:t>2.</a:t>
            </a:r>
          </a:p>
          <a:p>
            <a:r>
              <a:rPr lang="en-US" b="1" dirty="0">
                <a:effectLst/>
              </a:rPr>
              <a:t>How the table fits in the overall narrative, why they included it</a:t>
            </a:r>
            <a:r>
              <a:rPr lang="en-US" dirty="0">
                <a:effectLst/>
              </a:rPr>
              <a:t>: This table extends the sources' investigation of performance-induced turnover by examining its prevalence in situations involving increased shareholder pressure. Activist investors, by definition, seek to influence corporate actions, which often includes advocating for leadership changes. Large institutional investors can also exert pressure on boards through their voting power or by exiting their positions. Analyzing turnover in these specific contexts helps to assess whether shareholder activism and institutional exits are associated with a higher likelihood of performance-related CEO departures.</a:t>
            </a:r>
          </a:p>
          <a:p>
            <a:pPr algn="l"/>
            <a:r>
              <a:rPr lang="en-US" dirty="0">
                <a:effectLst/>
              </a:rPr>
              <a:t>3.</a:t>
            </a:r>
          </a:p>
          <a:p>
            <a:r>
              <a:rPr lang="en-US" b="1" dirty="0">
                <a:effectLst/>
              </a:rPr>
              <a:t>What the independent and dependent variables are:</a:t>
            </a:r>
            <a:r>
              <a:rPr lang="en-US" dirty="0">
                <a:effectLst/>
              </a:rPr>
              <a:t> Similar to Table 10, Table 12 presents descriptive statistics rather than the results of a regression analysis. It summarizes observed patterns of CEO turnover following specific shareholder-related events.</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12 examines how CEO turnover is affected by two types of shareholder actions: activist campaigns and large declines in institutional ownership. These actions often signal dissatisfaction with a company's performance or direction and can lead to pressure on the board to make changes, including replacing the CEO. We track CEO departures in the three years following each type of event.</a:t>
            </a:r>
          </a:p>
          <a:p>
            <a:pPr algn="l"/>
            <a:r>
              <a:rPr lang="en-US" dirty="0">
                <a:effectLst/>
              </a:rPr>
              <a:t>6.</a:t>
            </a:r>
          </a:p>
          <a:p>
            <a:r>
              <a:rPr lang="en-US" dirty="0">
                <a:effectLst/>
              </a:rPr>
              <a:t>The data reveals that CEO turnover increases notably in the year of these events, with rates rising to 18% for activism and 17% for institutional exits, compared to a baseline rate of 12%. Importantly, a larger share of these departures are classified as </a:t>
            </a:r>
            <a:r>
              <a:rPr lang="en-US" i="1" dirty="0">
                <a:effectLst/>
              </a:rPr>
              <a:t>forced</a:t>
            </a:r>
            <a:r>
              <a:rPr lang="en-US" dirty="0">
                <a:effectLst/>
              </a:rPr>
              <a:t>, and the average probability of being </a:t>
            </a:r>
            <a:r>
              <a:rPr lang="en-US" i="1" dirty="0">
                <a:effectLst/>
              </a:rPr>
              <a:t>performance-induced</a:t>
            </a:r>
            <a:r>
              <a:rPr lang="en-US" dirty="0">
                <a:effectLst/>
              </a:rPr>
              <a:t> is also higher than usual. This suggests that shareholder activism and institutional exits might indeed trigger boards to take action against underperforming CEOs."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28</a:t>
            </a:fld>
            <a:endParaRPr lang="en-US"/>
          </a:p>
        </p:txBody>
      </p:sp>
    </p:spTree>
    <p:extLst>
      <p:ext uri="{BB962C8B-B14F-4D97-AF65-F5344CB8AC3E}">
        <p14:creationId xmlns:p14="http://schemas.microsoft.com/office/powerpoint/2010/main" val="209767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Evaluating Shareholder Influence with the Two-Probit Model: Table 13</a:t>
            </a:r>
          </a:p>
          <a:p>
            <a:pPr algn="l"/>
            <a:r>
              <a:rPr lang="en-US" dirty="0">
                <a:effectLst/>
              </a:rPr>
              <a:t>1.</a:t>
            </a:r>
          </a:p>
          <a:p>
            <a:r>
              <a:rPr lang="en-US" b="1" dirty="0">
                <a:effectLst/>
              </a:rPr>
              <a:t>High-level summary of the table</a:t>
            </a:r>
            <a:r>
              <a:rPr lang="en-US" dirty="0">
                <a:effectLst/>
              </a:rPr>
              <a:t>: Table 13 utilizes the two-probit model framework to rigorously examine the link between shareholder activism/exits and CEO turnover, controlling for firm performance. Panel A focuses on activist campaigns, while Panel B analyzes large declines in institutional ownership. Each panel presents the coefficients and t-statistics from the two probit equations: one for performance-induced turnover (</a:t>
            </a:r>
            <a:r>
              <a:rPr lang="en-US" dirty="0" err="1">
                <a:effectLst/>
                <a:latin typeface="Courier New" panose="02070309020205020404" pitchFamily="49" charset="0"/>
              </a:rPr>
              <a:t>Pperf</a:t>
            </a:r>
            <a:r>
              <a:rPr lang="en-US" dirty="0">
                <a:effectLst/>
                <a:latin typeface="Courier New" panose="02070309020205020404" pitchFamily="49" charset="0"/>
              </a:rPr>
              <a:t>–</a:t>
            </a:r>
            <a:r>
              <a:rPr lang="en-US" dirty="0" err="1">
                <a:effectLst/>
                <a:latin typeface="Courier New" panose="02070309020205020404" pitchFamily="49" charset="0"/>
              </a:rPr>
              <a:t>ind</a:t>
            </a:r>
            <a:r>
              <a:rPr lang="en-US" dirty="0">
                <a:effectLst/>
              </a:rPr>
              <a:t>) and one for other turnover (</a:t>
            </a:r>
            <a:r>
              <a:rPr lang="en-US" dirty="0">
                <a:effectLst/>
                <a:latin typeface="Courier New" panose="02070309020205020404" pitchFamily="49" charset="0"/>
              </a:rPr>
              <a:t>Pother</a:t>
            </a:r>
            <a:r>
              <a:rPr lang="en-US" dirty="0">
                <a:effectLst/>
              </a:rPr>
              <a:t>). Key independent variables include indicators capturing the periods following the shareholder events, their interaction with firm performance, and the standard set of controls.</a:t>
            </a:r>
          </a:p>
          <a:p>
            <a:pPr algn="l"/>
            <a:r>
              <a:rPr lang="en-US" dirty="0">
                <a:effectLst/>
              </a:rPr>
              <a:t>2.</a:t>
            </a:r>
          </a:p>
          <a:p>
            <a:r>
              <a:rPr lang="en-US" b="1" dirty="0">
                <a:effectLst/>
              </a:rPr>
              <a:t>How the table fits in the overall narrative, why they included it</a:t>
            </a:r>
            <a:r>
              <a:rPr lang="en-US" dirty="0">
                <a:effectLst/>
              </a:rPr>
              <a:t>: Building on the descriptive findings from Table 12, which suggested a potential relationship between shareholder pressure and CEO turnover, Table 13 seeks a more definitive answer by employing a more robust statistical analysis. The two-probit model allows the sources to isolate the specific effect of these shareholder events on CEO departures while accounting for the influence of firm performance. This approach helps determine whether these events independently contribute to CEO turnover or merely reflect responses to poor company performance.</a:t>
            </a:r>
          </a:p>
          <a:p>
            <a:pPr algn="l"/>
            <a:r>
              <a:rPr lang="en-US" dirty="0">
                <a:effectLst/>
              </a:rPr>
              <a:t>3.</a:t>
            </a:r>
          </a:p>
          <a:p>
            <a:r>
              <a:rPr lang="en-US" b="1" dirty="0">
                <a:effectLst/>
              </a:rPr>
              <a:t>What the independent and dependent variables are</a:t>
            </a:r>
            <a:r>
              <a:rPr lang="en-US" dirty="0">
                <a:effectLst/>
              </a:rPr>
              <a:t>:</a:t>
            </a:r>
          </a:p>
          <a:p>
            <a:pPr algn="l"/>
            <a:r>
              <a:rPr lang="en-US" dirty="0">
                <a:effectLst/>
              </a:rPr>
              <a:t>○</a:t>
            </a:r>
          </a:p>
          <a:p>
            <a:r>
              <a:rPr lang="en-US" b="1" dirty="0">
                <a:effectLst/>
              </a:rPr>
              <a:t>Dependent variable</a:t>
            </a:r>
            <a:r>
              <a:rPr lang="en-US" dirty="0">
                <a:effectLst/>
              </a:rPr>
              <a:t>: Similar to Table 11, the dependent variable is an indicator, equal to 1 if the CEO left the firm in a given year and 0 otherwise. This is modeled using two probit equations: one to capture performance-induced turnover (</a:t>
            </a:r>
            <a:r>
              <a:rPr lang="en-US" dirty="0" err="1">
                <a:effectLst/>
                <a:latin typeface="Courier New" panose="02070309020205020404" pitchFamily="49" charset="0"/>
              </a:rPr>
              <a:t>Pperf-ind</a:t>
            </a:r>
            <a:r>
              <a:rPr lang="en-US" dirty="0">
                <a:effectLst/>
              </a:rPr>
              <a:t>) and one to capture other types of turnover (</a:t>
            </a:r>
            <a:r>
              <a:rPr lang="en-US" dirty="0">
                <a:effectLst/>
                <a:latin typeface="Courier New" panose="02070309020205020404" pitchFamily="49" charset="0"/>
              </a:rPr>
              <a:t>Pother</a:t>
            </a:r>
            <a:r>
              <a:rPr lang="en-US" dirty="0">
                <a:effectLst/>
              </a:rPr>
              <a:t>).</a:t>
            </a:r>
          </a:p>
          <a:p>
            <a:pPr algn="l"/>
            <a:r>
              <a:rPr lang="en-US" dirty="0">
                <a:effectLst/>
              </a:rPr>
              <a:t>○</a:t>
            </a:r>
          </a:p>
          <a:p>
            <a:r>
              <a:rPr lang="en-US" b="1" dirty="0">
                <a:effectLst/>
              </a:rPr>
              <a:t>Independent variables</a:t>
            </a:r>
            <a:r>
              <a:rPr lang="en-US" dirty="0">
                <a:effectLst/>
              </a:rPr>
              <a:t>:</a:t>
            </a:r>
          </a:p>
          <a:p>
            <a:pPr algn="l"/>
            <a:r>
              <a:rPr lang="en-US" dirty="0">
                <a:effectLst/>
              </a:rPr>
              <a:t>■</a:t>
            </a:r>
          </a:p>
          <a:p>
            <a:r>
              <a:rPr lang="en-US" dirty="0">
                <a:effectLst/>
              </a:rPr>
              <a:t>For both </a:t>
            </a:r>
            <a:r>
              <a:rPr lang="en-US" dirty="0" err="1">
                <a:effectLst/>
                <a:latin typeface="Courier New" panose="02070309020205020404" pitchFamily="49" charset="0"/>
              </a:rPr>
              <a:t>Pperf-ind</a:t>
            </a:r>
            <a:r>
              <a:rPr lang="en-US" dirty="0">
                <a:effectLst/>
              </a:rPr>
              <a:t> and </a:t>
            </a:r>
            <a:r>
              <a:rPr lang="en-US" dirty="0">
                <a:effectLst/>
                <a:latin typeface="Courier New" panose="02070309020205020404" pitchFamily="49" charset="0"/>
              </a:rPr>
              <a:t>Pother</a:t>
            </a:r>
            <a:r>
              <a:rPr lang="en-US" dirty="0">
                <a:effectLst/>
              </a:rPr>
              <a:t>:</a:t>
            </a:r>
          </a:p>
          <a:p>
            <a:pPr algn="l"/>
            <a:r>
              <a:rPr lang="en-US" dirty="0">
                <a:effectLst/>
              </a:rPr>
              <a:t>●</a:t>
            </a:r>
          </a:p>
          <a:p>
            <a:r>
              <a:rPr lang="en-US" dirty="0">
                <a:effectLst/>
              </a:rPr>
              <a:t>A key variable is an indicator capturing the 1-year, 2-year, or 3-year period following the shareholder event (depending on the model specification). This helps assess the temporal impact of the event on turnover.</a:t>
            </a:r>
          </a:p>
          <a:p>
            <a:pPr algn="l"/>
            <a:r>
              <a:rPr lang="en-US" dirty="0">
                <a:effectLst/>
              </a:rPr>
              <a:t>●</a:t>
            </a:r>
          </a:p>
          <a:p>
            <a:r>
              <a:rPr lang="en-US" dirty="0">
                <a:effectLst/>
              </a:rPr>
              <a:t>In the </a:t>
            </a:r>
            <a:r>
              <a:rPr lang="en-US" dirty="0" err="1">
                <a:effectLst/>
                <a:latin typeface="Courier New" panose="02070309020205020404" pitchFamily="49" charset="0"/>
              </a:rPr>
              <a:t>Pperf-ind</a:t>
            </a:r>
            <a:r>
              <a:rPr lang="en-US" dirty="0">
                <a:effectLst/>
              </a:rPr>
              <a:t> equation, this event indicator is also interacted with the average industry-adjusted monthly stock returns over the past three years (scaled by their standard deviation). This interaction allows the sources to determine whether the relationship between firm performance and turnover changes after shareholder activism or institutional exits.</a:t>
            </a:r>
          </a:p>
          <a:p>
            <a:pPr algn="l"/>
            <a:r>
              <a:rPr lang="en-US" dirty="0">
                <a:effectLst/>
              </a:rPr>
              <a:t>■</a:t>
            </a:r>
          </a:p>
          <a:p>
            <a:r>
              <a:rPr lang="en-US" dirty="0">
                <a:effectLst/>
              </a:rPr>
              <a:t>The models further include the scaled returns themselves and controls for CEO age, tenure, whether the firm pays dividends, and the log of its book assets.</a:t>
            </a:r>
          </a:p>
          <a:p>
            <a:pPr algn="l"/>
            <a:r>
              <a:rPr lang="en-US" dirty="0">
                <a:effectLst/>
              </a:rPr>
              <a:t>4.</a:t>
            </a:r>
          </a:p>
          <a:p>
            <a:r>
              <a:rPr lang="en-US" b="1" dirty="0">
                <a:effectLst/>
              </a:rPr>
              <a:t>A short 2-paragraph script that I can read to explain it</a:t>
            </a:r>
            <a:r>
              <a:rPr lang="en-US" dirty="0">
                <a:effectLst/>
              </a:rPr>
              <a:t>:</a:t>
            </a:r>
          </a:p>
          <a:p>
            <a:pPr algn="l"/>
            <a:r>
              <a:rPr lang="en-US" dirty="0">
                <a:effectLst/>
              </a:rPr>
              <a:t>5.</a:t>
            </a:r>
          </a:p>
          <a:p>
            <a:r>
              <a:rPr lang="en-US" dirty="0">
                <a:effectLst/>
              </a:rPr>
              <a:t>"Table 13 takes our analysis of shareholder influence on CEO turnover a step further. We move beyond simple descriptive statistics and employ the two-probit model, allowing us to control for company performance while evaluating the impact of activist campaigns and large institutional exits. This helps disentangle the effects of shareholder pressure from those of underlying company performance.</a:t>
            </a:r>
          </a:p>
          <a:p>
            <a:pPr algn="l"/>
            <a:r>
              <a:rPr lang="en-US" dirty="0">
                <a:effectLst/>
              </a:rPr>
              <a:t>6.</a:t>
            </a:r>
          </a:p>
          <a:p>
            <a:r>
              <a:rPr lang="en-US" dirty="0">
                <a:effectLst/>
              </a:rPr>
              <a:t>The results are quite interesting. We find that activist campaigns, especially those lasting over two or three years, are significantly associated with an increased probability of performance-induced CEO turnover. This suggests that activist investors might indeed be successful in pushing boards to hold CEOs accountable for performance. On the other hand, the effect of large declines in institutional ownership appears less pronounced, with only a modest increase in performance-induced turnover observed."</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29</a:t>
            </a:fld>
            <a:endParaRPr lang="en-US"/>
          </a:p>
        </p:txBody>
      </p:sp>
    </p:spTree>
    <p:extLst>
      <p:ext uri="{BB962C8B-B14F-4D97-AF65-F5344CB8AC3E}">
        <p14:creationId xmlns:p14="http://schemas.microsoft.com/office/powerpoint/2010/main" val="13507811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131314"/>
              </a:solidFill>
              <a:effectLst/>
              <a:latin typeface="Google Sans Text"/>
            </a:endParaRP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31</a:t>
            </a:fld>
            <a:endParaRPr lang="en-US"/>
          </a:p>
        </p:txBody>
      </p:sp>
    </p:spTree>
    <p:extLst>
      <p:ext uri="{BB962C8B-B14F-4D97-AF65-F5344CB8AC3E}">
        <p14:creationId xmlns:p14="http://schemas.microsoft.com/office/powerpoint/2010/main" val="3636701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11/26/2024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a:bodyPr>
          <a:lstStyle/>
          <a:p>
            <a:r>
              <a:rPr lang="en-US" sz="3600" dirty="0">
                <a:ea typeface="+mj-lt"/>
                <a:cs typeface="+mj-lt"/>
              </a:rPr>
              <a:t>Performance-Induced CEO Turnover</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77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Dirk </a:t>
            </a:r>
            <a:r>
              <a:rPr lang="en-US" sz="2900" b="1" dirty="0" err="1">
                <a:solidFill>
                  <a:schemeClr val="tx1"/>
                </a:solidFill>
                <a:ea typeface="Calibri"/>
                <a:cs typeface="Calibri"/>
              </a:rPr>
              <a:t>Jenter</a:t>
            </a:r>
            <a:br>
              <a:rPr lang="en-US" sz="2900" dirty="0">
                <a:solidFill>
                  <a:schemeClr val="tx1"/>
                </a:solidFill>
                <a:ea typeface="Calibri"/>
                <a:cs typeface="Calibri"/>
              </a:rPr>
            </a:br>
            <a:r>
              <a:rPr lang="en-US" sz="2900" dirty="0">
                <a:solidFill>
                  <a:schemeClr val="tx1"/>
                </a:solidFill>
                <a:ea typeface="Calibri"/>
                <a:cs typeface="Calibri"/>
              </a:rPr>
              <a:t>London School of Economics and Political Science and CEPR</a:t>
            </a:r>
          </a:p>
          <a:p>
            <a:br>
              <a:rPr lang="en-US" sz="2900" b="1" dirty="0">
                <a:ea typeface="Calibri"/>
                <a:cs typeface="Calibri"/>
              </a:rPr>
            </a:br>
            <a:r>
              <a:rPr lang="en-US" sz="2900" b="1" dirty="0">
                <a:solidFill>
                  <a:schemeClr val="tx1"/>
                </a:solidFill>
                <a:ea typeface="Calibri"/>
                <a:cs typeface="Calibri"/>
              </a:rPr>
              <a:t>Katharina Lewellen</a:t>
            </a:r>
            <a:br>
              <a:rPr lang="en-US" sz="2900" dirty="0">
                <a:solidFill>
                  <a:schemeClr val="tx1"/>
                </a:solidFill>
                <a:ea typeface="Calibri"/>
                <a:cs typeface="Calibri"/>
              </a:rPr>
            </a:br>
            <a:r>
              <a:rPr lang="en-US" sz="2900" dirty="0">
                <a:solidFill>
                  <a:schemeClr val="tx1"/>
                </a:solidFill>
                <a:ea typeface="Calibri"/>
                <a:cs typeface="Calibri"/>
              </a:rPr>
              <a:t>Tuck School of Business, Dartmouth College</a:t>
            </a:r>
            <a:endParaRPr lang="en-US" sz="2900" b="1" dirty="0">
              <a:solidFill>
                <a:schemeClr val="tx1"/>
              </a:solidFill>
              <a:ea typeface="Calibri"/>
              <a:cs typeface="Calibri"/>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fontScale="92500" lnSpcReduction="20000"/>
          </a:bodyPr>
          <a:lstStyle/>
          <a:p>
            <a:r>
              <a:rPr lang="en-US" sz="2800" dirty="0">
                <a:ea typeface="Calibri"/>
                <a:cs typeface="Times New Roman"/>
              </a:rPr>
              <a:t>The sources aim to determine whether poor firm performance leads to the end of CEO-firm matches, regardless of the specific mechanism of separation.</a:t>
            </a:r>
          </a:p>
          <a:p>
            <a:r>
              <a:rPr lang="en-US" sz="2800" dirty="0">
                <a:ea typeface="Calibri"/>
                <a:cs typeface="Times New Roman"/>
              </a:rPr>
              <a:t>The research seeks to understand the prevalence of performance-induced CEO turnover as a distinct category from forced or voluntary turnover.</a:t>
            </a:r>
          </a:p>
          <a:p>
            <a:r>
              <a:rPr lang="en-US" sz="2800" dirty="0">
                <a:ea typeface="Calibri"/>
                <a:cs typeface="Times New Roman"/>
              </a:rPr>
              <a:t>The study questions the accuracy of prior research on forced CEO turnover given the challenges in identifying true forced departures.</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0C75-EDA0-BD2F-24ED-312C7F561CB4}"/>
              </a:ext>
            </a:extLst>
          </p:cNvPr>
          <p:cNvSpPr>
            <a:spLocks noGrp="1"/>
          </p:cNvSpPr>
          <p:nvPr>
            <p:ph type="title"/>
          </p:nvPr>
        </p:nvSpPr>
        <p:spPr/>
        <p:txBody>
          <a:bodyPr/>
          <a:lstStyle/>
          <a:p>
            <a:r>
              <a:rPr lang="en-US" dirty="0"/>
              <a:t>Prior Literature</a:t>
            </a:r>
          </a:p>
        </p:txBody>
      </p:sp>
      <p:sp>
        <p:nvSpPr>
          <p:cNvPr id="3" name="Content Placeholder 2">
            <a:extLst>
              <a:ext uri="{FF2B5EF4-FFF2-40B4-BE49-F238E27FC236}">
                <a16:creationId xmlns:a16="http://schemas.microsoft.com/office/drawing/2014/main" id="{07C17947-B139-354B-11E0-9005FE7EFCBF}"/>
              </a:ext>
            </a:extLst>
          </p:cNvPr>
          <p:cNvSpPr>
            <a:spLocks noGrp="1"/>
          </p:cNvSpPr>
          <p:nvPr>
            <p:ph idx="1"/>
          </p:nvPr>
        </p:nvSpPr>
        <p:spPr/>
        <p:txBody>
          <a:bodyPr>
            <a:normAutofit fontScale="70000" lnSpcReduction="20000"/>
          </a:bodyPr>
          <a:lstStyle/>
          <a:p>
            <a:endParaRPr lang="en-US" dirty="0"/>
          </a:p>
          <a:p>
            <a:r>
              <a:rPr lang="en-US" dirty="0"/>
              <a:t>Prior studies on CEO turnover and firm performance primarily focused on identifying forced departures using algorithms based on CEO characteristics and turnover process details.</a:t>
            </a:r>
          </a:p>
          <a:p>
            <a:r>
              <a:rPr lang="en-US" dirty="0"/>
              <a:t>These studies typically found a weak relationship between performance and forced turnover, leading to the conclusion that dismissals are not a significant incentive for CEOs.</a:t>
            </a:r>
          </a:p>
          <a:p>
            <a:r>
              <a:rPr lang="en-US" dirty="0"/>
              <a:t>The limited impact of performance on CEO turnover was often attributed to CEO entrenchment and weak corporate governance, particularly for long-tenured CEOs.</a:t>
            </a:r>
          </a:p>
        </p:txBody>
      </p:sp>
    </p:spTree>
    <p:extLst>
      <p:ext uri="{BB962C8B-B14F-4D97-AF65-F5344CB8AC3E}">
        <p14:creationId xmlns:p14="http://schemas.microsoft.com/office/powerpoint/2010/main" val="325051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a:xfrm>
            <a:off x="457200" y="1063229"/>
            <a:ext cx="8229600" cy="3394472"/>
          </a:xfrm>
        </p:spPr>
        <p:txBody>
          <a:bodyPr>
            <a:normAutofit/>
          </a:bodyPr>
          <a:lstStyle/>
          <a:p>
            <a:r>
              <a:rPr lang="en-US" b="0" i="0" dirty="0">
                <a:solidFill>
                  <a:srgbClr val="131314"/>
                </a:solidFill>
                <a:effectLst/>
                <a:latin typeface="Google Sans Text"/>
              </a:rPr>
              <a:t>The authors challenge the prevailing view of CEO turnover and implicitly suggest that: </a:t>
            </a:r>
            <a:r>
              <a:rPr lang="en-US" b="1" i="0" dirty="0">
                <a:solidFill>
                  <a:srgbClr val="131314"/>
                </a:solidFill>
                <a:effectLst/>
                <a:latin typeface="Google Sans Text"/>
              </a:rPr>
              <a:t>classifying CEO departures solely as forced or voluntary may underestimate the influence of performance.</a:t>
            </a:r>
            <a:endParaRPr lang="en-US" dirty="0"/>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a:xfrm>
            <a:off x="457200" y="999407"/>
            <a:ext cx="8229600" cy="3394472"/>
          </a:xfrm>
        </p:spPr>
        <p:txBody>
          <a:bodyPr>
            <a:normAutofit fontScale="70000" lnSpcReduction="20000"/>
          </a:bodyPr>
          <a:lstStyle/>
          <a:p>
            <a:endParaRPr lang="en-US" dirty="0"/>
          </a:p>
          <a:p>
            <a:r>
              <a:rPr lang="en-US" dirty="0"/>
              <a:t>The study constructs a sample of CEO turnovers from the Standard &amp; Poor's </a:t>
            </a:r>
            <a:r>
              <a:rPr lang="en-US" dirty="0" err="1"/>
              <a:t>ExecuComp</a:t>
            </a:r>
            <a:r>
              <a:rPr lang="en-US" dirty="0"/>
              <a:t> database, spanning 1993 to 2011 and encompassing firms in the S&amp;P 500, </a:t>
            </a:r>
            <a:r>
              <a:rPr lang="en-US" dirty="0" err="1"/>
              <a:t>MidCap</a:t>
            </a:r>
            <a:r>
              <a:rPr lang="en-US" dirty="0"/>
              <a:t>, and SmallCap indices.</a:t>
            </a:r>
          </a:p>
          <a:p>
            <a:r>
              <a:rPr lang="en-US" dirty="0"/>
              <a:t>CEO turnover events are verified and corrected using news searches in the Factiva database to ensure accuracy and completeness.</a:t>
            </a:r>
          </a:p>
          <a:p>
            <a:r>
              <a:rPr lang="en-US" dirty="0"/>
              <a:t>Turnovers are classified as forced or voluntary using the Parrino (1997) algorithm, which relies on information from press reports and the timing and circumstances of CEO departures.</a:t>
            </a:r>
          </a:p>
        </p:txBody>
      </p:sp>
    </p:spTree>
    <p:extLst>
      <p:ext uri="{BB962C8B-B14F-4D97-AF65-F5344CB8AC3E}">
        <p14:creationId xmlns:p14="http://schemas.microsoft.com/office/powerpoint/2010/main" val="10293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874514"/>
            <a:ext cx="8229600" cy="3394472"/>
          </a:xfrm>
        </p:spPr>
        <p:txBody>
          <a:bodyPr>
            <a:normAutofit fontScale="92500" lnSpcReduction="10000"/>
          </a:bodyPr>
          <a:lstStyle/>
          <a:p>
            <a:endParaRPr lang="en-US" sz="2400" dirty="0"/>
          </a:p>
          <a:p>
            <a:r>
              <a:rPr lang="en-US" sz="2400" dirty="0"/>
              <a:t>The study finds that 38% to 55% of all CEO turnovers are performance-induced, considerably higher than the proportion of forced turnovers identified in previous research.</a:t>
            </a:r>
          </a:p>
          <a:p>
            <a:r>
              <a:rPr lang="en-US" sz="2400" dirty="0"/>
              <a:t>Turnovers traditionally classified as "voluntary" show a strong correlation with poor performance, indicating that many are likely driven by performance-related factors.</a:t>
            </a:r>
          </a:p>
          <a:p>
            <a:r>
              <a:rPr lang="en-US" sz="2400" dirty="0"/>
              <a:t>The research highlights the importance of recent performance (3 to 4 years) in driving performance-induced CEO turnover, with older performance signals having limited influence.</a:t>
            </a:r>
          </a:p>
          <a:p>
            <a:endParaRPr lang="en-US" sz="2400" dirty="0"/>
          </a:p>
        </p:txBody>
      </p:sp>
    </p:spTree>
    <p:extLst>
      <p:ext uri="{BB962C8B-B14F-4D97-AF65-F5344CB8AC3E}">
        <p14:creationId xmlns:p14="http://schemas.microsoft.com/office/powerpoint/2010/main" val="228072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A880-E6B2-73E3-58D7-99283363D668}"/>
              </a:ext>
            </a:extLst>
          </p:cNvPr>
          <p:cNvSpPr>
            <a:spLocks noGrp="1"/>
          </p:cNvSpPr>
          <p:nvPr>
            <p:ph type="title"/>
          </p:nvPr>
        </p:nvSpPr>
        <p:spPr/>
        <p:txBody>
          <a:bodyPr/>
          <a:lstStyle/>
          <a:p>
            <a:r>
              <a:rPr lang="en-US" dirty="0"/>
              <a:t>Model Explanation</a:t>
            </a:r>
          </a:p>
        </p:txBody>
      </p:sp>
      <p:pic>
        <p:nvPicPr>
          <p:cNvPr id="5" name="Content Placeholder 4">
            <a:extLst>
              <a:ext uri="{FF2B5EF4-FFF2-40B4-BE49-F238E27FC236}">
                <a16:creationId xmlns:a16="http://schemas.microsoft.com/office/drawing/2014/main" id="{54D846EA-A65B-DF0D-2FED-8CF93C50FDAE}"/>
              </a:ext>
            </a:extLst>
          </p:cNvPr>
          <p:cNvPicPr>
            <a:picLocks noGrp="1" noChangeAspect="1"/>
          </p:cNvPicPr>
          <p:nvPr>
            <p:ph idx="1"/>
          </p:nvPr>
        </p:nvPicPr>
        <p:blipFill>
          <a:blip r:embed="rId3"/>
          <a:stretch>
            <a:fillRect/>
          </a:stretch>
        </p:blipFill>
        <p:spPr>
          <a:xfrm>
            <a:off x="2376450" y="1648129"/>
            <a:ext cx="4134427" cy="428685"/>
          </a:xfrm>
        </p:spPr>
      </p:pic>
      <p:pic>
        <p:nvPicPr>
          <p:cNvPr id="7" name="Picture 6">
            <a:extLst>
              <a:ext uri="{FF2B5EF4-FFF2-40B4-BE49-F238E27FC236}">
                <a16:creationId xmlns:a16="http://schemas.microsoft.com/office/drawing/2014/main" id="{AF7B2ADE-C771-D1C1-71B4-5655AE16D7A8}"/>
              </a:ext>
            </a:extLst>
          </p:cNvPr>
          <p:cNvPicPr>
            <a:picLocks noChangeAspect="1"/>
          </p:cNvPicPr>
          <p:nvPr/>
        </p:nvPicPr>
        <p:blipFill>
          <a:blip r:embed="rId4"/>
          <a:stretch>
            <a:fillRect/>
          </a:stretch>
        </p:blipFill>
        <p:spPr>
          <a:xfrm>
            <a:off x="2361891" y="2362171"/>
            <a:ext cx="4420217" cy="419158"/>
          </a:xfrm>
          <a:prstGeom prst="rect">
            <a:avLst/>
          </a:prstGeom>
        </p:spPr>
      </p:pic>
    </p:spTree>
    <p:extLst>
      <p:ext uri="{BB962C8B-B14F-4D97-AF65-F5344CB8AC3E}">
        <p14:creationId xmlns:p14="http://schemas.microsoft.com/office/powerpoint/2010/main" val="3271485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7EA05-3F34-10C9-8EA6-262D1E80507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545047B-224B-4A43-6054-612C9DE4C826}"/>
              </a:ext>
            </a:extLst>
          </p:cNvPr>
          <p:cNvPicPr>
            <a:picLocks noGrp="1" noChangeAspect="1"/>
          </p:cNvPicPr>
          <p:nvPr>
            <p:ph idx="1"/>
          </p:nvPr>
        </p:nvPicPr>
        <p:blipFill>
          <a:blip r:embed="rId3"/>
          <a:stretch>
            <a:fillRect/>
          </a:stretch>
        </p:blipFill>
        <p:spPr>
          <a:xfrm>
            <a:off x="777699" y="329865"/>
            <a:ext cx="7588601" cy="4483769"/>
          </a:xfrm>
        </p:spPr>
      </p:pic>
    </p:spTree>
    <p:extLst>
      <p:ext uri="{BB962C8B-B14F-4D97-AF65-F5344CB8AC3E}">
        <p14:creationId xmlns:p14="http://schemas.microsoft.com/office/powerpoint/2010/main" val="3727947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63A04-D614-010E-CF48-F023BF14B2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D98F87-93C0-3C5A-F48B-9C684C67292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2601B9B-9E19-A52C-06CC-75DC7001471B}"/>
              </a:ext>
            </a:extLst>
          </p:cNvPr>
          <p:cNvPicPr>
            <a:picLocks noChangeAspect="1"/>
          </p:cNvPicPr>
          <p:nvPr/>
        </p:nvPicPr>
        <p:blipFill>
          <a:blip r:embed="rId3"/>
          <a:stretch>
            <a:fillRect/>
          </a:stretch>
        </p:blipFill>
        <p:spPr>
          <a:xfrm>
            <a:off x="651915" y="218746"/>
            <a:ext cx="7840169" cy="4706007"/>
          </a:xfrm>
          <a:prstGeom prst="rect">
            <a:avLst/>
          </a:prstGeom>
        </p:spPr>
      </p:pic>
    </p:spTree>
    <p:extLst>
      <p:ext uri="{BB962C8B-B14F-4D97-AF65-F5344CB8AC3E}">
        <p14:creationId xmlns:p14="http://schemas.microsoft.com/office/powerpoint/2010/main" val="67596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4C261-C99D-5B00-DDF0-FD5FDD49D1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6D1BB6-F625-87EC-569B-56D18B0009AB}"/>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D471F724-4562-0169-FD8A-60DC517D147D}"/>
              </a:ext>
            </a:extLst>
          </p:cNvPr>
          <p:cNvPicPr>
            <a:picLocks noChangeAspect="1"/>
          </p:cNvPicPr>
          <p:nvPr/>
        </p:nvPicPr>
        <p:blipFill>
          <a:blip r:embed="rId3"/>
          <a:stretch>
            <a:fillRect/>
          </a:stretch>
        </p:blipFill>
        <p:spPr>
          <a:xfrm>
            <a:off x="675731" y="333062"/>
            <a:ext cx="7792537" cy="4477375"/>
          </a:xfrm>
          <a:prstGeom prst="rect">
            <a:avLst/>
          </a:prstGeom>
        </p:spPr>
      </p:pic>
    </p:spTree>
    <p:extLst>
      <p:ext uri="{BB962C8B-B14F-4D97-AF65-F5344CB8AC3E}">
        <p14:creationId xmlns:p14="http://schemas.microsoft.com/office/powerpoint/2010/main" val="1740913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A3A0-0D1A-0716-E848-DB9F3CA039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D54BFB-B202-47D0-5B38-D30A98AB6FE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20B8C40-1E11-00CE-E792-D95010E16C74}"/>
              </a:ext>
            </a:extLst>
          </p:cNvPr>
          <p:cNvPicPr>
            <a:picLocks noChangeAspect="1"/>
          </p:cNvPicPr>
          <p:nvPr/>
        </p:nvPicPr>
        <p:blipFill>
          <a:blip r:embed="rId3"/>
          <a:stretch>
            <a:fillRect/>
          </a:stretch>
        </p:blipFill>
        <p:spPr>
          <a:xfrm>
            <a:off x="924674" y="374042"/>
            <a:ext cx="7294652" cy="4563479"/>
          </a:xfrm>
          <a:prstGeom prst="rect">
            <a:avLst/>
          </a:prstGeom>
        </p:spPr>
      </p:pic>
    </p:spTree>
    <p:extLst>
      <p:ext uri="{BB962C8B-B14F-4D97-AF65-F5344CB8AC3E}">
        <p14:creationId xmlns:p14="http://schemas.microsoft.com/office/powerpoint/2010/main" val="2104617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2AF3F-ED52-5D22-3A70-10DAFC4E3DE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39BEF6C-B56A-521C-401F-65C648D15B92}"/>
              </a:ext>
            </a:extLst>
          </p:cNvPr>
          <p:cNvPicPr>
            <a:picLocks noGrp="1" noChangeAspect="1"/>
          </p:cNvPicPr>
          <p:nvPr>
            <p:ph idx="1"/>
          </p:nvPr>
        </p:nvPicPr>
        <p:blipFill>
          <a:blip r:embed="rId3"/>
          <a:stretch>
            <a:fillRect/>
          </a:stretch>
        </p:blipFill>
        <p:spPr>
          <a:xfrm>
            <a:off x="305665" y="1330170"/>
            <a:ext cx="8532669" cy="2483160"/>
          </a:xfrm>
        </p:spPr>
      </p:pic>
    </p:spTree>
    <p:extLst>
      <p:ext uri="{BB962C8B-B14F-4D97-AF65-F5344CB8AC3E}">
        <p14:creationId xmlns:p14="http://schemas.microsoft.com/office/powerpoint/2010/main" val="1631500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22BA-ECCC-1326-6302-A0C451FA7D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F42A29-2301-0D8F-D71D-6F961A96CC7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16FAF87-FD55-6351-CC64-3400C24BB5E7}"/>
              </a:ext>
            </a:extLst>
          </p:cNvPr>
          <p:cNvPicPr>
            <a:picLocks noChangeAspect="1"/>
          </p:cNvPicPr>
          <p:nvPr/>
        </p:nvPicPr>
        <p:blipFill>
          <a:blip r:embed="rId3"/>
          <a:stretch>
            <a:fillRect/>
          </a:stretch>
        </p:blipFill>
        <p:spPr>
          <a:xfrm>
            <a:off x="318259" y="686879"/>
            <a:ext cx="8507482" cy="3769741"/>
          </a:xfrm>
          <a:prstGeom prst="rect">
            <a:avLst/>
          </a:prstGeom>
        </p:spPr>
      </p:pic>
    </p:spTree>
    <p:extLst>
      <p:ext uri="{BB962C8B-B14F-4D97-AF65-F5344CB8AC3E}">
        <p14:creationId xmlns:p14="http://schemas.microsoft.com/office/powerpoint/2010/main" val="313540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AEEC-C0BA-1F1E-1216-72A475BC92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CDE91D-73BD-FF9C-41C6-5CE99FF570D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7A0DA75-BE50-7836-E167-3470BA456D99}"/>
              </a:ext>
            </a:extLst>
          </p:cNvPr>
          <p:cNvPicPr>
            <a:picLocks noChangeAspect="1"/>
          </p:cNvPicPr>
          <p:nvPr/>
        </p:nvPicPr>
        <p:blipFill>
          <a:blip r:embed="rId3"/>
          <a:stretch>
            <a:fillRect/>
          </a:stretch>
        </p:blipFill>
        <p:spPr>
          <a:xfrm>
            <a:off x="190762" y="456791"/>
            <a:ext cx="8762475" cy="4229918"/>
          </a:xfrm>
          <a:prstGeom prst="rect">
            <a:avLst/>
          </a:prstGeom>
        </p:spPr>
      </p:pic>
    </p:spTree>
    <p:extLst>
      <p:ext uri="{BB962C8B-B14F-4D97-AF65-F5344CB8AC3E}">
        <p14:creationId xmlns:p14="http://schemas.microsoft.com/office/powerpoint/2010/main" val="4069423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9028-3B72-125A-8ADD-E3D21F5C3B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428E79-E8DA-A32A-A8D0-9FD3809D79E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EAC4272-B124-DADB-9D3E-BAAD739D6FEF}"/>
              </a:ext>
            </a:extLst>
          </p:cNvPr>
          <p:cNvPicPr>
            <a:picLocks noChangeAspect="1"/>
          </p:cNvPicPr>
          <p:nvPr/>
        </p:nvPicPr>
        <p:blipFill>
          <a:blip r:embed="rId3"/>
          <a:stretch>
            <a:fillRect/>
          </a:stretch>
        </p:blipFill>
        <p:spPr>
          <a:xfrm>
            <a:off x="1266001" y="205979"/>
            <a:ext cx="6611998" cy="4781812"/>
          </a:xfrm>
          <a:prstGeom prst="rect">
            <a:avLst/>
          </a:prstGeom>
        </p:spPr>
      </p:pic>
    </p:spTree>
    <p:extLst>
      <p:ext uri="{BB962C8B-B14F-4D97-AF65-F5344CB8AC3E}">
        <p14:creationId xmlns:p14="http://schemas.microsoft.com/office/powerpoint/2010/main" val="1462453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A882-334A-598C-70D7-1748E04A5C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850E50-8EC1-B87B-A475-C84DC6E05C7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B335BA4-D565-9547-EAF5-4F4C284F20E4}"/>
              </a:ext>
            </a:extLst>
          </p:cNvPr>
          <p:cNvPicPr>
            <a:picLocks noChangeAspect="1"/>
          </p:cNvPicPr>
          <p:nvPr/>
        </p:nvPicPr>
        <p:blipFill>
          <a:blip r:embed="rId3"/>
          <a:stretch>
            <a:fillRect/>
          </a:stretch>
        </p:blipFill>
        <p:spPr>
          <a:xfrm>
            <a:off x="1866882" y="205979"/>
            <a:ext cx="5410236" cy="4794853"/>
          </a:xfrm>
          <a:prstGeom prst="rect">
            <a:avLst/>
          </a:prstGeom>
        </p:spPr>
      </p:pic>
    </p:spTree>
    <p:extLst>
      <p:ext uri="{BB962C8B-B14F-4D97-AF65-F5344CB8AC3E}">
        <p14:creationId xmlns:p14="http://schemas.microsoft.com/office/powerpoint/2010/main" val="352095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E764-5A3C-F130-DCF2-C55D1D3301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0EEBD2-1B08-5371-FD0F-B492C171489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E8419B7-7325-E395-CEC4-460A135E0C2C}"/>
              </a:ext>
            </a:extLst>
          </p:cNvPr>
          <p:cNvPicPr>
            <a:picLocks noChangeAspect="1"/>
          </p:cNvPicPr>
          <p:nvPr/>
        </p:nvPicPr>
        <p:blipFill>
          <a:blip r:embed="rId2"/>
          <a:stretch>
            <a:fillRect/>
          </a:stretch>
        </p:blipFill>
        <p:spPr>
          <a:xfrm>
            <a:off x="651404" y="444487"/>
            <a:ext cx="7841191" cy="4254526"/>
          </a:xfrm>
          <a:prstGeom prst="rect">
            <a:avLst/>
          </a:prstGeom>
        </p:spPr>
      </p:pic>
    </p:spTree>
    <p:extLst>
      <p:ext uri="{BB962C8B-B14F-4D97-AF65-F5344CB8AC3E}">
        <p14:creationId xmlns:p14="http://schemas.microsoft.com/office/powerpoint/2010/main" val="2864745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31C2-0731-FB98-939B-D3F4720AA9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8D5E69-5238-1FB0-4DA7-8BDE5C35D3D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559194B-04DD-C506-37B4-5D4B73C96252}"/>
              </a:ext>
            </a:extLst>
          </p:cNvPr>
          <p:cNvPicPr>
            <a:picLocks noChangeAspect="1"/>
          </p:cNvPicPr>
          <p:nvPr/>
        </p:nvPicPr>
        <p:blipFill>
          <a:blip r:embed="rId2"/>
          <a:stretch>
            <a:fillRect/>
          </a:stretch>
        </p:blipFill>
        <p:spPr>
          <a:xfrm>
            <a:off x="764556" y="472146"/>
            <a:ext cx="7614888" cy="4199207"/>
          </a:xfrm>
          <a:prstGeom prst="rect">
            <a:avLst/>
          </a:prstGeom>
        </p:spPr>
      </p:pic>
    </p:spTree>
    <p:extLst>
      <p:ext uri="{BB962C8B-B14F-4D97-AF65-F5344CB8AC3E}">
        <p14:creationId xmlns:p14="http://schemas.microsoft.com/office/powerpoint/2010/main" val="794223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D0D00-9062-44DB-24F3-3523CF09CB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FCEA41-5FD2-3152-483D-E933E212A1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6B74EA1-DDAB-F384-F383-6ADE1F4E7593}"/>
              </a:ext>
            </a:extLst>
          </p:cNvPr>
          <p:cNvPicPr>
            <a:picLocks noChangeAspect="1"/>
          </p:cNvPicPr>
          <p:nvPr/>
        </p:nvPicPr>
        <p:blipFill>
          <a:blip r:embed="rId3"/>
          <a:stretch>
            <a:fillRect/>
          </a:stretch>
        </p:blipFill>
        <p:spPr>
          <a:xfrm>
            <a:off x="1078847" y="283707"/>
            <a:ext cx="6986305" cy="4576086"/>
          </a:xfrm>
          <a:prstGeom prst="rect">
            <a:avLst/>
          </a:prstGeom>
        </p:spPr>
      </p:pic>
    </p:spTree>
    <p:extLst>
      <p:ext uri="{BB962C8B-B14F-4D97-AF65-F5344CB8AC3E}">
        <p14:creationId xmlns:p14="http://schemas.microsoft.com/office/powerpoint/2010/main" val="764656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7A3D-8226-FEC2-190C-10134ECD04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92E898-0D5B-C349-962A-F29AC12425C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21F1689-C9A1-7AC6-4909-A23A9E710038}"/>
              </a:ext>
            </a:extLst>
          </p:cNvPr>
          <p:cNvPicPr>
            <a:picLocks noChangeAspect="1"/>
          </p:cNvPicPr>
          <p:nvPr/>
        </p:nvPicPr>
        <p:blipFill>
          <a:blip r:embed="rId3"/>
          <a:stretch>
            <a:fillRect/>
          </a:stretch>
        </p:blipFill>
        <p:spPr>
          <a:xfrm>
            <a:off x="1871133" y="205979"/>
            <a:ext cx="4973060" cy="4613938"/>
          </a:xfrm>
          <a:prstGeom prst="rect">
            <a:avLst/>
          </a:prstGeom>
        </p:spPr>
      </p:pic>
    </p:spTree>
    <p:extLst>
      <p:ext uri="{BB962C8B-B14F-4D97-AF65-F5344CB8AC3E}">
        <p14:creationId xmlns:p14="http://schemas.microsoft.com/office/powerpoint/2010/main" val="968147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54BA-A391-6D5A-4FB5-125178B023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86E870-2D04-C05C-441E-455DB98411E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AC2A664-856D-DBF4-225F-A1ADEC729DFE}"/>
              </a:ext>
            </a:extLst>
          </p:cNvPr>
          <p:cNvPicPr>
            <a:picLocks noChangeAspect="1"/>
          </p:cNvPicPr>
          <p:nvPr/>
        </p:nvPicPr>
        <p:blipFill>
          <a:blip r:embed="rId3"/>
          <a:stretch>
            <a:fillRect/>
          </a:stretch>
        </p:blipFill>
        <p:spPr>
          <a:xfrm>
            <a:off x="2093773" y="105231"/>
            <a:ext cx="4956454" cy="4933038"/>
          </a:xfrm>
          <a:prstGeom prst="rect">
            <a:avLst/>
          </a:prstGeom>
        </p:spPr>
      </p:pic>
    </p:spTree>
    <p:extLst>
      <p:ext uri="{BB962C8B-B14F-4D97-AF65-F5344CB8AC3E}">
        <p14:creationId xmlns:p14="http://schemas.microsoft.com/office/powerpoint/2010/main" val="858782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8C7C6-DD9D-AACB-95B2-52E3300D5D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C078D4-86C6-37BB-2CED-27034609DBF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BF348A3-8622-66D8-4AC4-8B291B8130FE}"/>
              </a:ext>
            </a:extLst>
          </p:cNvPr>
          <p:cNvPicPr>
            <a:picLocks noChangeAspect="1"/>
          </p:cNvPicPr>
          <p:nvPr/>
        </p:nvPicPr>
        <p:blipFill>
          <a:blip r:embed="rId3"/>
          <a:stretch>
            <a:fillRect/>
          </a:stretch>
        </p:blipFill>
        <p:spPr>
          <a:xfrm>
            <a:off x="1988165" y="151651"/>
            <a:ext cx="5167670" cy="4840198"/>
          </a:xfrm>
          <a:prstGeom prst="rect">
            <a:avLst/>
          </a:prstGeom>
        </p:spPr>
      </p:pic>
    </p:spTree>
    <p:extLst>
      <p:ext uri="{BB962C8B-B14F-4D97-AF65-F5344CB8AC3E}">
        <p14:creationId xmlns:p14="http://schemas.microsoft.com/office/powerpoint/2010/main" val="483051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4B3B-AFCD-F847-D586-4E00872C20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0600E5-3D4C-D530-F5B4-35AC97A8F65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E10BB9B-D24F-5D96-B9FC-ACE00FE5204E}"/>
              </a:ext>
            </a:extLst>
          </p:cNvPr>
          <p:cNvPicPr>
            <a:picLocks noChangeAspect="1"/>
          </p:cNvPicPr>
          <p:nvPr/>
        </p:nvPicPr>
        <p:blipFill>
          <a:blip r:embed="rId2"/>
          <a:stretch>
            <a:fillRect/>
          </a:stretch>
        </p:blipFill>
        <p:spPr>
          <a:xfrm>
            <a:off x="762182" y="320777"/>
            <a:ext cx="7619635" cy="4501945"/>
          </a:xfrm>
          <a:prstGeom prst="rect">
            <a:avLst/>
          </a:prstGeom>
        </p:spPr>
      </p:pic>
    </p:spTree>
    <p:extLst>
      <p:ext uri="{BB962C8B-B14F-4D97-AF65-F5344CB8AC3E}">
        <p14:creationId xmlns:p14="http://schemas.microsoft.com/office/powerpoint/2010/main" val="231410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6BAFC-0EB3-C076-8F9E-6B6857D6EE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176B6A-3B34-1784-B20B-4405C9EC94C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CCC0897-D2D4-1DCD-631B-D03679849CD9}"/>
              </a:ext>
            </a:extLst>
          </p:cNvPr>
          <p:cNvPicPr>
            <a:picLocks noChangeAspect="1"/>
          </p:cNvPicPr>
          <p:nvPr/>
        </p:nvPicPr>
        <p:blipFill>
          <a:blip r:embed="rId2"/>
          <a:stretch>
            <a:fillRect/>
          </a:stretch>
        </p:blipFill>
        <p:spPr>
          <a:xfrm>
            <a:off x="1031431" y="377428"/>
            <a:ext cx="7081137" cy="4388644"/>
          </a:xfrm>
          <a:prstGeom prst="rect">
            <a:avLst/>
          </a:prstGeom>
        </p:spPr>
      </p:pic>
    </p:spTree>
    <p:extLst>
      <p:ext uri="{BB962C8B-B14F-4D97-AF65-F5344CB8AC3E}">
        <p14:creationId xmlns:p14="http://schemas.microsoft.com/office/powerpoint/2010/main" val="62357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3B42-3838-A870-B1C8-6EA542362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C98EFD-98F5-5DF6-3BFA-3D11D48C0CC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AA61438-57EF-BFB9-AAAA-0E9FED8DABC2}"/>
              </a:ext>
            </a:extLst>
          </p:cNvPr>
          <p:cNvPicPr>
            <a:picLocks noChangeAspect="1"/>
          </p:cNvPicPr>
          <p:nvPr/>
        </p:nvPicPr>
        <p:blipFill>
          <a:blip r:embed="rId3"/>
          <a:stretch>
            <a:fillRect/>
          </a:stretch>
        </p:blipFill>
        <p:spPr>
          <a:xfrm>
            <a:off x="2013630" y="274438"/>
            <a:ext cx="5116740" cy="4594623"/>
          </a:xfrm>
          <a:prstGeom prst="rect">
            <a:avLst/>
          </a:prstGeom>
        </p:spPr>
      </p:pic>
    </p:spTree>
    <p:extLst>
      <p:ext uri="{BB962C8B-B14F-4D97-AF65-F5344CB8AC3E}">
        <p14:creationId xmlns:p14="http://schemas.microsoft.com/office/powerpoint/2010/main" val="3605381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6F987-0B29-D7C1-FD8D-83B5AF32B0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FD59F83-D541-FCFF-234D-60C8148A0DB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AC4FF87-629A-4BCB-33C2-C7C1F82E2515}"/>
              </a:ext>
            </a:extLst>
          </p:cNvPr>
          <p:cNvPicPr>
            <a:picLocks noChangeAspect="1"/>
          </p:cNvPicPr>
          <p:nvPr/>
        </p:nvPicPr>
        <p:blipFill>
          <a:blip r:embed="rId3"/>
          <a:stretch>
            <a:fillRect/>
          </a:stretch>
        </p:blipFill>
        <p:spPr>
          <a:xfrm>
            <a:off x="1040082" y="205979"/>
            <a:ext cx="7063835" cy="4731542"/>
          </a:xfrm>
          <a:prstGeom prst="rect">
            <a:avLst/>
          </a:prstGeom>
        </p:spPr>
      </p:pic>
    </p:spTree>
    <p:extLst>
      <p:ext uri="{BB962C8B-B14F-4D97-AF65-F5344CB8AC3E}">
        <p14:creationId xmlns:p14="http://schemas.microsoft.com/office/powerpoint/2010/main" val="3304379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5A028-BED0-4907-AE1C-2670C1F939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8F18BA-5B18-A6E0-4465-AC29F3ED568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1CD5D8E-B581-452D-52A1-0C33B02A1AB9}"/>
              </a:ext>
            </a:extLst>
          </p:cNvPr>
          <p:cNvPicPr>
            <a:picLocks noChangeAspect="1"/>
          </p:cNvPicPr>
          <p:nvPr/>
        </p:nvPicPr>
        <p:blipFill>
          <a:blip r:embed="rId3"/>
          <a:stretch>
            <a:fillRect/>
          </a:stretch>
        </p:blipFill>
        <p:spPr>
          <a:xfrm>
            <a:off x="321275" y="720305"/>
            <a:ext cx="8501449" cy="3702890"/>
          </a:xfrm>
          <a:prstGeom prst="rect">
            <a:avLst/>
          </a:prstGeom>
        </p:spPr>
      </p:pic>
    </p:spTree>
    <p:extLst>
      <p:ext uri="{BB962C8B-B14F-4D97-AF65-F5344CB8AC3E}">
        <p14:creationId xmlns:p14="http://schemas.microsoft.com/office/powerpoint/2010/main" val="2666021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719A8-6D7D-D58D-AE10-02EE229D4F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473F6F-81B3-52C8-1C00-9BA1C0384ED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574C70A-B750-018A-CACB-61C304681535}"/>
              </a:ext>
            </a:extLst>
          </p:cNvPr>
          <p:cNvPicPr>
            <a:picLocks noChangeAspect="1"/>
          </p:cNvPicPr>
          <p:nvPr/>
        </p:nvPicPr>
        <p:blipFill>
          <a:blip r:embed="rId3"/>
          <a:stretch>
            <a:fillRect/>
          </a:stretch>
        </p:blipFill>
        <p:spPr>
          <a:xfrm>
            <a:off x="636622" y="703065"/>
            <a:ext cx="7870755" cy="3737370"/>
          </a:xfrm>
          <a:prstGeom prst="rect">
            <a:avLst/>
          </a:prstGeom>
        </p:spPr>
      </p:pic>
    </p:spTree>
    <p:extLst>
      <p:ext uri="{BB962C8B-B14F-4D97-AF65-F5344CB8AC3E}">
        <p14:creationId xmlns:p14="http://schemas.microsoft.com/office/powerpoint/2010/main" val="88889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BE3F-E06B-5F29-ED0D-5D98F83FEF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D1FEA2-4663-0B78-A40E-5ABF615ECF6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C10DFF-976A-246F-D7E8-E50DAC740A75}"/>
              </a:ext>
            </a:extLst>
          </p:cNvPr>
          <p:cNvPicPr>
            <a:picLocks noChangeAspect="1"/>
          </p:cNvPicPr>
          <p:nvPr/>
        </p:nvPicPr>
        <p:blipFill>
          <a:blip r:embed="rId3"/>
          <a:stretch>
            <a:fillRect/>
          </a:stretch>
        </p:blipFill>
        <p:spPr>
          <a:xfrm>
            <a:off x="1580732" y="290194"/>
            <a:ext cx="5982535" cy="4563112"/>
          </a:xfrm>
          <a:prstGeom prst="rect">
            <a:avLst/>
          </a:prstGeom>
        </p:spPr>
      </p:pic>
    </p:spTree>
    <p:extLst>
      <p:ext uri="{BB962C8B-B14F-4D97-AF65-F5344CB8AC3E}">
        <p14:creationId xmlns:p14="http://schemas.microsoft.com/office/powerpoint/2010/main" val="22332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BAD7-7A79-1D85-0799-BAC7AF3E7A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F02D67-5C92-0D8C-0132-C1BD14607F0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3660A38-D3E5-4343-3FA7-99AFB97F9C0C}"/>
              </a:ext>
            </a:extLst>
          </p:cNvPr>
          <p:cNvPicPr>
            <a:picLocks noChangeAspect="1"/>
          </p:cNvPicPr>
          <p:nvPr/>
        </p:nvPicPr>
        <p:blipFill>
          <a:blip r:embed="rId2"/>
          <a:stretch>
            <a:fillRect/>
          </a:stretch>
        </p:blipFill>
        <p:spPr>
          <a:xfrm>
            <a:off x="1223790" y="478451"/>
            <a:ext cx="6696420" cy="4186597"/>
          </a:xfrm>
          <a:prstGeom prst="rect">
            <a:avLst/>
          </a:prstGeom>
        </p:spPr>
      </p:pic>
    </p:spTree>
    <p:extLst>
      <p:ext uri="{BB962C8B-B14F-4D97-AF65-F5344CB8AC3E}">
        <p14:creationId xmlns:p14="http://schemas.microsoft.com/office/powerpoint/2010/main" val="1422785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454A-FFEF-D6AB-4189-4C55E2B0C2D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7060D66-CDC1-2C35-94D7-25761B75301E}"/>
              </a:ext>
            </a:extLst>
          </p:cNvPr>
          <p:cNvSpPr>
            <a:spLocks noGrp="1"/>
          </p:cNvSpPr>
          <p:nvPr>
            <p:ph idx="1"/>
          </p:nvPr>
        </p:nvSpPr>
        <p:spPr>
          <a:xfrm>
            <a:off x="457200" y="991604"/>
            <a:ext cx="8229600" cy="3394472"/>
          </a:xfrm>
        </p:spPr>
        <p:txBody>
          <a:bodyPr>
            <a:normAutofit fontScale="55000" lnSpcReduction="20000"/>
          </a:bodyPr>
          <a:lstStyle/>
          <a:p>
            <a:endParaRPr lang="en-US" dirty="0"/>
          </a:p>
          <a:p>
            <a:r>
              <a:rPr lang="en-US" dirty="0"/>
              <a:t>Performance-induced CEO turnover provides a more comprehensive approach to studying the relationship between firm performance and CEO departures than traditional forced vs. voluntary classifications. Many CEO departures labeled as "voluntary" are likely driven by poor performance.</a:t>
            </a:r>
          </a:p>
          <a:p>
            <a:r>
              <a:rPr lang="en-US" dirty="0"/>
              <a:t>The two-probit model effectively isolates the impact of performance on CEO turnover and is consistent with the finding that recent performance (3–4 years) strongly influences turnover decisions. This challenges the traditional view of CEO entrenchment and suggests boards remain sensitive to performance throughout a CEO's tenure.</a:t>
            </a:r>
          </a:p>
          <a:p>
            <a:r>
              <a:rPr lang="en-US" dirty="0"/>
              <a:t>Future research should explore alternative models, such as those with dynamic CEO ability, to better explain the observed patterns of CEO turnover. This will advance our understanding of the complex relationship between CEO performance, board decisions, and CEO-firm separations.</a:t>
            </a:r>
          </a:p>
          <a:p>
            <a:endParaRPr lang="en-US" dirty="0"/>
          </a:p>
          <a:p>
            <a:endParaRPr lang="en-US" dirty="0"/>
          </a:p>
          <a:p>
            <a:endParaRPr lang="en-US" sz="1700" b="1" dirty="0">
              <a:ea typeface="Calibri"/>
              <a:cs typeface="Calibri"/>
            </a:endParaRPr>
          </a:p>
        </p:txBody>
      </p:sp>
    </p:spTree>
    <p:extLst>
      <p:ext uri="{BB962C8B-B14F-4D97-AF65-F5344CB8AC3E}">
        <p14:creationId xmlns:p14="http://schemas.microsoft.com/office/powerpoint/2010/main" val="172215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6A5FFBEB-A448-4BA1-A8D8-5F9D7FB6B153}">
  <ds:schemaRefs>
    <ds:schemaRef ds:uri="1fe8f82f-0556-4c42-a658-6aa8fd4f9ee2"/>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purl.org/dc/dcmitype/"/>
    <ds:schemaRef ds:uri="http://schemas.microsoft.com/office/infopath/2007/PartnerControl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9566</TotalTime>
  <Words>7660</Words>
  <Application>Microsoft Office PowerPoint</Application>
  <PresentationFormat>On-screen Show (16:9)</PresentationFormat>
  <Paragraphs>314</Paragraphs>
  <Slides>31</Slides>
  <Notes>23</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Courier New</vt:lpstr>
      <vt:lpstr>Google Sans Text</vt:lpstr>
      <vt:lpstr>Times New Roman</vt:lpstr>
      <vt:lpstr>Office Theme</vt:lpstr>
      <vt:lpstr>Performance-Induced CEO Turnover</vt:lpstr>
      <vt:lpstr>Research Question</vt:lpstr>
      <vt:lpstr>Prior Literature</vt:lpstr>
      <vt:lpstr>Hypothesis</vt:lpstr>
      <vt:lpstr>Data Collection</vt:lpstr>
      <vt:lpstr>Results</vt:lpstr>
      <vt:lpstr>Model Explanation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361</cp:revision>
  <dcterms:created xsi:type="dcterms:W3CDTF">2020-09-10T18:37:45Z</dcterms:created>
  <dcterms:modified xsi:type="dcterms:W3CDTF">2024-11-26T15:23:18Z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