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56" r:id="rId2"/>
    <p:sldId id="257" r:id="rId3"/>
    <p:sldId id="258" r:id="rId4"/>
    <p:sldId id="261" r:id="rId5"/>
    <p:sldId id="259" r:id="rId6"/>
    <p:sldId id="273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6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FDAFD4-63F8-4DF1-B73B-7A41E296F358}" v="30" dt="2024-09-08T05:15:47.124"/>
    <p1510:client id="{DF1A2730-B1AC-2647-FEEF-F88A81C34E81}" v="2" dt="2024-09-08T05:22:40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4660"/>
  </p:normalViewPr>
  <p:slideViewPr>
    <p:cSldViewPr snapToGrid="0">
      <p:cViewPr>
        <p:scale>
          <a:sx n="100" d="100"/>
          <a:sy n="100" d="100"/>
        </p:scale>
        <p:origin x="222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8B6608-0AA3-4C60-AD03-655D41402C23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3B129-4C50-472C-A1F1-67ED1C833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11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3B129-4C50-472C-A1F1-67ED1C833A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33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3B129-4C50-472C-A1F1-67ED1C833A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2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Social capital is higher in upper Midwest/Northwest counties and lower in Southeast/Southwest counties.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3B129-4C50-472C-A1F1-67ED1C833AA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78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3B129-4C50-472C-A1F1-67ED1C833AA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94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average, the loan spread and the loan size in our sample are 199 bps and $305 million, respectively. Approximately 53% of the sampled loan facilities have a collateral requirement. Approximately 62% of the sampled loans have at least one covenant in place; on average, these loans have around four covenants.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3B129-4C50-472C-A1F1-67ED1C833AA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95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1 includes firm-level controls. Model 2 includes firm-level and loan-level controls. Model 3 contains firm-level, loan-level, and county-level controls. Model 4 is the baseline model, which includes loan-level, firm-level, and county-level controls and dummies to control for state fixed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3B129-4C50-472C-A1F1-67ED1C833AA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474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Both"/>
            </a:pPr>
            <a:r>
              <a:rPr lang="en-US" b="0" dirty="0"/>
              <a:t>Uses additional controls: religious adherence (local religiosity), DS400 (CSR), discretionary accruals (poor accounting quality), and CETR (inverse of corporate tax avoidance).</a:t>
            </a:r>
          </a:p>
          <a:p>
            <a:pPr marL="228600" indent="-228600">
              <a:buAutoNum type="arabicParenBoth"/>
            </a:pPr>
            <a:r>
              <a:rPr lang="en-US" b="0" dirty="0"/>
              <a:t>Uses organ donation as an alternate measure of social capital.</a:t>
            </a:r>
          </a:p>
          <a:p>
            <a:pPr marL="228600" indent="-228600">
              <a:buAutoNum type="arabicParenBoth"/>
            </a:pPr>
            <a:r>
              <a:rPr lang="en-US" dirty="0"/>
              <a:t>Uses linear interpolation to estimate missing data, rather than carrying forward values from previous years, which results in a smaller sample size.</a:t>
            </a:r>
          </a:p>
          <a:p>
            <a:pPr marL="228600" indent="-228600">
              <a:buAutoNum type="arabicParenBoth"/>
            </a:pPr>
            <a:r>
              <a:rPr lang="en-US" b="0" dirty="0"/>
              <a:t>Uses only loans borrowed by a firm from a bank for the first time, </a:t>
            </a:r>
            <a:r>
              <a:rPr lang="en-US" dirty="0"/>
              <a:t>ensuring that repeated borrowing–lending relationships do not confound results.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3B129-4C50-472C-A1F1-67ED1C833AA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443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Model 1 reports the regression results from the full sample of 1,778 firm-year observations. Model 2 limits the sample observations to a shorter event window, which defines the pre-relocation (post-relocation) period as the 4 years before (after) the relocation event.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Panel A: These results indicate that banks demand significantly lower loan spreads after the relocation event when lending to firms with social-capital-increasing relocations when compared to firms with social-capital-decreasing relocations.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Panel B: No significant differences in loan spread and firm characteristics between the two groups of firms.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3B129-4C50-472C-A1F1-67ED1C833AA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98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Being closer to the Canadian border means more social capital. Ethnic homogeneity increases social capital.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valid instrumental variable in this setting should also have no direct effect on loan 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3B129-4C50-472C-A1F1-67ED1C833AA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16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(1) Based on this estimate, a 1-standard-deviation increase in SOCIAL CAPITAL in the data reduces at-issue bond yields by approximately 7.98 bps.</a:t>
            </a:r>
          </a:p>
          <a:p>
            <a:r>
              <a:rPr lang="en-US" dirty="0"/>
              <a:t>(2) We use logistic regression to predict the likelihood that firms obtain debt financing from the bank loan market rather than the public bond </a:t>
            </a:r>
            <a:r>
              <a:rPr lang="en-US"/>
              <a:t>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3B129-4C50-472C-A1F1-67ED1C833AA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925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2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2519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125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07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86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945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89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591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38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6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62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0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Untitled-4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649"/>
            <a:ext cx="12204192" cy="10098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77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01775"/>
            <a:ext cx="103632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Social Capital and Debt Contracting:</a:t>
            </a:r>
            <a:br>
              <a:rPr lang="en-US" dirty="0"/>
            </a:br>
            <a:r>
              <a:rPr lang="en-US" dirty="0"/>
              <a:t>Evidence from Bank Loans and Public Bonds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4250" dirty="0"/>
              <a:t>Iftekhar Hasan, Chun Keung Hoi, Qiang Wu, &amp; Hao Zhang (2017)</a:t>
            </a:r>
          </a:p>
          <a:p>
            <a:r>
              <a:rPr lang="en-US" dirty="0"/>
              <a:t>Presented by Nicholas Thompson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D4099-489D-30C5-010C-6FA15EB15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4FEF6-7691-E425-F4ED-C584EBFF7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social capital influence the cost and terms of debt financing for publicly listed corporations in the U.S.?</a:t>
            </a:r>
          </a:p>
        </p:txBody>
      </p:sp>
    </p:spTree>
    <p:extLst>
      <p:ext uri="{BB962C8B-B14F-4D97-AF65-F5344CB8AC3E}">
        <p14:creationId xmlns:p14="http://schemas.microsoft.com/office/powerpoint/2010/main" val="2094367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247A5-A03A-28A6-CB9E-C59584E0A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F4593-4993-B874-D4C8-E13C5F352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Social capital has positive economic benefits for societies, communities, organizations, and individuals (Fukuyama, 1995; Knack &amp; Keefer, 1997; Putnam, 2001; </a:t>
            </a:r>
            <a:r>
              <a:rPr lang="en-US" dirty="0" err="1"/>
              <a:t>Buonanno</a:t>
            </a:r>
            <a:r>
              <a:rPr lang="en-US" dirty="0"/>
              <a:t>, </a:t>
            </a:r>
            <a:r>
              <a:rPr lang="en-US" dirty="0" err="1"/>
              <a:t>Montolio</a:t>
            </a:r>
            <a:r>
              <a:rPr lang="en-US" dirty="0"/>
              <a:t>, &amp; Vanin, 2009).</a:t>
            </a:r>
          </a:p>
          <a:p>
            <a:r>
              <a:rPr lang="en-US" dirty="0"/>
              <a:t>Social capital helps overcome contractual problems because it encourages cooperation and mitigates opportunistic behaviors in transactions (</a:t>
            </a:r>
            <a:r>
              <a:rPr lang="it-IT" dirty="0"/>
              <a:t>Guiso, Sapienza, &amp; Zingales, 2004, 2010).</a:t>
            </a:r>
            <a:endParaRPr lang="en-US" dirty="0"/>
          </a:p>
          <a:p>
            <a:r>
              <a:rPr lang="en-US" dirty="0"/>
              <a:t>Religious norms reduce the cost of debt (Cai &amp; Shi, 2014; Jiang, John, Li, &amp; Qian, 2014).</a:t>
            </a:r>
          </a:p>
          <a:p>
            <a:r>
              <a:rPr lang="en-US" dirty="0"/>
              <a:t>Research gap: Limited research on non-religious social capital and its effect on corporate debt.</a:t>
            </a:r>
          </a:p>
        </p:txBody>
      </p:sp>
    </p:spTree>
    <p:extLst>
      <p:ext uri="{BB962C8B-B14F-4D97-AF65-F5344CB8AC3E}">
        <p14:creationId xmlns:p14="http://schemas.microsoft.com/office/powerpoint/2010/main" val="2131625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EA324-C156-9585-E250-2FC62CD41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D1E94-DACC-4994-271C-7FFF0DE0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H1</a:t>
            </a:r>
            <a:r>
              <a:rPr lang="en-US" dirty="0"/>
              <a:t>: Firms located in areas with strong cooperative norms and dense social networks incur </a:t>
            </a:r>
            <a:r>
              <a:rPr lang="en-US" b="1" dirty="0"/>
              <a:t>lower loan spreads</a:t>
            </a:r>
            <a:r>
              <a:rPr lang="en-US" dirty="0"/>
              <a:t> when obtaining bank loans.</a:t>
            </a:r>
          </a:p>
          <a:p>
            <a:r>
              <a:rPr lang="en-US" b="1" dirty="0"/>
              <a:t>H2</a:t>
            </a:r>
            <a:r>
              <a:rPr lang="en-US" dirty="0"/>
              <a:t>: Firms located in areas with strong cooperative norms and dense social networks incur </a:t>
            </a:r>
            <a:r>
              <a:rPr lang="en-US" b="1" dirty="0"/>
              <a:t>less stringent nonprice terms</a:t>
            </a:r>
            <a:r>
              <a:rPr lang="en-US" dirty="0"/>
              <a:t> when obtaining bank loans.</a:t>
            </a:r>
          </a:p>
          <a:p>
            <a:r>
              <a:rPr lang="en-US" b="1" dirty="0"/>
              <a:t>H3</a:t>
            </a:r>
            <a:r>
              <a:rPr lang="en-US" dirty="0"/>
              <a:t>: Firms located in areas with strong cooperative norms and dense social networks incur </a:t>
            </a:r>
            <a:r>
              <a:rPr lang="en-US" b="1" dirty="0"/>
              <a:t>lower at-issue bond spreads</a:t>
            </a:r>
            <a:r>
              <a:rPr lang="en-US" dirty="0"/>
              <a:t> when issuing public bonds.</a:t>
            </a:r>
          </a:p>
          <a:p>
            <a:r>
              <a:rPr lang="en-US" b="1" dirty="0"/>
              <a:t>H4</a:t>
            </a:r>
            <a:r>
              <a:rPr lang="en-US" dirty="0"/>
              <a:t>: Firms located in areas with strong cooperative norms and dense social networks are </a:t>
            </a:r>
            <a:r>
              <a:rPr lang="en-US" b="1" dirty="0"/>
              <a:t>less likely to use bank loans relative to public bonds</a:t>
            </a:r>
            <a:r>
              <a:rPr lang="en-US" dirty="0"/>
              <a:t> when seeking debt financing.</a:t>
            </a:r>
          </a:p>
        </p:txBody>
      </p:sp>
    </p:spTree>
    <p:extLst>
      <p:ext uri="{BB962C8B-B14F-4D97-AF65-F5344CB8AC3E}">
        <p14:creationId xmlns:p14="http://schemas.microsoft.com/office/powerpoint/2010/main" val="1224193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017ED-47E7-8DCA-B2CE-D267CE98F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DB9EE-220C-C255-F13B-7EB0DB59C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Sample: 32,425 loan-year observations for 5,678 unique firms with headquarters located in 587 unique U.S. counties in the period 1990–2012</a:t>
            </a:r>
          </a:p>
          <a:p>
            <a:r>
              <a:rPr lang="en-US" dirty="0"/>
              <a:t>Loan Data: </a:t>
            </a:r>
            <a:r>
              <a:rPr lang="en-US" dirty="0" err="1"/>
              <a:t>DealScan</a:t>
            </a:r>
            <a:endParaRPr lang="en-US" dirty="0"/>
          </a:p>
          <a:p>
            <a:r>
              <a:rPr lang="en-US" dirty="0"/>
              <a:t>Firm Data: </a:t>
            </a:r>
            <a:r>
              <a:rPr lang="en-US" dirty="0" err="1"/>
              <a:t>Compustat</a:t>
            </a:r>
            <a:endParaRPr lang="en-US" dirty="0"/>
          </a:p>
          <a:p>
            <a:r>
              <a:rPr lang="en-US" dirty="0"/>
              <a:t>County demographics: Bureau of Economic Analysis</a:t>
            </a:r>
          </a:p>
          <a:p>
            <a:r>
              <a:rPr lang="en-US" dirty="0"/>
              <a:t>Social Capital Data: Northeast Regional Center for Rural Development (NERCRD) at Penn State</a:t>
            </a:r>
          </a:p>
        </p:txBody>
      </p:sp>
    </p:spTree>
    <p:extLst>
      <p:ext uri="{BB962C8B-B14F-4D97-AF65-F5344CB8AC3E}">
        <p14:creationId xmlns:p14="http://schemas.microsoft.com/office/powerpoint/2010/main" val="922680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3181B-72C4-B015-86C1-6EB5B04DF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SOCIAL_CAPITAL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697E3-9773-CB80-FC06-ADC1852D2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SOCIAL_CAPITAL is the first principal component from a PCA based on PVOTE, RESPN, NCCS, and ASSN.</a:t>
            </a:r>
          </a:p>
          <a:p>
            <a:pPr lvl="1"/>
            <a:r>
              <a:rPr lang="en-US" dirty="0"/>
              <a:t>PVOTE: Percentage of voters who voted in presidential elections.</a:t>
            </a:r>
          </a:p>
          <a:p>
            <a:pPr lvl="1"/>
            <a:r>
              <a:rPr lang="en-US" dirty="0"/>
              <a:t>RESPN: Response rate to the Census Bureau’s decennial census.</a:t>
            </a:r>
          </a:p>
          <a:p>
            <a:pPr lvl="1"/>
            <a:r>
              <a:rPr lang="en-US" dirty="0"/>
              <a:t>NCCS: Sum of tax-exempt nonprofit organizations divided by populations per 10,000.</a:t>
            </a:r>
          </a:p>
          <a:p>
            <a:pPr lvl="1"/>
            <a:r>
              <a:rPr lang="en-US" dirty="0"/>
              <a:t>ASSN: Sum of social organizations divided by populations per 100,000.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146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ED8DFC-EC17-2328-9AC8-EA5CB0854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891" y="0"/>
            <a:ext cx="77922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72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8ADB2EC-6582-1EAD-AA77-4C161D36AAF6}"/>
              </a:ext>
            </a:extLst>
          </p:cNvPr>
          <p:cNvGrpSpPr/>
          <p:nvPr/>
        </p:nvGrpSpPr>
        <p:grpSpPr>
          <a:xfrm>
            <a:off x="1824037" y="1447800"/>
            <a:ext cx="8543925" cy="3962400"/>
            <a:chOff x="1824037" y="1447800"/>
            <a:chExt cx="8543925" cy="39624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33C2ABF-15A1-12CF-9FCB-4E8D91C82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24037" y="1447800"/>
              <a:ext cx="8543925" cy="39624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28DAE1-BA55-ADC2-D026-46A0E4C91D1F}"/>
                </a:ext>
              </a:extLst>
            </p:cNvPr>
            <p:cNvSpPr/>
            <p:nvPr/>
          </p:nvSpPr>
          <p:spPr>
            <a:xfrm>
              <a:off x="6852976" y="5041900"/>
              <a:ext cx="3514986" cy="368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1713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FA617F-FE54-C149-0CC3-89A3175F0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44" y="238125"/>
            <a:ext cx="5561515" cy="4848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310E3A-C700-5ED1-6272-EAC6E74DB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90" y="476250"/>
            <a:ext cx="5892266" cy="46101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2E9A41-1C71-9A23-01E6-618CE28D0E93}"/>
              </a:ext>
            </a:extLst>
          </p:cNvPr>
          <p:cNvCxnSpPr>
            <a:cxnSpLocks/>
          </p:cNvCxnSpPr>
          <p:nvPr/>
        </p:nvCxnSpPr>
        <p:spPr>
          <a:xfrm>
            <a:off x="5890159" y="95250"/>
            <a:ext cx="0" cy="5581650"/>
          </a:xfrm>
          <a:prstGeom prst="line">
            <a:avLst/>
          </a:prstGeom>
          <a:ln w="12700"/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28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EDEA19-1B56-0B92-CEED-E1699CF76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432" y="0"/>
            <a:ext cx="6865136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18BFBA-6952-C82E-44C6-40C87E47E1CE}"/>
              </a:ext>
            </a:extLst>
          </p:cNvPr>
          <p:cNvSpPr/>
          <p:nvPr/>
        </p:nvSpPr>
        <p:spPr>
          <a:xfrm>
            <a:off x="2663432" y="4676775"/>
            <a:ext cx="3327793" cy="72390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10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E01836-8A4F-51FF-3D15-4C35618C7ED0}"/>
              </a:ext>
            </a:extLst>
          </p:cNvPr>
          <p:cNvGrpSpPr/>
          <p:nvPr/>
        </p:nvGrpSpPr>
        <p:grpSpPr>
          <a:xfrm>
            <a:off x="57150" y="0"/>
            <a:ext cx="6038850" cy="6858000"/>
            <a:chOff x="3076575" y="0"/>
            <a:chExt cx="603885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89BD2EF-45C0-8B4B-5FC6-134B5A7FD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82275" y="552450"/>
              <a:ext cx="5627450" cy="630555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21BF0E3-EF53-8B83-5A2E-948B0FDE4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76575" y="0"/>
              <a:ext cx="6038850" cy="552450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3B5155A-F331-16FD-5D4B-B45E42A8B727}"/>
              </a:ext>
            </a:extLst>
          </p:cNvPr>
          <p:cNvSpPr/>
          <p:nvPr/>
        </p:nvSpPr>
        <p:spPr>
          <a:xfrm>
            <a:off x="262850" y="962025"/>
            <a:ext cx="5627450" cy="2857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2E0E3C-F7BC-C69F-CA5C-C3636E7EC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700" y="573025"/>
            <a:ext cx="5627450" cy="8031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677863-5C45-C2DF-4897-21FE11212A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1700" y="1893949"/>
            <a:ext cx="5301813" cy="8031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7464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754DAF-CDA3-308E-E9BF-CA7D78071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117" y="0"/>
            <a:ext cx="6519765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98BC2D-2E4A-539A-7C4A-5984E48D2280}"/>
              </a:ext>
            </a:extLst>
          </p:cNvPr>
          <p:cNvSpPr/>
          <p:nvPr/>
        </p:nvSpPr>
        <p:spPr>
          <a:xfrm>
            <a:off x="2836117" y="3905249"/>
            <a:ext cx="6519765" cy="101917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50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7B5AD4A-4CD1-17B3-D443-57F64296B82B}"/>
              </a:ext>
            </a:extLst>
          </p:cNvPr>
          <p:cNvGrpSpPr/>
          <p:nvPr/>
        </p:nvGrpSpPr>
        <p:grpSpPr>
          <a:xfrm>
            <a:off x="69276" y="0"/>
            <a:ext cx="5738761" cy="6858000"/>
            <a:chOff x="3226619" y="0"/>
            <a:chExt cx="5738761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34EA6AE-FA7B-9575-788D-C12D8511A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26619" y="664001"/>
              <a:ext cx="5738761" cy="619399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5460FF1-2405-E3D8-7FF9-929F0DF72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26619" y="0"/>
              <a:ext cx="5738761" cy="647700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DEDB130-CC86-8DBA-687E-141B22BC18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4403" y="0"/>
            <a:ext cx="6137597" cy="324802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E7407E-0201-D46B-F9BC-9921B6ABBB23}"/>
              </a:ext>
            </a:extLst>
          </p:cNvPr>
          <p:cNvCxnSpPr>
            <a:cxnSpLocks/>
          </p:cNvCxnSpPr>
          <p:nvPr/>
        </p:nvCxnSpPr>
        <p:spPr>
          <a:xfrm>
            <a:off x="5890159" y="95250"/>
            <a:ext cx="0" cy="5581650"/>
          </a:xfrm>
          <a:prstGeom prst="line">
            <a:avLst/>
          </a:prstGeom>
          <a:ln w="12700"/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2777893-CC3E-7C32-53E5-47D18AFCCD50}"/>
              </a:ext>
            </a:extLst>
          </p:cNvPr>
          <p:cNvSpPr/>
          <p:nvPr/>
        </p:nvSpPr>
        <p:spPr>
          <a:xfrm>
            <a:off x="69276" y="1847849"/>
            <a:ext cx="5738761" cy="333376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66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99B9FC5-2942-C541-0501-EF41FD65F821}"/>
              </a:ext>
            </a:extLst>
          </p:cNvPr>
          <p:cNvGrpSpPr/>
          <p:nvPr/>
        </p:nvGrpSpPr>
        <p:grpSpPr>
          <a:xfrm>
            <a:off x="2181225" y="0"/>
            <a:ext cx="7829550" cy="6858000"/>
            <a:chOff x="2181225" y="0"/>
            <a:chExt cx="782955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FC41FC7-FFE0-BA74-7100-855831EC9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81225" y="0"/>
              <a:ext cx="7829550" cy="6667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4EE0D07-FF96-C685-7FFA-E6022C5D4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45765" y="666750"/>
              <a:ext cx="5100469" cy="6191250"/>
            </a:xfrm>
            <a:prstGeom prst="rect">
              <a:avLst/>
            </a:prstGeom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3E9012E-9C40-A728-E4FB-113C791B3778}"/>
              </a:ext>
            </a:extLst>
          </p:cNvPr>
          <p:cNvSpPr/>
          <p:nvPr/>
        </p:nvSpPr>
        <p:spPr>
          <a:xfrm>
            <a:off x="3545765" y="1228724"/>
            <a:ext cx="5100469" cy="742951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11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2C0E6D-A506-9FC2-4283-FBB3AE61F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216" y="0"/>
            <a:ext cx="5061568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F7DC3C-7713-179E-7FA0-8E86E692A7F7}"/>
              </a:ext>
            </a:extLst>
          </p:cNvPr>
          <p:cNvSpPr/>
          <p:nvPr/>
        </p:nvSpPr>
        <p:spPr>
          <a:xfrm>
            <a:off x="3565217" y="2638424"/>
            <a:ext cx="5061568" cy="304801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83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7D6B847-EF1E-9640-9DBA-02DEEC065A22}"/>
              </a:ext>
            </a:extLst>
          </p:cNvPr>
          <p:cNvGrpSpPr/>
          <p:nvPr/>
        </p:nvGrpSpPr>
        <p:grpSpPr>
          <a:xfrm>
            <a:off x="3090862" y="0"/>
            <a:ext cx="6010275" cy="6858000"/>
            <a:chOff x="3090862" y="0"/>
            <a:chExt cx="6010275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A3454ED-BC09-D718-7523-E00421269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46904" y="609600"/>
              <a:ext cx="5698192" cy="62484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8141CD3-176C-8A53-EBB0-8891A67C7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90862" y="0"/>
              <a:ext cx="6010275" cy="53755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265FD5A-9D12-2EAE-294C-1F201A54EAD7}"/>
              </a:ext>
            </a:extLst>
          </p:cNvPr>
          <p:cNvSpPr/>
          <p:nvPr/>
        </p:nvSpPr>
        <p:spPr>
          <a:xfrm>
            <a:off x="3246904" y="1257299"/>
            <a:ext cx="5698192" cy="304801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50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530DC-24A4-9855-B3AE-7465E3937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F0F55-5B33-47C5-9F80-5ABFCC029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counties with higher levels of social capital:</a:t>
            </a:r>
          </a:p>
          <a:p>
            <a:pPr lvl="1"/>
            <a:r>
              <a:rPr lang="en-US" dirty="0"/>
              <a:t>Firms incur significantly lower loan spreads when obtaining debt financing from banks.</a:t>
            </a:r>
          </a:p>
          <a:p>
            <a:pPr lvl="1"/>
            <a:r>
              <a:rPr lang="en-US" dirty="0"/>
              <a:t>Banks demand less stringent collateral and covenant requirements.</a:t>
            </a:r>
          </a:p>
          <a:p>
            <a:pPr lvl="1"/>
            <a:r>
              <a:rPr lang="en-US" dirty="0"/>
              <a:t>Investors of public bonds demand significantly lower at-issue yield spreads.</a:t>
            </a:r>
          </a:p>
          <a:p>
            <a:pPr lvl="1"/>
            <a:r>
              <a:rPr lang="en-US" dirty="0"/>
              <a:t>Firms prefer bonds over loans when seeking debt financing.</a:t>
            </a:r>
          </a:p>
        </p:txBody>
      </p:sp>
    </p:spTree>
    <p:extLst>
      <p:ext uri="{BB962C8B-B14F-4D97-AF65-F5344CB8AC3E}">
        <p14:creationId xmlns:p14="http://schemas.microsoft.com/office/powerpoint/2010/main" val="2274272168"/>
      </p:ext>
    </p:extLst>
  </p:cSld>
  <p:clrMapOvr>
    <a:masterClrMapping/>
  </p:clrMapOvr>
</p:sld>
</file>

<file path=ppt/theme/theme1.xml><?xml version="1.0" encoding="utf-8"?>
<a:theme xmlns:a="http://schemas.openxmlformats.org/drawingml/2006/main" name="WCOB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WCOB Theme" id="{DA4194B0-34BD-4C70-B2FC-BFD2593C6676}" vid="{647C9F4F-C2D3-49DA-9726-30103746F5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WCOB Theme</Template>
  <TotalTime>248</TotalTime>
  <Words>870</Words>
  <Application>Microsoft Office PowerPoint</Application>
  <PresentationFormat>Widescreen</PresentationFormat>
  <Paragraphs>57</Paragraphs>
  <Slides>17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WCOB Theme</vt:lpstr>
      <vt:lpstr>Social Capital and Debt Contracting: Evidence from Bank Loans and Public Bonds</vt:lpstr>
      <vt:lpstr>Research question</vt:lpstr>
      <vt:lpstr>Prior literature</vt:lpstr>
      <vt:lpstr>Hypotheses</vt:lpstr>
      <vt:lpstr>Data</vt:lpstr>
      <vt:lpstr>SOCIAL_CAPITAL Variable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Nicholas Thompson</cp:lastModifiedBy>
  <cp:revision>4</cp:revision>
  <dcterms:created xsi:type="dcterms:W3CDTF">2024-09-08T00:58:36Z</dcterms:created>
  <dcterms:modified xsi:type="dcterms:W3CDTF">2024-09-09T21:48:45Z</dcterms:modified>
</cp:coreProperties>
</file>