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2"/>
  </p:notesMasterIdLst>
  <p:sldIdLst>
    <p:sldId id="291" r:id="rId2"/>
    <p:sldId id="292" r:id="rId3"/>
    <p:sldId id="336" r:id="rId4"/>
    <p:sldId id="365" r:id="rId5"/>
    <p:sldId id="363" r:id="rId6"/>
    <p:sldId id="364" r:id="rId7"/>
    <p:sldId id="362" r:id="rId8"/>
    <p:sldId id="353" r:id="rId9"/>
    <p:sldId id="366" r:id="rId10"/>
    <p:sldId id="369" r:id="rId11"/>
    <p:sldId id="370" r:id="rId12"/>
    <p:sldId id="368" r:id="rId13"/>
    <p:sldId id="367" r:id="rId14"/>
    <p:sldId id="354" r:id="rId15"/>
    <p:sldId id="371" r:id="rId16"/>
    <p:sldId id="372" r:id="rId17"/>
    <p:sldId id="373" r:id="rId18"/>
    <p:sldId id="375" r:id="rId19"/>
    <p:sldId id="293" r:id="rId20"/>
    <p:sldId id="29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9/9/2024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9/9/2024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9/9/2024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9/9/2024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1219201" y="431112"/>
            <a:ext cx="9997440" cy="1582578"/>
          </a:xfrm>
        </p:spPr>
        <p:txBody>
          <a:bodyPr anchor="b">
            <a:normAutofit/>
          </a:bodyPr>
          <a:lstStyle/>
          <a:p>
            <a:pPr algn="l"/>
            <a:r>
              <a:rPr lang="en-US" sz="4000" b="1" dirty="0">
                <a:solidFill>
                  <a:srgbClr val="C00000"/>
                </a:solidFill>
                <a:latin typeface="Open Sans" panose="020B0606030504020204" pitchFamily="34" charset="0"/>
              </a:rPr>
              <a:t>Creditor control rights and resource allocation within firms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464733" y="2269437"/>
            <a:ext cx="7840134" cy="3208867"/>
          </a:xfrm>
        </p:spPr>
        <p:txBody>
          <a:bodyPr>
            <a:normAutofit fontScale="85000" lnSpcReduction="20000"/>
          </a:bodyPr>
          <a:lstStyle/>
          <a:p>
            <a:pPr algn="l"/>
            <a:r>
              <a:rPr lang="en-US" b="1" dirty="0">
                <a:solidFill>
                  <a:srgbClr val="00B050"/>
                </a:solidFill>
              </a:rPr>
              <a:t>Nuri </a:t>
            </a:r>
            <a:r>
              <a:rPr lang="en-US" b="1" dirty="0" err="1">
                <a:solidFill>
                  <a:srgbClr val="00B050"/>
                </a:solidFill>
              </a:rPr>
              <a:t>Ersahin</a:t>
            </a:r>
            <a:endParaRPr lang="en-US" b="1" dirty="0">
              <a:solidFill>
                <a:srgbClr val="00B050"/>
              </a:solidFill>
            </a:endParaRPr>
          </a:p>
          <a:p>
            <a:pPr algn="l"/>
            <a:r>
              <a:rPr lang="en-US" dirty="0"/>
              <a:t>Broad College of Business, Michigan State University</a:t>
            </a:r>
          </a:p>
          <a:p>
            <a:pPr algn="l"/>
            <a:r>
              <a:rPr lang="en-US" b="1" dirty="0">
                <a:solidFill>
                  <a:srgbClr val="00B050"/>
                </a:solidFill>
              </a:rPr>
              <a:t>Rustom M. Irani</a:t>
            </a:r>
          </a:p>
          <a:p>
            <a:pPr algn="l"/>
            <a:r>
              <a:rPr lang="en-US" dirty="0" err="1"/>
              <a:t>Gies</a:t>
            </a:r>
            <a:r>
              <a:rPr lang="en-US" dirty="0"/>
              <a:t> College of Business, University of Illinois at Urbana-Champaign</a:t>
            </a:r>
            <a:endParaRPr lang="en-US" b="1" dirty="0">
              <a:solidFill>
                <a:srgbClr val="00B050"/>
              </a:solidFill>
            </a:endParaRPr>
          </a:p>
          <a:p>
            <a:pPr algn="l"/>
            <a:r>
              <a:rPr lang="en-US" b="1" dirty="0">
                <a:solidFill>
                  <a:srgbClr val="00B050"/>
                </a:solidFill>
              </a:rPr>
              <a:t>Hanh Le</a:t>
            </a:r>
          </a:p>
          <a:p>
            <a:pPr algn="l"/>
            <a:r>
              <a:rPr lang="en-US" dirty="0"/>
              <a:t>College of Business, University of Illinois at Chicago</a:t>
            </a:r>
          </a:p>
          <a:p>
            <a:pPr algn="l"/>
            <a:r>
              <a:rPr lang="en-US" dirty="0">
                <a:solidFill>
                  <a:srgbClr val="0070C0"/>
                </a:solidFill>
              </a:rPr>
              <a:t>Journal of Financial Economics </a:t>
            </a:r>
          </a:p>
          <a:p>
            <a:pPr algn="l"/>
            <a:r>
              <a:rPr lang="en-US" dirty="0">
                <a:solidFill>
                  <a:srgbClr val="0070C0"/>
                </a:solidFill>
              </a:rPr>
              <a:t>July 2020</a:t>
            </a:r>
          </a:p>
          <a:p>
            <a:pPr algn="l"/>
            <a:r>
              <a:rPr lang="en-US" u="sng" dirty="0">
                <a:solidFill>
                  <a:srgbClr val="0070C0"/>
                </a:solidFill>
              </a:rPr>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Goal</a:t>
            </a:r>
            <a:r>
              <a:rPr lang="en-US" sz="3600" dirty="0">
                <a:solidFill>
                  <a:srgbClr val="C00000"/>
                </a:solidFill>
                <a:latin typeface="Arial" panose="020B0604020202020204" pitchFamily="34" charset="0"/>
                <a:cs typeface="Arial" panose="020B0604020202020204" pitchFamily="34" charset="0"/>
              </a:rPr>
              <a:t>:</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632857" y="2164702"/>
            <a:ext cx="9815804" cy="2814003"/>
          </a:xfrm>
        </p:spPr>
        <p:txBody>
          <a:bodyPr>
            <a:normAutofit/>
          </a:bodyPr>
          <a:lstStyle/>
          <a:p>
            <a:pPr algn="l"/>
            <a:r>
              <a:rPr lang="en-US" dirty="0"/>
              <a:t>E</a:t>
            </a:r>
            <a:r>
              <a:rPr lang="en-US" sz="2000" dirty="0"/>
              <a:t>xamine the within-firm resource allocation and restructuring outcomes at firms violating debt covenants</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Data sources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9AB0BF49-E80D-DBCB-4C42-05CFFE57A525}"/>
              </a:ext>
            </a:extLst>
          </p:cNvPr>
          <p:cNvSpPr txBox="1"/>
          <p:nvPr/>
        </p:nvSpPr>
        <p:spPr>
          <a:xfrm>
            <a:off x="156753" y="807720"/>
            <a:ext cx="11714480" cy="4401205"/>
          </a:xfrm>
          <a:prstGeom prst="rect">
            <a:avLst/>
          </a:prstGeom>
          <a:noFill/>
        </p:spPr>
        <p:txBody>
          <a:bodyPr wrap="square">
            <a:spAutoFit/>
          </a:bodyPr>
          <a:lstStyle/>
          <a:p>
            <a:r>
              <a:rPr lang="en-US" sz="2000" dirty="0">
                <a:solidFill>
                  <a:srgbClr val="00B050"/>
                </a:solidFill>
              </a:rPr>
              <a:t>The Census: establishment-level data</a:t>
            </a:r>
          </a:p>
          <a:p>
            <a:pPr marL="342900" indent="-342900">
              <a:buFont typeface="Arial" panose="020B0604020202020204" pitchFamily="34" charset="0"/>
              <a:buChar char="•"/>
            </a:pPr>
            <a:r>
              <a:rPr lang="en-US" sz="2000" dirty="0"/>
              <a:t>the Longitudinal Business Database (LBD):  longitudinal identifiers as well as data on the number of employees, payroll, location, and industry for each establishment. The LBD also records corporate affiliation, allowing us to identify establishment closures. </a:t>
            </a:r>
          </a:p>
          <a:p>
            <a:pPr marL="342900" indent="-342900">
              <a:buFont typeface="Arial" panose="020B0604020202020204" pitchFamily="34" charset="0"/>
              <a:buChar char="•"/>
            </a:pPr>
            <a:r>
              <a:rPr lang="en-US" sz="2000" dirty="0"/>
              <a:t>The Census of Manufactures (CMF) and Annual Survey of Manufactures (ASM): greater detail on activities for the subset of </a:t>
            </a:r>
            <a:r>
              <a:rPr lang="en-US" sz="2000" b="1" dirty="0">
                <a:solidFill>
                  <a:srgbClr val="00B050"/>
                </a:solidFill>
              </a:rPr>
              <a:t>manufacturing establishments</a:t>
            </a:r>
            <a:r>
              <a:rPr lang="en-US" sz="2000" dirty="0"/>
              <a:t>. It provides information on industry, corporate affiliation, output (total value of shipments), employment, capital expenditures, and material inputs of each establishment.</a:t>
            </a:r>
          </a:p>
          <a:p>
            <a:endParaRPr lang="en-US" sz="2000" dirty="0">
              <a:solidFill>
                <a:srgbClr val="00B050"/>
              </a:solidFill>
            </a:endParaRPr>
          </a:p>
          <a:p>
            <a:r>
              <a:rPr lang="en-US" sz="2000" dirty="0" err="1">
                <a:solidFill>
                  <a:srgbClr val="00B050"/>
                </a:solidFill>
              </a:rPr>
              <a:t>Compustat</a:t>
            </a:r>
            <a:r>
              <a:rPr lang="en-US" sz="2000" dirty="0">
                <a:solidFill>
                  <a:srgbClr val="00B050"/>
                </a:solidFill>
              </a:rPr>
              <a:t>: firm-level data</a:t>
            </a:r>
            <a:r>
              <a:rPr lang="en-US" sz="2000" dirty="0"/>
              <a:t> including balance sheet and income statement data </a:t>
            </a:r>
          </a:p>
          <a:p>
            <a:endParaRPr lang="en-US" sz="2000" dirty="0">
              <a:solidFill>
                <a:srgbClr val="00B050"/>
              </a:solidFill>
            </a:endParaRPr>
          </a:p>
          <a:p>
            <a:r>
              <a:rPr lang="fr-FR" sz="2000" dirty="0">
                <a:solidFill>
                  <a:srgbClr val="00B050"/>
                </a:solidFill>
              </a:rPr>
              <a:t>Nini et al. (2012): </a:t>
            </a:r>
            <a:r>
              <a:rPr lang="en-US" sz="2000" dirty="0"/>
              <a:t>financial covenant violations</a:t>
            </a:r>
          </a:p>
          <a:p>
            <a:r>
              <a:rPr lang="en-US" sz="2000" dirty="0" err="1">
                <a:solidFill>
                  <a:srgbClr val="00B050"/>
                </a:solidFill>
              </a:rPr>
              <a:t>Dealscan</a:t>
            </a:r>
            <a:r>
              <a:rPr lang="en-US" sz="2000" dirty="0">
                <a:solidFill>
                  <a:srgbClr val="00B050"/>
                </a:solidFill>
              </a:rPr>
              <a:t> database: </a:t>
            </a:r>
            <a:r>
              <a:rPr lang="en-US" sz="2000" dirty="0"/>
              <a:t>a large sample of loan contracts, including detailed information on maintenance covenants based on accounting ratios</a:t>
            </a:r>
          </a:p>
        </p:txBody>
      </p:sp>
    </p:spTree>
    <p:extLst>
      <p:ext uri="{BB962C8B-B14F-4D97-AF65-F5344CB8AC3E}">
        <p14:creationId xmlns:p14="http://schemas.microsoft.com/office/powerpoint/2010/main" val="39364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Sample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9AB0BF49-E80D-DBCB-4C42-05CFFE57A525}"/>
              </a:ext>
            </a:extLst>
          </p:cNvPr>
          <p:cNvSpPr txBox="1"/>
          <p:nvPr/>
        </p:nvSpPr>
        <p:spPr>
          <a:xfrm>
            <a:off x="152400" y="1087120"/>
            <a:ext cx="11714480" cy="1323439"/>
          </a:xfrm>
          <a:prstGeom prst="rect">
            <a:avLst/>
          </a:prstGeom>
          <a:noFill/>
        </p:spPr>
        <p:txBody>
          <a:bodyPr wrap="square">
            <a:spAutoFit/>
          </a:bodyPr>
          <a:lstStyle/>
          <a:p>
            <a:r>
              <a:rPr lang="en-US" sz="2000" dirty="0">
                <a:solidFill>
                  <a:srgbClr val="00B050"/>
                </a:solidFill>
              </a:rPr>
              <a:t>Sample: </a:t>
            </a:r>
            <a:r>
              <a:rPr lang="en-US" sz="2000" dirty="0"/>
              <a:t>21,0 0 0 firm-year observations covering approximately 2,0 0 0,0 0 0 establishment-years</a:t>
            </a:r>
          </a:p>
          <a:p>
            <a:endParaRPr lang="en-US" sz="2000" dirty="0"/>
          </a:p>
          <a:p>
            <a:endParaRPr lang="en-US" sz="2000" dirty="0"/>
          </a:p>
          <a:p>
            <a:r>
              <a:rPr lang="en-US" sz="2000" dirty="0">
                <a:solidFill>
                  <a:srgbClr val="00B050"/>
                </a:solidFill>
              </a:rPr>
              <a:t>Sample period: </a:t>
            </a:r>
            <a:r>
              <a:rPr lang="en-US" sz="2000" dirty="0"/>
              <a:t>1996 to 2009</a:t>
            </a:r>
            <a:endParaRPr lang="en-US" sz="2000" dirty="0">
              <a:solidFill>
                <a:srgbClr val="00B050"/>
              </a:solidFill>
            </a:endParaRPr>
          </a:p>
        </p:txBody>
      </p:sp>
    </p:spTree>
    <p:extLst>
      <p:ext uri="{BB962C8B-B14F-4D97-AF65-F5344CB8AC3E}">
        <p14:creationId xmlns:p14="http://schemas.microsoft.com/office/powerpoint/2010/main" val="3307445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840860" y="173650"/>
            <a:ext cx="9144000" cy="397396"/>
          </a:xfrm>
          <a:effectLst>
            <a:outerShdw blurRad="25400" dir="17880000">
              <a:srgbClr val="000000">
                <a:alpha val="46000"/>
              </a:srgbClr>
            </a:outerShdw>
          </a:effectLst>
        </p:spPr>
        <p:txBody>
          <a:bodyPr vert="horz" lIns="91440" tIns="45720" rIns="91440" bIns="45720" rtlCol="0" anchor="b">
            <a:noAutofit/>
          </a:bodyPr>
          <a:lstStyle/>
          <a:p>
            <a:r>
              <a:rPr lang="en-US" sz="3200" b="1" dirty="0">
                <a:solidFill>
                  <a:srgbClr val="C00000"/>
                </a:solidFill>
              </a:rPr>
              <a:t> Variable construction and summary statistics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9AB0BF49-E80D-DBCB-4C42-05CFFE57A525}"/>
              </a:ext>
            </a:extLst>
          </p:cNvPr>
          <p:cNvSpPr txBox="1"/>
          <p:nvPr/>
        </p:nvSpPr>
        <p:spPr>
          <a:xfrm>
            <a:off x="8870830" y="1263368"/>
            <a:ext cx="2544793" cy="1631216"/>
          </a:xfrm>
          <a:prstGeom prst="rect">
            <a:avLst/>
          </a:prstGeom>
          <a:noFill/>
        </p:spPr>
        <p:txBody>
          <a:bodyPr wrap="square">
            <a:spAutoFit/>
          </a:bodyPr>
          <a:lstStyle/>
          <a:p>
            <a:r>
              <a:rPr lang="en-US" sz="2000" dirty="0">
                <a:solidFill>
                  <a:srgbClr val="0070C0"/>
                </a:solidFill>
              </a:rPr>
              <a:t>The change in employment is larger for violators both at the firm and establishment levels</a:t>
            </a:r>
          </a:p>
        </p:txBody>
      </p:sp>
      <p:pic>
        <p:nvPicPr>
          <p:cNvPr id="3" name="Picture 2">
            <a:extLst>
              <a:ext uri="{FF2B5EF4-FFF2-40B4-BE49-F238E27FC236}">
                <a16:creationId xmlns:a16="http://schemas.microsoft.com/office/drawing/2014/main" id="{E66D0882-ECA8-545C-9C86-E2A8E77C0240}"/>
              </a:ext>
            </a:extLst>
          </p:cNvPr>
          <p:cNvPicPr>
            <a:picLocks noChangeAspect="1"/>
          </p:cNvPicPr>
          <p:nvPr/>
        </p:nvPicPr>
        <p:blipFill>
          <a:blip r:embed="rId3"/>
          <a:stretch>
            <a:fillRect/>
          </a:stretch>
        </p:blipFill>
        <p:spPr>
          <a:xfrm>
            <a:off x="27818" y="571046"/>
            <a:ext cx="8766631" cy="3655075"/>
          </a:xfrm>
          <a:prstGeom prst="rect">
            <a:avLst/>
          </a:prstGeom>
        </p:spPr>
      </p:pic>
      <p:sp>
        <p:nvSpPr>
          <p:cNvPr id="6" name="Rectangle 5">
            <a:extLst>
              <a:ext uri="{FF2B5EF4-FFF2-40B4-BE49-F238E27FC236}">
                <a16:creationId xmlns:a16="http://schemas.microsoft.com/office/drawing/2014/main" id="{EBDE8F8F-1E69-637B-C7AE-A04DDE82AF07}"/>
              </a:ext>
            </a:extLst>
          </p:cNvPr>
          <p:cNvSpPr/>
          <p:nvPr/>
        </p:nvSpPr>
        <p:spPr>
          <a:xfrm>
            <a:off x="6714067" y="1964267"/>
            <a:ext cx="1921933" cy="313266"/>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A0D4854-5387-B9AA-72E7-8E07F595390E}"/>
              </a:ext>
            </a:extLst>
          </p:cNvPr>
          <p:cNvSpPr txBox="1"/>
          <p:nvPr/>
        </p:nvSpPr>
        <p:spPr>
          <a:xfrm>
            <a:off x="160867" y="4433083"/>
            <a:ext cx="12031133" cy="646331"/>
          </a:xfrm>
          <a:prstGeom prst="rect">
            <a:avLst/>
          </a:prstGeom>
          <a:noFill/>
        </p:spPr>
        <p:txBody>
          <a:bodyPr wrap="square">
            <a:spAutoFit/>
          </a:bodyPr>
          <a:lstStyle/>
          <a:p>
            <a:r>
              <a:rPr lang="en-US" dirty="0"/>
              <a:t>Significant performance differences: violators have lower net worth, current ratio, and market- to-book ratio; hold less cash; and are more levered. </a:t>
            </a:r>
          </a:p>
        </p:txBody>
      </p:sp>
    </p:spTree>
    <p:extLst>
      <p:ext uri="{BB962C8B-B14F-4D97-AF65-F5344CB8AC3E}">
        <p14:creationId xmlns:p14="http://schemas.microsoft.com/office/powerpoint/2010/main" val="4040327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840860" y="173650"/>
            <a:ext cx="9144000" cy="397396"/>
          </a:xfrm>
          <a:effectLst>
            <a:outerShdw blurRad="25400" dir="17880000">
              <a:srgbClr val="000000">
                <a:alpha val="46000"/>
              </a:srgbClr>
            </a:outerShdw>
          </a:effectLst>
        </p:spPr>
        <p:txBody>
          <a:bodyPr vert="horz" lIns="91440" tIns="45720" rIns="91440" bIns="45720" rtlCol="0" anchor="b">
            <a:noAutofit/>
          </a:bodyPr>
          <a:lstStyle/>
          <a:p>
            <a:r>
              <a:rPr lang="en-US" sz="3200" b="1" dirty="0">
                <a:solidFill>
                  <a:srgbClr val="C00000"/>
                </a:solidFill>
              </a:rPr>
              <a:t> Variable construction and summary statistics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9AB0BF49-E80D-DBCB-4C42-05CFFE57A525}"/>
              </a:ext>
            </a:extLst>
          </p:cNvPr>
          <p:cNvSpPr txBox="1"/>
          <p:nvPr/>
        </p:nvSpPr>
        <p:spPr>
          <a:xfrm>
            <a:off x="152400" y="1087120"/>
            <a:ext cx="11714480" cy="400110"/>
          </a:xfrm>
          <a:prstGeom prst="rect">
            <a:avLst/>
          </a:prstGeom>
          <a:noFill/>
        </p:spPr>
        <p:txBody>
          <a:bodyPr wrap="square">
            <a:spAutoFit/>
          </a:bodyPr>
          <a:lstStyle/>
          <a:p>
            <a:endParaRPr lang="en-US" sz="2000" dirty="0">
              <a:solidFill>
                <a:srgbClr val="00B050"/>
              </a:solidFill>
            </a:endParaRPr>
          </a:p>
        </p:txBody>
      </p:sp>
      <p:pic>
        <p:nvPicPr>
          <p:cNvPr id="6" name="Picture 5">
            <a:extLst>
              <a:ext uri="{FF2B5EF4-FFF2-40B4-BE49-F238E27FC236}">
                <a16:creationId xmlns:a16="http://schemas.microsoft.com/office/drawing/2014/main" id="{1FB89782-536A-B55F-9529-EB7FF81F8731}"/>
              </a:ext>
            </a:extLst>
          </p:cNvPr>
          <p:cNvPicPr>
            <a:picLocks noChangeAspect="1"/>
          </p:cNvPicPr>
          <p:nvPr/>
        </p:nvPicPr>
        <p:blipFill>
          <a:blip r:embed="rId3"/>
          <a:stretch>
            <a:fillRect/>
          </a:stretch>
        </p:blipFill>
        <p:spPr>
          <a:xfrm>
            <a:off x="36282" y="1278666"/>
            <a:ext cx="9313333" cy="5086111"/>
          </a:xfrm>
          <a:prstGeom prst="rect">
            <a:avLst/>
          </a:prstGeom>
        </p:spPr>
      </p:pic>
      <p:pic>
        <p:nvPicPr>
          <p:cNvPr id="8" name="Picture 7">
            <a:extLst>
              <a:ext uri="{FF2B5EF4-FFF2-40B4-BE49-F238E27FC236}">
                <a16:creationId xmlns:a16="http://schemas.microsoft.com/office/drawing/2014/main" id="{41EBD8C9-DFFA-ADED-FAE7-C7060392A233}"/>
              </a:ext>
            </a:extLst>
          </p:cNvPr>
          <p:cNvPicPr>
            <a:picLocks noChangeAspect="1"/>
          </p:cNvPicPr>
          <p:nvPr/>
        </p:nvPicPr>
        <p:blipFill>
          <a:blip r:embed="rId4"/>
          <a:stretch>
            <a:fillRect/>
          </a:stretch>
        </p:blipFill>
        <p:spPr>
          <a:xfrm>
            <a:off x="44993" y="493223"/>
            <a:ext cx="9313333" cy="791068"/>
          </a:xfrm>
          <a:prstGeom prst="rect">
            <a:avLst/>
          </a:prstGeom>
        </p:spPr>
      </p:pic>
      <p:sp>
        <p:nvSpPr>
          <p:cNvPr id="10" name="TextBox 9">
            <a:extLst>
              <a:ext uri="{FF2B5EF4-FFF2-40B4-BE49-F238E27FC236}">
                <a16:creationId xmlns:a16="http://schemas.microsoft.com/office/drawing/2014/main" id="{AD30A36A-AE0F-8D04-FB26-22FB8C6292D1}"/>
              </a:ext>
            </a:extLst>
          </p:cNvPr>
          <p:cNvSpPr txBox="1"/>
          <p:nvPr/>
        </p:nvSpPr>
        <p:spPr>
          <a:xfrm>
            <a:off x="9403319" y="1157797"/>
            <a:ext cx="2636281" cy="3416320"/>
          </a:xfrm>
          <a:prstGeom prst="rect">
            <a:avLst/>
          </a:prstGeom>
          <a:noFill/>
        </p:spPr>
        <p:txBody>
          <a:bodyPr wrap="square">
            <a:spAutoFit/>
          </a:bodyPr>
          <a:lstStyle/>
          <a:p>
            <a:r>
              <a:rPr lang="en-US" dirty="0">
                <a:solidFill>
                  <a:srgbClr val="00B050"/>
                </a:solidFill>
              </a:rPr>
              <a:t>The rate of covenant violations is about the same for manufacturing (0.040) compared with all other establishments (0.041). </a:t>
            </a:r>
          </a:p>
          <a:p>
            <a:endParaRPr lang="en-US" dirty="0"/>
          </a:p>
          <a:p>
            <a:r>
              <a:rPr lang="en-US" dirty="0">
                <a:solidFill>
                  <a:srgbClr val="0070C0"/>
                </a:solidFill>
              </a:rPr>
              <a:t>Establishments belonging to violating firms experience closures with greater frequency</a:t>
            </a:r>
          </a:p>
          <a:p>
            <a:endParaRPr lang="en-US" dirty="0"/>
          </a:p>
        </p:txBody>
      </p:sp>
      <p:sp>
        <p:nvSpPr>
          <p:cNvPr id="11" name="Rectangle 10">
            <a:extLst>
              <a:ext uri="{FF2B5EF4-FFF2-40B4-BE49-F238E27FC236}">
                <a16:creationId xmlns:a16="http://schemas.microsoft.com/office/drawing/2014/main" id="{954508ED-3D8B-B544-A34C-04F5693BC94F}"/>
              </a:ext>
            </a:extLst>
          </p:cNvPr>
          <p:cNvSpPr/>
          <p:nvPr/>
        </p:nvSpPr>
        <p:spPr>
          <a:xfrm>
            <a:off x="152400" y="3606800"/>
            <a:ext cx="4284133" cy="143933"/>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BE13F01-6E8F-8FDB-EA31-5064696E53B8}"/>
              </a:ext>
            </a:extLst>
          </p:cNvPr>
          <p:cNvSpPr/>
          <p:nvPr/>
        </p:nvSpPr>
        <p:spPr>
          <a:xfrm>
            <a:off x="152400" y="1800365"/>
            <a:ext cx="4284133" cy="202939"/>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D9963AE-A340-84B8-4432-36B1BB59C6E7}"/>
              </a:ext>
            </a:extLst>
          </p:cNvPr>
          <p:cNvSpPr/>
          <p:nvPr/>
        </p:nvSpPr>
        <p:spPr>
          <a:xfrm flipV="1">
            <a:off x="7078133" y="1603864"/>
            <a:ext cx="2057400" cy="19650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C41A0C1-EA6A-3E5B-608D-6ABCFD0AA2C5}"/>
              </a:ext>
            </a:extLst>
          </p:cNvPr>
          <p:cNvSpPr/>
          <p:nvPr/>
        </p:nvSpPr>
        <p:spPr>
          <a:xfrm flipV="1">
            <a:off x="7213599" y="3429000"/>
            <a:ext cx="1930400" cy="16139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0937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rmAutofit fontScale="90000"/>
          </a:bodyPr>
          <a:lstStyle/>
          <a:p>
            <a:r>
              <a:rPr lang="en-US" sz="2800" b="1" dirty="0">
                <a:solidFill>
                  <a:srgbClr val="C00000"/>
                </a:solidFill>
              </a:rPr>
              <a:t>Identification and empirical model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23889084-B2E1-067C-B5FF-27B6C955487D}"/>
              </a:ext>
            </a:extLst>
          </p:cNvPr>
          <p:cNvPicPr>
            <a:picLocks noChangeAspect="1"/>
          </p:cNvPicPr>
          <p:nvPr/>
        </p:nvPicPr>
        <p:blipFill>
          <a:blip r:embed="rId3"/>
          <a:stretch>
            <a:fillRect/>
          </a:stretch>
        </p:blipFill>
        <p:spPr>
          <a:xfrm>
            <a:off x="564207" y="1173110"/>
            <a:ext cx="5915851" cy="752580"/>
          </a:xfrm>
          <a:prstGeom prst="rect">
            <a:avLst/>
          </a:prstGeom>
        </p:spPr>
      </p:pic>
      <p:pic>
        <p:nvPicPr>
          <p:cNvPr id="8" name="Picture 7">
            <a:extLst>
              <a:ext uri="{FF2B5EF4-FFF2-40B4-BE49-F238E27FC236}">
                <a16:creationId xmlns:a16="http://schemas.microsoft.com/office/drawing/2014/main" id="{CA59E1EA-A92F-2881-A947-568663F6FCCD}"/>
              </a:ext>
            </a:extLst>
          </p:cNvPr>
          <p:cNvPicPr>
            <a:picLocks noChangeAspect="1"/>
          </p:cNvPicPr>
          <p:nvPr/>
        </p:nvPicPr>
        <p:blipFill>
          <a:blip r:embed="rId4"/>
          <a:stretch>
            <a:fillRect/>
          </a:stretch>
        </p:blipFill>
        <p:spPr>
          <a:xfrm>
            <a:off x="495425" y="3112764"/>
            <a:ext cx="5782482" cy="1543265"/>
          </a:xfrm>
          <a:prstGeom prst="rect">
            <a:avLst/>
          </a:prstGeom>
        </p:spPr>
      </p:pic>
      <p:sp>
        <p:nvSpPr>
          <p:cNvPr id="11" name="TextBox 10">
            <a:extLst>
              <a:ext uri="{FF2B5EF4-FFF2-40B4-BE49-F238E27FC236}">
                <a16:creationId xmlns:a16="http://schemas.microsoft.com/office/drawing/2014/main" id="{E65F6242-B1DD-FB3E-7288-A430926B0532}"/>
              </a:ext>
            </a:extLst>
          </p:cNvPr>
          <p:cNvSpPr txBox="1"/>
          <p:nvPr/>
        </p:nvSpPr>
        <p:spPr>
          <a:xfrm>
            <a:off x="6480058" y="1173110"/>
            <a:ext cx="5305542" cy="1477328"/>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a:t>
            </a:r>
            <a:r>
              <a:rPr lang="en-US" dirty="0"/>
              <a:t>y</a:t>
            </a:r>
            <a:r>
              <a:rPr lang="en-US" baseline="-25000" dirty="0"/>
              <a:t>i,t+1 </a:t>
            </a:r>
            <a:r>
              <a:rPr lang="en-US" dirty="0"/>
              <a:t>, captures resource allocation with either the within-firm annual change in the natural logarithm of the number of employees or in the establishment closure rate. α</a:t>
            </a:r>
            <a:r>
              <a:rPr lang="en-US" baseline="-25000" dirty="0"/>
              <a:t>t</a:t>
            </a:r>
            <a:r>
              <a:rPr lang="en-US" dirty="0"/>
              <a:t> and α</a:t>
            </a:r>
            <a:r>
              <a:rPr lang="en-US" baseline="-25000" dirty="0"/>
              <a:t>k</a:t>
            </a:r>
            <a:r>
              <a:rPr lang="en-US" dirty="0"/>
              <a:t> denote year and industry fixed effects. </a:t>
            </a:r>
            <a:r>
              <a:rPr lang="en-US" dirty="0" err="1"/>
              <a:t>X</a:t>
            </a:r>
            <a:r>
              <a:rPr lang="en-US" baseline="-25000" dirty="0" err="1"/>
              <a:t>it</a:t>
            </a:r>
            <a:r>
              <a:rPr lang="en-US" dirty="0"/>
              <a:t> contains a list of firm-level controls</a:t>
            </a:r>
          </a:p>
        </p:txBody>
      </p:sp>
      <p:sp>
        <p:nvSpPr>
          <p:cNvPr id="14" name="TextBox 13">
            <a:extLst>
              <a:ext uri="{FF2B5EF4-FFF2-40B4-BE49-F238E27FC236}">
                <a16:creationId xmlns:a16="http://schemas.microsoft.com/office/drawing/2014/main" id="{51C5A95B-C155-9A4C-ABA6-39802806D910}"/>
              </a:ext>
            </a:extLst>
          </p:cNvPr>
          <p:cNvSpPr txBox="1"/>
          <p:nvPr/>
        </p:nvSpPr>
        <p:spPr>
          <a:xfrm>
            <a:off x="6641975" y="3145732"/>
            <a:ext cx="5054600" cy="1477328"/>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a:t>
            </a:r>
            <a:r>
              <a:rPr lang="en-US" dirty="0"/>
              <a:t>y</a:t>
            </a:r>
            <a:r>
              <a:rPr lang="en-US" baseline="-25000" dirty="0"/>
              <a:t>ij,t+1</a:t>
            </a:r>
            <a:r>
              <a:rPr lang="en-US" dirty="0"/>
              <a:t> , is the within- establishment annual change in resource allocation</a:t>
            </a:r>
          </a:p>
          <a:p>
            <a:r>
              <a:rPr lang="en-US" dirty="0"/>
              <a:t>α</a:t>
            </a:r>
            <a:r>
              <a:rPr lang="en-US" baseline="-25000" dirty="0" err="1"/>
              <a:t>i</a:t>
            </a:r>
            <a:r>
              <a:rPr lang="en-US" dirty="0"/>
              <a:t> and α</a:t>
            </a:r>
            <a:r>
              <a:rPr lang="en-US" baseline="-25000" dirty="0"/>
              <a:t>k ( j ) </a:t>
            </a:r>
            <a:r>
              <a:rPr lang="en-US" dirty="0"/>
              <a:t>× α</a:t>
            </a:r>
            <a:r>
              <a:rPr lang="en-US" baseline="-25000" dirty="0"/>
              <a:t>s ( j ) </a:t>
            </a:r>
            <a:r>
              <a:rPr lang="en-US" dirty="0"/>
              <a:t>× α</a:t>
            </a:r>
            <a:r>
              <a:rPr lang="en-US" baseline="-25000" dirty="0"/>
              <a:t>t</a:t>
            </a:r>
            <a:r>
              <a:rPr lang="en-US" dirty="0"/>
              <a:t> denote firm and industry-by-state-by-year (of the establishment) fixed effects</a:t>
            </a:r>
          </a:p>
        </p:txBody>
      </p:sp>
    </p:spTree>
    <p:extLst>
      <p:ext uri="{BB962C8B-B14F-4D97-AF65-F5344CB8AC3E}">
        <p14:creationId xmlns:p14="http://schemas.microsoft.com/office/powerpoint/2010/main" val="2389474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800" b="1" dirty="0">
                <a:solidFill>
                  <a:srgbClr val="C00000"/>
                </a:solidFill>
              </a:rPr>
              <a:t>Empirical results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FE977112-40CB-FBCD-38A6-0799E4D9B6CF}"/>
              </a:ext>
            </a:extLst>
          </p:cNvPr>
          <p:cNvPicPr>
            <a:picLocks noChangeAspect="1"/>
          </p:cNvPicPr>
          <p:nvPr/>
        </p:nvPicPr>
        <p:blipFill>
          <a:blip r:embed="rId3"/>
          <a:stretch>
            <a:fillRect/>
          </a:stretch>
        </p:blipFill>
        <p:spPr>
          <a:xfrm>
            <a:off x="0" y="499268"/>
            <a:ext cx="8973566" cy="5554400"/>
          </a:xfrm>
          <a:prstGeom prst="rect">
            <a:avLst/>
          </a:prstGeom>
        </p:spPr>
      </p:pic>
      <p:sp>
        <p:nvSpPr>
          <p:cNvPr id="8" name="TextBox 7">
            <a:extLst>
              <a:ext uri="{FF2B5EF4-FFF2-40B4-BE49-F238E27FC236}">
                <a16:creationId xmlns:a16="http://schemas.microsoft.com/office/drawing/2014/main" id="{0160CDDE-8B8A-47B1-6D47-8E6BF547EEA2}"/>
              </a:ext>
            </a:extLst>
          </p:cNvPr>
          <p:cNvSpPr txBox="1"/>
          <p:nvPr/>
        </p:nvSpPr>
        <p:spPr>
          <a:xfrm flipH="1">
            <a:off x="9143999" y="2294467"/>
            <a:ext cx="2506133" cy="2585323"/>
          </a:xfrm>
          <a:prstGeom prst="rect">
            <a:avLst/>
          </a:prstGeom>
          <a:noFill/>
        </p:spPr>
        <p:txBody>
          <a:bodyPr wrap="square">
            <a:spAutoFit/>
          </a:bodyPr>
          <a:lstStyle/>
          <a:p>
            <a:r>
              <a:rPr lang="en-US" dirty="0"/>
              <a:t>Covenant violations induce firms to lay off employees</a:t>
            </a:r>
          </a:p>
          <a:p>
            <a:endParaRPr lang="en-US" dirty="0"/>
          </a:p>
          <a:p>
            <a:r>
              <a:rPr lang="en-US" dirty="0"/>
              <a:t>Covenant violations also lead firms to withdraw resources on a larger scale through establishment closures.</a:t>
            </a:r>
          </a:p>
        </p:txBody>
      </p:sp>
    </p:spTree>
    <p:extLst>
      <p:ext uri="{BB962C8B-B14F-4D97-AF65-F5344CB8AC3E}">
        <p14:creationId xmlns:p14="http://schemas.microsoft.com/office/powerpoint/2010/main" val="1672721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800" b="1" dirty="0">
                <a:solidFill>
                  <a:srgbClr val="C00000"/>
                </a:solidFill>
              </a:rPr>
              <a:t>Establishments operating in core and peripheral business lines</a:t>
            </a:r>
            <a:r>
              <a:rPr lang="en-US" sz="1000" dirty="0"/>
              <a:t> </a:t>
            </a:r>
            <a:r>
              <a:rPr lang="en-US" sz="2800" b="1" dirty="0">
                <a:solidFill>
                  <a:srgbClr val="C00000"/>
                </a:solidFill>
              </a:rPr>
              <a:t>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1" y="5756658"/>
            <a:ext cx="12192000" cy="1123950"/>
          </a:xfrm>
          <a:prstGeom prst="rect">
            <a:avLst/>
          </a:prstGeom>
        </p:spPr>
      </p:pic>
      <p:pic>
        <p:nvPicPr>
          <p:cNvPr id="7" name="Picture 6">
            <a:extLst>
              <a:ext uri="{FF2B5EF4-FFF2-40B4-BE49-F238E27FC236}">
                <a16:creationId xmlns:a16="http://schemas.microsoft.com/office/drawing/2014/main" id="{E099CDF4-B651-0365-77A0-695CE11A6964}"/>
              </a:ext>
            </a:extLst>
          </p:cNvPr>
          <p:cNvPicPr>
            <a:picLocks noChangeAspect="1"/>
          </p:cNvPicPr>
          <p:nvPr/>
        </p:nvPicPr>
        <p:blipFill>
          <a:blip r:embed="rId3"/>
          <a:stretch>
            <a:fillRect/>
          </a:stretch>
        </p:blipFill>
        <p:spPr>
          <a:xfrm>
            <a:off x="1" y="409443"/>
            <a:ext cx="8970412" cy="4738290"/>
          </a:xfrm>
          <a:prstGeom prst="rect">
            <a:avLst/>
          </a:prstGeom>
        </p:spPr>
      </p:pic>
      <p:sp>
        <p:nvSpPr>
          <p:cNvPr id="10" name="TextBox 9">
            <a:extLst>
              <a:ext uri="{FF2B5EF4-FFF2-40B4-BE49-F238E27FC236}">
                <a16:creationId xmlns:a16="http://schemas.microsoft.com/office/drawing/2014/main" id="{F4232FD8-CFAD-9746-E3E4-DE49F831408F}"/>
              </a:ext>
            </a:extLst>
          </p:cNvPr>
          <p:cNvSpPr txBox="1"/>
          <p:nvPr/>
        </p:nvSpPr>
        <p:spPr>
          <a:xfrm flipH="1">
            <a:off x="9127066" y="407897"/>
            <a:ext cx="2413000" cy="4801314"/>
          </a:xfrm>
          <a:prstGeom prst="rect">
            <a:avLst/>
          </a:prstGeom>
          <a:noFill/>
        </p:spPr>
        <p:txBody>
          <a:bodyPr wrap="square">
            <a:spAutoFit/>
          </a:bodyPr>
          <a:lstStyle/>
          <a:p>
            <a:r>
              <a:rPr lang="en-US" dirty="0">
                <a:solidFill>
                  <a:srgbClr val="0070C0"/>
                </a:solidFill>
              </a:rPr>
              <a:t>In columns 1–4 : firms decrease employment significantly at both core and peripheral establishments, but the effect is about twice as large at peripheral establishments.</a:t>
            </a:r>
          </a:p>
          <a:p>
            <a:endParaRPr lang="en-US" dirty="0">
              <a:solidFill>
                <a:srgbClr val="0070C0"/>
              </a:solidFill>
            </a:endParaRPr>
          </a:p>
          <a:p>
            <a:r>
              <a:rPr lang="en-US" dirty="0">
                <a:solidFill>
                  <a:srgbClr val="0070C0"/>
                </a:solidFill>
              </a:rPr>
              <a:t>Column 5 &amp; 6: Robustness: Column 5 with 4-digit SIC codes and maintain the 25% threshold; column 6 uses 3-digit SIC codes and 50% payroll threshold</a:t>
            </a:r>
          </a:p>
        </p:txBody>
      </p:sp>
      <p:sp>
        <p:nvSpPr>
          <p:cNvPr id="12" name="TextBox 11">
            <a:extLst>
              <a:ext uri="{FF2B5EF4-FFF2-40B4-BE49-F238E27FC236}">
                <a16:creationId xmlns:a16="http://schemas.microsoft.com/office/drawing/2014/main" id="{C08A3E29-1372-340D-0912-C1B178A9EB91}"/>
              </a:ext>
            </a:extLst>
          </p:cNvPr>
          <p:cNvSpPr txBox="1"/>
          <p:nvPr/>
        </p:nvSpPr>
        <p:spPr>
          <a:xfrm>
            <a:off x="-1" y="5110327"/>
            <a:ext cx="11954933" cy="646331"/>
          </a:xfrm>
          <a:prstGeom prst="rect">
            <a:avLst/>
          </a:prstGeom>
          <a:noFill/>
        </p:spPr>
        <p:txBody>
          <a:bodyPr wrap="square">
            <a:spAutoFit/>
          </a:bodyPr>
          <a:lstStyle/>
          <a:p>
            <a:r>
              <a:rPr lang="en-US" dirty="0"/>
              <a:t>The coefficients of closure are significantly positive for both types of establishment, but the coefficient for peripheral establishments is much larger (0.013 versus 0.031)</a:t>
            </a:r>
          </a:p>
        </p:txBody>
      </p:sp>
    </p:spTree>
    <p:extLst>
      <p:ext uri="{BB962C8B-B14F-4D97-AF65-F5344CB8AC3E}">
        <p14:creationId xmlns:p14="http://schemas.microsoft.com/office/powerpoint/2010/main" val="1795160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800" b="1" dirty="0">
                <a:solidFill>
                  <a:srgbClr val="C00000"/>
                </a:solidFill>
              </a:rPr>
              <a:t>Establishment productivity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486FE1BE-89F5-F5B3-5D0D-BF0D2D3F7A4A}"/>
              </a:ext>
            </a:extLst>
          </p:cNvPr>
          <p:cNvPicPr>
            <a:picLocks noChangeAspect="1"/>
          </p:cNvPicPr>
          <p:nvPr/>
        </p:nvPicPr>
        <p:blipFill>
          <a:blip r:embed="rId3"/>
          <a:stretch>
            <a:fillRect/>
          </a:stretch>
        </p:blipFill>
        <p:spPr>
          <a:xfrm>
            <a:off x="69512" y="598457"/>
            <a:ext cx="4839375" cy="428685"/>
          </a:xfrm>
          <a:prstGeom prst="rect">
            <a:avLst/>
          </a:prstGeom>
        </p:spPr>
      </p:pic>
      <p:pic>
        <p:nvPicPr>
          <p:cNvPr id="6" name="Picture 5">
            <a:extLst>
              <a:ext uri="{FF2B5EF4-FFF2-40B4-BE49-F238E27FC236}">
                <a16:creationId xmlns:a16="http://schemas.microsoft.com/office/drawing/2014/main" id="{35A7B584-CDD5-C67C-CFA5-0FDAD8232E4C}"/>
              </a:ext>
            </a:extLst>
          </p:cNvPr>
          <p:cNvPicPr>
            <a:picLocks noChangeAspect="1"/>
          </p:cNvPicPr>
          <p:nvPr/>
        </p:nvPicPr>
        <p:blipFill>
          <a:blip r:embed="rId4"/>
          <a:stretch>
            <a:fillRect/>
          </a:stretch>
        </p:blipFill>
        <p:spPr>
          <a:xfrm>
            <a:off x="69512" y="1027142"/>
            <a:ext cx="9260623" cy="2909858"/>
          </a:xfrm>
          <a:prstGeom prst="rect">
            <a:avLst/>
          </a:prstGeom>
        </p:spPr>
      </p:pic>
      <p:sp>
        <p:nvSpPr>
          <p:cNvPr id="9" name="TextBox 8">
            <a:extLst>
              <a:ext uri="{FF2B5EF4-FFF2-40B4-BE49-F238E27FC236}">
                <a16:creationId xmlns:a16="http://schemas.microsoft.com/office/drawing/2014/main" id="{5D6C6364-A89C-EBFC-BE2B-8E129D4F83A2}"/>
              </a:ext>
            </a:extLst>
          </p:cNvPr>
          <p:cNvSpPr txBox="1"/>
          <p:nvPr/>
        </p:nvSpPr>
        <p:spPr>
          <a:xfrm>
            <a:off x="67732" y="4267153"/>
            <a:ext cx="12124268" cy="1200329"/>
          </a:xfrm>
          <a:prstGeom prst="rect">
            <a:avLst/>
          </a:prstGeom>
          <a:noFill/>
        </p:spPr>
        <p:txBody>
          <a:bodyPr wrap="square">
            <a:spAutoFit/>
          </a:bodyPr>
          <a:lstStyle/>
          <a:p>
            <a:endParaRPr lang="en-US" dirty="0"/>
          </a:p>
          <a:p>
            <a:r>
              <a:rPr lang="en-US" dirty="0">
                <a:solidFill>
                  <a:srgbClr val="00B050"/>
                </a:solidFill>
              </a:rPr>
              <a:t>In column 4, with the full set of controls, layoffs at productive establishments are indistinguishable from zero. In contrast, unproductive establishments experience employment cuts that are large and statistically significant at the 1% level.</a:t>
            </a:r>
          </a:p>
          <a:p>
            <a:endParaRPr lang="en-US" dirty="0"/>
          </a:p>
        </p:txBody>
      </p:sp>
      <p:sp>
        <p:nvSpPr>
          <p:cNvPr id="13" name="TextBox 12">
            <a:extLst>
              <a:ext uri="{FF2B5EF4-FFF2-40B4-BE49-F238E27FC236}">
                <a16:creationId xmlns:a16="http://schemas.microsoft.com/office/drawing/2014/main" id="{7CCB04D0-8E69-A36E-1698-17C36F601F33}"/>
              </a:ext>
            </a:extLst>
          </p:cNvPr>
          <p:cNvSpPr txBox="1"/>
          <p:nvPr/>
        </p:nvSpPr>
        <p:spPr>
          <a:xfrm>
            <a:off x="9330135" y="423334"/>
            <a:ext cx="2861866" cy="4247317"/>
          </a:xfrm>
          <a:prstGeom prst="rect">
            <a:avLst/>
          </a:prstGeom>
          <a:noFill/>
        </p:spPr>
        <p:txBody>
          <a:bodyPr wrap="square">
            <a:spAutoFit/>
          </a:bodyPr>
          <a:lstStyle/>
          <a:p>
            <a:r>
              <a:rPr lang="en-US" dirty="0"/>
              <a:t>Productive (unproductive) establishments fall above (below) the median of TFP of the establishments belonging to the same firm</a:t>
            </a:r>
          </a:p>
          <a:p>
            <a:endParaRPr lang="en-US" dirty="0">
              <a:solidFill>
                <a:srgbClr val="00B050"/>
              </a:solidFill>
            </a:endParaRPr>
          </a:p>
          <a:p>
            <a:r>
              <a:rPr lang="en-US" dirty="0">
                <a:solidFill>
                  <a:srgbClr val="00B050"/>
                </a:solidFill>
              </a:rPr>
              <a:t>Alternative Productivity measure:</a:t>
            </a:r>
          </a:p>
          <a:p>
            <a:r>
              <a:rPr lang="en-US" dirty="0"/>
              <a:t>column 5 within-industry</a:t>
            </a:r>
            <a:r>
              <a:rPr lang="en-US" b="1" dirty="0"/>
              <a:t> </a:t>
            </a:r>
            <a:r>
              <a:rPr lang="en-US" dirty="0"/>
              <a:t>TFP ranking of establishments</a:t>
            </a:r>
          </a:p>
          <a:p>
            <a:r>
              <a:rPr lang="en-US" dirty="0"/>
              <a:t>Column 6, value added per labor </a:t>
            </a:r>
            <a:r>
              <a:rPr lang="en-US" dirty="0" err="1"/>
              <a:t>hr</a:t>
            </a:r>
            <a:endParaRPr lang="en-US" dirty="0"/>
          </a:p>
          <a:p>
            <a:r>
              <a:rPr lang="en-US" dirty="0"/>
              <a:t>column 7, output divided by total labor hours </a:t>
            </a:r>
          </a:p>
        </p:txBody>
      </p:sp>
      <p:sp>
        <p:nvSpPr>
          <p:cNvPr id="2" name="Rectangle 1">
            <a:extLst>
              <a:ext uri="{FF2B5EF4-FFF2-40B4-BE49-F238E27FC236}">
                <a16:creationId xmlns:a16="http://schemas.microsoft.com/office/drawing/2014/main" id="{3040504A-BEE8-AA09-23A9-26F64205A462}"/>
              </a:ext>
            </a:extLst>
          </p:cNvPr>
          <p:cNvSpPr/>
          <p:nvPr/>
        </p:nvSpPr>
        <p:spPr>
          <a:xfrm>
            <a:off x="4839375" y="1693333"/>
            <a:ext cx="630092" cy="76200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CCC010C-2E0E-1325-CACA-E646657ED068}"/>
              </a:ext>
            </a:extLst>
          </p:cNvPr>
          <p:cNvSpPr/>
          <p:nvPr/>
        </p:nvSpPr>
        <p:spPr>
          <a:xfrm>
            <a:off x="8492067" y="1693333"/>
            <a:ext cx="533400" cy="76200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9149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800" b="1" dirty="0">
                <a:solidFill>
                  <a:srgbClr val="C00000"/>
                </a:solidFill>
              </a:rPr>
              <a:t>Establishment productivity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486FE1BE-89F5-F5B3-5D0D-BF0D2D3F7A4A}"/>
              </a:ext>
            </a:extLst>
          </p:cNvPr>
          <p:cNvPicPr>
            <a:picLocks noChangeAspect="1"/>
          </p:cNvPicPr>
          <p:nvPr/>
        </p:nvPicPr>
        <p:blipFill>
          <a:blip r:embed="rId3"/>
          <a:stretch>
            <a:fillRect/>
          </a:stretch>
        </p:blipFill>
        <p:spPr>
          <a:xfrm>
            <a:off x="69512" y="598457"/>
            <a:ext cx="4839375" cy="428685"/>
          </a:xfrm>
          <a:prstGeom prst="rect">
            <a:avLst/>
          </a:prstGeom>
        </p:spPr>
      </p:pic>
      <p:pic>
        <p:nvPicPr>
          <p:cNvPr id="4" name="Picture 3">
            <a:extLst>
              <a:ext uri="{FF2B5EF4-FFF2-40B4-BE49-F238E27FC236}">
                <a16:creationId xmlns:a16="http://schemas.microsoft.com/office/drawing/2014/main" id="{9CAAFD23-3F87-7023-11E6-A6F6BACCAD3B}"/>
              </a:ext>
            </a:extLst>
          </p:cNvPr>
          <p:cNvPicPr>
            <a:picLocks noChangeAspect="1"/>
          </p:cNvPicPr>
          <p:nvPr/>
        </p:nvPicPr>
        <p:blipFill>
          <a:blip r:embed="rId4"/>
          <a:stretch>
            <a:fillRect/>
          </a:stretch>
        </p:blipFill>
        <p:spPr>
          <a:xfrm>
            <a:off x="67732" y="1047119"/>
            <a:ext cx="9204255" cy="2949148"/>
          </a:xfrm>
          <a:prstGeom prst="rect">
            <a:avLst/>
          </a:prstGeom>
        </p:spPr>
      </p:pic>
      <p:sp>
        <p:nvSpPr>
          <p:cNvPr id="11" name="TextBox 10">
            <a:extLst>
              <a:ext uri="{FF2B5EF4-FFF2-40B4-BE49-F238E27FC236}">
                <a16:creationId xmlns:a16="http://schemas.microsoft.com/office/drawing/2014/main" id="{EDA66D9B-1AC3-0434-AE87-3D1A4BD66158}"/>
              </a:ext>
            </a:extLst>
          </p:cNvPr>
          <p:cNvSpPr txBox="1"/>
          <p:nvPr/>
        </p:nvSpPr>
        <p:spPr>
          <a:xfrm>
            <a:off x="160868" y="4106333"/>
            <a:ext cx="9036386" cy="923330"/>
          </a:xfrm>
          <a:prstGeom prst="rect">
            <a:avLst/>
          </a:prstGeom>
          <a:noFill/>
        </p:spPr>
        <p:txBody>
          <a:bodyPr wrap="square">
            <a:spAutoFit/>
          </a:bodyPr>
          <a:lstStyle/>
          <a:p>
            <a:r>
              <a:rPr lang="en-US" dirty="0"/>
              <a:t>Following covenant violations, violating firms incrementally cut investment by between 1.9 and 2.5 percentage points at unproductive establishments. Productive establishments are not affected.</a:t>
            </a:r>
          </a:p>
        </p:txBody>
      </p:sp>
      <p:sp>
        <p:nvSpPr>
          <p:cNvPr id="14" name="TextBox 13">
            <a:extLst>
              <a:ext uri="{FF2B5EF4-FFF2-40B4-BE49-F238E27FC236}">
                <a16:creationId xmlns:a16="http://schemas.microsoft.com/office/drawing/2014/main" id="{0B6C7794-25C8-CB15-BE8D-E19D3489D3C9}"/>
              </a:ext>
            </a:extLst>
          </p:cNvPr>
          <p:cNvSpPr txBox="1"/>
          <p:nvPr/>
        </p:nvSpPr>
        <p:spPr>
          <a:xfrm>
            <a:off x="9491133" y="1464733"/>
            <a:ext cx="2456452" cy="1477328"/>
          </a:xfrm>
          <a:prstGeom prst="rect">
            <a:avLst/>
          </a:prstGeom>
          <a:noFill/>
        </p:spPr>
        <p:txBody>
          <a:bodyPr wrap="square">
            <a:spAutoFit/>
          </a:bodyPr>
          <a:lstStyle/>
          <a:p>
            <a:r>
              <a:rPr lang="en-US" dirty="0"/>
              <a:t>within-firm TFP ranking (columns 1–4)</a:t>
            </a:r>
          </a:p>
          <a:p>
            <a:endParaRPr lang="en-US" dirty="0"/>
          </a:p>
          <a:p>
            <a:r>
              <a:rPr lang="en-US" dirty="0"/>
              <a:t>within-industry TFP ranking (column 5) </a:t>
            </a:r>
          </a:p>
        </p:txBody>
      </p:sp>
      <p:sp>
        <p:nvSpPr>
          <p:cNvPr id="16" name="TextBox 15">
            <a:extLst>
              <a:ext uri="{FF2B5EF4-FFF2-40B4-BE49-F238E27FC236}">
                <a16:creationId xmlns:a16="http://schemas.microsoft.com/office/drawing/2014/main" id="{B559FB5E-2071-5594-9495-2DE693014A19}"/>
              </a:ext>
            </a:extLst>
          </p:cNvPr>
          <p:cNvSpPr txBox="1"/>
          <p:nvPr/>
        </p:nvSpPr>
        <p:spPr>
          <a:xfrm>
            <a:off x="9197254" y="3105834"/>
            <a:ext cx="2994746" cy="923330"/>
          </a:xfrm>
          <a:prstGeom prst="rect">
            <a:avLst/>
          </a:prstGeom>
          <a:noFill/>
        </p:spPr>
        <p:txBody>
          <a:bodyPr wrap="square">
            <a:spAutoFit/>
          </a:bodyPr>
          <a:lstStyle/>
          <a:p>
            <a:r>
              <a:rPr lang="en-US" dirty="0"/>
              <a:t>In column 6 we proxy for capital productivity based on return on capital (ROC)</a:t>
            </a:r>
          </a:p>
        </p:txBody>
      </p:sp>
    </p:spTree>
    <p:extLst>
      <p:ext uri="{BB962C8B-B14F-4D97-AF65-F5344CB8AC3E}">
        <p14:creationId xmlns:p14="http://schemas.microsoft.com/office/powerpoint/2010/main" val="1469367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800" b="1" dirty="0">
                <a:solidFill>
                  <a:srgbClr val="C00000"/>
                </a:solidFill>
              </a:rPr>
              <a:t>Establishment industry focus and productivity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16" name="Picture 15">
            <a:extLst>
              <a:ext uri="{FF2B5EF4-FFF2-40B4-BE49-F238E27FC236}">
                <a16:creationId xmlns:a16="http://schemas.microsoft.com/office/drawing/2014/main" id="{63096489-4E17-25FD-5F21-E1A73790DCDA}"/>
              </a:ext>
            </a:extLst>
          </p:cNvPr>
          <p:cNvPicPr>
            <a:picLocks noChangeAspect="1"/>
          </p:cNvPicPr>
          <p:nvPr/>
        </p:nvPicPr>
        <p:blipFill>
          <a:blip r:embed="rId3"/>
          <a:stretch>
            <a:fillRect/>
          </a:stretch>
        </p:blipFill>
        <p:spPr>
          <a:xfrm>
            <a:off x="1206625" y="1217981"/>
            <a:ext cx="5782482" cy="2305372"/>
          </a:xfrm>
          <a:prstGeom prst="rect">
            <a:avLst/>
          </a:prstGeom>
        </p:spPr>
      </p:pic>
      <p:sp>
        <p:nvSpPr>
          <p:cNvPr id="2" name="TextBox 1">
            <a:extLst>
              <a:ext uri="{FF2B5EF4-FFF2-40B4-BE49-F238E27FC236}">
                <a16:creationId xmlns:a16="http://schemas.microsoft.com/office/drawing/2014/main" id="{58C969C1-309D-954F-148E-1AE002D9917B}"/>
              </a:ext>
            </a:extLst>
          </p:cNvPr>
          <p:cNvSpPr txBox="1"/>
          <p:nvPr/>
        </p:nvSpPr>
        <p:spPr>
          <a:xfrm>
            <a:off x="9033933" y="1481667"/>
            <a:ext cx="2353734" cy="923330"/>
          </a:xfrm>
          <a:prstGeom prst="rect">
            <a:avLst/>
          </a:prstGeom>
          <a:noFill/>
        </p:spPr>
        <p:txBody>
          <a:bodyPr wrap="square" rtlCol="0">
            <a:spAutoFit/>
          </a:bodyPr>
          <a:lstStyle/>
          <a:p>
            <a:r>
              <a:rPr lang="en-US" dirty="0"/>
              <a:t>Interaction: violation with focus and productivity</a:t>
            </a:r>
          </a:p>
        </p:txBody>
      </p:sp>
    </p:spTree>
    <p:extLst>
      <p:ext uri="{BB962C8B-B14F-4D97-AF65-F5344CB8AC3E}">
        <p14:creationId xmlns:p14="http://schemas.microsoft.com/office/powerpoint/2010/main" val="3496130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800" b="1" dirty="0">
                <a:solidFill>
                  <a:srgbClr val="C00000"/>
                </a:solidFill>
              </a:rPr>
              <a:t>Establishment industry focus and productivity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9FD4D0B0-644F-7DFF-B6AC-E356A2D68C7E}"/>
              </a:ext>
            </a:extLst>
          </p:cNvPr>
          <p:cNvPicPr>
            <a:picLocks noChangeAspect="1"/>
          </p:cNvPicPr>
          <p:nvPr/>
        </p:nvPicPr>
        <p:blipFill>
          <a:blip r:embed="rId3"/>
          <a:stretch>
            <a:fillRect/>
          </a:stretch>
        </p:blipFill>
        <p:spPr>
          <a:xfrm>
            <a:off x="0" y="425364"/>
            <a:ext cx="8060267" cy="5625470"/>
          </a:xfrm>
          <a:prstGeom prst="rect">
            <a:avLst/>
          </a:prstGeom>
        </p:spPr>
      </p:pic>
      <p:sp>
        <p:nvSpPr>
          <p:cNvPr id="7" name="TextBox 6">
            <a:extLst>
              <a:ext uri="{FF2B5EF4-FFF2-40B4-BE49-F238E27FC236}">
                <a16:creationId xmlns:a16="http://schemas.microsoft.com/office/drawing/2014/main" id="{D0C60D92-BB03-5E6C-17AE-D3E9663D7375}"/>
              </a:ext>
            </a:extLst>
          </p:cNvPr>
          <p:cNvSpPr txBox="1"/>
          <p:nvPr/>
        </p:nvSpPr>
        <p:spPr>
          <a:xfrm>
            <a:off x="8174567" y="669836"/>
            <a:ext cx="3903133" cy="3693319"/>
          </a:xfrm>
          <a:prstGeom prst="rect">
            <a:avLst/>
          </a:prstGeom>
          <a:noFill/>
        </p:spPr>
        <p:txBody>
          <a:bodyPr wrap="square">
            <a:spAutoFit/>
          </a:bodyPr>
          <a:lstStyle/>
          <a:p>
            <a:r>
              <a:rPr lang="en-US" dirty="0">
                <a:solidFill>
                  <a:srgbClr val="00B050"/>
                </a:solidFill>
              </a:rPr>
              <a:t>the cuts occurring at manufacturing establishments outside of the core focus of violating firms are in line with the estimates for all industries (see Table 3 )</a:t>
            </a:r>
          </a:p>
          <a:p>
            <a:endParaRPr lang="en-US" dirty="0"/>
          </a:p>
          <a:p>
            <a:r>
              <a:rPr lang="en-US" dirty="0"/>
              <a:t>on the interaction between focus and productivity, we see that the cuts occur among unproductive establishments in both core and peripheral industries; however, they are far larger in magnitude at the peripheral establishments</a:t>
            </a:r>
          </a:p>
        </p:txBody>
      </p:sp>
      <p:sp>
        <p:nvSpPr>
          <p:cNvPr id="2" name="Rectangle 1">
            <a:extLst>
              <a:ext uri="{FF2B5EF4-FFF2-40B4-BE49-F238E27FC236}">
                <a16:creationId xmlns:a16="http://schemas.microsoft.com/office/drawing/2014/main" id="{5F60907A-486A-74DD-EA38-455A4A132EBB}"/>
              </a:ext>
            </a:extLst>
          </p:cNvPr>
          <p:cNvSpPr/>
          <p:nvPr/>
        </p:nvSpPr>
        <p:spPr>
          <a:xfrm>
            <a:off x="118533" y="3158067"/>
            <a:ext cx="6316134" cy="59266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1158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500" b="1" dirty="0">
                <a:solidFill>
                  <a:srgbClr val="C00000"/>
                </a:solidFill>
              </a:rPr>
              <a:t>Establishment operating risk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CEFCEE49-EEA3-CE4C-57F1-5A5D3E003BC9}"/>
              </a:ext>
            </a:extLst>
          </p:cNvPr>
          <p:cNvPicPr>
            <a:picLocks noChangeAspect="1"/>
          </p:cNvPicPr>
          <p:nvPr/>
        </p:nvPicPr>
        <p:blipFill>
          <a:blip r:embed="rId3"/>
          <a:stretch>
            <a:fillRect/>
          </a:stretch>
        </p:blipFill>
        <p:spPr>
          <a:xfrm>
            <a:off x="72195" y="423333"/>
            <a:ext cx="6362472" cy="5232400"/>
          </a:xfrm>
          <a:prstGeom prst="rect">
            <a:avLst/>
          </a:prstGeom>
        </p:spPr>
      </p:pic>
      <p:sp>
        <p:nvSpPr>
          <p:cNvPr id="7" name="TextBox 6">
            <a:extLst>
              <a:ext uri="{FF2B5EF4-FFF2-40B4-BE49-F238E27FC236}">
                <a16:creationId xmlns:a16="http://schemas.microsoft.com/office/drawing/2014/main" id="{B475E925-E137-F8B8-6EE1-D7EECCDF83C1}"/>
              </a:ext>
            </a:extLst>
          </p:cNvPr>
          <p:cNvSpPr txBox="1"/>
          <p:nvPr/>
        </p:nvSpPr>
        <p:spPr>
          <a:xfrm>
            <a:off x="6502400" y="577585"/>
            <a:ext cx="5617405" cy="2862322"/>
          </a:xfrm>
          <a:prstGeom prst="rect">
            <a:avLst/>
          </a:prstGeom>
          <a:noFill/>
        </p:spPr>
        <p:txBody>
          <a:bodyPr wrap="square">
            <a:spAutoFit/>
          </a:bodyPr>
          <a:lstStyle/>
          <a:p>
            <a:r>
              <a:rPr lang="en-US" dirty="0"/>
              <a:t>layoffs are present only at risky establishments.</a:t>
            </a:r>
          </a:p>
          <a:p>
            <a:endParaRPr lang="en-US" dirty="0"/>
          </a:p>
          <a:p>
            <a:r>
              <a:rPr lang="en-US" dirty="0"/>
              <a:t>a higher incidence of closures and large cuts occur in investment among risky establishments only. </a:t>
            </a:r>
          </a:p>
          <a:p>
            <a:endParaRPr lang="en-US" dirty="0"/>
          </a:p>
          <a:p>
            <a:r>
              <a:rPr lang="en-US" dirty="0"/>
              <a:t>Column 2: within-firm</a:t>
            </a:r>
          </a:p>
          <a:p>
            <a:r>
              <a:rPr lang="en-US" dirty="0"/>
              <a:t>Column 3: within- industry</a:t>
            </a:r>
          </a:p>
          <a:p>
            <a:r>
              <a:rPr lang="en-US" dirty="0"/>
              <a:t>layoffs are concentrated among the establishments that are considered to be both unproductive and risky</a:t>
            </a:r>
          </a:p>
          <a:p>
            <a:endParaRPr lang="en-US" dirty="0"/>
          </a:p>
        </p:txBody>
      </p:sp>
    </p:spTree>
    <p:extLst>
      <p:ext uri="{BB962C8B-B14F-4D97-AF65-F5344CB8AC3E}">
        <p14:creationId xmlns:p14="http://schemas.microsoft.com/office/powerpoint/2010/main" val="1992345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600" b="1" dirty="0">
                <a:solidFill>
                  <a:srgbClr val="C00000"/>
                </a:solidFill>
              </a:rPr>
              <a:t>Heterogeneity among borrowers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E319578D-1A77-0966-C5AD-A049C7B7C944}"/>
              </a:ext>
            </a:extLst>
          </p:cNvPr>
          <p:cNvPicPr>
            <a:picLocks noChangeAspect="1"/>
          </p:cNvPicPr>
          <p:nvPr/>
        </p:nvPicPr>
        <p:blipFill>
          <a:blip r:embed="rId3"/>
          <a:stretch>
            <a:fillRect/>
          </a:stretch>
        </p:blipFill>
        <p:spPr>
          <a:xfrm>
            <a:off x="72195" y="499267"/>
            <a:ext cx="5277587" cy="400106"/>
          </a:xfrm>
          <a:prstGeom prst="rect">
            <a:avLst/>
          </a:prstGeom>
        </p:spPr>
      </p:pic>
      <p:pic>
        <p:nvPicPr>
          <p:cNvPr id="8" name="Picture 7">
            <a:extLst>
              <a:ext uri="{FF2B5EF4-FFF2-40B4-BE49-F238E27FC236}">
                <a16:creationId xmlns:a16="http://schemas.microsoft.com/office/drawing/2014/main" id="{01B2041D-AB0E-08DE-8DC4-88F9AB0D736D}"/>
              </a:ext>
            </a:extLst>
          </p:cNvPr>
          <p:cNvPicPr>
            <a:picLocks noChangeAspect="1"/>
          </p:cNvPicPr>
          <p:nvPr/>
        </p:nvPicPr>
        <p:blipFill>
          <a:blip r:embed="rId4"/>
          <a:stretch>
            <a:fillRect/>
          </a:stretch>
        </p:blipFill>
        <p:spPr>
          <a:xfrm>
            <a:off x="72196" y="857468"/>
            <a:ext cx="8159938" cy="4476478"/>
          </a:xfrm>
          <a:prstGeom prst="rect">
            <a:avLst/>
          </a:prstGeom>
        </p:spPr>
      </p:pic>
      <p:sp>
        <p:nvSpPr>
          <p:cNvPr id="10" name="TextBox 9">
            <a:extLst>
              <a:ext uri="{FF2B5EF4-FFF2-40B4-BE49-F238E27FC236}">
                <a16:creationId xmlns:a16="http://schemas.microsoft.com/office/drawing/2014/main" id="{7B1624D5-8405-ABBE-47FE-6C0217521F7C}"/>
              </a:ext>
            </a:extLst>
          </p:cNvPr>
          <p:cNvSpPr txBox="1"/>
          <p:nvPr/>
        </p:nvSpPr>
        <p:spPr>
          <a:xfrm>
            <a:off x="8348133" y="857468"/>
            <a:ext cx="3843867" cy="1754326"/>
          </a:xfrm>
          <a:prstGeom prst="rect">
            <a:avLst/>
          </a:prstGeom>
          <a:noFill/>
        </p:spPr>
        <p:txBody>
          <a:bodyPr wrap="square">
            <a:spAutoFit/>
          </a:bodyPr>
          <a:lstStyle/>
          <a:p>
            <a:endParaRPr lang="en-US" dirty="0"/>
          </a:p>
          <a:p>
            <a:r>
              <a:rPr lang="en-US" dirty="0"/>
              <a:t>There’s a shift in resources away from peripheral and unproductive establishments operating in concentrated industries and</a:t>
            </a:r>
          </a:p>
          <a:p>
            <a:r>
              <a:rPr lang="en-US" dirty="0"/>
              <a:t> among firms without a credit rating.</a:t>
            </a:r>
          </a:p>
        </p:txBody>
      </p:sp>
    </p:spTree>
    <p:extLst>
      <p:ext uri="{BB962C8B-B14F-4D97-AF65-F5344CB8AC3E}">
        <p14:creationId xmlns:p14="http://schemas.microsoft.com/office/powerpoint/2010/main" val="3816998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600" b="1" dirty="0">
                <a:solidFill>
                  <a:srgbClr val="C00000"/>
                </a:solidFill>
              </a:rPr>
              <a:t>Heterogeneity among borrowers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E319578D-1A77-0966-C5AD-A049C7B7C944}"/>
              </a:ext>
            </a:extLst>
          </p:cNvPr>
          <p:cNvPicPr>
            <a:picLocks noChangeAspect="1"/>
          </p:cNvPicPr>
          <p:nvPr/>
        </p:nvPicPr>
        <p:blipFill>
          <a:blip r:embed="rId3"/>
          <a:stretch>
            <a:fillRect/>
          </a:stretch>
        </p:blipFill>
        <p:spPr>
          <a:xfrm>
            <a:off x="72195" y="499267"/>
            <a:ext cx="5277587" cy="400106"/>
          </a:xfrm>
          <a:prstGeom prst="rect">
            <a:avLst/>
          </a:prstGeom>
        </p:spPr>
      </p:pic>
      <p:sp>
        <p:nvSpPr>
          <p:cNvPr id="10" name="TextBox 9">
            <a:extLst>
              <a:ext uri="{FF2B5EF4-FFF2-40B4-BE49-F238E27FC236}">
                <a16:creationId xmlns:a16="http://schemas.microsoft.com/office/drawing/2014/main" id="{7B1624D5-8405-ABBE-47FE-6C0217521F7C}"/>
              </a:ext>
            </a:extLst>
          </p:cNvPr>
          <p:cNvSpPr txBox="1"/>
          <p:nvPr/>
        </p:nvSpPr>
        <p:spPr>
          <a:xfrm>
            <a:off x="8348133" y="857468"/>
            <a:ext cx="3843867" cy="3139321"/>
          </a:xfrm>
          <a:prstGeom prst="rect">
            <a:avLst/>
          </a:prstGeom>
          <a:noFill/>
        </p:spPr>
        <p:txBody>
          <a:bodyPr wrap="square">
            <a:spAutoFit/>
          </a:bodyPr>
          <a:lstStyle/>
          <a:p>
            <a:r>
              <a:rPr lang="en-US" dirty="0"/>
              <a:t>The incremental effect of the covenant violation on resource withdrawals— employment cutbacks and establishment closures—is about twice as large for projects launched during the tenure of the CEO</a:t>
            </a:r>
          </a:p>
          <a:p>
            <a:endParaRPr lang="en-US" dirty="0"/>
          </a:p>
          <a:p>
            <a:r>
              <a:rPr lang="en-US" dirty="0"/>
              <a:t>Establishments both close to and far from the CEO’s home county experience an increase in closures and employment cutbacks.</a:t>
            </a:r>
          </a:p>
        </p:txBody>
      </p:sp>
      <p:pic>
        <p:nvPicPr>
          <p:cNvPr id="4" name="Picture 3">
            <a:extLst>
              <a:ext uri="{FF2B5EF4-FFF2-40B4-BE49-F238E27FC236}">
                <a16:creationId xmlns:a16="http://schemas.microsoft.com/office/drawing/2014/main" id="{2BCDD1B8-A60B-1B01-BC5C-A03D96C44DB4}"/>
              </a:ext>
            </a:extLst>
          </p:cNvPr>
          <p:cNvPicPr>
            <a:picLocks noChangeAspect="1"/>
          </p:cNvPicPr>
          <p:nvPr/>
        </p:nvPicPr>
        <p:blipFill>
          <a:blip r:embed="rId4"/>
          <a:stretch>
            <a:fillRect/>
          </a:stretch>
        </p:blipFill>
        <p:spPr>
          <a:xfrm>
            <a:off x="72195" y="1055787"/>
            <a:ext cx="8275938" cy="2558017"/>
          </a:xfrm>
          <a:prstGeom prst="rect">
            <a:avLst/>
          </a:prstGeom>
        </p:spPr>
      </p:pic>
      <p:sp>
        <p:nvSpPr>
          <p:cNvPr id="7" name="TextBox 6">
            <a:extLst>
              <a:ext uri="{FF2B5EF4-FFF2-40B4-BE49-F238E27FC236}">
                <a16:creationId xmlns:a16="http://schemas.microsoft.com/office/drawing/2014/main" id="{BEEC0094-74D2-6C2F-1070-2FDE3416BBC3}"/>
              </a:ext>
            </a:extLst>
          </p:cNvPr>
          <p:cNvSpPr txBox="1"/>
          <p:nvPr/>
        </p:nvSpPr>
        <p:spPr>
          <a:xfrm>
            <a:off x="262467" y="4265256"/>
            <a:ext cx="11125200" cy="646331"/>
          </a:xfrm>
          <a:prstGeom prst="rect">
            <a:avLst/>
          </a:prstGeom>
          <a:noFill/>
        </p:spPr>
        <p:txBody>
          <a:bodyPr wrap="square">
            <a:spAutoFit/>
          </a:bodyPr>
          <a:lstStyle/>
          <a:p>
            <a:r>
              <a:rPr lang="en-US" dirty="0"/>
              <a:t>The results are therefore consistent with the state-contingent shift in control from managers to creditors leading to a reduction in investments that are more likely to be motivated by manager-shareholder agency conflicts.</a:t>
            </a:r>
          </a:p>
        </p:txBody>
      </p:sp>
    </p:spTree>
    <p:extLst>
      <p:ext uri="{BB962C8B-B14F-4D97-AF65-F5344CB8AC3E}">
        <p14:creationId xmlns:p14="http://schemas.microsoft.com/office/powerpoint/2010/main" val="1823488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600" b="1" dirty="0">
                <a:solidFill>
                  <a:srgbClr val="C00000"/>
                </a:solidFill>
              </a:rPr>
              <a:t>Heterogeneity among lenders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6" name="Picture 5">
            <a:extLst>
              <a:ext uri="{FF2B5EF4-FFF2-40B4-BE49-F238E27FC236}">
                <a16:creationId xmlns:a16="http://schemas.microsoft.com/office/drawing/2014/main" id="{153A4D01-F08F-937F-AAD1-7C085E444B67}"/>
              </a:ext>
            </a:extLst>
          </p:cNvPr>
          <p:cNvPicPr>
            <a:picLocks noChangeAspect="1"/>
          </p:cNvPicPr>
          <p:nvPr/>
        </p:nvPicPr>
        <p:blipFill>
          <a:blip r:embed="rId3"/>
          <a:stretch>
            <a:fillRect/>
          </a:stretch>
        </p:blipFill>
        <p:spPr>
          <a:xfrm>
            <a:off x="0" y="441722"/>
            <a:ext cx="7292921" cy="5974556"/>
          </a:xfrm>
          <a:prstGeom prst="rect">
            <a:avLst/>
          </a:prstGeom>
        </p:spPr>
      </p:pic>
      <p:sp>
        <p:nvSpPr>
          <p:cNvPr id="9" name="TextBox 8">
            <a:extLst>
              <a:ext uri="{FF2B5EF4-FFF2-40B4-BE49-F238E27FC236}">
                <a16:creationId xmlns:a16="http://schemas.microsoft.com/office/drawing/2014/main" id="{3D87EE66-1105-53C4-AFC1-5F031A42FF47}"/>
              </a:ext>
            </a:extLst>
          </p:cNvPr>
          <p:cNvSpPr txBox="1"/>
          <p:nvPr/>
        </p:nvSpPr>
        <p:spPr>
          <a:xfrm>
            <a:off x="7361735" y="566678"/>
            <a:ext cx="4820409" cy="1477328"/>
          </a:xfrm>
          <a:prstGeom prst="rect">
            <a:avLst/>
          </a:prstGeom>
          <a:noFill/>
        </p:spPr>
        <p:txBody>
          <a:bodyPr wrap="square">
            <a:spAutoFit/>
          </a:bodyPr>
          <a:lstStyle/>
          <a:p>
            <a:r>
              <a:rPr lang="en-US" dirty="0"/>
              <a:t>Only those firms whose main lender has industry experience exhibit allocation effects that are consistent with operational improvements </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t>employment cutbacks and establishment closure</a:t>
            </a:r>
          </a:p>
        </p:txBody>
      </p:sp>
    </p:spTree>
    <p:extLst>
      <p:ext uri="{BB962C8B-B14F-4D97-AF65-F5344CB8AC3E}">
        <p14:creationId xmlns:p14="http://schemas.microsoft.com/office/powerpoint/2010/main" val="3343509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600" b="1" dirty="0">
                <a:solidFill>
                  <a:srgbClr val="C00000"/>
                </a:solidFill>
              </a:rPr>
              <a:t>Heterogeneity among lenders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D8EB287C-AF2A-EC0E-8DA5-CDBE60EA6BDD}"/>
              </a:ext>
            </a:extLst>
          </p:cNvPr>
          <p:cNvPicPr>
            <a:picLocks noChangeAspect="1"/>
          </p:cNvPicPr>
          <p:nvPr/>
        </p:nvPicPr>
        <p:blipFill>
          <a:blip r:embed="rId3"/>
          <a:stretch>
            <a:fillRect/>
          </a:stretch>
        </p:blipFill>
        <p:spPr>
          <a:xfrm>
            <a:off x="0" y="499267"/>
            <a:ext cx="8197766" cy="6256862"/>
          </a:xfrm>
          <a:prstGeom prst="rect">
            <a:avLst/>
          </a:prstGeom>
        </p:spPr>
      </p:pic>
      <p:sp>
        <p:nvSpPr>
          <p:cNvPr id="7" name="TextBox 6">
            <a:extLst>
              <a:ext uri="{FF2B5EF4-FFF2-40B4-BE49-F238E27FC236}">
                <a16:creationId xmlns:a16="http://schemas.microsoft.com/office/drawing/2014/main" id="{D190A4BD-5D7D-B3D2-EAB8-0B675D2297CD}"/>
              </a:ext>
            </a:extLst>
          </p:cNvPr>
          <p:cNvSpPr txBox="1"/>
          <p:nvPr/>
        </p:nvSpPr>
        <p:spPr>
          <a:xfrm>
            <a:off x="8197766" y="686769"/>
            <a:ext cx="3836083" cy="3416320"/>
          </a:xfrm>
          <a:prstGeom prst="rect">
            <a:avLst/>
          </a:prstGeom>
          <a:noFill/>
        </p:spPr>
        <p:txBody>
          <a:bodyPr wrap="square">
            <a:spAutoFit/>
          </a:bodyPr>
          <a:lstStyle/>
          <a:p>
            <a:r>
              <a:rPr lang="en-US" dirty="0"/>
              <a:t>Following covenant violations, cutbacks occur at establishments prone to manager-shareholder agency problems predominantly when lenders have greater industry experience</a:t>
            </a:r>
          </a:p>
          <a:p>
            <a:endParaRPr lang="en-US" dirty="0"/>
          </a:p>
          <a:p>
            <a:endParaRPr lang="en-US" dirty="0"/>
          </a:p>
          <a:p>
            <a:r>
              <a:rPr lang="en-US" dirty="0"/>
              <a:t>Similar results emerge for unrated firms as well as establishments classified as CEO’s own projects or close to the CEO’s hometown</a:t>
            </a:r>
          </a:p>
        </p:txBody>
      </p:sp>
      <p:sp>
        <p:nvSpPr>
          <p:cNvPr id="2" name="Rectangle 1">
            <a:extLst>
              <a:ext uri="{FF2B5EF4-FFF2-40B4-BE49-F238E27FC236}">
                <a16:creationId xmlns:a16="http://schemas.microsoft.com/office/drawing/2014/main" id="{F46D2CA8-A36F-33BA-7EE9-945BBCB441C0}"/>
              </a:ext>
            </a:extLst>
          </p:cNvPr>
          <p:cNvSpPr/>
          <p:nvPr/>
        </p:nvSpPr>
        <p:spPr>
          <a:xfrm>
            <a:off x="169333" y="4103089"/>
            <a:ext cx="7425267" cy="31651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8294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11762"/>
            <a:ext cx="9144000" cy="508336"/>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76200" y="685800"/>
            <a:ext cx="11652381" cy="4753947"/>
          </a:xfrm>
        </p:spPr>
        <p:txBody>
          <a:bodyPr>
            <a:normAutofit/>
          </a:bodyPr>
          <a:lstStyle/>
          <a:p>
            <a:pPr marL="571500" indent="-571500" algn="l">
              <a:buFont typeface="Arial" panose="020B0604020202020204" pitchFamily="34" charset="0"/>
              <a:buChar char="•"/>
            </a:pPr>
            <a:r>
              <a:rPr lang="en-US" dirty="0"/>
              <a:t>Covenant violations are followed by significant cutbacks, about 5% of the labor force.</a:t>
            </a:r>
          </a:p>
          <a:p>
            <a:pPr marL="571500" indent="-571500" algn="l">
              <a:buFont typeface="Arial" panose="020B0604020202020204" pitchFamily="34" charset="0"/>
              <a:buChar char="•"/>
            </a:pPr>
            <a:r>
              <a:rPr lang="en-US" dirty="0"/>
              <a:t>Two patterns of within-firm resource allocation following covenant violations: withdraw resources significantly more from peripheral establishments; pull resources entirely at unproductive establishments. </a:t>
            </a:r>
          </a:p>
          <a:p>
            <a:pPr marL="571500" indent="-571500" algn="l">
              <a:buFont typeface="Arial" panose="020B0604020202020204" pitchFamily="34" charset="0"/>
              <a:buChar char="•"/>
            </a:pPr>
            <a:r>
              <a:rPr lang="en-US" dirty="0"/>
              <a:t>These changes are prominent when key lenders specialize in a borrower’s industry, which is consistent with creditors valuing relationships and offering expertise and knowledge when advising management through difficult times</a:t>
            </a:r>
          </a:p>
          <a:p>
            <a:pPr marL="571500" indent="-571500" algn="l">
              <a:buFont typeface="Arial" panose="020B0604020202020204" pitchFamily="34" charset="0"/>
              <a:buChar char="•"/>
            </a:pPr>
            <a:r>
              <a:rPr lang="en-US" sz="2100" dirty="0"/>
              <a:t>These findings fit with the view that creditors can alleviate manager- shareholder agency costs and thereby play a positive role in the corporate governance of underperforming firms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097280" y="356703"/>
            <a:ext cx="9144000" cy="32588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Marginal Contributions to Literature</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 y="829735"/>
            <a:ext cx="12073466" cy="4610012"/>
          </a:xfrm>
        </p:spPr>
        <p:txBody>
          <a:bodyPr>
            <a:noAutofit/>
          </a:bodyPr>
          <a:lstStyle/>
          <a:p>
            <a:pPr marL="571500" indent="-571500" algn="l">
              <a:buFont typeface="Arial" panose="020B0604020202020204" pitchFamily="34" charset="0"/>
              <a:buChar char="•"/>
            </a:pPr>
            <a:r>
              <a:rPr lang="en-US" dirty="0"/>
              <a:t>Our findings contribute to empirical research on the importance of creditors in corporate governance, which builds on theoretical work analyzing optimal debt contracting in the presence of agency problems</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Our paper provides novel evidence of a mechanism that is consistent with this positive role of creditors among underperforming firms: the way resources are allocated within firm boundaries.</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We identify sources of efficiency gains that resemble those associated with major equity-centered governance interventions, notably mergers and acquisitions ( Li, 2013; Maksimovic et al., 2011 ), private equity (PE) transactions ( Davis et al., 2014 ), and hedge fund activism ( Brav et al., 2015 ).</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Our paper relates to the literature on creditor rights and firm outcomes, including risk-taking.</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4220</TotalTime>
  <Words>1237</Words>
  <Application>Microsoft Office PowerPoint</Application>
  <PresentationFormat>Widescreen</PresentationFormat>
  <Paragraphs>104</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Calisto MT</vt:lpstr>
      <vt:lpstr>Open Sans</vt:lpstr>
      <vt:lpstr>Wingdings 2</vt:lpstr>
      <vt:lpstr>Slate</vt:lpstr>
      <vt:lpstr>Creditor control rights and resource allocation within firms</vt:lpstr>
      <vt:lpstr>Research Goal:</vt:lpstr>
      <vt:lpstr>Data sources </vt:lpstr>
      <vt:lpstr>Sample</vt:lpstr>
      <vt:lpstr> Variable construction and summary statistics </vt:lpstr>
      <vt:lpstr> Variable construction and summary statistics </vt:lpstr>
      <vt:lpstr>Identification and empirical model </vt:lpstr>
      <vt:lpstr>Empirical results </vt:lpstr>
      <vt:lpstr>Establishments operating in core and peripheral business lines  </vt:lpstr>
      <vt:lpstr>Establishment productivity</vt:lpstr>
      <vt:lpstr>Establishment productivity</vt:lpstr>
      <vt:lpstr>Establishment industry focus and productivity</vt:lpstr>
      <vt:lpstr>Establishment industry focus and productivity</vt:lpstr>
      <vt:lpstr>Establishment operating risk </vt:lpstr>
      <vt:lpstr>Heterogeneity among borrowers </vt:lpstr>
      <vt:lpstr>Heterogeneity among borrowers </vt:lpstr>
      <vt:lpstr>Heterogeneity among lenders </vt:lpstr>
      <vt:lpstr>Heterogeneity among lenders </vt:lpstr>
      <vt:lpstr>Conclusions</vt:lpstr>
      <vt:lpstr>Marginal Contributions to Literature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200</cp:revision>
  <dcterms:created xsi:type="dcterms:W3CDTF">2024-01-18T13:26:59Z</dcterms:created>
  <dcterms:modified xsi:type="dcterms:W3CDTF">2024-09-09T20:16:04Z</dcterms:modified>
</cp:coreProperties>
</file>