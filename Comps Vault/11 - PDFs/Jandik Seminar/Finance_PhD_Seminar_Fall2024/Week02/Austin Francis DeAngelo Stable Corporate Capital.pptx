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315" r:id="rId3"/>
    <p:sldId id="346" r:id="rId4"/>
    <p:sldId id="395" r:id="rId5"/>
    <p:sldId id="397" r:id="rId6"/>
    <p:sldId id="441" r:id="rId7"/>
    <p:sldId id="453" r:id="rId8"/>
    <p:sldId id="442" r:id="rId9"/>
    <p:sldId id="454" r:id="rId10"/>
    <p:sldId id="444" r:id="rId11"/>
    <p:sldId id="455" r:id="rId12"/>
    <p:sldId id="445" r:id="rId13"/>
    <p:sldId id="456" r:id="rId14"/>
    <p:sldId id="446" r:id="rId15"/>
    <p:sldId id="447" r:id="rId16"/>
    <p:sldId id="457" r:id="rId17"/>
    <p:sldId id="448" r:id="rId18"/>
    <p:sldId id="459" r:id="rId19"/>
    <p:sldId id="458" r:id="rId20"/>
    <p:sldId id="460" r:id="rId21"/>
    <p:sldId id="449" r:id="rId22"/>
    <p:sldId id="451" r:id="rId23"/>
    <p:sldId id="461" r:id="rId24"/>
    <p:sldId id="452" r:id="rId25"/>
    <p:sldId id="462" r:id="rId26"/>
    <p:sldId id="384" r:id="rId27"/>
  </p:sldIdLst>
  <p:sldSz cx="9144000" cy="5143500" type="screen16x9"/>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F0ED9B7-CD5E-4565-9CB6-CF7B31D9F05F}">
          <p14:sldIdLst>
            <p14:sldId id="256"/>
            <p14:sldId id="315"/>
            <p14:sldId id="346"/>
            <p14:sldId id="395"/>
            <p14:sldId id="397"/>
            <p14:sldId id="441"/>
            <p14:sldId id="453"/>
            <p14:sldId id="442"/>
            <p14:sldId id="454"/>
            <p14:sldId id="444"/>
            <p14:sldId id="455"/>
            <p14:sldId id="445"/>
            <p14:sldId id="456"/>
            <p14:sldId id="446"/>
            <p14:sldId id="447"/>
            <p14:sldId id="457"/>
            <p14:sldId id="448"/>
            <p14:sldId id="459"/>
            <p14:sldId id="458"/>
            <p14:sldId id="460"/>
            <p14:sldId id="449"/>
            <p14:sldId id="451"/>
            <p14:sldId id="461"/>
            <p14:sldId id="452"/>
            <p14:sldId id="462"/>
            <p14:sldId id="38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988AA0-D71E-9C4D-DC8D-98CC16ED8389}" v="8" dt="2024-08-27T13:20:08.3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56" autoAdjust="0"/>
    <p:restoredTop sz="80258" autoAdjust="0"/>
  </p:normalViewPr>
  <p:slideViewPr>
    <p:cSldViewPr snapToGrid="0" snapToObjects="1">
      <p:cViewPr varScale="1">
        <p:scale>
          <a:sx n="71" d="100"/>
          <a:sy n="71" d="100"/>
        </p:scale>
        <p:origin x="1128" y="44"/>
      </p:cViewPr>
      <p:guideLst>
        <p:guide orient="horz" pos="1620"/>
        <p:guide pos="2880"/>
      </p:guideLst>
    </p:cSldViewPr>
  </p:slideViewPr>
  <p:outlineViewPr>
    <p:cViewPr>
      <p:scale>
        <a:sx n="33" d="100"/>
        <a:sy n="33" d="100"/>
      </p:scale>
      <p:origin x="0" y="-228"/>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44" tIns="48323" rIns="96644" bIns="48323" rtlCol="0"/>
          <a:lstStyle>
            <a:lvl1pPr algn="l">
              <a:defRPr sz="1200"/>
            </a:lvl1pPr>
          </a:lstStyle>
          <a:p>
            <a:endParaRPr lang="en-US" dirty="0"/>
          </a:p>
        </p:txBody>
      </p:sp>
      <p:sp>
        <p:nvSpPr>
          <p:cNvPr id="3" name="Date Placeholder 2"/>
          <p:cNvSpPr>
            <a:spLocks noGrp="1"/>
          </p:cNvSpPr>
          <p:nvPr>
            <p:ph type="dt" idx="1"/>
          </p:nvPr>
        </p:nvSpPr>
        <p:spPr>
          <a:xfrm>
            <a:off x="4143587" y="0"/>
            <a:ext cx="3169920" cy="481727"/>
          </a:xfrm>
          <a:prstGeom prst="rect">
            <a:avLst/>
          </a:prstGeom>
        </p:spPr>
        <p:txBody>
          <a:bodyPr vert="horz" lIns="96644" tIns="48323" rIns="96644" bIns="48323" rtlCol="0"/>
          <a:lstStyle>
            <a:lvl1pPr algn="r">
              <a:defRPr sz="1200"/>
            </a:lvl1pPr>
          </a:lstStyle>
          <a:p>
            <a:fld id="{77EE0671-D154-4A0D-90F0-4F99050D0CF0}" type="datetimeFigureOut">
              <a:rPr lang="en-US" smtClean="0"/>
              <a:t>8/27/2024</a:t>
            </a:fld>
            <a:endParaRPr lang="en-US" dirty="0"/>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44" tIns="48323" rIns="96644" bIns="48323" rtlCol="0" anchor="ctr"/>
          <a:lstStyle/>
          <a:p>
            <a:endParaRPr lang="en-US" dirty="0"/>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44" tIns="48323" rIns="96644" bIns="48323"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5"/>
            <a:ext cx="3169920" cy="481726"/>
          </a:xfrm>
          <a:prstGeom prst="rect">
            <a:avLst/>
          </a:prstGeom>
        </p:spPr>
        <p:txBody>
          <a:bodyPr vert="horz" lIns="96644" tIns="48323" rIns="96644" bIns="48323" rtlCol="0" anchor="b"/>
          <a:lstStyle>
            <a:lvl1pPr algn="l">
              <a:defRPr sz="1200"/>
            </a:lvl1pPr>
          </a:lstStyle>
          <a:p>
            <a:endParaRPr lang="en-US" dirty="0"/>
          </a:p>
        </p:txBody>
      </p:sp>
      <p:sp>
        <p:nvSpPr>
          <p:cNvPr id="7" name="Slide Number Placeholder 6"/>
          <p:cNvSpPr>
            <a:spLocks noGrp="1"/>
          </p:cNvSpPr>
          <p:nvPr>
            <p:ph type="sldNum" sz="quarter" idx="5"/>
          </p:nvPr>
        </p:nvSpPr>
        <p:spPr>
          <a:xfrm>
            <a:off x="4143587" y="9119475"/>
            <a:ext cx="3169920" cy="481726"/>
          </a:xfrm>
          <a:prstGeom prst="rect">
            <a:avLst/>
          </a:prstGeom>
        </p:spPr>
        <p:txBody>
          <a:bodyPr vert="horz" lIns="96644" tIns="48323" rIns="96644" bIns="48323" rtlCol="0" anchor="b"/>
          <a:lstStyle>
            <a:lvl1pPr algn="r">
              <a:defRPr sz="1200"/>
            </a:lvl1pPr>
          </a:lstStyle>
          <a:p>
            <a:fld id="{55CCDD01-DD87-4F55-A952-E63114553089}" type="slidenum">
              <a:rPr lang="en-US" smtClean="0"/>
              <a:t>‹#›</a:t>
            </a:fld>
            <a:endParaRPr lang="en-US" dirty="0"/>
          </a:p>
        </p:txBody>
      </p:sp>
    </p:spTree>
    <p:extLst>
      <p:ext uri="{BB962C8B-B14F-4D97-AF65-F5344CB8AC3E}">
        <p14:creationId xmlns:p14="http://schemas.microsoft.com/office/powerpoint/2010/main" val="1739130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a:t>
            </a:fld>
            <a:endParaRPr lang="en-US" dirty="0"/>
          </a:p>
        </p:txBody>
      </p:sp>
    </p:spTree>
    <p:extLst>
      <p:ext uri="{BB962C8B-B14F-4D97-AF65-F5344CB8AC3E}">
        <p14:creationId xmlns:p14="http://schemas.microsoft.com/office/powerpoint/2010/main" val="1203571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3</a:t>
            </a:fld>
            <a:endParaRPr lang="en-US" dirty="0"/>
          </a:p>
        </p:txBody>
      </p:sp>
    </p:spTree>
    <p:extLst>
      <p:ext uri="{BB962C8B-B14F-4D97-AF65-F5344CB8AC3E}">
        <p14:creationId xmlns:p14="http://schemas.microsoft.com/office/powerpoint/2010/main" val="12136163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4</a:t>
            </a:fld>
            <a:endParaRPr lang="en-US" dirty="0"/>
          </a:p>
        </p:txBody>
      </p:sp>
    </p:spTree>
    <p:extLst>
      <p:ext uri="{BB962C8B-B14F-4D97-AF65-F5344CB8AC3E}">
        <p14:creationId xmlns:p14="http://schemas.microsoft.com/office/powerpoint/2010/main" val="3777218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5</a:t>
            </a:fld>
            <a:endParaRPr lang="en-US" dirty="0"/>
          </a:p>
        </p:txBody>
      </p:sp>
    </p:spTree>
    <p:extLst>
      <p:ext uri="{BB962C8B-B14F-4D97-AF65-F5344CB8AC3E}">
        <p14:creationId xmlns:p14="http://schemas.microsoft.com/office/powerpoint/2010/main" val="33507403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6</a:t>
            </a:fld>
            <a:endParaRPr lang="en-US" dirty="0"/>
          </a:p>
        </p:txBody>
      </p:sp>
    </p:spTree>
    <p:extLst>
      <p:ext uri="{BB962C8B-B14F-4D97-AF65-F5344CB8AC3E}">
        <p14:creationId xmlns:p14="http://schemas.microsoft.com/office/powerpoint/2010/main" val="4741664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8</a:t>
            </a:fld>
            <a:endParaRPr lang="en-US" dirty="0"/>
          </a:p>
        </p:txBody>
      </p:sp>
    </p:spTree>
    <p:extLst>
      <p:ext uri="{BB962C8B-B14F-4D97-AF65-F5344CB8AC3E}">
        <p14:creationId xmlns:p14="http://schemas.microsoft.com/office/powerpoint/2010/main" val="37368092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9</a:t>
            </a:fld>
            <a:endParaRPr lang="en-US" dirty="0"/>
          </a:p>
        </p:txBody>
      </p:sp>
    </p:spTree>
    <p:extLst>
      <p:ext uri="{BB962C8B-B14F-4D97-AF65-F5344CB8AC3E}">
        <p14:creationId xmlns:p14="http://schemas.microsoft.com/office/powerpoint/2010/main" val="5742192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10</a:t>
            </a:fld>
            <a:endParaRPr lang="en-US" dirty="0"/>
          </a:p>
        </p:txBody>
      </p:sp>
    </p:spTree>
    <p:extLst>
      <p:ext uri="{BB962C8B-B14F-4D97-AF65-F5344CB8AC3E}">
        <p14:creationId xmlns:p14="http://schemas.microsoft.com/office/powerpoint/2010/main" val="934106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11</a:t>
            </a:fld>
            <a:endParaRPr lang="en-US" dirty="0"/>
          </a:p>
        </p:txBody>
      </p:sp>
    </p:spTree>
    <p:extLst>
      <p:ext uri="{BB962C8B-B14F-4D97-AF65-F5344CB8AC3E}">
        <p14:creationId xmlns:p14="http://schemas.microsoft.com/office/powerpoint/2010/main" val="3116682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12</a:t>
            </a:fld>
            <a:endParaRPr lang="en-US" dirty="0"/>
          </a:p>
        </p:txBody>
      </p:sp>
    </p:spTree>
    <p:extLst>
      <p:ext uri="{BB962C8B-B14F-4D97-AF65-F5344CB8AC3E}">
        <p14:creationId xmlns:p14="http://schemas.microsoft.com/office/powerpoint/2010/main" val="23237019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14</a:t>
            </a:fld>
            <a:endParaRPr lang="en-US" dirty="0"/>
          </a:p>
        </p:txBody>
      </p:sp>
    </p:spTree>
    <p:extLst>
      <p:ext uri="{BB962C8B-B14F-4D97-AF65-F5344CB8AC3E}">
        <p14:creationId xmlns:p14="http://schemas.microsoft.com/office/powerpoint/2010/main" val="6644038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15</a:t>
            </a:fld>
            <a:endParaRPr lang="en-US" dirty="0"/>
          </a:p>
        </p:txBody>
      </p:sp>
    </p:spTree>
    <p:extLst>
      <p:ext uri="{BB962C8B-B14F-4D97-AF65-F5344CB8AC3E}">
        <p14:creationId xmlns:p14="http://schemas.microsoft.com/office/powerpoint/2010/main" val="1618000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17</a:t>
            </a:fld>
            <a:endParaRPr lang="en-US" dirty="0"/>
          </a:p>
        </p:txBody>
      </p:sp>
    </p:spTree>
    <p:extLst>
      <p:ext uri="{BB962C8B-B14F-4D97-AF65-F5344CB8AC3E}">
        <p14:creationId xmlns:p14="http://schemas.microsoft.com/office/powerpoint/2010/main" val="42653131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18</a:t>
            </a:fld>
            <a:endParaRPr lang="en-US" dirty="0"/>
          </a:p>
        </p:txBody>
      </p:sp>
    </p:spTree>
    <p:extLst>
      <p:ext uri="{BB962C8B-B14F-4D97-AF65-F5344CB8AC3E}">
        <p14:creationId xmlns:p14="http://schemas.microsoft.com/office/powerpoint/2010/main" val="10604802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21</a:t>
            </a:fld>
            <a:endParaRPr lang="en-US" dirty="0"/>
          </a:p>
        </p:txBody>
      </p:sp>
    </p:spTree>
    <p:extLst>
      <p:ext uri="{BB962C8B-B14F-4D97-AF65-F5344CB8AC3E}">
        <p14:creationId xmlns:p14="http://schemas.microsoft.com/office/powerpoint/2010/main" val="32469001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23</a:t>
            </a:fld>
            <a:endParaRPr lang="en-US" dirty="0"/>
          </a:p>
        </p:txBody>
      </p:sp>
    </p:spTree>
    <p:extLst>
      <p:ext uri="{BB962C8B-B14F-4D97-AF65-F5344CB8AC3E}">
        <p14:creationId xmlns:p14="http://schemas.microsoft.com/office/powerpoint/2010/main" val="14508561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The variable TED Spread is used to measure the degree of financial frictions and is computed as the difference between the interest rates on inter-bank loans and short-term US government T-Bills.</a:t>
            </a:r>
          </a:p>
          <a:p>
            <a:pPr marL="171450" indent="-171450">
              <a:buFont typeface="Arial" panose="020B0604020202020204" pitchFamily="34" charset="0"/>
              <a:buChar char="•"/>
            </a:pPr>
            <a:r>
              <a:rPr lang="en-US" dirty="0"/>
              <a:t>TED is derived from the variable TED Spread and is the 3-year moving average of the TED Spread.</a:t>
            </a:r>
          </a:p>
        </p:txBody>
      </p:sp>
      <p:sp>
        <p:nvSpPr>
          <p:cNvPr id="4" name="Slide Number Placeholder 3"/>
          <p:cNvSpPr>
            <a:spLocks noGrp="1"/>
          </p:cNvSpPr>
          <p:nvPr>
            <p:ph type="sldNum" sz="quarter" idx="5"/>
          </p:nvPr>
        </p:nvSpPr>
        <p:spPr/>
        <p:txBody>
          <a:bodyPr/>
          <a:lstStyle/>
          <a:p>
            <a:fld id="{55CCDD01-DD87-4F55-A952-E63114553089}" type="slidenum">
              <a:rPr lang="en-US" smtClean="0"/>
              <a:t>25</a:t>
            </a:fld>
            <a:endParaRPr lang="en-US" dirty="0"/>
          </a:p>
        </p:txBody>
      </p:sp>
    </p:spTree>
    <p:extLst>
      <p:ext uri="{BB962C8B-B14F-4D97-AF65-F5344CB8AC3E}">
        <p14:creationId xmlns:p14="http://schemas.microsoft.com/office/powerpoint/2010/main" val="3011581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55CCDD01-DD87-4F55-A952-E63114553089}" type="slidenum">
              <a:rPr lang="en-US" smtClean="0"/>
              <a:t>27</a:t>
            </a:fld>
            <a:endParaRPr lang="en-US" dirty="0"/>
          </a:p>
        </p:txBody>
      </p:sp>
    </p:spTree>
    <p:extLst>
      <p:ext uri="{BB962C8B-B14F-4D97-AF65-F5344CB8AC3E}">
        <p14:creationId xmlns:p14="http://schemas.microsoft.com/office/powerpoint/2010/main" val="1386828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1524648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30122735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23030310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585448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38706762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1008595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22186537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320688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2571403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510983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E038BA-856D-E640-9AF0-8E7AA133C933}" type="datetimeFigureOut">
              <a:rPr lang="en-US" smtClean="0"/>
              <a:t>8/27/2024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0BBC46-B35C-FC4A-B901-4F9F5D11ECB6}" type="slidenum">
              <a:rPr lang="en-US" smtClean="0"/>
              <a:t>‹#›</a:t>
            </a:fld>
            <a:endParaRPr lang="en-US" dirty="0"/>
          </a:p>
        </p:txBody>
      </p:sp>
    </p:spTree>
    <p:extLst>
      <p:ext uri="{BB962C8B-B14F-4D97-AF65-F5344CB8AC3E}">
        <p14:creationId xmlns:p14="http://schemas.microsoft.com/office/powerpoint/2010/main" val="40030786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Untitled-4.png"/>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4397736"/>
            <a:ext cx="9153144" cy="757423"/>
          </a:xfrm>
          <a:prstGeom prst="rect">
            <a:avLst/>
          </a:prstGeom>
        </p:spPr>
      </p:pic>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4E038BA-856D-E640-9AF0-8E7AA133C933}" type="datetimeFigureOut">
              <a:rPr lang="en-US" smtClean="0"/>
              <a:t>8/27/2024</a:t>
            </a:fld>
            <a:endParaRPr lang="en-US" dirty="0"/>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870BBC46-B35C-FC4A-B901-4F9F5D11ECB6}" type="slidenum">
              <a:rPr lang="en-US" smtClean="0"/>
              <a:t>‹#›</a:t>
            </a:fld>
            <a:endParaRPr lang="en-US" dirty="0"/>
          </a:p>
        </p:txBody>
      </p:sp>
    </p:spTree>
    <p:extLst>
      <p:ext uri="{BB962C8B-B14F-4D97-AF65-F5344CB8AC3E}">
        <p14:creationId xmlns:p14="http://schemas.microsoft.com/office/powerpoint/2010/main" val="35373879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831476"/>
            <a:ext cx="7772400" cy="1102519"/>
          </a:xfrm>
        </p:spPr>
        <p:txBody>
          <a:bodyPr>
            <a:normAutofit fontScale="90000"/>
          </a:bodyPr>
          <a:lstStyle/>
          <a:p>
            <a:r>
              <a:rPr lang="en-US" sz="3600" dirty="0">
                <a:cs typeface="Times New Roman"/>
              </a:rPr>
              <a:t>How Stable Are Corporate Capital Structures?</a:t>
            </a:r>
            <a:endParaRPr lang="en-US" sz="3600" dirty="0">
              <a:ea typeface="Calibri"/>
              <a:cs typeface="Times New Roman" panose="02020603050405020304" pitchFamily="18" charset="0"/>
            </a:endParaRPr>
          </a:p>
        </p:txBody>
      </p:sp>
      <p:sp>
        <p:nvSpPr>
          <p:cNvPr id="3" name="Subtitle 2"/>
          <p:cNvSpPr>
            <a:spLocks noGrp="1"/>
          </p:cNvSpPr>
          <p:nvPr>
            <p:ph type="subTitle" idx="1"/>
          </p:nvPr>
        </p:nvSpPr>
        <p:spPr>
          <a:xfrm>
            <a:off x="1073150" y="1933995"/>
            <a:ext cx="6997700" cy="2404924"/>
          </a:xfrm>
        </p:spPr>
        <p:txBody>
          <a:bodyPr vert="horz" lIns="91440" tIns="45720" rIns="91440" bIns="45720" rtlCol="0" anchor="t">
            <a:normAutofit fontScale="85000" lnSpcReduction="20000"/>
          </a:bodyPr>
          <a:lstStyle/>
          <a:p>
            <a:endParaRPr lang="en-US" sz="2900" dirty="0">
              <a:solidFill>
                <a:schemeClr val="tx1"/>
              </a:solidFill>
              <a:latin typeface="+mj-lt"/>
              <a:cs typeface="Times New Roman" panose="02020603050405020304" pitchFamily="18" charset="0"/>
            </a:endParaRPr>
          </a:p>
          <a:p>
            <a:r>
              <a:rPr lang="en-US" sz="2900" dirty="0">
                <a:solidFill>
                  <a:schemeClr val="tx1"/>
                </a:solidFill>
                <a:latin typeface="+mj-lt"/>
                <a:ea typeface="Calibri"/>
                <a:cs typeface="Times New Roman"/>
              </a:rPr>
              <a:t>Harry DeAngelo</a:t>
            </a:r>
            <a:endParaRPr lang="en-US" sz="2900" dirty="0">
              <a:solidFill>
                <a:schemeClr val="tx1"/>
              </a:solidFill>
              <a:latin typeface="+mj-lt"/>
              <a:ea typeface="Calibri"/>
              <a:cs typeface="Times New Roman" panose="02020603050405020304" pitchFamily="18" charset="0"/>
            </a:endParaRPr>
          </a:p>
          <a:p>
            <a:r>
              <a:rPr lang="en-US" sz="2600" i="1" dirty="0">
                <a:solidFill>
                  <a:schemeClr val="tx1"/>
                </a:solidFill>
                <a:latin typeface="+mj-lt"/>
                <a:cs typeface="Times New Roman"/>
              </a:rPr>
              <a:t>University of Southern California</a:t>
            </a:r>
            <a:endParaRPr lang="en-US" sz="2600" i="1" dirty="0">
              <a:solidFill>
                <a:schemeClr val="tx1"/>
              </a:solidFill>
              <a:latin typeface="+mj-lt"/>
              <a:ea typeface="Calibri"/>
              <a:cs typeface="Times New Roman" panose="02020603050405020304" pitchFamily="18" charset="0"/>
            </a:endParaRPr>
          </a:p>
          <a:p>
            <a:r>
              <a:rPr lang="en-US" sz="2900" dirty="0">
                <a:solidFill>
                  <a:schemeClr val="tx1"/>
                </a:solidFill>
                <a:latin typeface="+mj-lt"/>
                <a:ea typeface="Calibri"/>
                <a:cs typeface="Times New Roman"/>
              </a:rPr>
              <a:t>Richard Roll</a:t>
            </a:r>
            <a:endParaRPr lang="en-US" sz="2900" dirty="0">
              <a:solidFill>
                <a:schemeClr val="tx1"/>
              </a:solidFill>
              <a:latin typeface="+mj-lt"/>
              <a:cs typeface="Times New Roman" panose="02020603050405020304" pitchFamily="18" charset="0"/>
            </a:endParaRPr>
          </a:p>
          <a:p>
            <a:r>
              <a:rPr lang="en-US" sz="2600" i="1" dirty="0">
                <a:solidFill>
                  <a:schemeClr val="tx1"/>
                </a:solidFill>
                <a:latin typeface="+mj-lt"/>
                <a:ea typeface="Calibri"/>
                <a:cs typeface="Times New Roman"/>
              </a:rPr>
              <a:t>Caltech</a:t>
            </a:r>
          </a:p>
          <a:p>
            <a:endParaRPr lang="en-US" sz="2000" i="1" dirty="0">
              <a:solidFill>
                <a:schemeClr val="tx1"/>
              </a:solidFill>
              <a:latin typeface="+mj-lt"/>
              <a:ea typeface="Calibri"/>
              <a:cs typeface="Times New Roman" panose="02020603050405020304" pitchFamily="18" charset="0"/>
            </a:endParaRPr>
          </a:p>
          <a:p>
            <a:r>
              <a:rPr lang="en-US" sz="1800" dirty="0">
                <a:solidFill>
                  <a:schemeClr val="tx1"/>
                </a:solidFill>
                <a:latin typeface="+mj-lt"/>
                <a:cs typeface="Times New Roman"/>
              </a:rPr>
              <a:t>Presented by Austin Francis</a:t>
            </a:r>
            <a:endParaRPr lang="en-US" sz="1800" dirty="0">
              <a:solidFill>
                <a:schemeClr val="tx1"/>
              </a:solidFill>
              <a:latin typeface="+mj-lt"/>
              <a:ea typeface="Calibri"/>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954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lstStyle/>
          <a:p>
            <a:r>
              <a:rPr lang="en-US" dirty="0"/>
              <a:t>Research Question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p:txBody>
          <a:bodyPr vert="horz" lIns="91440" tIns="45720" rIns="91440" bIns="45720" rtlCol="0" anchor="t">
            <a:normAutofit/>
          </a:bodyPr>
          <a:lstStyle/>
          <a:p>
            <a:r>
              <a:rPr lang="en-US" sz="2800" dirty="0">
                <a:ea typeface="Calibri"/>
                <a:cs typeface="Times New Roman"/>
              </a:rPr>
              <a:t>How stable are corporate capital structures? </a:t>
            </a:r>
          </a:p>
        </p:txBody>
      </p:sp>
    </p:spTree>
    <p:extLst>
      <p:ext uri="{BB962C8B-B14F-4D97-AF65-F5344CB8AC3E}">
        <p14:creationId xmlns:p14="http://schemas.microsoft.com/office/powerpoint/2010/main" val="7182459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57200" y="-18138"/>
            <a:ext cx="8229600" cy="681526"/>
          </a:xfrm>
        </p:spPr>
        <p:txBody>
          <a:bodyPr>
            <a:normAutofit fontScale="90000"/>
          </a:bodyPr>
          <a:lstStyle/>
          <a:p>
            <a:r>
              <a:rPr lang="en-US" dirty="0"/>
              <a:t>Prior Literature</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677290"/>
            <a:ext cx="8229600" cy="3715416"/>
          </a:xfrm>
        </p:spPr>
        <p:txBody>
          <a:bodyPr vert="horz" lIns="91440" tIns="45720" rIns="91440" bIns="45720" rtlCol="0" anchor="t">
            <a:noAutofit/>
          </a:bodyPr>
          <a:lstStyle/>
          <a:p>
            <a:pPr marL="342900" lvl="1" indent="-342900">
              <a:buFont typeface="Arial"/>
              <a:buChar char="•"/>
            </a:pPr>
            <a:r>
              <a:rPr lang="en-US" sz="2000" dirty="0"/>
              <a:t>Prior literature suggests that firm fixed effects are highly significant in explaining capital structure. It is concluded that firms with high or low leverage tend to remain at that level for over two decades. (Lemmon, Roberts, Zender, 2008)</a:t>
            </a:r>
            <a:endParaRPr lang="en-US" sz="2000" dirty="0">
              <a:ea typeface="Calibri"/>
              <a:cs typeface="Calibri"/>
            </a:endParaRPr>
          </a:p>
          <a:p>
            <a:pPr marL="342900" lvl="1" indent="-342900">
              <a:buFont typeface="Arial"/>
              <a:buChar char="•"/>
            </a:pPr>
            <a:r>
              <a:rPr lang="en-US" sz="2000" dirty="0">
                <a:ea typeface="Calibri"/>
                <a:cs typeface="Calibri"/>
              </a:rPr>
              <a:t>Leverage stays in a narrow range over long periods of time. (Frank and Goyal, 2008)</a:t>
            </a:r>
            <a:endParaRPr lang="en-US" sz="2000" dirty="0"/>
          </a:p>
          <a:p>
            <a:pPr marL="342900" lvl="1" indent="-342900">
              <a:buFont typeface="Arial"/>
              <a:buChar char="•"/>
            </a:pPr>
            <a:endParaRPr lang="en-US" sz="2000" dirty="0">
              <a:ea typeface="Calibri"/>
              <a:cs typeface="Calibri"/>
            </a:endParaRPr>
          </a:p>
          <a:p>
            <a:pPr marL="342900" lvl="1" indent="-342900">
              <a:buFont typeface="Arial"/>
              <a:buChar char="•"/>
            </a:pPr>
            <a:endParaRPr lang="en-US" sz="2000" dirty="0">
              <a:ea typeface="Calibri"/>
              <a:cs typeface="Calibri"/>
            </a:endParaRPr>
          </a:p>
        </p:txBody>
      </p:sp>
    </p:spTree>
    <p:extLst>
      <p:ext uri="{BB962C8B-B14F-4D97-AF65-F5344CB8AC3E}">
        <p14:creationId xmlns:p14="http://schemas.microsoft.com/office/powerpoint/2010/main" val="8696807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dirty="0"/>
              <a:t>Data Collection</a:t>
            </a:r>
          </a:p>
        </p:txBody>
      </p:sp>
      <p:sp>
        <p:nvSpPr>
          <p:cNvPr id="3" name="Content Placeholder 2">
            <a:extLst>
              <a:ext uri="{FF2B5EF4-FFF2-40B4-BE49-F238E27FC236}">
                <a16:creationId xmlns:a16="http://schemas.microsoft.com/office/drawing/2014/main" id="{EC44ADDE-7BAE-4D27-8839-0025B3A2D42C}"/>
              </a:ext>
            </a:extLst>
          </p:cNvPr>
          <p:cNvSpPr>
            <a:spLocks noGrp="1"/>
          </p:cNvSpPr>
          <p:nvPr>
            <p:ph idx="1"/>
          </p:nvPr>
        </p:nvSpPr>
        <p:spPr>
          <a:xfrm>
            <a:off x="457200" y="1063229"/>
            <a:ext cx="8229600" cy="3394472"/>
          </a:xfrm>
        </p:spPr>
        <p:txBody>
          <a:bodyPr vert="horz" lIns="91440" tIns="45720" rIns="91440" bIns="45720" rtlCol="0" anchor="t">
            <a:normAutofit/>
          </a:bodyPr>
          <a:lstStyle/>
          <a:p>
            <a:pPr marL="171450" indent="-171450">
              <a:buFont typeface="Arial" panose="020B0604020202020204" pitchFamily="34" charset="0"/>
              <a:buChar char="•"/>
            </a:pPr>
            <a:r>
              <a:rPr lang="en-US" dirty="0">
                <a:ea typeface="Calibri"/>
                <a:cs typeface="Calibri"/>
              </a:rPr>
              <a:t>15,096 firms from CRSP/Compustat database from 1950-2008.</a:t>
            </a:r>
          </a:p>
          <a:p>
            <a:pPr marL="171450" indent="-171450">
              <a:buFont typeface="Arial" panose="020B0604020202020204" pitchFamily="34" charset="0"/>
              <a:buChar char="•"/>
            </a:pPr>
            <a:endParaRPr lang="en-US" dirty="0">
              <a:ea typeface="Calibri"/>
              <a:cs typeface="Calibri"/>
            </a:endParaRPr>
          </a:p>
          <a:p>
            <a:pPr marL="171450" indent="-171450">
              <a:buFont typeface="Arial" panose="020B0604020202020204" pitchFamily="34" charset="0"/>
              <a:buChar char="•"/>
            </a:pPr>
            <a:r>
              <a:rPr lang="en-US" dirty="0">
                <a:ea typeface="Calibri"/>
                <a:cs typeface="Calibri"/>
              </a:rPr>
              <a:t>Hand collected data for 24 DJIA firms back to before the great depression.</a:t>
            </a:r>
          </a:p>
        </p:txBody>
      </p:sp>
    </p:spTree>
    <p:extLst>
      <p:ext uri="{BB962C8B-B14F-4D97-AF65-F5344CB8AC3E}">
        <p14:creationId xmlns:p14="http://schemas.microsoft.com/office/powerpoint/2010/main" val="21589894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sz="2800" dirty="0"/>
              <a:t>Table 1 – Time-Series Variation in Leverage</a:t>
            </a:r>
          </a:p>
        </p:txBody>
      </p:sp>
      <p:pic>
        <p:nvPicPr>
          <p:cNvPr id="6" name="Content Placeholder 5" descr="A table with numbers and text&#10;&#10;Description automatically generated">
            <a:extLst>
              <a:ext uri="{FF2B5EF4-FFF2-40B4-BE49-F238E27FC236}">
                <a16:creationId xmlns:a16="http://schemas.microsoft.com/office/drawing/2014/main" id="{9AEFFBE4-B4EF-5F56-5F73-B6433144C00C}"/>
              </a:ext>
            </a:extLst>
          </p:cNvPr>
          <p:cNvPicPr>
            <a:picLocks noGrp="1" noChangeAspect="1"/>
          </p:cNvPicPr>
          <p:nvPr>
            <p:ph idx="1"/>
          </p:nvPr>
        </p:nvPicPr>
        <p:blipFill>
          <a:blip r:embed="rId3"/>
          <a:stretch>
            <a:fillRect/>
          </a:stretch>
        </p:blipFill>
        <p:spPr>
          <a:xfrm>
            <a:off x="210920" y="1069043"/>
            <a:ext cx="8784790" cy="2396255"/>
          </a:xfrm>
        </p:spPr>
      </p:pic>
    </p:spTree>
    <p:extLst>
      <p:ext uri="{BB962C8B-B14F-4D97-AF65-F5344CB8AC3E}">
        <p14:creationId xmlns:p14="http://schemas.microsoft.com/office/powerpoint/2010/main" val="16609267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p:txBody>
          <a:bodyPr>
            <a:noAutofit/>
          </a:bodyPr>
          <a:lstStyle/>
          <a:p>
            <a:r>
              <a:rPr lang="en-US" sz="2800" dirty="0"/>
              <a:t>Table 1 – Time-Series Variation in Leverage</a:t>
            </a:r>
          </a:p>
        </p:txBody>
      </p:sp>
      <p:pic>
        <p:nvPicPr>
          <p:cNvPr id="5" name="Content Placeholder 4" descr="A table with numbers and text&#10;&#10;Description automatically generated">
            <a:extLst>
              <a:ext uri="{FF2B5EF4-FFF2-40B4-BE49-F238E27FC236}">
                <a16:creationId xmlns:a16="http://schemas.microsoft.com/office/drawing/2014/main" id="{AE03653D-20A0-BCB0-E406-967F2C03CB77}"/>
              </a:ext>
            </a:extLst>
          </p:cNvPr>
          <p:cNvPicPr>
            <a:picLocks noGrp="1" noChangeAspect="1"/>
          </p:cNvPicPr>
          <p:nvPr>
            <p:ph idx="1"/>
          </p:nvPr>
        </p:nvPicPr>
        <p:blipFill>
          <a:blip r:embed="rId3"/>
          <a:stretch>
            <a:fillRect/>
          </a:stretch>
        </p:blipFill>
        <p:spPr>
          <a:xfrm>
            <a:off x="986295" y="949655"/>
            <a:ext cx="7014836" cy="3433566"/>
          </a:xfrm>
        </p:spPr>
      </p:pic>
    </p:spTree>
    <p:extLst>
      <p:ext uri="{BB962C8B-B14F-4D97-AF65-F5344CB8AC3E}">
        <p14:creationId xmlns:p14="http://schemas.microsoft.com/office/powerpoint/2010/main" val="852894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264F8-2588-11AC-4B49-3C96314C6727}"/>
              </a:ext>
            </a:extLst>
          </p:cNvPr>
          <p:cNvSpPr>
            <a:spLocks noGrp="1"/>
          </p:cNvSpPr>
          <p:nvPr>
            <p:ph type="title"/>
          </p:nvPr>
        </p:nvSpPr>
        <p:spPr/>
        <p:txBody>
          <a:bodyPr/>
          <a:lstStyle/>
          <a:p>
            <a:r>
              <a:rPr lang="en-US" dirty="0">
                <a:ea typeface="Calibri"/>
                <a:cs typeface="Calibri"/>
              </a:rPr>
              <a:t>Table 1 Takeaways</a:t>
            </a:r>
            <a:endParaRPr lang="en-US" dirty="0"/>
          </a:p>
        </p:txBody>
      </p:sp>
      <p:sp>
        <p:nvSpPr>
          <p:cNvPr id="3" name="Content Placeholder 2">
            <a:extLst>
              <a:ext uri="{FF2B5EF4-FFF2-40B4-BE49-F238E27FC236}">
                <a16:creationId xmlns:a16="http://schemas.microsoft.com/office/drawing/2014/main" id="{C57A2EFD-A0BC-81FA-1CC0-C60FF5F3D1CA}"/>
              </a:ext>
            </a:extLst>
          </p:cNvPr>
          <p:cNvSpPr>
            <a:spLocks noGrp="1"/>
          </p:cNvSpPr>
          <p:nvPr>
            <p:ph idx="1"/>
          </p:nvPr>
        </p:nvSpPr>
        <p:spPr/>
        <p:txBody>
          <a:bodyPr vert="horz" lIns="91440" tIns="45720" rIns="91440" bIns="45720" rtlCol="0" anchor="t">
            <a:normAutofit/>
          </a:bodyPr>
          <a:lstStyle/>
          <a:p>
            <a:r>
              <a:rPr lang="en-US" dirty="0">
                <a:ea typeface="Calibri"/>
                <a:cs typeface="Calibri"/>
              </a:rPr>
              <a:t>Capital Structure within a firm changes over time</a:t>
            </a:r>
          </a:p>
          <a:p>
            <a:r>
              <a:rPr lang="en-US" dirty="0">
                <a:ea typeface="Calibri"/>
                <a:cs typeface="Calibri"/>
              </a:rPr>
              <a:t>There are periods of relative structure stability, but they rarely last </a:t>
            </a:r>
          </a:p>
          <a:p>
            <a:r>
              <a:rPr lang="en-US" dirty="0">
                <a:ea typeface="Calibri"/>
                <a:cs typeface="Calibri"/>
              </a:rPr>
              <a:t>Uncommon to see even weakly stable regimes that persist for 40 years.</a:t>
            </a:r>
          </a:p>
        </p:txBody>
      </p:sp>
    </p:spTree>
    <p:extLst>
      <p:ext uri="{BB962C8B-B14F-4D97-AF65-F5344CB8AC3E}">
        <p14:creationId xmlns:p14="http://schemas.microsoft.com/office/powerpoint/2010/main" val="4233582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2 – Stable Leverage Regimes and the Distribution of Firm-Specific Maximum and Minimum Leverage Ratios</a:t>
            </a:r>
            <a:endParaRPr lang="en-US" sz="2800" dirty="0">
              <a:ea typeface="Calibri"/>
              <a:cs typeface="Calibri"/>
            </a:endParaRPr>
          </a:p>
        </p:txBody>
      </p:sp>
      <p:pic>
        <p:nvPicPr>
          <p:cNvPr id="6" name="Content Placeholder 5">
            <a:extLst>
              <a:ext uri="{FF2B5EF4-FFF2-40B4-BE49-F238E27FC236}">
                <a16:creationId xmlns:a16="http://schemas.microsoft.com/office/drawing/2014/main" id="{D245BDB9-C476-80C7-D479-B011205E8B8A}"/>
              </a:ext>
            </a:extLst>
          </p:cNvPr>
          <p:cNvPicPr>
            <a:picLocks noGrp="1" noChangeAspect="1"/>
          </p:cNvPicPr>
          <p:nvPr>
            <p:ph idx="1"/>
          </p:nvPr>
        </p:nvPicPr>
        <p:blipFill>
          <a:blip r:embed="rId3"/>
          <a:stretch>
            <a:fillRect/>
          </a:stretch>
        </p:blipFill>
        <p:spPr>
          <a:xfrm>
            <a:off x="1086372" y="1065064"/>
            <a:ext cx="6900797" cy="3492413"/>
          </a:xfrm>
        </p:spPr>
      </p:pic>
    </p:spTree>
    <p:extLst>
      <p:ext uri="{BB962C8B-B14F-4D97-AF65-F5344CB8AC3E}">
        <p14:creationId xmlns:p14="http://schemas.microsoft.com/office/powerpoint/2010/main" val="3921299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2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When stable regimes do occur, they arise at low leverage. </a:t>
            </a:r>
          </a:p>
          <a:p>
            <a:r>
              <a:rPr lang="en-US" dirty="0">
                <a:ea typeface="Calibri"/>
                <a:cs typeface="Calibri"/>
              </a:rPr>
              <a:t>Conservative leverage is observed at some point at a large majority of firms</a:t>
            </a:r>
          </a:p>
          <a:p>
            <a:r>
              <a:rPr lang="en-US" dirty="0">
                <a:ea typeface="Calibri"/>
                <a:cs typeface="Calibri"/>
              </a:rPr>
              <a:t>High leverage is reasonably frequent, but almost always temporary</a:t>
            </a:r>
          </a:p>
        </p:txBody>
      </p:sp>
    </p:spTree>
    <p:extLst>
      <p:ext uri="{BB962C8B-B14F-4D97-AF65-F5344CB8AC3E}">
        <p14:creationId xmlns:p14="http://schemas.microsoft.com/office/powerpoint/2010/main" val="32787587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3 – Explanatory Power of Firm and Year Main Effects and Firm-Time Interaction Effects</a:t>
            </a:r>
            <a:endParaRPr lang="en-US" sz="2800" dirty="0">
              <a:ea typeface="Calibri"/>
              <a:cs typeface="Calibri"/>
            </a:endParaRPr>
          </a:p>
        </p:txBody>
      </p:sp>
      <p:pic>
        <p:nvPicPr>
          <p:cNvPr id="5" name="Content Placeholder 4">
            <a:extLst>
              <a:ext uri="{FF2B5EF4-FFF2-40B4-BE49-F238E27FC236}">
                <a16:creationId xmlns:a16="http://schemas.microsoft.com/office/drawing/2014/main" id="{5CED2E20-1786-4212-F47D-82E9007D2028}"/>
              </a:ext>
            </a:extLst>
          </p:cNvPr>
          <p:cNvPicPr>
            <a:picLocks noGrp="1" noChangeAspect="1"/>
          </p:cNvPicPr>
          <p:nvPr>
            <p:ph idx="1"/>
          </p:nvPr>
        </p:nvPicPr>
        <p:blipFill>
          <a:blip r:embed="rId3"/>
          <a:stretch>
            <a:fillRect/>
          </a:stretch>
        </p:blipFill>
        <p:spPr>
          <a:xfrm>
            <a:off x="404225" y="1063498"/>
            <a:ext cx="7630960" cy="1710585"/>
          </a:xfrm>
        </p:spPr>
      </p:pic>
      <p:pic>
        <p:nvPicPr>
          <p:cNvPr id="7" name="Picture 6" descr="A table of numbers with numbers&#10;&#10;Description automatically generated">
            <a:extLst>
              <a:ext uri="{FF2B5EF4-FFF2-40B4-BE49-F238E27FC236}">
                <a16:creationId xmlns:a16="http://schemas.microsoft.com/office/drawing/2014/main" id="{C1BC1DC2-9E35-AE23-48EF-B9AB725AC397}"/>
              </a:ext>
            </a:extLst>
          </p:cNvPr>
          <p:cNvPicPr>
            <a:picLocks noChangeAspect="1"/>
          </p:cNvPicPr>
          <p:nvPr/>
        </p:nvPicPr>
        <p:blipFill>
          <a:blip r:embed="rId4"/>
          <a:stretch>
            <a:fillRect/>
          </a:stretch>
        </p:blipFill>
        <p:spPr>
          <a:xfrm>
            <a:off x="210203" y="2770601"/>
            <a:ext cx="7619739" cy="1590805"/>
          </a:xfrm>
          <a:prstGeom prst="rect">
            <a:avLst/>
          </a:prstGeom>
        </p:spPr>
      </p:pic>
    </p:spTree>
    <p:extLst>
      <p:ext uri="{BB962C8B-B14F-4D97-AF65-F5344CB8AC3E}">
        <p14:creationId xmlns:p14="http://schemas.microsoft.com/office/powerpoint/2010/main" val="1071918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3 Takeaways</a:t>
            </a:r>
          </a:p>
        </p:txBody>
      </p:sp>
      <p:sp>
        <p:nvSpPr>
          <p:cNvPr id="4" name="Content Placeholder 3">
            <a:extLst>
              <a:ext uri="{FF2B5EF4-FFF2-40B4-BE49-F238E27FC236}">
                <a16:creationId xmlns:a16="http://schemas.microsoft.com/office/drawing/2014/main" id="{22DDC56A-D7F3-FBC5-8D2F-DA585681679B}"/>
              </a:ext>
            </a:extLst>
          </p:cNvPr>
          <p:cNvSpPr>
            <a:spLocks noGrp="1"/>
          </p:cNvSpPr>
          <p:nvPr>
            <p:ph idx="1"/>
          </p:nvPr>
        </p:nvSpPr>
        <p:spPr/>
        <p:txBody>
          <a:bodyPr vert="horz" lIns="91440" tIns="45720" rIns="91440" bIns="45720" rtlCol="0" anchor="t">
            <a:normAutofit/>
          </a:bodyPr>
          <a:lstStyle/>
          <a:p>
            <a:r>
              <a:rPr lang="en-US" dirty="0">
                <a:ea typeface="Calibri"/>
                <a:cs typeface="Calibri"/>
              </a:rPr>
              <a:t>Firm + Time interaction effects have the </a:t>
            </a:r>
            <a:r>
              <a:rPr lang="en-US">
                <a:ea typeface="Calibri"/>
                <a:cs typeface="Calibri"/>
              </a:rPr>
              <a:t>highest R2 values</a:t>
            </a:r>
            <a:endParaRPr lang="en-US" dirty="0">
              <a:ea typeface="Calibri"/>
              <a:cs typeface="Calibri"/>
            </a:endParaRPr>
          </a:p>
          <a:p>
            <a:r>
              <a:rPr lang="en-US">
                <a:ea typeface="Calibri"/>
                <a:cs typeface="Calibri"/>
              </a:rPr>
              <a:t>Leverage is firm specific for a given time </a:t>
            </a:r>
          </a:p>
          <a:p>
            <a:r>
              <a:rPr lang="en-US" dirty="0">
                <a:ea typeface="Calibri"/>
                <a:cs typeface="Calibri"/>
              </a:rPr>
              <a:t>There is a short panel effect, over half of the firms in the sample have 9 or fewer years of data, overinflating firm fixed effects</a:t>
            </a:r>
          </a:p>
        </p:txBody>
      </p:sp>
    </p:spTree>
    <p:extLst>
      <p:ext uri="{BB962C8B-B14F-4D97-AF65-F5344CB8AC3E}">
        <p14:creationId xmlns:p14="http://schemas.microsoft.com/office/powerpoint/2010/main" val="34198030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4 – Explanatory Power of Firm Fixed Effects, Decade Fixed Effects, and Firm-Decade Interaction Effects</a:t>
            </a:r>
            <a:endParaRPr lang="en-US" sz="2800" dirty="0">
              <a:ea typeface="Calibri"/>
              <a:cs typeface="Calibri"/>
            </a:endParaRPr>
          </a:p>
        </p:txBody>
      </p:sp>
      <p:pic>
        <p:nvPicPr>
          <p:cNvPr id="6" name="Content Placeholder 5" descr="A white sheet with black text and numbers&#10;&#10;Description automatically generated">
            <a:extLst>
              <a:ext uri="{FF2B5EF4-FFF2-40B4-BE49-F238E27FC236}">
                <a16:creationId xmlns:a16="http://schemas.microsoft.com/office/drawing/2014/main" id="{7EB43F5E-51FA-97F1-38E5-3C61F9650255}"/>
              </a:ext>
            </a:extLst>
          </p:cNvPr>
          <p:cNvPicPr>
            <a:picLocks noGrp="1" noChangeAspect="1"/>
          </p:cNvPicPr>
          <p:nvPr>
            <p:ph idx="1"/>
          </p:nvPr>
        </p:nvPicPr>
        <p:blipFill>
          <a:blip r:embed="rId3"/>
          <a:stretch>
            <a:fillRect/>
          </a:stretch>
        </p:blipFill>
        <p:spPr>
          <a:xfrm>
            <a:off x="315043" y="1304298"/>
            <a:ext cx="8435627" cy="2536390"/>
          </a:xfrm>
        </p:spPr>
      </p:pic>
    </p:spTree>
    <p:extLst>
      <p:ext uri="{BB962C8B-B14F-4D97-AF65-F5344CB8AC3E}">
        <p14:creationId xmlns:p14="http://schemas.microsoft.com/office/powerpoint/2010/main" val="1873507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806F7-E015-3400-3C17-82867A787420}"/>
              </a:ext>
            </a:extLst>
          </p:cNvPr>
          <p:cNvSpPr>
            <a:spLocks noGrp="1"/>
          </p:cNvSpPr>
          <p:nvPr>
            <p:ph type="title"/>
          </p:nvPr>
        </p:nvSpPr>
        <p:spPr/>
        <p:txBody>
          <a:bodyPr/>
          <a:lstStyle/>
          <a:p>
            <a:r>
              <a:rPr lang="en-US" dirty="0">
                <a:ea typeface="Calibri"/>
                <a:cs typeface="Calibri"/>
              </a:rPr>
              <a:t>Table 4 Takeaways</a:t>
            </a:r>
          </a:p>
        </p:txBody>
      </p:sp>
      <p:sp>
        <p:nvSpPr>
          <p:cNvPr id="3" name="Content Placeholder 2">
            <a:extLst>
              <a:ext uri="{FF2B5EF4-FFF2-40B4-BE49-F238E27FC236}">
                <a16:creationId xmlns:a16="http://schemas.microsoft.com/office/drawing/2014/main" id="{FE278BFF-FA8B-34A3-C83B-1D0BFB2544CD}"/>
              </a:ext>
            </a:extLst>
          </p:cNvPr>
          <p:cNvSpPr>
            <a:spLocks noGrp="1"/>
          </p:cNvSpPr>
          <p:nvPr>
            <p:ph idx="1"/>
          </p:nvPr>
        </p:nvSpPr>
        <p:spPr/>
        <p:txBody>
          <a:bodyPr vert="horz" lIns="91440" tIns="45720" rIns="91440" bIns="45720" rtlCol="0" anchor="t">
            <a:normAutofit/>
          </a:bodyPr>
          <a:lstStyle/>
          <a:p>
            <a:r>
              <a:rPr lang="en-US" dirty="0">
                <a:ea typeface="Calibri"/>
                <a:cs typeface="Calibri"/>
              </a:rPr>
              <a:t>Firm effects are less important when including </a:t>
            </a:r>
            <a:r>
              <a:rPr lang="en-US">
                <a:ea typeface="Calibri"/>
                <a:cs typeface="Calibri"/>
              </a:rPr>
              <a:t>a time interaction</a:t>
            </a:r>
          </a:p>
        </p:txBody>
      </p:sp>
    </p:spTree>
    <p:extLst>
      <p:ext uri="{BB962C8B-B14F-4D97-AF65-F5344CB8AC3E}">
        <p14:creationId xmlns:p14="http://schemas.microsoft.com/office/powerpoint/2010/main" val="6863754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5 – Migration over the Cross-Section: Fraction of Firms Always in and Currently in Their Initial Leverage Quartile</a:t>
            </a:r>
            <a:endParaRPr lang="en-US" sz="2800" dirty="0">
              <a:ea typeface="Calibri"/>
              <a:cs typeface="Calibri"/>
            </a:endParaRPr>
          </a:p>
        </p:txBody>
      </p:sp>
      <p:pic>
        <p:nvPicPr>
          <p:cNvPr id="5" name="Content Placeholder 4" descr="A table of numbers with text&#10;&#10;Description automatically generated">
            <a:extLst>
              <a:ext uri="{FF2B5EF4-FFF2-40B4-BE49-F238E27FC236}">
                <a16:creationId xmlns:a16="http://schemas.microsoft.com/office/drawing/2014/main" id="{A1060D54-6EB4-99A4-A563-AE06D8D19025}"/>
              </a:ext>
            </a:extLst>
          </p:cNvPr>
          <p:cNvPicPr>
            <a:picLocks noGrp="1" noChangeAspect="1"/>
          </p:cNvPicPr>
          <p:nvPr>
            <p:ph idx="1"/>
          </p:nvPr>
        </p:nvPicPr>
        <p:blipFill>
          <a:blip r:embed="rId3"/>
          <a:stretch>
            <a:fillRect/>
          </a:stretch>
        </p:blipFill>
        <p:spPr>
          <a:xfrm>
            <a:off x="294948" y="1288314"/>
            <a:ext cx="8554102" cy="2685788"/>
          </a:xfrm>
        </p:spPr>
      </p:pic>
    </p:spTree>
    <p:extLst>
      <p:ext uri="{BB962C8B-B14F-4D97-AF65-F5344CB8AC3E}">
        <p14:creationId xmlns:p14="http://schemas.microsoft.com/office/powerpoint/2010/main" val="2551857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5 – Migration over the Cross-Section: Fraction of Firms Always in and Currently in Their Initial Leverage Quartile</a:t>
            </a:r>
            <a:endParaRPr lang="en-US" sz="2800" dirty="0">
              <a:ea typeface="Calibri"/>
              <a:cs typeface="Calibri"/>
            </a:endParaRPr>
          </a:p>
        </p:txBody>
      </p:sp>
      <p:pic>
        <p:nvPicPr>
          <p:cNvPr id="6" name="Content Placeholder 5" descr="A table of numbers and a number of numbers&#10;&#10;Description automatically generated">
            <a:extLst>
              <a:ext uri="{FF2B5EF4-FFF2-40B4-BE49-F238E27FC236}">
                <a16:creationId xmlns:a16="http://schemas.microsoft.com/office/drawing/2014/main" id="{21510298-7969-CFD3-5AE5-BF62A5E7E5E4}"/>
              </a:ext>
            </a:extLst>
          </p:cNvPr>
          <p:cNvPicPr>
            <a:picLocks noGrp="1" noChangeAspect="1"/>
          </p:cNvPicPr>
          <p:nvPr>
            <p:ph idx="1"/>
          </p:nvPr>
        </p:nvPicPr>
        <p:blipFill>
          <a:blip r:embed="rId3"/>
          <a:stretch>
            <a:fillRect/>
          </a:stretch>
        </p:blipFill>
        <p:spPr>
          <a:xfrm>
            <a:off x="777983" y="1063955"/>
            <a:ext cx="7588032" cy="3494632"/>
          </a:xfrm>
        </p:spPr>
      </p:pic>
    </p:spTree>
    <p:extLst>
      <p:ext uri="{BB962C8B-B14F-4D97-AF65-F5344CB8AC3E}">
        <p14:creationId xmlns:p14="http://schemas.microsoft.com/office/powerpoint/2010/main" val="31713319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6AE64-9E65-7404-0DA6-EA20FA7F3E1D}"/>
              </a:ext>
            </a:extLst>
          </p:cNvPr>
          <p:cNvSpPr>
            <a:spLocks noGrp="1"/>
          </p:cNvSpPr>
          <p:nvPr>
            <p:ph type="title"/>
          </p:nvPr>
        </p:nvSpPr>
        <p:spPr/>
        <p:txBody>
          <a:bodyPr/>
          <a:lstStyle/>
          <a:p>
            <a:r>
              <a:rPr lang="en-US" dirty="0">
                <a:ea typeface="Calibri"/>
                <a:cs typeface="Calibri"/>
              </a:rPr>
              <a:t>Table 5 Takeaways</a:t>
            </a:r>
            <a:endParaRPr lang="en-US" dirty="0"/>
          </a:p>
        </p:txBody>
      </p:sp>
      <p:sp>
        <p:nvSpPr>
          <p:cNvPr id="3" name="Content Placeholder 2">
            <a:extLst>
              <a:ext uri="{FF2B5EF4-FFF2-40B4-BE49-F238E27FC236}">
                <a16:creationId xmlns:a16="http://schemas.microsoft.com/office/drawing/2014/main" id="{799C04E8-AC9D-FFEC-9CD5-82C52CAC320B}"/>
              </a:ext>
            </a:extLst>
          </p:cNvPr>
          <p:cNvSpPr>
            <a:spLocks noGrp="1"/>
          </p:cNvSpPr>
          <p:nvPr>
            <p:ph idx="1"/>
          </p:nvPr>
        </p:nvSpPr>
        <p:spPr/>
        <p:txBody>
          <a:bodyPr vert="horz" lIns="91440" tIns="45720" rIns="91440" bIns="45720" rtlCol="0" anchor="t">
            <a:normAutofit/>
          </a:bodyPr>
          <a:lstStyle/>
          <a:p>
            <a:r>
              <a:rPr lang="en-US" dirty="0">
                <a:ea typeface="Calibri"/>
                <a:cs typeface="Calibri"/>
              </a:rPr>
              <a:t>Firms show a modest reversion to their original leverage quartiles over time</a:t>
            </a:r>
          </a:p>
          <a:p>
            <a:r>
              <a:rPr lang="en-US" dirty="0">
                <a:ea typeface="Calibri"/>
                <a:cs typeface="Calibri"/>
              </a:rPr>
              <a:t>Significant movement of firms across different leverage quartiles </a:t>
            </a:r>
          </a:p>
          <a:p>
            <a:r>
              <a:rPr lang="en-US" dirty="0">
                <a:ea typeface="Calibri"/>
                <a:cs typeface="Calibri"/>
              </a:rPr>
              <a:t>Leverage stability is weak over long term horizons</a:t>
            </a:r>
          </a:p>
        </p:txBody>
      </p:sp>
    </p:spTree>
    <p:extLst>
      <p:ext uri="{BB962C8B-B14F-4D97-AF65-F5344CB8AC3E}">
        <p14:creationId xmlns:p14="http://schemas.microsoft.com/office/powerpoint/2010/main" val="2011121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6 – Alternative Models of Leverage Behavior and Instability of the Cross-Section</a:t>
            </a:r>
            <a:endParaRPr lang="en-US" sz="2800" dirty="0">
              <a:ea typeface="Calibri"/>
              <a:cs typeface="Calibri"/>
            </a:endParaRPr>
          </a:p>
        </p:txBody>
      </p:sp>
      <p:pic>
        <p:nvPicPr>
          <p:cNvPr id="5" name="Content Placeholder 4">
            <a:extLst>
              <a:ext uri="{FF2B5EF4-FFF2-40B4-BE49-F238E27FC236}">
                <a16:creationId xmlns:a16="http://schemas.microsoft.com/office/drawing/2014/main" id="{EAFC242B-0AF1-64D7-ACAD-7AE192FA141F}"/>
              </a:ext>
            </a:extLst>
          </p:cNvPr>
          <p:cNvPicPr>
            <a:picLocks noGrp="1" noChangeAspect="1"/>
          </p:cNvPicPr>
          <p:nvPr>
            <p:ph idx="1"/>
          </p:nvPr>
        </p:nvPicPr>
        <p:blipFill>
          <a:blip r:embed="rId3"/>
          <a:stretch>
            <a:fillRect/>
          </a:stretch>
        </p:blipFill>
        <p:spPr>
          <a:xfrm>
            <a:off x="313672" y="1406398"/>
            <a:ext cx="8508826" cy="2535737"/>
          </a:xfrm>
        </p:spPr>
      </p:pic>
    </p:spTree>
    <p:extLst>
      <p:ext uri="{BB962C8B-B14F-4D97-AF65-F5344CB8AC3E}">
        <p14:creationId xmlns:p14="http://schemas.microsoft.com/office/powerpoint/2010/main" val="1677918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6 – Alternative Models of Leverage Behavior and Instability of the Cross-Section</a:t>
            </a:r>
            <a:endParaRPr lang="en-US" sz="2800" dirty="0">
              <a:ea typeface="Calibri"/>
              <a:cs typeface="Calibri"/>
            </a:endParaRPr>
          </a:p>
        </p:txBody>
      </p:sp>
      <p:pic>
        <p:nvPicPr>
          <p:cNvPr id="6" name="Content Placeholder 5">
            <a:extLst>
              <a:ext uri="{FF2B5EF4-FFF2-40B4-BE49-F238E27FC236}">
                <a16:creationId xmlns:a16="http://schemas.microsoft.com/office/drawing/2014/main" id="{9964891D-146C-70FA-D530-E35C75DF3123}"/>
              </a:ext>
            </a:extLst>
          </p:cNvPr>
          <p:cNvPicPr>
            <a:picLocks noGrp="1" noChangeAspect="1"/>
          </p:cNvPicPr>
          <p:nvPr>
            <p:ph idx="1"/>
          </p:nvPr>
        </p:nvPicPr>
        <p:blipFill>
          <a:blip r:embed="rId3"/>
          <a:stretch>
            <a:fillRect/>
          </a:stretch>
        </p:blipFill>
        <p:spPr>
          <a:xfrm>
            <a:off x="685800" y="1067226"/>
            <a:ext cx="7772400" cy="3333750"/>
          </a:xfrm>
        </p:spPr>
      </p:pic>
    </p:spTree>
    <p:extLst>
      <p:ext uri="{BB962C8B-B14F-4D97-AF65-F5344CB8AC3E}">
        <p14:creationId xmlns:p14="http://schemas.microsoft.com/office/powerpoint/2010/main" val="30714309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732C-678A-0062-4DDD-88C4D4C578B7}"/>
              </a:ext>
            </a:extLst>
          </p:cNvPr>
          <p:cNvSpPr>
            <a:spLocks noGrp="1"/>
          </p:cNvSpPr>
          <p:nvPr>
            <p:ph type="title"/>
          </p:nvPr>
        </p:nvSpPr>
        <p:spPr/>
        <p:txBody>
          <a:bodyPr/>
          <a:lstStyle/>
          <a:p>
            <a:r>
              <a:rPr lang="en-US">
                <a:ea typeface="Calibri"/>
                <a:cs typeface="Calibri"/>
              </a:rPr>
              <a:t>Table 6 Takeaways</a:t>
            </a:r>
            <a:endParaRPr lang="en-US"/>
          </a:p>
        </p:txBody>
      </p:sp>
      <p:sp>
        <p:nvSpPr>
          <p:cNvPr id="3" name="Content Placeholder 2">
            <a:extLst>
              <a:ext uri="{FF2B5EF4-FFF2-40B4-BE49-F238E27FC236}">
                <a16:creationId xmlns:a16="http://schemas.microsoft.com/office/drawing/2014/main" id="{8D297B84-C146-3112-A7D3-3C250BE8DEF4}"/>
              </a:ext>
            </a:extLst>
          </p:cNvPr>
          <p:cNvSpPr>
            <a:spLocks noGrp="1"/>
          </p:cNvSpPr>
          <p:nvPr>
            <p:ph idx="1"/>
          </p:nvPr>
        </p:nvSpPr>
        <p:spPr/>
        <p:txBody>
          <a:bodyPr vert="horz" lIns="91440" tIns="45720" rIns="91440" bIns="45720" rtlCol="0" anchor="t">
            <a:normAutofit/>
          </a:bodyPr>
          <a:lstStyle/>
          <a:p>
            <a:r>
              <a:rPr lang="en-US" dirty="0">
                <a:ea typeface="Calibri"/>
                <a:cs typeface="Calibri"/>
              </a:rPr>
              <a:t>Neutral mutation model performs poorly </a:t>
            </a:r>
          </a:p>
          <a:p>
            <a:r>
              <a:rPr lang="en-US" dirty="0">
                <a:ea typeface="Calibri"/>
                <a:cs typeface="Calibri"/>
              </a:rPr>
              <a:t>SOA models fit better, indicating firms slowly adjust their leverage toward target ratios</a:t>
            </a:r>
          </a:p>
          <a:p>
            <a:r>
              <a:rPr lang="en-US" dirty="0">
                <a:ea typeface="Calibri"/>
                <a:cs typeface="Calibri"/>
              </a:rPr>
              <a:t>Random variation alone cannot explain leverage behavior</a:t>
            </a:r>
          </a:p>
        </p:txBody>
      </p:sp>
    </p:spTree>
    <p:extLst>
      <p:ext uri="{BB962C8B-B14F-4D97-AF65-F5344CB8AC3E}">
        <p14:creationId xmlns:p14="http://schemas.microsoft.com/office/powerpoint/2010/main" val="2668269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D732C-678A-0062-4DDD-88C4D4C578B7}"/>
              </a:ext>
            </a:extLst>
          </p:cNvPr>
          <p:cNvSpPr>
            <a:spLocks noGrp="1"/>
          </p:cNvSpPr>
          <p:nvPr>
            <p:ph type="title"/>
          </p:nvPr>
        </p:nvSpPr>
        <p:spPr/>
        <p:txBody>
          <a:bodyPr/>
          <a:lstStyle/>
          <a:p>
            <a:r>
              <a:rPr lang="en-US">
                <a:ea typeface="Calibri"/>
                <a:cs typeface="Calibri"/>
              </a:rPr>
              <a:t>Table 6 Takeaways</a:t>
            </a:r>
            <a:endParaRPr lang="en-US"/>
          </a:p>
        </p:txBody>
      </p:sp>
      <p:sp>
        <p:nvSpPr>
          <p:cNvPr id="3" name="Content Placeholder 2">
            <a:extLst>
              <a:ext uri="{FF2B5EF4-FFF2-40B4-BE49-F238E27FC236}">
                <a16:creationId xmlns:a16="http://schemas.microsoft.com/office/drawing/2014/main" id="{8D297B84-C146-3112-A7D3-3C250BE8DEF4}"/>
              </a:ext>
            </a:extLst>
          </p:cNvPr>
          <p:cNvSpPr>
            <a:spLocks noGrp="1"/>
          </p:cNvSpPr>
          <p:nvPr>
            <p:ph idx="1"/>
          </p:nvPr>
        </p:nvSpPr>
        <p:spPr/>
        <p:txBody>
          <a:bodyPr vert="horz" lIns="91440" tIns="45720" rIns="91440" bIns="45720" rtlCol="0" anchor="t">
            <a:normAutofit/>
          </a:bodyPr>
          <a:lstStyle/>
          <a:p>
            <a:r>
              <a:rPr lang="en-US" dirty="0">
                <a:ea typeface="Calibri"/>
                <a:cs typeface="Calibri"/>
              </a:rPr>
              <a:t>Flexible zone models perform well. Time </a:t>
            </a:r>
            <a:r>
              <a:rPr lang="en-US">
                <a:ea typeface="Calibri"/>
                <a:cs typeface="Calibri"/>
              </a:rPr>
              <a:t>Varying Target models excel! </a:t>
            </a:r>
          </a:p>
          <a:p>
            <a:r>
              <a:rPr lang="en-US" dirty="0">
                <a:ea typeface="Calibri"/>
                <a:cs typeface="Calibri"/>
              </a:rPr>
              <a:t>All credible models here share the common element of targeting behavior, with firms adjusting their leverage withing certain zones</a:t>
            </a:r>
          </a:p>
          <a:p>
            <a:endParaRPr lang="en-US" dirty="0">
              <a:ea typeface="Calibri"/>
              <a:cs typeface="Calibri"/>
            </a:endParaRPr>
          </a:p>
        </p:txBody>
      </p:sp>
    </p:spTree>
    <p:extLst>
      <p:ext uri="{BB962C8B-B14F-4D97-AF65-F5344CB8AC3E}">
        <p14:creationId xmlns:p14="http://schemas.microsoft.com/office/powerpoint/2010/main" val="11844694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7 – Industry-Median Leverage: Time Series Variation, ANOVA Tests, and Variance Decompositions</a:t>
            </a:r>
            <a:endParaRPr lang="en-US" sz="2800" dirty="0">
              <a:ea typeface="Calibri"/>
              <a:cs typeface="Calibri"/>
            </a:endParaRPr>
          </a:p>
        </p:txBody>
      </p:sp>
      <p:pic>
        <p:nvPicPr>
          <p:cNvPr id="7" name="Picture 6">
            <a:extLst>
              <a:ext uri="{FF2B5EF4-FFF2-40B4-BE49-F238E27FC236}">
                <a16:creationId xmlns:a16="http://schemas.microsoft.com/office/drawing/2014/main" id="{EAA2E322-1475-166C-D420-DAE947C2101E}"/>
              </a:ext>
            </a:extLst>
          </p:cNvPr>
          <p:cNvPicPr>
            <a:picLocks noChangeAspect="1"/>
          </p:cNvPicPr>
          <p:nvPr/>
        </p:nvPicPr>
        <p:blipFill>
          <a:blip r:embed="rId3"/>
          <a:stretch>
            <a:fillRect/>
          </a:stretch>
        </p:blipFill>
        <p:spPr>
          <a:xfrm>
            <a:off x="441347" y="1068757"/>
            <a:ext cx="8175190" cy="3460054"/>
          </a:xfrm>
          <a:prstGeom prst="rect">
            <a:avLst/>
          </a:prstGeom>
        </p:spPr>
      </p:pic>
    </p:spTree>
    <p:extLst>
      <p:ext uri="{BB962C8B-B14F-4D97-AF65-F5344CB8AC3E}">
        <p14:creationId xmlns:p14="http://schemas.microsoft.com/office/powerpoint/2010/main" val="32830572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7 – Industry-Median Leverage: Time Series Variation, ANOVA Tests, and Variance Decompositions</a:t>
            </a:r>
            <a:endParaRPr lang="en-US" sz="2800" dirty="0">
              <a:ea typeface="Calibri"/>
              <a:cs typeface="Calibri"/>
            </a:endParaRPr>
          </a:p>
        </p:txBody>
      </p:sp>
      <p:pic>
        <p:nvPicPr>
          <p:cNvPr id="3" name="Picture 2" descr="A table of effects with numbers and text&#10;&#10;Description automatically generated">
            <a:extLst>
              <a:ext uri="{FF2B5EF4-FFF2-40B4-BE49-F238E27FC236}">
                <a16:creationId xmlns:a16="http://schemas.microsoft.com/office/drawing/2014/main" id="{5397A63A-6B28-DB95-D47E-77FD92658E80}"/>
              </a:ext>
            </a:extLst>
          </p:cNvPr>
          <p:cNvPicPr>
            <a:picLocks noChangeAspect="1"/>
          </p:cNvPicPr>
          <p:nvPr/>
        </p:nvPicPr>
        <p:blipFill>
          <a:blip r:embed="rId3"/>
          <a:stretch>
            <a:fillRect/>
          </a:stretch>
        </p:blipFill>
        <p:spPr>
          <a:xfrm>
            <a:off x="401224" y="1286919"/>
            <a:ext cx="8255434" cy="2898470"/>
          </a:xfrm>
          <a:prstGeom prst="rect">
            <a:avLst/>
          </a:prstGeom>
        </p:spPr>
      </p:pic>
    </p:spTree>
    <p:extLst>
      <p:ext uri="{BB962C8B-B14F-4D97-AF65-F5344CB8AC3E}">
        <p14:creationId xmlns:p14="http://schemas.microsoft.com/office/powerpoint/2010/main" val="35124628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30525-3628-FE09-37E9-14C5082D7CFA}"/>
              </a:ext>
            </a:extLst>
          </p:cNvPr>
          <p:cNvSpPr>
            <a:spLocks noGrp="1"/>
          </p:cNvSpPr>
          <p:nvPr>
            <p:ph type="title"/>
          </p:nvPr>
        </p:nvSpPr>
        <p:spPr/>
        <p:txBody>
          <a:bodyPr/>
          <a:lstStyle/>
          <a:p>
            <a:r>
              <a:rPr lang="en-US" dirty="0">
                <a:ea typeface="Calibri"/>
                <a:cs typeface="Calibri"/>
              </a:rPr>
              <a:t>Table 7 Takeaways</a:t>
            </a:r>
            <a:endParaRPr lang="en-US" dirty="0"/>
          </a:p>
        </p:txBody>
      </p:sp>
      <p:sp>
        <p:nvSpPr>
          <p:cNvPr id="3" name="Content Placeholder 2">
            <a:extLst>
              <a:ext uri="{FF2B5EF4-FFF2-40B4-BE49-F238E27FC236}">
                <a16:creationId xmlns:a16="http://schemas.microsoft.com/office/drawing/2014/main" id="{049D466A-2C57-8D75-B703-CF1A861BA836}"/>
              </a:ext>
            </a:extLst>
          </p:cNvPr>
          <p:cNvSpPr>
            <a:spLocks noGrp="1"/>
          </p:cNvSpPr>
          <p:nvPr>
            <p:ph idx="1"/>
          </p:nvPr>
        </p:nvSpPr>
        <p:spPr/>
        <p:txBody>
          <a:bodyPr vert="horz" lIns="91440" tIns="45720" rIns="91440" bIns="45720" rtlCol="0" anchor="t">
            <a:normAutofit/>
          </a:bodyPr>
          <a:lstStyle/>
          <a:p>
            <a:r>
              <a:rPr lang="en-US" dirty="0">
                <a:ea typeface="Calibri"/>
                <a:cs typeface="Calibri"/>
              </a:rPr>
              <a:t>There is significant industry wide variation in leverage throughout time </a:t>
            </a:r>
          </a:p>
          <a:p>
            <a:r>
              <a:rPr lang="en-US" dirty="0">
                <a:ea typeface="Calibri"/>
                <a:cs typeface="Calibri"/>
              </a:rPr>
              <a:t>Industry specific time series variations are as important as cross industry differences. </a:t>
            </a:r>
          </a:p>
        </p:txBody>
      </p:sp>
    </p:spTree>
    <p:extLst>
      <p:ext uri="{BB962C8B-B14F-4D97-AF65-F5344CB8AC3E}">
        <p14:creationId xmlns:p14="http://schemas.microsoft.com/office/powerpoint/2010/main" val="2157215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A10DC1-DDE1-4347-BDBB-4B2ACA3E8D0F}"/>
              </a:ext>
            </a:extLst>
          </p:cNvPr>
          <p:cNvSpPr>
            <a:spLocks noGrp="1"/>
          </p:cNvSpPr>
          <p:nvPr>
            <p:ph type="title"/>
          </p:nvPr>
        </p:nvSpPr>
        <p:spPr>
          <a:xfrm>
            <a:off x="-4697" y="205979"/>
            <a:ext cx="9067277" cy="857250"/>
          </a:xfrm>
        </p:spPr>
        <p:txBody>
          <a:bodyPr>
            <a:noAutofit/>
          </a:bodyPr>
          <a:lstStyle/>
          <a:p>
            <a:r>
              <a:rPr lang="en-US" sz="2800" dirty="0"/>
              <a:t>Table 8 – Target Leverage Variation and Departures from Stable Leverage Regimes</a:t>
            </a:r>
            <a:endParaRPr lang="en-US" sz="2800" dirty="0">
              <a:ea typeface="Calibri"/>
              <a:cs typeface="Calibri"/>
            </a:endParaRPr>
          </a:p>
        </p:txBody>
      </p:sp>
      <p:pic>
        <p:nvPicPr>
          <p:cNvPr id="5" name="Picture 4" descr="A table with numbers and text&#10;&#10;Description automatically generated">
            <a:extLst>
              <a:ext uri="{FF2B5EF4-FFF2-40B4-BE49-F238E27FC236}">
                <a16:creationId xmlns:a16="http://schemas.microsoft.com/office/drawing/2014/main" id="{5D197B4A-D153-72BA-15AD-1D45E513EF41}"/>
              </a:ext>
            </a:extLst>
          </p:cNvPr>
          <p:cNvPicPr>
            <a:picLocks noChangeAspect="1"/>
          </p:cNvPicPr>
          <p:nvPr/>
        </p:nvPicPr>
        <p:blipFill>
          <a:blip r:embed="rId3"/>
          <a:stretch>
            <a:fillRect/>
          </a:stretch>
        </p:blipFill>
        <p:spPr>
          <a:xfrm>
            <a:off x="383088" y="1066995"/>
            <a:ext cx="8299537" cy="1835193"/>
          </a:xfrm>
          <a:prstGeom prst="rect">
            <a:avLst/>
          </a:prstGeom>
        </p:spPr>
      </p:pic>
      <p:pic>
        <p:nvPicPr>
          <p:cNvPr id="6" name="Picture 5" descr="A number of numbers on a white background&#10;&#10;Description automatically generated">
            <a:extLst>
              <a:ext uri="{FF2B5EF4-FFF2-40B4-BE49-F238E27FC236}">
                <a16:creationId xmlns:a16="http://schemas.microsoft.com/office/drawing/2014/main" id="{5BF142B4-3F3E-0374-6368-D5D93098CA11}"/>
              </a:ext>
            </a:extLst>
          </p:cNvPr>
          <p:cNvPicPr>
            <a:picLocks noChangeAspect="1"/>
          </p:cNvPicPr>
          <p:nvPr/>
        </p:nvPicPr>
        <p:blipFill>
          <a:blip r:embed="rId4"/>
          <a:stretch>
            <a:fillRect/>
          </a:stretch>
        </p:blipFill>
        <p:spPr>
          <a:xfrm>
            <a:off x="176864" y="2985239"/>
            <a:ext cx="8508434" cy="1169356"/>
          </a:xfrm>
          <a:prstGeom prst="rect">
            <a:avLst/>
          </a:prstGeom>
        </p:spPr>
      </p:pic>
    </p:spTree>
    <p:extLst>
      <p:ext uri="{BB962C8B-B14F-4D97-AF65-F5344CB8AC3E}">
        <p14:creationId xmlns:p14="http://schemas.microsoft.com/office/powerpoint/2010/main" val="3190394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DE6D9-6A86-F746-5426-A892C594EFDD}"/>
              </a:ext>
            </a:extLst>
          </p:cNvPr>
          <p:cNvSpPr>
            <a:spLocks noGrp="1"/>
          </p:cNvSpPr>
          <p:nvPr>
            <p:ph type="title"/>
          </p:nvPr>
        </p:nvSpPr>
        <p:spPr/>
        <p:txBody>
          <a:bodyPr/>
          <a:lstStyle/>
          <a:p>
            <a:r>
              <a:rPr lang="en-US" dirty="0">
                <a:ea typeface="Calibri"/>
                <a:cs typeface="Calibri"/>
              </a:rPr>
              <a:t>Table 8 Takeaways</a:t>
            </a:r>
            <a:endParaRPr lang="en-US" dirty="0"/>
          </a:p>
        </p:txBody>
      </p:sp>
      <p:sp>
        <p:nvSpPr>
          <p:cNvPr id="3" name="Content Placeholder 2">
            <a:extLst>
              <a:ext uri="{FF2B5EF4-FFF2-40B4-BE49-F238E27FC236}">
                <a16:creationId xmlns:a16="http://schemas.microsoft.com/office/drawing/2014/main" id="{FB61FB6D-F052-C974-A580-8BA88597BC72}"/>
              </a:ext>
            </a:extLst>
          </p:cNvPr>
          <p:cNvSpPr>
            <a:spLocks noGrp="1"/>
          </p:cNvSpPr>
          <p:nvPr>
            <p:ph idx="1"/>
          </p:nvPr>
        </p:nvSpPr>
        <p:spPr/>
        <p:txBody>
          <a:bodyPr vert="horz" lIns="91440" tIns="45720" rIns="91440" bIns="45720" rtlCol="0" anchor="t">
            <a:normAutofit/>
          </a:bodyPr>
          <a:lstStyle/>
          <a:p>
            <a:r>
              <a:rPr lang="en-US" dirty="0">
                <a:ea typeface="Calibri"/>
                <a:cs typeface="Calibri"/>
              </a:rPr>
              <a:t>Large changes in leverage around stable </a:t>
            </a:r>
            <a:r>
              <a:rPr lang="en-US">
                <a:ea typeface="Calibri"/>
                <a:cs typeface="Calibri"/>
              </a:rPr>
              <a:t>regimes are driven by managerial choices</a:t>
            </a:r>
          </a:p>
          <a:p>
            <a:r>
              <a:rPr lang="en-US">
                <a:ea typeface="Calibri"/>
                <a:cs typeface="Calibri"/>
              </a:rPr>
              <a:t>Closely associated with company expansion and investment policies. </a:t>
            </a:r>
            <a:endParaRPr lang="en-US" dirty="0">
              <a:ea typeface="Calibri"/>
              <a:cs typeface="Calibri"/>
            </a:endParaRPr>
          </a:p>
        </p:txBody>
      </p:sp>
    </p:spTree>
    <p:extLst>
      <p:ext uri="{BB962C8B-B14F-4D97-AF65-F5344CB8AC3E}">
        <p14:creationId xmlns:p14="http://schemas.microsoft.com/office/powerpoint/2010/main" val="3621315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C5487-523F-4F09-B75C-398824C1F82F}"/>
              </a:ext>
            </a:extLst>
          </p:cNvPr>
          <p:cNvSpPr>
            <a:spLocks noGrp="1"/>
          </p:cNvSpPr>
          <p:nvPr>
            <p:ph type="title"/>
          </p:nvPr>
        </p:nvSpPr>
        <p:spPr>
          <a:xfrm>
            <a:off x="457200" y="61199"/>
            <a:ext cx="8229600" cy="488076"/>
          </a:xfrm>
        </p:spPr>
        <p:txBody>
          <a:bodyPr>
            <a:noAutofit/>
          </a:bodyPr>
          <a:lstStyle/>
          <a:p>
            <a:r>
              <a:rPr lang="en-US" sz="4000" dirty="0"/>
              <a:t>Conclusion</a:t>
            </a:r>
          </a:p>
        </p:txBody>
      </p:sp>
      <p:sp>
        <p:nvSpPr>
          <p:cNvPr id="6" name="Content Placeholder 5">
            <a:extLst>
              <a:ext uri="{FF2B5EF4-FFF2-40B4-BE49-F238E27FC236}">
                <a16:creationId xmlns:a16="http://schemas.microsoft.com/office/drawing/2014/main" id="{78B0190A-318C-428F-AC44-193FA1E8EE6D}"/>
              </a:ext>
            </a:extLst>
          </p:cNvPr>
          <p:cNvSpPr>
            <a:spLocks noGrp="1"/>
          </p:cNvSpPr>
          <p:nvPr>
            <p:ph idx="1"/>
          </p:nvPr>
        </p:nvSpPr>
        <p:spPr>
          <a:xfrm>
            <a:off x="457200" y="742951"/>
            <a:ext cx="8229600" cy="3394472"/>
          </a:xfrm>
        </p:spPr>
        <p:txBody>
          <a:bodyPr vert="horz" lIns="91440" tIns="45720" rIns="91440" bIns="45720" rtlCol="0" anchor="t">
            <a:normAutofit/>
          </a:bodyPr>
          <a:lstStyle/>
          <a:p>
            <a:r>
              <a:rPr lang="en-US" dirty="0">
                <a:ea typeface="Calibri"/>
                <a:cs typeface="Calibri"/>
              </a:rPr>
              <a:t>Leverage Variation is Complex </a:t>
            </a:r>
          </a:p>
          <a:p>
            <a:r>
              <a:rPr lang="en-US" dirty="0">
                <a:ea typeface="Calibri"/>
                <a:cs typeface="Calibri"/>
              </a:rPr>
              <a:t>This paper challenges existing theories</a:t>
            </a:r>
          </a:p>
          <a:p>
            <a:r>
              <a:rPr lang="en-US" dirty="0">
                <a:ea typeface="Calibri"/>
                <a:cs typeface="Calibri"/>
              </a:rPr>
              <a:t>Time-Varying Targets Offer a better fit</a:t>
            </a:r>
          </a:p>
          <a:p>
            <a:endParaRPr lang="en-US" dirty="0">
              <a:ea typeface="Calibri"/>
              <a:cs typeface="Calibri"/>
            </a:endParaRPr>
          </a:p>
        </p:txBody>
      </p:sp>
    </p:spTree>
    <p:extLst>
      <p:ext uri="{BB962C8B-B14F-4D97-AF65-F5344CB8AC3E}">
        <p14:creationId xmlns:p14="http://schemas.microsoft.com/office/powerpoint/2010/main" val="30662628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1861</TotalTime>
  <Words>1484</Words>
  <Application>Microsoft Office PowerPoint</Application>
  <PresentationFormat>On-screen Show (16:9)</PresentationFormat>
  <Paragraphs>116</Paragraphs>
  <Slides>26</Slides>
  <Notes>18</Notes>
  <HiddenSlides>0</HiddenSlides>
  <MMClips>0</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Office Theme</vt:lpstr>
      <vt:lpstr>How Stable Are Corporate Capital Structures?</vt:lpstr>
      <vt:lpstr>Research Question</vt:lpstr>
      <vt:lpstr>Prior Literature</vt:lpstr>
      <vt:lpstr>Data Collection</vt:lpstr>
      <vt:lpstr>Table 1 – Time-Series Variation in Leverage</vt:lpstr>
      <vt:lpstr>Table 1 – Time-Series Variation in Leverage</vt:lpstr>
      <vt:lpstr>Table 1 Takeaways</vt:lpstr>
      <vt:lpstr>Table 2 – Stable Leverage Regimes and the Distribution of Firm-Specific Maximum and Minimum Leverage Ratios</vt:lpstr>
      <vt:lpstr>Table 2 Takeaways</vt:lpstr>
      <vt:lpstr>Table 3 – Explanatory Power of Firm and Year Main Effects and Firm-Time Interaction Effects</vt:lpstr>
      <vt:lpstr>Table 3 Takeaways</vt:lpstr>
      <vt:lpstr>Table 4 – Explanatory Power of Firm Fixed Effects, Decade Fixed Effects, and Firm-Decade Interaction Effects</vt:lpstr>
      <vt:lpstr>Table 4 Takeaways</vt:lpstr>
      <vt:lpstr>Table 5 – Migration over the Cross-Section: Fraction of Firms Always in and Currently in Their Initial Leverage Quartile</vt:lpstr>
      <vt:lpstr>Table 5 – Migration over the Cross-Section: Fraction of Firms Always in and Currently in Their Initial Leverage Quartile</vt:lpstr>
      <vt:lpstr>Table 5 Takeaways</vt:lpstr>
      <vt:lpstr>Table 6 – Alternative Models of Leverage Behavior and Instability of the Cross-Section</vt:lpstr>
      <vt:lpstr>Table 6 – Alternative Models of Leverage Behavior and Instability of the Cross-Section</vt:lpstr>
      <vt:lpstr>Table 6 Takeaways</vt:lpstr>
      <vt:lpstr>Table 6 Takeaways</vt:lpstr>
      <vt:lpstr>Table 7 – Industry-Median Leverage: Time Series Variation, ANOVA Tests, and Variance Decompositions</vt:lpstr>
      <vt:lpstr>Table 7 – Industry-Median Leverage: Time Series Variation, ANOVA Tests, and Variance Decompositions</vt:lpstr>
      <vt:lpstr>Table 7 Takeaways</vt:lpstr>
      <vt:lpstr>Table 8 – Target Leverage Variation and Departures from Stable Leverage Regimes</vt:lpstr>
      <vt:lpstr>Table 8 Takeaways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Sharing, Holdup, and External Finance: Evidence from Private Firms</dc:title>
  <dc:creator>Tyler Johnson</dc:creator>
  <cp:lastModifiedBy>Tyler Johnson</cp:lastModifiedBy>
  <cp:revision>527</cp:revision>
  <dcterms:created xsi:type="dcterms:W3CDTF">2020-09-10T18:37:45Z</dcterms:created>
  <dcterms:modified xsi:type="dcterms:W3CDTF">2024-08-27T13:20:09Z</dcterms:modified>
</cp:coreProperties>
</file>