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15" r:id="rId3"/>
    <p:sldId id="346" r:id="rId4"/>
    <p:sldId id="395" r:id="rId5"/>
    <p:sldId id="463" r:id="rId6"/>
    <p:sldId id="397" r:id="rId7"/>
    <p:sldId id="453" r:id="rId8"/>
    <p:sldId id="442" r:id="rId9"/>
    <p:sldId id="454" r:id="rId10"/>
    <p:sldId id="444" r:id="rId11"/>
    <p:sldId id="464" r:id="rId12"/>
    <p:sldId id="455" r:id="rId13"/>
    <p:sldId id="445" r:id="rId14"/>
    <p:sldId id="465" r:id="rId15"/>
    <p:sldId id="456" r:id="rId16"/>
    <p:sldId id="446" r:id="rId17"/>
    <p:sldId id="466" r:id="rId18"/>
    <p:sldId id="457" r:id="rId19"/>
    <p:sldId id="467" r:id="rId20"/>
  </p:sldIdLst>
  <p:sldSz cx="9144000" cy="5143500" type="screen16x9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F0ED9B7-CD5E-4565-9CB6-CF7B31D9F05F}">
          <p14:sldIdLst>
            <p14:sldId id="256"/>
            <p14:sldId id="315"/>
            <p14:sldId id="346"/>
            <p14:sldId id="395"/>
            <p14:sldId id="463"/>
            <p14:sldId id="397"/>
            <p14:sldId id="453"/>
            <p14:sldId id="442"/>
            <p14:sldId id="454"/>
            <p14:sldId id="444"/>
            <p14:sldId id="464"/>
            <p14:sldId id="455"/>
            <p14:sldId id="445"/>
            <p14:sldId id="465"/>
            <p14:sldId id="456"/>
            <p14:sldId id="446"/>
            <p14:sldId id="466"/>
            <p14:sldId id="457"/>
            <p14:sldId id="4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CA3052-DA26-DD79-DCD9-DC46D438CF09}" v="1292" dt="2024-08-26T15:20:27.259"/>
    <p1510:client id="{C64FB65F-14A5-C573-B804-B8343143B81D}" v="5" dt="2024-08-27T13:32:47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80258" autoAdjust="0"/>
  </p:normalViewPr>
  <p:slideViewPr>
    <p:cSldViewPr snapToGrid="0" snapToObjects="1">
      <p:cViewPr varScale="1">
        <p:scale>
          <a:sx n="71" d="100"/>
          <a:sy n="71" d="100"/>
        </p:scale>
        <p:origin x="1128" y="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2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44" tIns="48323" rIns="96644" bIns="483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44" tIns="48323" rIns="96644" bIns="48323" rtlCol="0"/>
          <a:lstStyle>
            <a:lvl1pPr algn="r">
              <a:defRPr sz="1200"/>
            </a:lvl1pPr>
          </a:lstStyle>
          <a:p>
            <a:fld id="{77EE0671-D154-4A0D-90F0-4F99050D0CF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4" tIns="48323" rIns="96644" bIns="48323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44" tIns="48323" rIns="96644" bIns="4832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44" tIns="48323" rIns="96644" bIns="483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44" tIns="48323" rIns="96644" bIns="48323" rtlCol="0" anchor="b"/>
          <a:lstStyle>
            <a:lvl1pPr algn="r">
              <a:defRPr sz="1200"/>
            </a:lvl1pPr>
          </a:lstStyle>
          <a:p>
            <a:fld id="{55CCDD01-DD87-4F55-A952-E631145530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13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571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16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218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Describe each portion of the model here. Also, indicate that leverage is long term debt + short term debt / total assets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Lambda = adjustment speed to capital structure.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 err="1">
                <a:ea typeface="Calibri"/>
                <a:cs typeface="Calibri"/>
              </a:rPr>
              <a:t>Xij</a:t>
            </a:r>
            <a:r>
              <a:rPr lang="en-US" dirty="0">
                <a:ea typeface="Calibri"/>
                <a:cs typeface="Calibri"/>
              </a:rPr>
              <a:t> = firm, industry, macroeconomic facts from the previous year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1 – lambda = persistence of leverage, shows how much of the leverage ratio from the previous year carries over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F = firm fixed effects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y = year fixed effects 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C = country fixed effects 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C x Y = country and year </a:t>
            </a:r>
            <a:r>
              <a:rPr lang="en-US" dirty="0" err="1">
                <a:ea typeface="Calibri"/>
                <a:cs typeface="Calibri"/>
              </a:rPr>
              <a:t>rixed</a:t>
            </a:r>
            <a:r>
              <a:rPr lang="en-US" dirty="0">
                <a:ea typeface="Calibri"/>
                <a:cs typeface="Calibri"/>
              </a:rPr>
              <a:t> effects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326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Separate = separate countries. Pooled = together. Number of instances where that coefficient was positive or negative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40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809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219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106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631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682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Institutional variables are normalized to have a mean of zero and standard deviation of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701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640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403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CDD01-DD87-4F55-A952-E6311455308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61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64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7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03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44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67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59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65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88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40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98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07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Untitled-4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97736"/>
            <a:ext cx="9153144" cy="75742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038BA-856D-E640-9AF0-8E7AA133C933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BBC46-B35C-FC4A-B901-4F9F5D11EC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38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1476"/>
            <a:ext cx="7772400" cy="1102519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ea typeface="+mj-lt"/>
                <a:cs typeface="+mj-lt"/>
              </a:rPr>
              <a:t>Capital Structure Decisions around the World: Which Factors Are Reliably Important?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3150" y="1933995"/>
            <a:ext cx="6997700" cy="240492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 sz="29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900" dirty="0" err="1">
                <a:solidFill>
                  <a:schemeClr val="tx1"/>
                </a:solidFill>
                <a:ea typeface="+mn-lt"/>
                <a:cs typeface="+mn-lt"/>
              </a:rPr>
              <a:t>Özde</a:t>
            </a:r>
            <a:r>
              <a:rPr lang="en-US" sz="2900" dirty="0">
                <a:solidFill>
                  <a:schemeClr val="tx1"/>
                </a:solidFill>
                <a:ea typeface="+mn-lt"/>
                <a:cs typeface="+mn-lt"/>
              </a:rPr>
              <a:t> Öztekin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600" i="1" dirty="0">
                <a:solidFill>
                  <a:schemeClr val="tx1"/>
                </a:solidFill>
                <a:latin typeface="+mj-lt"/>
                <a:ea typeface="Calibri"/>
                <a:cs typeface="Times New Roman"/>
              </a:rPr>
              <a:t>Florida International University</a:t>
            </a:r>
          </a:p>
          <a:p>
            <a:endParaRPr lang="en-US" sz="2900">
              <a:solidFill>
                <a:srgbClr val="000000"/>
              </a:solidFill>
              <a:ea typeface="Calibri"/>
              <a:cs typeface="Times New Roman"/>
            </a:endParaRPr>
          </a:p>
          <a:p>
            <a:endParaRPr lang="en-US" sz="2000" i="1" dirty="0">
              <a:solidFill>
                <a:schemeClr val="tx1"/>
              </a:solidFill>
              <a:latin typeface="+mj-lt"/>
              <a:ea typeface="Calibri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+mj-lt"/>
                <a:cs typeface="Times New Roman"/>
              </a:rPr>
              <a:t>Presented by Austin Francis</a:t>
            </a:r>
            <a:endParaRPr lang="en-US" sz="1800" dirty="0">
              <a:solidFill>
                <a:schemeClr val="tx1"/>
              </a:solidFill>
              <a:latin typeface="+mj-lt"/>
              <a:ea typeface="Calibri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95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4ADDE-7BAE-4D27-8839-0025B3A2D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Calibri"/>
                <a:cs typeface="Times New Roman"/>
              </a:rPr>
              <a:t>What are the reliable determinants of capital structure on a global scale? </a:t>
            </a:r>
          </a:p>
        </p:txBody>
      </p:sp>
    </p:spTree>
    <p:extLst>
      <p:ext uri="{BB962C8B-B14F-4D97-AF65-F5344CB8AC3E}">
        <p14:creationId xmlns:p14="http://schemas.microsoft.com/office/powerpoint/2010/main" val="718245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8138"/>
            <a:ext cx="8229600" cy="681526"/>
          </a:xfrm>
        </p:spPr>
        <p:txBody>
          <a:bodyPr>
            <a:normAutofit fontScale="90000"/>
          </a:bodyPr>
          <a:lstStyle/>
          <a:p>
            <a:r>
              <a:rPr lang="en-US" dirty="0"/>
              <a:t>Prior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4ADDE-7BAE-4D27-8839-0025B3A2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77290"/>
            <a:ext cx="8229600" cy="37154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lvl="1" indent="-342900">
              <a:buFont typeface="Arial"/>
              <a:buChar char="•"/>
            </a:pPr>
            <a:r>
              <a:rPr lang="en-US" sz="2000" dirty="0"/>
              <a:t>The key factors for U.S. firms are industry leverage, market-to-book ratio, tangibility, profits, firm size, and inflation. (Frank and Goyal, 2009)</a:t>
            </a:r>
            <a:endParaRPr lang="en-US" sz="2000" dirty="0">
              <a:ea typeface="Calibri"/>
              <a:cs typeface="Calibri"/>
            </a:endParaRPr>
          </a:p>
          <a:p>
            <a:pPr marL="342900" lvl="1" indent="-342900"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The G-7 Countries (Canada, France, Germany, Italy, Japan, the United Kingdom, and the United States) have the following dominant factors: market-to-book ratio, tangibility, profits, firm size. (Rajan and Zingales, 1995)</a:t>
            </a:r>
          </a:p>
          <a:p>
            <a:pPr marL="342900" lvl="1" indent="-342900"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Do these factors extend to a much larger panel of countries? </a:t>
            </a:r>
          </a:p>
          <a:p>
            <a:pPr marL="342900" lvl="1" indent="-342900"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pPr marL="342900" lvl="1" indent="-342900"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9680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4ADDE-7BAE-4D27-8839-0025B3A2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3944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Nonfinancial and unregulated firms in the Compustat Global Vantage database from 1991 to 2006.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15,177 firms from 37 countries. A total of 101,264 firm-years.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8989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FFDF-3957-68FC-4516-0B21A8BD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Models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AECF1-4AD3-C012-18D8-19AE40564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Leverage Determinants Model </a:t>
            </a:r>
            <a:br>
              <a:rPr lang="en-US" dirty="0">
                <a:ea typeface="Calibri"/>
                <a:cs typeface="Calibri"/>
              </a:rPr>
            </a:br>
            <a:endParaRPr lang="en-US"/>
          </a:p>
        </p:txBody>
      </p:sp>
      <p:pic>
        <p:nvPicPr>
          <p:cNvPr id="4" name="Picture 3" descr="A black and white text&#10;&#10;Description automatically generated">
            <a:extLst>
              <a:ext uri="{FF2B5EF4-FFF2-40B4-BE49-F238E27FC236}">
                <a16:creationId xmlns:a16="http://schemas.microsoft.com/office/drawing/2014/main" id="{6171A86D-43C4-4DD0-8D25-AB55A18C0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49" y="1984458"/>
            <a:ext cx="8039100" cy="591052"/>
          </a:xfrm>
          <a:prstGeom prst="rect">
            <a:avLst/>
          </a:prstGeom>
        </p:spPr>
      </p:pic>
      <p:pic>
        <p:nvPicPr>
          <p:cNvPr id="5" name="Picture 4" descr="A group of math symbols&#10;&#10;Description automatically generated">
            <a:extLst>
              <a:ext uri="{FF2B5EF4-FFF2-40B4-BE49-F238E27FC236}">
                <a16:creationId xmlns:a16="http://schemas.microsoft.com/office/drawing/2014/main" id="{8D4DA63A-CB66-5AE0-FAFC-43A63F8C1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04" y="2962526"/>
            <a:ext cx="74295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78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740" y="70624"/>
            <a:ext cx="9177086" cy="857250"/>
          </a:xfrm>
        </p:spPr>
        <p:txBody>
          <a:bodyPr>
            <a:noAutofit/>
          </a:bodyPr>
          <a:lstStyle/>
          <a:p>
            <a:r>
              <a:rPr lang="en-US" sz="2800" dirty="0"/>
              <a:t>Table 1 – Reliable Firm, Industry, and Macroeconomic Determinants</a:t>
            </a:r>
          </a:p>
        </p:txBody>
      </p:sp>
      <p:pic>
        <p:nvPicPr>
          <p:cNvPr id="5" name="Content Placeholder 4" descr="A white paper with black text and numbers&#10;&#10;Description automatically generated">
            <a:extLst>
              <a:ext uri="{FF2B5EF4-FFF2-40B4-BE49-F238E27FC236}">
                <a16:creationId xmlns:a16="http://schemas.microsoft.com/office/drawing/2014/main" id="{20BA4054-CD65-49FC-9221-1F95153AA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3116" y="929441"/>
            <a:ext cx="7027373" cy="3394472"/>
          </a:xfrm>
        </p:spPr>
      </p:pic>
    </p:spTree>
    <p:extLst>
      <p:ext uri="{BB962C8B-B14F-4D97-AF65-F5344CB8AC3E}">
        <p14:creationId xmlns:p14="http://schemas.microsoft.com/office/powerpoint/2010/main" val="166092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264F8-2588-11AC-4B49-3C96314C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Table 1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2EFD-A0BC-81FA-1CC0-C60FF5F3D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Profits, firm size, tangibility, industry leverage, and inflation are dominant factors across all firms around the world.</a:t>
            </a:r>
          </a:p>
        </p:txBody>
      </p:sp>
    </p:spTree>
    <p:extLst>
      <p:ext uri="{BB962C8B-B14F-4D97-AF65-F5344CB8AC3E}">
        <p14:creationId xmlns:p14="http://schemas.microsoft.com/office/powerpoint/2010/main" val="423358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7" y="205979"/>
            <a:ext cx="9067277" cy="857250"/>
          </a:xfrm>
        </p:spPr>
        <p:txBody>
          <a:bodyPr>
            <a:noAutofit/>
          </a:bodyPr>
          <a:lstStyle/>
          <a:p>
            <a:r>
              <a:rPr lang="en-US" sz="2800" dirty="0"/>
              <a:t>Table 2 – Effects of Institutions on Determinants of Leverage</a:t>
            </a: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5" name="Content Placeholder 4" descr="A white sheet with black text and numbers&#10;&#10;Description automatically generated">
            <a:extLst>
              <a:ext uri="{FF2B5EF4-FFF2-40B4-BE49-F238E27FC236}">
                <a16:creationId xmlns:a16="http://schemas.microsoft.com/office/drawing/2014/main" id="{0B38C5F0-113D-FC2E-5C30-1105358B4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7411" y="997118"/>
            <a:ext cx="6868546" cy="3281676"/>
          </a:xfrm>
        </p:spPr>
      </p:pic>
    </p:spTree>
    <p:extLst>
      <p:ext uri="{BB962C8B-B14F-4D97-AF65-F5344CB8AC3E}">
        <p14:creationId xmlns:p14="http://schemas.microsoft.com/office/powerpoint/2010/main" val="3921299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7" y="205979"/>
            <a:ext cx="9067277" cy="857250"/>
          </a:xfrm>
        </p:spPr>
        <p:txBody>
          <a:bodyPr>
            <a:noAutofit/>
          </a:bodyPr>
          <a:lstStyle/>
          <a:p>
            <a:r>
              <a:rPr lang="en-US" sz="2800" dirty="0"/>
              <a:t>Table 2 Takeaways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DC56A-D7F3-FBC5-8D2F-DA5856816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Profits are a core factor only in weak institutional settings </a:t>
            </a:r>
          </a:p>
          <a:p>
            <a:r>
              <a:rPr lang="en-US" dirty="0">
                <a:ea typeface="Calibri"/>
                <a:cs typeface="Calibri"/>
              </a:rPr>
              <a:t>Size and Industry leverage are core factors only in strong institutional settings 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8758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7" y="205979"/>
            <a:ext cx="9067277" cy="857250"/>
          </a:xfrm>
        </p:spPr>
        <p:txBody>
          <a:bodyPr>
            <a:noAutofit/>
          </a:bodyPr>
          <a:lstStyle/>
          <a:p>
            <a:r>
              <a:rPr lang="en-US" sz="2800" dirty="0"/>
              <a:t>Table 3 – Institutional Determinants of Debt and Equity Trading Costs</a:t>
            </a: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10" name="Content Placeholder 9" descr="A screenshot of a computer&#10;&#10;Description automatically generated">
            <a:extLst>
              <a:ext uri="{FF2B5EF4-FFF2-40B4-BE49-F238E27FC236}">
                <a16:creationId xmlns:a16="http://schemas.microsoft.com/office/drawing/2014/main" id="{D703C038-9576-E14C-B5E1-BC7A91D77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37351" y="1222710"/>
            <a:ext cx="5828666" cy="3394472"/>
          </a:xfrm>
        </p:spPr>
      </p:pic>
    </p:spTree>
    <p:extLst>
      <p:ext uri="{BB962C8B-B14F-4D97-AF65-F5344CB8AC3E}">
        <p14:creationId xmlns:p14="http://schemas.microsoft.com/office/powerpoint/2010/main" val="1071918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7" y="205979"/>
            <a:ext cx="9067277" cy="857250"/>
          </a:xfrm>
        </p:spPr>
        <p:txBody>
          <a:bodyPr>
            <a:noAutofit/>
          </a:bodyPr>
          <a:lstStyle/>
          <a:p>
            <a:r>
              <a:rPr lang="en-US" sz="2800" dirty="0"/>
              <a:t>Table 3 – Institutional Determinants of Debt and Equity Trading Costs</a:t>
            </a: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714A5814-4707-C224-DC0E-2D1E41B44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0126" y="1201184"/>
            <a:ext cx="7448550" cy="3362325"/>
          </a:xfrm>
        </p:spPr>
      </p:pic>
    </p:spTree>
    <p:extLst>
      <p:ext uri="{BB962C8B-B14F-4D97-AF65-F5344CB8AC3E}">
        <p14:creationId xmlns:p14="http://schemas.microsoft.com/office/powerpoint/2010/main" val="2873402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7" y="205979"/>
            <a:ext cx="9067277" cy="857250"/>
          </a:xfrm>
        </p:spPr>
        <p:txBody>
          <a:bodyPr>
            <a:noAutofit/>
          </a:bodyPr>
          <a:lstStyle/>
          <a:p>
            <a:r>
              <a:rPr lang="en-US" sz="2800" dirty="0"/>
              <a:t>Table 3 Takeaways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DC56A-D7F3-FBC5-8D2F-DA5856816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Stronger institutions have lower debt and equity costs</a:t>
            </a:r>
          </a:p>
          <a:p>
            <a:r>
              <a:rPr lang="en-US" dirty="0">
                <a:ea typeface="Calibri"/>
                <a:cs typeface="Calibri"/>
              </a:rPr>
              <a:t>This should lead to faster adjustment speeds to optimal leverage</a:t>
            </a:r>
          </a:p>
        </p:txBody>
      </p:sp>
    </p:spTree>
    <p:extLst>
      <p:ext uri="{BB962C8B-B14F-4D97-AF65-F5344CB8AC3E}">
        <p14:creationId xmlns:p14="http://schemas.microsoft.com/office/powerpoint/2010/main" val="3419803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7" y="205979"/>
            <a:ext cx="9067277" cy="857250"/>
          </a:xfrm>
        </p:spPr>
        <p:txBody>
          <a:bodyPr>
            <a:noAutofit/>
          </a:bodyPr>
          <a:lstStyle/>
          <a:p>
            <a:r>
              <a:rPr lang="en-US" sz="2800" dirty="0"/>
              <a:t>Table 4 – Effect of the Institutional Setting on Adjustment Speeds</a:t>
            </a: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B1A232-F8CB-8409-3581-F8FEDAAD1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9271" y="1063091"/>
            <a:ext cx="7486650" cy="3228975"/>
          </a:xfrm>
        </p:spPr>
      </p:pic>
    </p:spTree>
    <p:extLst>
      <p:ext uri="{BB962C8B-B14F-4D97-AF65-F5344CB8AC3E}">
        <p14:creationId xmlns:p14="http://schemas.microsoft.com/office/powerpoint/2010/main" val="1873507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7" y="205979"/>
            <a:ext cx="9067277" cy="857250"/>
          </a:xfrm>
        </p:spPr>
        <p:txBody>
          <a:bodyPr>
            <a:noAutofit/>
          </a:bodyPr>
          <a:lstStyle/>
          <a:p>
            <a:r>
              <a:rPr lang="en-US" sz="2800" dirty="0"/>
              <a:t>Table 4 – Effect of the Institutional Setting on Adjustment Speeds</a:t>
            </a: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6" name="Content Placeholder 5" descr="A table of numbers with text&#10;&#10;Description automatically generated">
            <a:extLst>
              <a:ext uri="{FF2B5EF4-FFF2-40B4-BE49-F238E27FC236}">
                <a16:creationId xmlns:a16="http://schemas.microsoft.com/office/drawing/2014/main" id="{FE551F57-43CB-9D2B-76DA-88E09B13E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4407" y="1151165"/>
            <a:ext cx="7473543" cy="3394472"/>
          </a:xfrm>
        </p:spPr>
      </p:pic>
    </p:spTree>
    <p:extLst>
      <p:ext uri="{BB962C8B-B14F-4D97-AF65-F5344CB8AC3E}">
        <p14:creationId xmlns:p14="http://schemas.microsoft.com/office/powerpoint/2010/main" val="475043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06F7-E015-3400-3C17-82867A787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Table 4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78BFF-FA8B-34A3-C83B-1D0BFB254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0939"/>
            <a:ext cx="8229600" cy="33944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Calibri"/>
                <a:cs typeface="Calibri"/>
              </a:rPr>
              <a:t>Increased debt and equity trading significantly slow down the adjustment speed</a:t>
            </a:r>
          </a:p>
          <a:p>
            <a:r>
              <a:rPr lang="en-US" dirty="0">
                <a:ea typeface="Calibri"/>
                <a:cs typeface="Calibri"/>
              </a:rPr>
              <a:t>Countries with more efficient bankruptcy processes experience faster adjustment speed</a:t>
            </a:r>
          </a:p>
          <a:p>
            <a:r>
              <a:rPr lang="en-US" dirty="0">
                <a:ea typeface="Calibri"/>
                <a:cs typeface="Calibri"/>
              </a:rPr>
              <a:t>Average adjustment speed is 21%, indicating a relatively quick adjustment towards optimal leverage with a </a:t>
            </a:r>
            <a:r>
              <a:rPr lang="en-US">
                <a:ea typeface="Calibri"/>
                <a:cs typeface="Calibri"/>
              </a:rPr>
              <a:t>half-life</a:t>
            </a:r>
            <a:r>
              <a:rPr lang="en-US" dirty="0">
                <a:ea typeface="Calibri"/>
                <a:cs typeface="Calibri"/>
              </a:rPr>
              <a:t> of 3.5 years</a:t>
            </a:r>
          </a:p>
        </p:txBody>
      </p:sp>
    </p:spTree>
    <p:extLst>
      <p:ext uri="{BB962C8B-B14F-4D97-AF65-F5344CB8AC3E}">
        <p14:creationId xmlns:p14="http://schemas.microsoft.com/office/powerpoint/2010/main" val="686375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7" y="205979"/>
            <a:ext cx="9067277" cy="857250"/>
          </a:xfrm>
        </p:spPr>
        <p:txBody>
          <a:bodyPr>
            <a:noAutofit/>
          </a:bodyPr>
          <a:lstStyle/>
          <a:p>
            <a:r>
              <a:rPr lang="en-US" sz="2800" dirty="0"/>
              <a:t>Table 5 – The Effect of Institutional Setting on Leverage</a:t>
            </a: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3A2B50-5242-4000-DBFC-2BDFF77D8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9291" y="1094441"/>
            <a:ext cx="7343775" cy="2952750"/>
          </a:xfrm>
        </p:spPr>
      </p:pic>
    </p:spTree>
    <p:extLst>
      <p:ext uri="{BB962C8B-B14F-4D97-AF65-F5344CB8AC3E}">
        <p14:creationId xmlns:p14="http://schemas.microsoft.com/office/powerpoint/2010/main" val="255185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0DC1-DDE1-4347-BDBB-4B2ACA3E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7" y="205979"/>
            <a:ext cx="9067277" cy="857250"/>
          </a:xfrm>
        </p:spPr>
        <p:txBody>
          <a:bodyPr>
            <a:noAutofit/>
          </a:bodyPr>
          <a:lstStyle/>
          <a:p>
            <a:r>
              <a:rPr lang="en-US" sz="2800" dirty="0"/>
              <a:t>Table 5 – The Effect of Institutional Setting on Leverage</a:t>
            </a: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F38937-C519-EF82-CC96-C3A6AF462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6429" y="1184928"/>
            <a:ext cx="7429500" cy="2771775"/>
          </a:xfrm>
        </p:spPr>
      </p:pic>
    </p:spTree>
    <p:extLst>
      <p:ext uri="{BB962C8B-B14F-4D97-AF65-F5344CB8AC3E}">
        <p14:creationId xmlns:p14="http://schemas.microsoft.com/office/powerpoint/2010/main" val="824158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AE64-9E65-7404-0DA6-EA20FA7F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Table 5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C04E8-AC9D-FFEC-9CD5-82C52CAC3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Calibri"/>
                <a:cs typeface="Calibri"/>
              </a:rPr>
              <a:t>An increase in debt costs by 1 S.D. decreases a firm leverage by 30%</a:t>
            </a:r>
          </a:p>
          <a:p>
            <a:r>
              <a:rPr lang="en-US" dirty="0">
                <a:ea typeface="Calibri"/>
                <a:cs typeface="Calibri"/>
              </a:rPr>
              <a:t>No statistically significant effect for equity costs</a:t>
            </a:r>
          </a:p>
          <a:p>
            <a:r>
              <a:rPr lang="en-US" dirty="0">
                <a:ea typeface="Calibri"/>
                <a:cs typeface="Calibri"/>
              </a:rPr>
              <a:t>Other positive effects: creditor rights, </a:t>
            </a:r>
            <a:r>
              <a:rPr lang="en-US" dirty="0" err="1">
                <a:ea typeface="Calibri"/>
                <a:cs typeface="Calibri"/>
              </a:rPr>
              <a:t>ualityof</a:t>
            </a:r>
            <a:r>
              <a:rPr lang="en-US" dirty="0">
                <a:ea typeface="Calibri"/>
                <a:cs typeface="Calibri"/>
              </a:rPr>
              <a:t> government </a:t>
            </a:r>
          </a:p>
          <a:p>
            <a:r>
              <a:rPr lang="en-US" dirty="0">
                <a:ea typeface="Calibri"/>
                <a:cs typeface="Calibri"/>
              </a:rPr>
              <a:t>Other negative effects: shareholder rights, executive quality, stronger law and order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12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B3E3-A2BF-E7C3-A054-67EA4649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C4E4E-EFCF-33E0-033C-D4100F897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There are significant institutional impacts on </a:t>
            </a:r>
            <a:r>
              <a:rPr lang="en-US">
                <a:ea typeface="Calibri"/>
                <a:cs typeface="Calibri"/>
              </a:rPr>
              <a:t>Capital Structure </a:t>
            </a:r>
          </a:p>
          <a:p>
            <a:r>
              <a:rPr lang="en-US">
                <a:ea typeface="Calibri"/>
                <a:cs typeface="Calibri"/>
              </a:rPr>
              <a:t>Firm size, Tangibility, Industry leverage, and inflation are reliable determinants of leverage </a:t>
            </a:r>
          </a:p>
          <a:p>
            <a:r>
              <a:rPr lang="en-US">
                <a:ea typeface="Calibri"/>
                <a:cs typeface="Calibri"/>
              </a:rPr>
              <a:t>Cross-country differences are closely linked to institutional quality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4764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1484</Words>
  <Application>Microsoft Office PowerPoint</Application>
  <PresentationFormat>On-screen Show (16:9)</PresentationFormat>
  <Paragraphs>116</Paragraphs>
  <Slides>19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Capital Structure Decisions around the World: Which Factors Are Reliably Important?</vt:lpstr>
      <vt:lpstr>Research Question</vt:lpstr>
      <vt:lpstr>Prior Literature</vt:lpstr>
      <vt:lpstr>Data Collection</vt:lpstr>
      <vt:lpstr>Models Used</vt:lpstr>
      <vt:lpstr>Table 1 – Reliable Firm, Industry, and Macroeconomic Determinants</vt:lpstr>
      <vt:lpstr>Table 1 Takeaways</vt:lpstr>
      <vt:lpstr>Table 2 – Effects of Institutions on Determinants of Leverage</vt:lpstr>
      <vt:lpstr>Table 2 Takeaways</vt:lpstr>
      <vt:lpstr>Table 3 – Institutional Determinants of Debt and Equity Trading Costs</vt:lpstr>
      <vt:lpstr>Table 3 – Institutional Determinants of Debt and Equity Trading Costs</vt:lpstr>
      <vt:lpstr>Table 3 Takeaways</vt:lpstr>
      <vt:lpstr>Table 4 – Effect of the Institutional Setting on Adjustment Speeds</vt:lpstr>
      <vt:lpstr>Table 4 – Effect of the Institutional Setting on Adjustment Speeds</vt:lpstr>
      <vt:lpstr>Table 4 Takeaways</vt:lpstr>
      <vt:lpstr>Table 5 – The Effect of Institutional Setting on Leverage</vt:lpstr>
      <vt:lpstr>Table 5 – The Effect of Institutional Setting on Leverage</vt:lpstr>
      <vt:lpstr>Table 5 Takeaways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Sharing, Holdup, and External Finance: Evidence from Private Firms</dc:title>
  <dc:creator>Tyler Johnson</dc:creator>
  <cp:lastModifiedBy>Tyler Johnson</cp:lastModifiedBy>
  <cp:revision>799</cp:revision>
  <dcterms:created xsi:type="dcterms:W3CDTF">2020-09-10T18:37:45Z</dcterms:created>
  <dcterms:modified xsi:type="dcterms:W3CDTF">2024-08-27T13:33:34Z</dcterms:modified>
</cp:coreProperties>
</file>