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5"/>
  </p:notesMasterIdLst>
  <p:sldIdLst>
    <p:sldId id="291" r:id="rId2"/>
    <p:sldId id="292" r:id="rId3"/>
    <p:sldId id="322" r:id="rId4"/>
    <p:sldId id="295" r:id="rId5"/>
    <p:sldId id="323" r:id="rId6"/>
    <p:sldId id="324" r:id="rId7"/>
    <p:sldId id="325" r:id="rId8"/>
    <p:sldId id="326" r:id="rId9"/>
    <p:sldId id="327" r:id="rId10"/>
    <p:sldId id="321" r:id="rId11"/>
    <p:sldId id="328" r:id="rId12"/>
    <p:sldId id="329" r:id="rId13"/>
    <p:sldId id="313" r:id="rId14"/>
    <p:sldId id="330" r:id="rId15"/>
    <p:sldId id="331" r:id="rId16"/>
    <p:sldId id="332" r:id="rId17"/>
    <p:sldId id="333" r:id="rId18"/>
    <p:sldId id="334" r:id="rId19"/>
    <p:sldId id="335" r:id="rId20"/>
    <p:sldId id="336" r:id="rId21"/>
    <p:sldId id="337" r:id="rId22"/>
    <p:sldId id="293" r:id="rId23"/>
    <p:sldId id="29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9c24dcb21a99a041" providerId="LiveId" clId="{C8608F2C-E9D2-4EDE-BDDA-31BB610DC32F}"/>
    <pc:docChg chg="undo custSel addSld modSld sldOrd">
      <pc:chgData name="Yan Li" userId="9c24dcb21a99a041" providerId="LiveId" clId="{C8608F2C-E9D2-4EDE-BDDA-31BB610DC32F}" dt="2024-08-21T16:28:40.236" v="950" actId="20577"/>
      <pc:docMkLst>
        <pc:docMk/>
      </pc:docMkLst>
      <pc:sldChg chg="modSp mod">
        <pc:chgData name="Yan Li" userId="9c24dcb21a99a041" providerId="LiveId" clId="{C8608F2C-E9D2-4EDE-BDDA-31BB610DC32F}" dt="2024-08-21T13:01:09.270" v="105" actId="20577"/>
        <pc:sldMkLst>
          <pc:docMk/>
          <pc:sldMk cId="811220229" sldId="291"/>
        </pc:sldMkLst>
        <pc:spChg chg="mod">
          <ac:chgData name="Yan Li" userId="9c24dcb21a99a041" providerId="LiveId" clId="{C8608F2C-E9D2-4EDE-BDDA-31BB610DC32F}" dt="2024-08-21T12:58:58.020" v="40" actId="20577"/>
          <ac:spMkLst>
            <pc:docMk/>
            <pc:sldMk cId="811220229" sldId="291"/>
            <ac:spMk id="2" creationId="{A0B2FD85-87AA-4580-1FB4-0EBB0A967AA9}"/>
          </ac:spMkLst>
        </pc:spChg>
        <pc:spChg chg="mod">
          <ac:chgData name="Yan Li" userId="9c24dcb21a99a041" providerId="LiveId" clId="{C8608F2C-E9D2-4EDE-BDDA-31BB610DC32F}" dt="2024-08-21T13:01:09.270" v="105" actId="20577"/>
          <ac:spMkLst>
            <pc:docMk/>
            <pc:sldMk cId="811220229" sldId="291"/>
            <ac:spMk id="3" creationId="{829828C6-6D41-BE5B-CC0A-8492B54C3375}"/>
          </ac:spMkLst>
        </pc:spChg>
      </pc:sldChg>
      <pc:sldChg chg="modSp mod">
        <pc:chgData name="Yan Li" userId="9c24dcb21a99a041" providerId="LiveId" clId="{C8608F2C-E9D2-4EDE-BDDA-31BB610DC32F}" dt="2024-08-21T13:21:35.161" v="108" actId="20577"/>
        <pc:sldMkLst>
          <pc:docMk/>
          <pc:sldMk cId="2783577023" sldId="292"/>
        </pc:sldMkLst>
        <pc:spChg chg="mod">
          <ac:chgData name="Yan Li" userId="9c24dcb21a99a041" providerId="LiveId" clId="{C8608F2C-E9D2-4EDE-BDDA-31BB610DC32F}" dt="2024-08-21T13:21:35.161" v="108" actId="20577"/>
          <ac:spMkLst>
            <pc:docMk/>
            <pc:sldMk cId="2783577023" sldId="292"/>
            <ac:spMk id="3" creationId="{829828C6-6D41-BE5B-CC0A-8492B54C3375}"/>
          </ac:spMkLst>
        </pc:spChg>
      </pc:sldChg>
      <pc:sldChg chg="modSp mod">
        <pc:chgData name="Yan Li" userId="9c24dcb21a99a041" providerId="LiveId" clId="{C8608F2C-E9D2-4EDE-BDDA-31BB610DC32F}" dt="2024-08-21T14:27:08.810" v="475" actId="20577"/>
        <pc:sldMkLst>
          <pc:docMk/>
          <pc:sldMk cId="1794454954" sldId="293"/>
        </pc:sldMkLst>
        <pc:spChg chg="mod">
          <ac:chgData name="Yan Li" userId="9c24dcb21a99a041" providerId="LiveId" clId="{C8608F2C-E9D2-4EDE-BDDA-31BB610DC32F}" dt="2024-08-21T14:27:08.810" v="475" actId="20577"/>
          <ac:spMkLst>
            <pc:docMk/>
            <pc:sldMk cId="1794454954" sldId="293"/>
            <ac:spMk id="3" creationId="{829828C6-6D41-BE5B-CC0A-8492B54C3375}"/>
          </ac:spMkLst>
        </pc:spChg>
      </pc:sldChg>
      <pc:sldChg chg="modSp mod">
        <pc:chgData name="Yan Li" userId="9c24dcb21a99a041" providerId="LiveId" clId="{C8608F2C-E9D2-4EDE-BDDA-31BB610DC32F}" dt="2024-08-21T14:02:42.840" v="359"/>
        <pc:sldMkLst>
          <pc:docMk/>
          <pc:sldMk cId="735065743" sldId="294"/>
        </pc:sldMkLst>
        <pc:spChg chg="mod">
          <ac:chgData name="Yan Li" userId="9c24dcb21a99a041" providerId="LiveId" clId="{C8608F2C-E9D2-4EDE-BDDA-31BB610DC32F}" dt="2024-08-21T14:02:42.840" v="359"/>
          <ac:spMkLst>
            <pc:docMk/>
            <pc:sldMk cId="735065743" sldId="294"/>
            <ac:spMk id="3" creationId="{829828C6-6D41-BE5B-CC0A-8492B54C3375}"/>
          </ac:spMkLst>
        </pc:spChg>
      </pc:sldChg>
      <pc:sldChg chg="modSp mod ord">
        <pc:chgData name="Yan Li" userId="9c24dcb21a99a041" providerId="LiveId" clId="{C8608F2C-E9D2-4EDE-BDDA-31BB610DC32F}" dt="2024-08-21T14:50:54.517" v="775" actId="20577"/>
        <pc:sldMkLst>
          <pc:docMk/>
          <pc:sldMk cId="2234308691" sldId="295"/>
        </pc:sldMkLst>
        <pc:spChg chg="mod">
          <ac:chgData name="Yan Li" userId="9c24dcb21a99a041" providerId="LiveId" clId="{C8608F2C-E9D2-4EDE-BDDA-31BB610DC32F}" dt="2024-08-21T14:50:54.517" v="775" actId="20577"/>
          <ac:spMkLst>
            <pc:docMk/>
            <pc:sldMk cId="2234308691" sldId="295"/>
            <ac:spMk id="3" creationId="{829828C6-6D41-BE5B-CC0A-8492B54C3375}"/>
          </ac:spMkLst>
        </pc:spChg>
        <pc:spChg chg="mod">
          <ac:chgData name="Yan Li" userId="9c24dcb21a99a041" providerId="LiveId" clId="{C8608F2C-E9D2-4EDE-BDDA-31BB610DC32F}" dt="2024-08-21T14:30:43.168" v="483" actId="20577"/>
          <ac:spMkLst>
            <pc:docMk/>
            <pc:sldMk cId="2234308691" sldId="295"/>
            <ac:spMk id="5" creationId="{87397B05-2868-01CF-5915-644A9A5CFD2E}"/>
          </ac:spMkLst>
        </pc:spChg>
      </pc:sldChg>
      <pc:sldChg chg="modSp mod">
        <pc:chgData name="Yan Li" userId="9c24dcb21a99a041" providerId="LiveId" clId="{C8608F2C-E9D2-4EDE-BDDA-31BB610DC32F}" dt="2024-08-21T13:22:52.526" v="111" actId="20577"/>
        <pc:sldMkLst>
          <pc:docMk/>
          <pc:sldMk cId="3972272402" sldId="301"/>
        </pc:sldMkLst>
        <pc:spChg chg="mod">
          <ac:chgData name="Yan Li" userId="9c24dcb21a99a041" providerId="LiveId" clId="{C8608F2C-E9D2-4EDE-BDDA-31BB610DC32F}" dt="2024-08-21T13:22:52.526" v="111" actId="20577"/>
          <ac:spMkLst>
            <pc:docMk/>
            <pc:sldMk cId="3972272402" sldId="301"/>
            <ac:spMk id="3" creationId="{829828C6-6D41-BE5B-CC0A-8492B54C3375}"/>
          </ac:spMkLst>
        </pc:spChg>
      </pc:sldChg>
      <pc:sldChg chg="modSp mod">
        <pc:chgData name="Yan Li" userId="9c24dcb21a99a041" providerId="LiveId" clId="{C8608F2C-E9D2-4EDE-BDDA-31BB610DC32F}" dt="2024-08-21T16:28:40.236" v="950" actId="20577"/>
        <pc:sldMkLst>
          <pc:docMk/>
          <pc:sldMk cId="529532224" sldId="321"/>
        </pc:sldMkLst>
        <pc:spChg chg="mod">
          <ac:chgData name="Yan Li" userId="9c24dcb21a99a041" providerId="LiveId" clId="{C8608F2C-E9D2-4EDE-BDDA-31BB610DC32F}" dt="2024-08-21T16:28:40.236" v="950" actId="20577"/>
          <ac:spMkLst>
            <pc:docMk/>
            <pc:sldMk cId="529532224" sldId="321"/>
            <ac:spMk id="3" creationId="{7EB854B3-1F1B-FB76-9906-B1D3C2CCD97F}"/>
          </ac:spMkLst>
        </pc:spChg>
        <pc:spChg chg="mod">
          <ac:chgData name="Yan Li" userId="9c24dcb21a99a041" providerId="LiveId" clId="{C8608F2C-E9D2-4EDE-BDDA-31BB610DC32F}" dt="2024-08-21T16:28:33.818" v="949" actId="20577"/>
          <ac:spMkLst>
            <pc:docMk/>
            <pc:sldMk cId="529532224" sldId="321"/>
            <ac:spMk id="5" creationId="{D74452AC-0C29-24DB-72FD-50E5CEB86705}"/>
          </ac:spMkLst>
        </pc:spChg>
      </pc:sldChg>
      <pc:sldChg chg="modSp new mod">
        <pc:chgData name="Yan Li" userId="9c24dcb21a99a041" providerId="LiveId" clId="{C8608F2C-E9D2-4EDE-BDDA-31BB610DC32F}" dt="2024-08-21T13:30:36.668" v="146" actId="20577"/>
        <pc:sldMkLst>
          <pc:docMk/>
          <pc:sldMk cId="3045702617" sldId="322"/>
        </pc:sldMkLst>
        <pc:spChg chg="mod">
          <ac:chgData name="Yan Li" userId="9c24dcb21a99a041" providerId="LiveId" clId="{C8608F2C-E9D2-4EDE-BDDA-31BB610DC32F}" dt="2024-08-21T13:25:24.556" v="131" actId="122"/>
          <ac:spMkLst>
            <pc:docMk/>
            <pc:sldMk cId="3045702617" sldId="322"/>
            <ac:spMk id="2" creationId="{70A84E57-E6FC-9D48-1B0A-BD2EE265AF33}"/>
          </ac:spMkLst>
        </pc:spChg>
        <pc:spChg chg="mod">
          <ac:chgData name="Yan Li" userId="9c24dcb21a99a041" providerId="LiveId" clId="{C8608F2C-E9D2-4EDE-BDDA-31BB610DC32F}" dt="2024-08-21T13:30:36.668" v="146" actId="20577"/>
          <ac:spMkLst>
            <pc:docMk/>
            <pc:sldMk cId="3045702617" sldId="322"/>
            <ac:spMk id="3" creationId="{02D9FD3A-81FF-38EA-6414-87C225F6BD7F}"/>
          </ac:spMkLst>
        </pc:spChg>
      </pc:sldChg>
      <pc:sldChg chg="modSp new mod">
        <pc:chgData name="Yan Li" userId="9c24dcb21a99a041" providerId="LiveId" clId="{C8608F2C-E9D2-4EDE-BDDA-31BB610DC32F}" dt="2024-08-21T15:24:12.850" v="789" actId="20577"/>
        <pc:sldMkLst>
          <pc:docMk/>
          <pc:sldMk cId="841399283" sldId="323"/>
        </pc:sldMkLst>
        <pc:spChg chg="mod">
          <ac:chgData name="Yan Li" userId="9c24dcb21a99a041" providerId="LiveId" clId="{C8608F2C-E9D2-4EDE-BDDA-31BB610DC32F}" dt="2024-08-21T14:45:59.457" v="770" actId="14100"/>
          <ac:spMkLst>
            <pc:docMk/>
            <pc:sldMk cId="841399283" sldId="323"/>
            <ac:spMk id="2" creationId="{56F4AFF2-5EA3-F40F-97E1-A0E59AD1F4A1}"/>
          </ac:spMkLst>
        </pc:spChg>
        <pc:spChg chg="mod">
          <ac:chgData name="Yan Li" userId="9c24dcb21a99a041" providerId="LiveId" clId="{C8608F2C-E9D2-4EDE-BDDA-31BB610DC32F}" dt="2024-08-21T15:24:12.850" v="789" actId="20577"/>
          <ac:spMkLst>
            <pc:docMk/>
            <pc:sldMk cId="841399283" sldId="323"/>
            <ac:spMk id="3" creationId="{DE8C4961-543B-F7E3-CA4C-B8500F238F7D}"/>
          </ac:spMkLst>
        </pc:spChg>
      </pc:sldChg>
      <pc:sldChg chg="addSp delSp modSp new mod">
        <pc:chgData name="Yan Li" userId="9c24dcb21a99a041" providerId="LiveId" clId="{C8608F2C-E9D2-4EDE-BDDA-31BB610DC32F}" dt="2024-08-21T15:53:11.014" v="820" actId="122"/>
        <pc:sldMkLst>
          <pc:docMk/>
          <pc:sldMk cId="3361871020" sldId="324"/>
        </pc:sldMkLst>
        <pc:spChg chg="mod">
          <ac:chgData name="Yan Li" userId="9c24dcb21a99a041" providerId="LiveId" clId="{C8608F2C-E9D2-4EDE-BDDA-31BB610DC32F}" dt="2024-08-21T15:53:11.014" v="820" actId="122"/>
          <ac:spMkLst>
            <pc:docMk/>
            <pc:sldMk cId="3361871020" sldId="324"/>
            <ac:spMk id="2" creationId="{FEABF5EF-AC60-85BE-B5B3-44FD43214798}"/>
          </ac:spMkLst>
        </pc:spChg>
        <pc:spChg chg="del">
          <ac:chgData name="Yan Li" userId="9c24dcb21a99a041" providerId="LiveId" clId="{C8608F2C-E9D2-4EDE-BDDA-31BB610DC32F}" dt="2024-08-21T15:45:47.136" v="794" actId="22"/>
          <ac:spMkLst>
            <pc:docMk/>
            <pc:sldMk cId="3361871020" sldId="324"/>
            <ac:spMk id="3" creationId="{68A6AAA8-4EF4-F1EA-33F2-13BDC405CDCE}"/>
          </ac:spMkLst>
        </pc:spChg>
        <pc:spChg chg="add del mod">
          <ac:chgData name="Yan Li" userId="9c24dcb21a99a041" providerId="LiveId" clId="{C8608F2C-E9D2-4EDE-BDDA-31BB610DC32F}" dt="2024-08-21T15:51:46.154" v="804" actId="22"/>
          <ac:spMkLst>
            <pc:docMk/>
            <pc:sldMk cId="3361871020" sldId="324"/>
            <ac:spMk id="9" creationId="{16BCBFB1-286F-78FF-FC66-D9D4FDB9745D}"/>
          </ac:spMkLst>
        </pc:spChg>
        <pc:picChg chg="add del mod ord">
          <ac:chgData name="Yan Li" userId="9c24dcb21a99a041" providerId="LiveId" clId="{C8608F2C-E9D2-4EDE-BDDA-31BB610DC32F}" dt="2024-08-21T15:50:43.060" v="797" actId="478"/>
          <ac:picMkLst>
            <pc:docMk/>
            <pc:sldMk cId="3361871020" sldId="324"/>
            <ac:picMk id="5" creationId="{F3D77842-F20D-B083-F720-8C9F85CE7FCE}"/>
          </ac:picMkLst>
        </pc:picChg>
        <pc:picChg chg="add mod">
          <ac:chgData name="Yan Li" userId="9c24dcb21a99a041" providerId="LiveId" clId="{C8608F2C-E9D2-4EDE-BDDA-31BB610DC32F}" dt="2024-08-21T15:52:24.278" v="813" actId="1076"/>
          <ac:picMkLst>
            <pc:docMk/>
            <pc:sldMk cId="3361871020" sldId="324"/>
            <ac:picMk id="7" creationId="{9ADFA846-89A4-E949-F755-0EE74126F710}"/>
          </ac:picMkLst>
        </pc:picChg>
        <pc:picChg chg="add mod ord">
          <ac:chgData name="Yan Li" userId="9c24dcb21a99a041" providerId="LiveId" clId="{C8608F2C-E9D2-4EDE-BDDA-31BB610DC32F}" dt="2024-08-21T15:52:26.274" v="814" actId="1076"/>
          <ac:picMkLst>
            <pc:docMk/>
            <pc:sldMk cId="3361871020" sldId="324"/>
            <ac:picMk id="11" creationId="{8F5EB89A-45E3-70F5-536A-36DEDFC4E44F}"/>
          </ac:picMkLst>
        </pc:picChg>
      </pc:sldChg>
      <pc:sldChg chg="modSp new mod">
        <pc:chgData name="Yan Li" userId="9c24dcb21a99a041" providerId="LiveId" clId="{C8608F2C-E9D2-4EDE-BDDA-31BB610DC32F}" dt="2024-08-21T15:58:34.885" v="864" actId="20577"/>
        <pc:sldMkLst>
          <pc:docMk/>
          <pc:sldMk cId="2595511317" sldId="325"/>
        </pc:sldMkLst>
        <pc:spChg chg="mod">
          <ac:chgData name="Yan Li" userId="9c24dcb21a99a041" providerId="LiveId" clId="{C8608F2C-E9D2-4EDE-BDDA-31BB610DC32F}" dt="2024-08-21T15:58:34.885" v="864" actId="20577"/>
          <ac:spMkLst>
            <pc:docMk/>
            <pc:sldMk cId="2595511317" sldId="325"/>
            <ac:spMk id="2" creationId="{0B54F77B-4BD6-FFEB-4115-CD7150F0A8BF}"/>
          </ac:spMkLst>
        </pc:spChg>
        <pc:spChg chg="mod">
          <ac:chgData name="Yan Li" userId="9c24dcb21a99a041" providerId="LiveId" clId="{C8608F2C-E9D2-4EDE-BDDA-31BB610DC32F}" dt="2024-08-21T15:57:11.373" v="862"/>
          <ac:spMkLst>
            <pc:docMk/>
            <pc:sldMk cId="2595511317" sldId="325"/>
            <ac:spMk id="3" creationId="{058C3E0B-2955-E7A9-77FB-EDC3D9D5AAD2}"/>
          </ac:spMkLst>
        </pc:spChg>
      </pc:sldChg>
      <pc:sldChg chg="addSp delSp modSp new mod">
        <pc:chgData name="Yan Li" userId="9c24dcb21a99a041" providerId="LiveId" clId="{C8608F2C-E9D2-4EDE-BDDA-31BB610DC32F}" dt="2024-08-21T16:06:56.323" v="891" actId="20577"/>
        <pc:sldMkLst>
          <pc:docMk/>
          <pc:sldMk cId="231750991" sldId="326"/>
        </pc:sldMkLst>
        <pc:spChg chg="mod">
          <ac:chgData name="Yan Li" userId="9c24dcb21a99a041" providerId="LiveId" clId="{C8608F2C-E9D2-4EDE-BDDA-31BB610DC32F}" dt="2024-08-21T16:00:32.482" v="873" actId="14100"/>
          <ac:spMkLst>
            <pc:docMk/>
            <pc:sldMk cId="231750991" sldId="326"/>
            <ac:spMk id="2" creationId="{2DF13F5E-E7B3-564A-159D-4E032AF8B245}"/>
          </ac:spMkLst>
        </pc:spChg>
        <pc:spChg chg="del">
          <ac:chgData name="Yan Li" userId="9c24dcb21a99a041" providerId="LiveId" clId="{C8608F2C-E9D2-4EDE-BDDA-31BB610DC32F}" dt="2024-08-21T15:59:18.106" v="868" actId="22"/>
          <ac:spMkLst>
            <pc:docMk/>
            <pc:sldMk cId="231750991" sldId="326"/>
            <ac:spMk id="3" creationId="{2E57891D-A0DF-414F-1099-B8E88FE7FCBD}"/>
          </ac:spMkLst>
        </pc:spChg>
        <pc:spChg chg="add mod">
          <ac:chgData name="Yan Li" userId="9c24dcb21a99a041" providerId="LiveId" clId="{C8608F2C-E9D2-4EDE-BDDA-31BB610DC32F}" dt="2024-08-21T16:06:56.323" v="891" actId="20577"/>
          <ac:spMkLst>
            <pc:docMk/>
            <pc:sldMk cId="231750991" sldId="326"/>
            <ac:spMk id="8" creationId="{0DA2A691-964E-EAFD-CAA6-D27D840C580F}"/>
          </ac:spMkLst>
        </pc:spChg>
        <pc:picChg chg="add mod ord">
          <ac:chgData name="Yan Li" userId="9c24dcb21a99a041" providerId="LiveId" clId="{C8608F2C-E9D2-4EDE-BDDA-31BB610DC32F}" dt="2024-08-21T16:00:52.162" v="879" actId="14100"/>
          <ac:picMkLst>
            <pc:docMk/>
            <pc:sldMk cId="231750991" sldId="326"/>
            <ac:picMk id="5" creationId="{AEFA9F0E-059A-29E9-321E-5F5CF2E5E6CD}"/>
          </ac:picMkLst>
        </pc:picChg>
        <pc:picChg chg="add mod">
          <ac:chgData name="Yan Li" userId="9c24dcb21a99a041" providerId="LiveId" clId="{C8608F2C-E9D2-4EDE-BDDA-31BB610DC32F}" dt="2024-08-21T16:01:00.122" v="881" actId="1076"/>
          <ac:picMkLst>
            <pc:docMk/>
            <pc:sldMk cId="231750991" sldId="326"/>
            <ac:picMk id="7" creationId="{FB20B14B-7E38-3A95-10B2-1806A493FE27}"/>
          </ac:picMkLst>
        </pc:picChg>
      </pc:sldChg>
      <pc:sldChg chg="addSp delSp modSp new mod">
        <pc:chgData name="Yan Li" userId="9c24dcb21a99a041" providerId="LiveId" clId="{C8608F2C-E9D2-4EDE-BDDA-31BB610DC32F}" dt="2024-08-21T16:09:05.631" v="907" actId="1076"/>
        <pc:sldMkLst>
          <pc:docMk/>
          <pc:sldMk cId="200308664" sldId="327"/>
        </pc:sldMkLst>
        <pc:spChg chg="mod">
          <ac:chgData name="Yan Li" userId="9c24dcb21a99a041" providerId="LiveId" clId="{C8608F2C-E9D2-4EDE-BDDA-31BB610DC32F}" dt="2024-08-21T16:08:59.247" v="906" actId="14100"/>
          <ac:spMkLst>
            <pc:docMk/>
            <pc:sldMk cId="200308664" sldId="327"/>
            <ac:spMk id="2" creationId="{363AD414-C45D-7EDF-C3B5-63A0648723D8}"/>
          </ac:spMkLst>
        </pc:spChg>
        <pc:spChg chg="del">
          <ac:chgData name="Yan Li" userId="9c24dcb21a99a041" providerId="LiveId" clId="{C8608F2C-E9D2-4EDE-BDDA-31BB610DC32F}" dt="2024-08-21T16:07:43.897" v="893" actId="22"/>
          <ac:spMkLst>
            <pc:docMk/>
            <pc:sldMk cId="200308664" sldId="327"/>
            <ac:spMk id="3" creationId="{CBB2B884-EECA-9414-2B71-CA697A57E549}"/>
          </ac:spMkLst>
        </pc:spChg>
        <pc:spChg chg="add mod">
          <ac:chgData name="Yan Li" userId="9c24dcb21a99a041" providerId="LiveId" clId="{C8608F2C-E9D2-4EDE-BDDA-31BB610DC32F}" dt="2024-08-21T16:08:37.841" v="902" actId="255"/>
          <ac:spMkLst>
            <pc:docMk/>
            <pc:sldMk cId="200308664" sldId="327"/>
            <ac:spMk id="7" creationId="{EDD08F45-A4DC-CDD7-63A6-D3374122CABB}"/>
          </ac:spMkLst>
        </pc:spChg>
        <pc:picChg chg="add mod ord">
          <ac:chgData name="Yan Li" userId="9c24dcb21a99a041" providerId="LiveId" clId="{C8608F2C-E9D2-4EDE-BDDA-31BB610DC32F}" dt="2024-08-21T16:09:05.631" v="907" actId="1076"/>
          <ac:picMkLst>
            <pc:docMk/>
            <pc:sldMk cId="200308664" sldId="327"/>
            <ac:picMk id="5" creationId="{02580D28-581C-FB62-1327-9AC81FA1F12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8/26/2024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080654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642620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299606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776265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8/26/2024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003329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8/26/2024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8473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8/26/2024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01108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779381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764881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87403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613082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942967-BC0A-4551-A92E-9B26D7D102E7}" type="datetimeFigureOut">
              <a:rPr lang="en-US" smtClean="0"/>
              <a:t>8/26/2024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3495996317"/>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1219201" y="431112"/>
            <a:ext cx="9997440" cy="1582578"/>
          </a:xfrm>
        </p:spPr>
        <p:txBody>
          <a:bodyPr anchor="b">
            <a:normAutofit/>
          </a:bodyPr>
          <a:lstStyle/>
          <a:p>
            <a:pPr algn="l"/>
            <a:r>
              <a:rPr lang="en-US" sz="5200" b="1" dirty="0">
                <a:latin typeface="Open Sans" panose="020B0606030504020204" pitchFamily="34" charset="0"/>
              </a:rPr>
              <a:t>Tax Rates and Corporate Decision Making</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464733" y="2269437"/>
            <a:ext cx="7840134" cy="3208867"/>
          </a:xfrm>
        </p:spPr>
        <p:txBody>
          <a:bodyPr>
            <a:normAutofit/>
          </a:bodyPr>
          <a:lstStyle/>
          <a:p>
            <a:pPr algn="l"/>
            <a:r>
              <a:rPr lang="en-US" dirty="0"/>
              <a:t>John R. Graham (Duke University)</a:t>
            </a:r>
          </a:p>
          <a:p>
            <a:pPr algn="l"/>
            <a:r>
              <a:rPr lang="en-US" dirty="0"/>
              <a:t>Michelle Hanlon (Massachusetts Institute of Technology)</a:t>
            </a:r>
          </a:p>
          <a:p>
            <a:pPr algn="l"/>
            <a:r>
              <a:rPr lang="en-US" dirty="0"/>
              <a:t>Terry Shevlin (University of California)</a:t>
            </a:r>
          </a:p>
          <a:p>
            <a:pPr algn="l"/>
            <a:r>
              <a:rPr lang="en-US" dirty="0" err="1"/>
              <a:t>Nemit</a:t>
            </a:r>
            <a:r>
              <a:rPr lang="en-US" dirty="0"/>
              <a:t> Shroff (Massachusetts Institute of Technology) </a:t>
            </a:r>
          </a:p>
          <a:p>
            <a:pPr algn="l"/>
            <a:r>
              <a:rPr lang="en-US" dirty="0"/>
              <a:t>Review of Financial Studies</a:t>
            </a:r>
          </a:p>
          <a:p>
            <a:pPr algn="l"/>
            <a:r>
              <a:rPr lang="en-US" dirty="0"/>
              <a:t>January 2017</a:t>
            </a:r>
          </a:p>
          <a:p>
            <a:pPr algn="l"/>
            <a:r>
              <a:rPr lang="en-US" u="sng" dirty="0">
                <a:solidFill>
                  <a:srgbClr val="0070C0"/>
                </a:solidFill>
              </a:rPr>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632857" y="2164702"/>
            <a:ext cx="9815804" cy="2814003"/>
          </a:xfrm>
        </p:spPr>
        <p:txBody>
          <a:bodyPr>
            <a:normAutofit/>
          </a:bodyPr>
          <a:lstStyle/>
          <a:p>
            <a:pPr algn="l"/>
            <a:r>
              <a:rPr lang="en-US" sz="2800" dirty="0"/>
              <a:t>What tax rate managers actually use in decision-making settings and whether behavioral factors contribute to some of the puzzles documented in prior research (e.g., the underleverage puzzle in Graham (2000))?</a:t>
            </a:r>
            <a:endParaRPr lang="en-US" sz="3600" dirty="0">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latin typeface="Arial" panose="020B0604020202020204" pitchFamily="34" charset="0"/>
                <a:cs typeface="Arial" panose="020B0604020202020204" pitchFamily="34" charset="0"/>
              </a:rPr>
              <a:t>Research Question</a:t>
            </a:r>
            <a:r>
              <a:rPr lang="en-US" sz="3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84E57-E6FC-9D48-1B0A-BD2EE265AF33}"/>
              </a:ext>
            </a:extLst>
          </p:cNvPr>
          <p:cNvSpPr>
            <a:spLocks noGrp="1"/>
          </p:cNvSpPr>
          <p:nvPr>
            <p:ph type="title"/>
          </p:nvPr>
        </p:nvSpPr>
        <p:spPr/>
        <p:txBody>
          <a:bodyPr/>
          <a:lstStyle/>
          <a:p>
            <a:pPr algn="ctr"/>
            <a:r>
              <a:rPr lang="en-US" sz="3600" b="1" dirty="0">
                <a:latin typeface="Arial" panose="020B0604020202020204" pitchFamily="34" charset="0"/>
                <a:cs typeface="Arial" panose="020B0604020202020204" pitchFamily="34" charset="0"/>
              </a:rPr>
              <a:t>Prior Literature</a:t>
            </a:r>
          </a:p>
        </p:txBody>
      </p:sp>
      <p:sp>
        <p:nvSpPr>
          <p:cNvPr id="3" name="Content Placeholder 2">
            <a:extLst>
              <a:ext uri="{FF2B5EF4-FFF2-40B4-BE49-F238E27FC236}">
                <a16:creationId xmlns:a16="http://schemas.microsoft.com/office/drawing/2014/main" id="{02D9FD3A-81FF-38EA-6414-87C225F6BD7F}"/>
              </a:ext>
            </a:extLst>
          </p:cNvPr>
          <p:cNvSpPr>
            <a:spLocks noGrp="1"/>
          </p:cNvSpPr>
          <p:nvPr>
            <p:ph idx="1"/>
          </p:nvPr>
        </p:nvSpPr>
        <p:spPr>
          <a:xfrm>
            <a:off x="325315" y="1397977"/>
            <a:ext cx="11632223" cy="5257800"/>
          </a:xfrm>
        </p:spPr>
        <p:txBody>
          <a:bodyPr/>
          <a:lstStyle/>
          <a:p>
            <a:r>
              <a:rPr lang="en-US" dirty="0"/>
              <a:t>The marginal tax rate (MTR), defined as the present value of additional taxes paid on an additional dollar of income earned today (Scholes et al. 2014), is the appropriate rate to use to evaluate incremental corporate decisions (</a:t>
            </a:r>
            <a:r>
              <a:rPr lang="en-US" dirty="0" err="1"/>
              <a:t>MacKie</a:t>
            </a:r>
            <a:r>
              <a:rPr lang="en-US" dirty="0"/>
              <a:t>-Mason 1990; Graham 1996a, b; Brealey, Myers, and Allen 2014; and Scholes et al. 2014).</a:t>
            </a:r>
          </a:p>
          <a:p>
            <a:r>
              <a:rPr lang="en-US" dirty="0"/>
              <a:t> The MTR is correlated with firms’ capital structure decisions (e.g., Graham 1996a; Heider and </a:t>
            </a:r>
            <a:r>
              <a:rPr lang="en-US" dirty="0" err="1"/>
              <a:t>Ljungqvist</a:t>
            </a:r>
            <a:r>
              <a:rPr lang="en-US" dirty="0"/>
              <a:t> 2015). </a:t>
            </a:r>
          </a:p>
          <a:p>
            <a:r>
              <a:rPr lang="en-US" dirty="0"/>
              <a:t>Some firms appear to follow conservative debt policies given their MTRs (e.g., Graham 2000; </a:t>
            </a:r>
            <a:r>
              <a:rPr lang="en-US" dirty="0" err="1"/>
              <a:t>Strebulaev</a:t>
            </a:r>
            <a:r>
              <a:rPr lang="en-US" dirty="0"/>
              <a:t> and Yang 2013), raising the question of whether managers use the appropriate tax input when making corporate decisions</a:t>
            </a:r>
          </a:p>
        </p:txBody>
      </p:sp>
    </p:spTree>
    <p:extLst>
      <p:ext uri="{BB962C8B-B14F-4D97-AF65-F5344CB8AC3E}">
        <p14:creationId xmlns:p14="http://schemas.microsoft.com/office/powerpoint/2010/main" val="3045702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38023" y="948906"/>
            <a:ext cx="11964838" cy="4623758"/>
          </a:xfrm>
        </p:spPr>
        <p:txBody>
          <a:bodyPr>
            <a:normAutofit/>
          </a:bodyPr>
          <a:lstStyle/>
          <a:p>
            <a:pPr marL="571500" indent="-571500" algn="l">
              <a:buFont typeface="Arial" panose="020B0604020202020204" pitchFamily="34" charset="0"/>
              <a:buChar char="•"/>
            </a:pPr>
            <a:r>
              <a:rPr lang="en-US" sz="2800" dirty="0"/>
              <a:t>A survey instrument with 64 questions was sent to 2,806 companies and 744 usable responses were obtained. After filtering firms such those did not file a corporate income tax return, 500 firms remained in sample. </a:t>
            </a:r>
          </a:p>
          <a:p>
            <a:pPr marL="571500" indent="-571500" algn="l">
              <a:buFont typeface="Arial" panose="020B0604020202020204" pitchFamily="34" charset="0"/>
              <a:buChar char="•"/>
            </a:pPr>
            <a:r>
              <a:rPr lang="en-US" sz="2800" dirty="0"/>
              <a:t>Survey participants are corporate tax executives</a:t>
            </a:r>
            <a:endParaRPr lang="en-US" sz="3600" dirty="0">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659657"/>
          </a:xfrm>
        </p:spPr>
        <p:txBody>
          <a:bodyPr>
            <a:normAutofit/>
          </a:bodyPr>
          <a:lstStyle/>
          <a:p>
            <a:r>
              <a:rPr lang="en-US" sz="3600" b="1" dirty="0">
                <a:latin typeface="Arial" panose="020B0604020202020204" pitchFamily="34" charset="0"/>
                <a:cs typeface="Arial" panose="020B0604020202020204" pitchFamily="34" charset="0"/>
              </a:rPr>
              <a:t>Survey methodology and sample</a:t>
            </a:r>
          </a:p>
        </p:txBody>
      </p:sp>
    </p:spTree>
    <p:extLst>
      <p:ext uri="{BB962C8B-B14F-4D97-AF65-F5344CB8AC3E}">
        <p14:creationId xmlns:p14="http://schemas.microsoft.com/office/powerpoint/2010/main" val="2234308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4AFF2-5EA3-F40F-97E1-A0E59AD1F4A1}"/>
              </a:ext>
            </a:extLst>
          </p:cNvPr>
          <p:cNvSpPr>
            <a:spLocks noGrp="1"/>
          </p:cNvSpPr>
          <p:nvPr>
            <p:ph type="title"/>
          </p:nvPr>
        </p:nvSpPr>
        <p:spPr>
          <a:xfrm>
            <a:off x="838200" y="365126"/>
            <a:ext cx="10515600" cy="865798"/>
          </a:xfrm>
        </p:spPr>
        <p:txBody>
          <a:bodyPr/>
          <a:lstStyle/>
          <a:p>
            <a:pPr algn="ctr"/>
            <a:r>
              <a:rPr lang="en-US" sz="3600" b="1" dirty="0">
                <a:latin typeface="Arial" panose="020B0604020202020204" pitchFamily="34" charset="0"/>
                <a:cs typeface="Arial" panose="020B0604020202020204" pitchFamily="34" charset="0"/>
              </a:rPr>
              <a:t>The role of tax executives in organizations </a:t>
            </a:r>
          </a:p>
        </p:txBody>
      </p:sp>
      <p:sp>
        <p:nvSpPr>
          <p:cNvPr id="3" name="Content Placeholder 2">
            <a:extLst>
              <a:ext uri="{FF2B5EF4-FFF2-40B4-BE49-F238E27FC236}">
                <a16:creationId xmlns:a16="http://schemas.microsoft.com/office/drawing/2014/main" id="{DE8C4961-543B-F7E3-CA4C-B8500F238F7D}"/>
              </a:ext>
            </a:extLst>
          </p:cNvPr>
          <p:cNvSpPr>
            <a:spLocks noGrp="1"/>
          </p:cNvSpPr>
          <p:nvPr>
            <p:ph idx="1"/>
          </p:nvPr>
        </p:nvSpPr>
        <p:spPr>
          <a:xfrm>
            <a:off x="404446" y="1318846"/>
            <a:ext cx="11482754" cy="5174028"/>
          </a:xfrm>
        </p:spPr>
        <p:txBody>
          <a:bodyPr/>
          <a:lstStyle/>
          <a:p>
            <a:r>
              <a:rPr lang="en-US" dirty="0"/>
              <a:t>(</a:t>
            </a:r>
            <a:r>
              <a:rPr lang="en-US" dirty="0" err="1"/>
              <a:t>i</a:t>
            </a:r>
            <a:r>
              <a:rPr lang="en-US" dirty="0"/>
              <a:t>) tax planning</a:t>
            </a:r>
          </a:p>
          <a:p>
            <a:r>
              <a:rPr lang="en-US" dirty="0"/>
              <a:t>(ii) tax compliance (including audits)</a:t>
            </a:r>
          </a:p>
          <a:p>
            <a:r>
              <a:rPr lang="en-US" dirty="0"/>
              <a:t>(iii) advising and aiding the C-suite and operational functions of the firm</a:t>
            </a:r>
          </a:p>
          <a:p>
            <a:r>
              <a:rPr lang="en-US" dirty="0"/>
              <a:t>(iv) for the roughly largest 20 to 50 companies, work on tax policy.</a:t>
            </a:r>
          </a:p>
        </p:txBody>
      </p:sp>
    </p:spTree>
    <p:extLst>
      <p:ext uri="{BB962C8B-B14F-4D97-AF65-F5344CB8AC3E}">
        <p14:creationId xmlns:p14="http://schemas.microsoft.com/office/powerpoint/2010/main" val="841399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BF5EF-AC60-85BE-B5B3-44FD43214798}"/>
              </a:ext>
            </a:extLst>
          </p:cNvPr>
          <p:cNvSpPr>
            <a:spLocks noGrp="1"/>
          </p:cNvSpPr>
          <p:nvPr>
            <p:ph type="title"/>
          </p:nvPr>
        </p:nvSpPr>
        <p:spPr>
          <a:xfrm>
            <a:off x="838200" y="365126"/>
            <a:ext cx="10987454" cy="665816"/>
          </a:xfrm>
        </p:spPr>
        <p:txBody>
          <a:bodyPr>
            <a:normAutofit/>
          </a:bodyPr>
          <a:lstStyle/>
          <a:p>
            <a:pPr algn="ctr"/>
            <a:r>
              <a:rPr lang="en-US" sz="2400" b="1" dirty="0">
                <a:latin typeface="Arial" panose="020B0604020202020204" pitchFamily="34" charset="0"/>
                <a:cs typeface="Arial" panose="020B0604020202020204" pitchFamily="34" charset="0"/>
              </a:rPr>
              <a:t>Descriptive statistics and non-response bias tests</a:t>
            </a:r>
          </a:p>
        </p:txBody>
      </p:sp>
      <p:pic>
        <p:nvPicPr>
          <p:cNvPr id="7" name="Picture 6">
            <a:extLst>
              <a:ext uri="{FF2B5EF4-FFF2-40B4-BE49-F238E27FC236}">
                <a16:creationId xmlns:a16="http://schemas.microsoft.com/office/drawing/2014/main" id="{9ADFA846-89A4-E949-F755-0EE74126F710}"/>
              </a:ext>
            </a:extLst>
          </p:cNvPr>
          <p:cNvPicPr>
            <a:picLocks noChangeAspect="1"/>
          </p:cNvPicPr>
          <p:nvPr/>
        </p:nvPicPr>
        <p:blipFill>
          <a:blip r:embed="rId2"/>
          <a:stretch>
            <a:fillRect/>
          </a:stretch>
        </p:blipFill>
        <p:spPr>
          <a:xfrm>
            <a:off x="838201" y="1122658"/>
            <a:ext cx="5939117" cy="2994861"/>
          </a:xfrm>
          <a:prstGeom prst="rect">
            <a:avLst/>
          </a:prstGeom>
        </p:spPr>
      </p:pic>
      <p:pic>
        <p:nvPicPr>
          <p:cNvPr id="11" name="Content Placeholder 10">
            <a:extLst>
              <a:ext uri="{FF2B5EF4-FFF2-40B4-BE49-F238E27FC236}">
                <a16:creationId xmlns:a16="http://schemas.microsoft.com/office/drawing/2014/main" id="{8F5EB89A-45E3-70F5-536A-36DEDFC4E44F}"/>
              </a:ext>
            </a:extLst>
          </p:cNvPr>
          <p:cNvPicPr>
            <a:picLocks noGrp="1" noChangeAspect="1"/>
          </p:cNvPicPr>
          <p:nvPr>
            <p:ph idx="1"/>
          </p:nvPr>
        </p:nvPicPr>
        <p:blipFill>
          <a:blip r:embed="rId3"/>
          <a:stretch>
            <a:fillRect/>
          </a:stretch>
        </p:blipFill>
        <p:spPr>
          <a:xfrm>
            <a:off x="838200" y="4209235"/>
            <a:ext cx="5939118" cy="1909337"/>
          </a:xfrm>
        </p:spPr>
      </p:pic>
      <p:sp>
        <p:nvSpPr>
          <p:cNvPr id="4" name="TextBox 3">
            <a:extLst>
              <a:ext uri="{FF2B5EF4-FFF2-40B4-BE49-F238E27FC236}">
                <a16:creationId xmlns:a16="http://schemas.microsoft.com/office/drawing/2014/main" id="{6D2306C6-E588-C6E9-C879-CABD7981AC34}"/>
              </a:ext>
            </a:extLst>
          </p:cNvPr>
          <p:cNvSpPr txBox="1"/>
          <p:nvPr/>
        </p:nvSpPr>
        <p:spPr>
          <a:xfrm>
            <a:off x="7188199" y="2514600"/>
            <a:ext cx="4487333" cy="1200329"/>
          </a:xfrm>
          <a:prstGeom prst="rect">
            <a:avLst/>
          </a:prstGeom>
          <a:noFill/>
        </p:spPr>
        <p:txBody>
          <a:bodyPr wrap="square">
            <a:spAutoFit/>
          </a:bodyPr>
          <a:lstStyle/>
          <a:p>
            <a:r>
              <a:rPr lang="en-US" dirty="0"/>
              <a:t>Table 1 presents the descriptive statistics of our sample firms for 2006, which was the most recent fiscal year at the time the survey was conducted.</a:t>
            </a:r>
          </a:p>
        </p:txBody>
      </p:sp>
      <p:pic>
        <p:nvPicPr>
          <p:cNvPr id="8" name="Picture 7">
            <a:extLst>
              <a:ext uri="{FF2B5EF4-FFF2-40B4-BE49-F238E27FC236}">
                <a16:creationId xmlns:a16="http://schemas.microsoft.com/office/drawing/2014/main" id="{8598F58D-8B5E-D2D0-379F-AB8B01A94994}"/>
              </a:ext>
            </a:extLst>
          </p:cNvPr>
          <p:cNvPicPr>
            <a:picLocks noChangeAspect="1"/>
          </p:cNvPicPr>
          <p:nvPr/>
        </p:nvPicPr>
        <p:blipFill>
          <a:blip r:embed="rId4"/>
          <a:stretch>
            <a:fillRect/>
          </a:stretch>
        </p:blipFill>
        <p:spPr>
          <a:xfrm>
            <a:off x="1795812" y="2279610"/>
            <a:ext cx="1124307" cy="124923"/>
          </a:xfrm>
          <a:prstGeom prst="rect">
            <a:avLst/>
          </a:prstGeom>
        </p:spPr>
      </p:pic>
      <p:pic>
        <p:nvPicPr>
          <p:cNvPr id="10" name="Picture 9">
            <a:extLst>
              <a:ext uri="{FF2B5EF4-FFF2-40B4-BE49-F238E27FC236}">
                <a16:creationId xmlns:a16="http://schemas.microsoft.com/office/drawing/2014/main" id="{8B5CE0C4-3D35-39C3-910A-55DD1C737529}"/>
              </a:ext>
            </a:extLst>
          </p:cNvPr>
          <p:cNvPicPr>
            <a:picLocks noChangeAspect="1"/>
          </p:cNvPicPr>
          <p:nvPr/>
        </p:nvPicPr>
        <p:blipFill>
          <a:blip r:embed="rId5"/>
          <a:stretch>
            <a:fillRect/>
          </a:stretch>
        </p:blipFill>
        <p:spPr>
          <a:xfrm>
            <a:off x="1312333" y="3978773"/>
            <a:ext cx="1607786" cy="71344"/>
          </a:xfrm>
          <a:prstGeom prst="rect">
            <a:avLst/>
          </a:prstGeom>
        </p:spPr>
      </p:pic>
    </p:spTree>
    <p:extLst>
      <p:ext uri="{BB962C8B-B14F-4D97-AF65-F5344CB8AC3E}">
        <p14:creationId xmlns:p14="http://schemas.microsoft.com/office/powerpoint/2010/main" val="3361871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4F77B-4BD6-FFEB-4115-CD7150F0A8BF}"/>
              </a:ext>
            </a:extLst>
          </p:cNvPr>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How do managers incorporate taxes into their decisions? </a:t>
            </a:r>
            <a:endParaRPr lang="en-US" dirty="0"/>
          </a:p>
        </p:txBody>
      </p:sp>
      <p:sp>
        <p:nvSpPr>
          <p:cNvPr id="3" name="Content Placeholder 2">
            <a:extLst>
              <a:ext uri="{FF2B5EF4-FFF2-40B4-BE49-F238E27FC236}">
                <a16:creationId xmlns:a16="http://schemas.microsoft.com/office/drawing/2014/main" id="{058C3E0B-2955-E7A9-77FB-EDC3D9D5AAD2}"/>
              </a:ext>
            </a:extLst>
          </p:cNvPr>
          <p:cNvSpPr>
            <a:spLocks noGrp="1"/>
          </p:cNvSpPr>
          <p:nvPr>
            <p:ph idx="1"/>
          </p:nvPr>
        </p:nvSpPr>
        <p:spPr/>
        <p:txBody>
          <a:bodyPr/>
          <a:lstStyle/>
          <a:p>
            <a:r>
              <a:rPr lang="en-US" b="1" dirty="0"/>
              <a:t>Survey Options:  </a:t>
            </a:r>
            <a:r>
              <a:rPr lang="en-US" dirty="0"/>
              <a:t>(</a:t>
            </a:r>
            <a:r>
              <a:rPr lang="en-US" dirty="0" err="1"/>
              <a:t>i</a:t>
            </a:r>
            <a:r>
              <a:rPr lang="en-US" dirty="0"/>
              <a:t>) U.S. statutory tax rate, (ii) GAAP effective tax rate, (iii) jurisdiction specific statutory tax rate, (iv) jurisdiction-specific effective tax rate, (v) marginal tax rate, and (vi) other.</a:t>
            </a:r>
          </a:p>
          <a:p>
            <a:endParaRPr lang="en-US" dirty="0"/>
          </a:p>
          <a:p>
            <a:r>
              <a:rPr lang="en-US" b="1" dirty="0"/>
              <a:t>Decision Contexts: </a:t>
            </a:r>
            <a:r>
              <a:rPr lang="en-US" dirty="0"/>
              <a:t>(</a:t>
            </a:r>
            <a:r>
              <a:rPr lang="en-US" dirty="0" err="1"/>
              <a:t>i</a:t>
            </a:r>
            <a:r>
              <a:rPr lang="en-US" dirty="0"/>
              <a:t>) mergers and acquisitions, (ii) capital structure (debt versus equity), (iii) investment decisions (property, equip., etc.), (iv) the decision to purchase versus lease, (v) weighted average cost of capital, (vi) new facility location and, (vii) compensation. </a:t>
            </a:r>
            <a:endParaRPr lang="en-US" b="1" dirty="0"/>
          </a:p>
        </p:txBody>
      </p:sp>
    </p:spTree>
    <p:extLst>
      <p:ext uri="{BB962C8B-B14F-4D97-AF65-F5344CB8AC3E}">
        <p14:creationId xmlns:p14="http://schemas.microsoft.com/office/powerpoint/2010/main" val="2595511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13F5E-E7B3-564A-159D-4E032AF8B245}"/>
              </a:ext>
            </a:extLst>
          </p:cNvPr>
          <p:cNvSpPr>
            <a:spLocks noGrp="1"/>
          </p:cNvSpPr>
          <p:nvPr>
            <p:ph type="title"/>
          </p:nvPr>
        </p:nvSpPr>
        <p:spPr>
          <a:xfrm>
            <a:off x="838200" y="365126"/>
            <a:ext cx="10515600" cy="804252"/>
          </a:xfrm>
        </p:spPr>
        <p:txBody>
          <a:bodyPr>
            <a:normAutofit/>
          </a:bodyPr>
          <a:lstStyle/>
          <a:p>
            <a:r>
              <a:rPr lang="en-US" sz="2800" b="1" dirty="0">
                <a:latin typeface="Arial" panose="020B0604020202020204" pitchFamily="34" charset="0"/>
                <a:cs typeface="Arial" panose="020B0604020202020204" pitchFamily="34" charset="0"/>
              </a:rPr>
              <a:t>How do managers incorporate taxes into their decisions? </a:t>
            </a:r>
            <a:endParaRPr lang="en-US" sz="2800" dirty="0"/>
          </a:p>
        </p:txBody>
      </p:sp>
      <p:pic>
        <p:nvPicPr>
          <p:cNvPr id="5" name="Content Placeholder 4">
            <a:extLst>
              <a:ext uri="{FF2B5EF4-FFF2-40B4-BE49-F238E27FC236}">
                <a16:creationId xmlns:a16="http://schemas.microsoft.com/office/drawing/2014/main" id="{AEFA9F0E-059A-29E9-321E-5F5CF2E5E6CD}"/>
              </a:ext>
            </a:extLst>
          </p:cNvPr>
          <p:cNvPicPr>
            <a:picLocks noGrp="1" noChangeAspect="1"/>
          </p:cNvPicPr>
          <p:nvPr>
            <p:ph idx="1"/>
          </p:nvPr>
        </p:nvPicPr>
        <p:blipFill>
          <a:blip r:embed="rId2"/>
          <a:stretch>
            <a:fillRect/>
          </a:stretch>
        </p:blipFill>
        <p:spPr>
          <a:xfrm>
            <a:off x="723900" y="978118"/>
            <a:ext cx="9431215" cy="2504799"/>
          </a:xfrm>
        </p:spPr>
      </p:pic>
      <p:pic>
        <p:nvPicPr>
          <p:cNvPr id="7" name="Picture 6">
            <a:extLst>
              <a:ext uri="{FF2B5EF4-FFF2-40B4-BE49-F238E27FC236}">
                <a16:creationId xmlns:a16="http://schemas.microsoft.com/office/drawing/2014/main" id="{FB20B14B-7E38-3A95-10B2-1806A493FE27}"/>
              </a:ext>
            </a:extLst>
          </p:cNvPr>
          <p:cNvPicPr>
            <a:picLocks noChangeAspect="1"/>
          </p:cNvPicPr>
          <p:nvPr/>
        </p:nvPicPr>
        <p:blipFill>
          <a:blip r:embed="rId3"/>
          <a:stretch>
            <a:fillRect/>
          </a:stretch>
        </p:blipFill>
        <p:spPr>
          <a:xfrm>
            <a:off x="723900" y="3612653"/>
            <a:ext cx="3822600" cy="3087086"/>
          </a:xfrm>
          <a:prstGeom prst="rect">
            <a:avLst/>
          </a:prstGeom>
        </p:spPr>
      </p:pic>
      <p:sp>
        <p:nvSpPr>
          <p:cNvPr id="8" name="TextBox 7">
            <a:extLst>
              <a:ext uri="{FF2B5EF4-FFF2-40B4-BE49-F238E27FC236}">
                <a16:creationId xmlns:a16="http://schemas.microsoft.com/office/drawing/2014/main" id="{0DA2A691-964E-EAFD-CAA6-D27D840C580F}"/>
              </a:ext>
            </a:extLst>
          </p:cNvPr>
          <p:cNvSpPr txBox="1"/>
          <p:nvPr/>
        </p:nvSpPr>
        <p:spPr>
          <a:xfrm>
            <a:off x="5372100" y="3780692"/>
            <a:ext cx="60960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The most popular tax rate managers claim to incorporate into their decision making is the GAAP ETR and the second most popular is the STR.</a:t>
            </a:r>
          </a:p>
          <a:p>
            <a:pPr marL="285750" indent="-285750">
              <a:buFont typeface="Arial" panose="020B0604020202020204" pitchFamily="34" charset="0"/>
              <a:buChar char="•"/>
            </a:pPr>
            <a:r>
              <a:rPr lang="en-US" dirty="0"/>
              <a:t>Very few firms use the MTR</a:t>
            </a:r>
          </a:p>
          <a:p>
            <a:pPr marL="285750" indent="-285750">
              <a:buFont typeface="Arial" panose="020B0604020202020204" pitchFamily="34" charset="0"/>
              <a:buChar char="•"/>
            </a:pPr>
            <a:r>
              <a:rPr lang="en-US" dirty="0"/>
              <a:t>When making location-specific decisions, most managers indicate that they use jurisdiction-specific rates (statutory and effective) as tax input</a:t>
            </a:r>
          </a:p>
        </p:txBody>
      </p:sp>
    </p:spTree>
    <p:extLst>
      <p:ext uri="{BB962C8B-B14F-4D97-AF65-F5344CB8AC3E}">
        <p14:creationId xmlns:p14="http://schemas.microsoft.com/office/powerpoint/2010/main" val="231750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AD414-C45D-7EDF-C3B5-63A0648723D8}"/>
              </a:ext>
            </a:extLst>
          </p:cNvPr>
          <p:cNvSpPr>
            <a:spLocks noGrp="1"/>
          </p:cNvSpPr>
          <p:nvPr>
            <p:ph type="title"/>
          </p:nvPr>
        </p:nvSpPr>
        <p:spPr>
          <a:xfrm>
            <a:off x="838200" y="365125"/>
            <a:ext cx="10515600" cy="1182321"/>
          </a:xfrm>
        </p:spPr>
        <p:txBody>
          <a:bodyPr>
            <a:normAutofit/>
          </a:bodyPr>
          <a:lstStyle/>
          <a:p>
            <a:r>
              <a:rPr lang="en-US" sz="2800" b="1" dirty="0">
                <a:latin typeface="Arial" panose="020B0604020202020204" pitchFamily="34" charset="0"/>
                <a:cs typeface="Arial" panose="020B0604020202020204" pitchFamily="34" charset="0"/>
              </a:rPr>
              <a:t>How do managers incorporate taxes into their decisions?</a:t>
            </a:r>
            <a:endParaRPr lang="en-US" sz="2800" dirty="0"/>
          </a:p>
        </p:txBody>
      </p:sp>
      <p:pic>
        <p:nvPicPr>
          <p:cNvPr id="5" name="Content Placeholder 4">
            <a:extLst>
              <a:ext uri="{FF2B5EF4-FFF2-40B4-BE49-F238E27FC236}">
                <a16:creationId xmlns:a16="http://schemas.microsoft.com/office/drawing/2014/main" id="{02580D28-581C-FB62-1327-9AC81FA1F12D}"/>
              </a:ext>
            </a:extLst>
          </p:cNvPr>
          <p:cNvPicPr>
            <a:picLocks noGrp="1" noChangeAspect="1"/>
          </p:cNvPicPr>
          <p:nvPr>
            <p:ph idx="1"/>
          </p:nvPr>
        </p:nvPicPr>
        <p:blipFill>
          <a:blip r:embed="rId2"/>
          <a:stretch>
            <a:fillRect/>
          </a:stretch>
        </p:blipFill>
        <p:spPr>
          <a:xfrm>
            <a:off x="838200" y="1799908"/>
            <a:ext cx="8049748" cy="2800741"/>
          </a:xfrm>
        </p:spPr>
      </p:pic>
      <p:sp>
        <p:nvSpPr>
          <p:cNvPr id="7" name="TextBox 6">
            <a:extLst>
              <a:ext uri="{FF2B5EF4-FFF2-40B4-BE49-F238E27FC236}">
                <a16:creationId xmlns:a16="http://schemas.microsoft.com/office/drawing/2014/main" id="{EDD08F45-A4DC-CDD7-63A6-D3374122CABB}"/>
              </a:ext>
            </a:extLst>
          </p:cNvPr>
          <p:cNvSpPr txBox="1"/>
          <p:nvPr/>
        </p:nvSpPr>
        <p:spPr>
          <a:xfrm>
            <a:off x="838200" y="5058092"/>
            <a:ext cx="9618785" cy="1569660"/>
          </a:xfrm>
          <a:prstGeom prst="rect">
            <a:avLst/>
          </a:prstGeom>
          <a:noFill/>
        </p:spPr>
        <p:txBody>
          <a:bodyPr wrap="square">
            <a:spAutoFit/>
          </a:bodyPr>
          <a:lstStyle/>
          <a:p>
            <a:r>
              <a:rPr lang="en-US" sz="2400" dirty="0"/>
              <a:t>Tax rate choices are highly correlated across different decision contexts (ranging from 0.66 to 0.93). Given the high correlations, for the remainder of our analyses, we focus on firms’ capital structure and investment decisions for brevity and because these are important decisions. </a:t>
            </a:r>
          </a:p>
        </p:txBody>
      </p:sp>
    </p:spTree>
    <p:extLst>
      <p:ext uri="{BB962C8B-B14F-4D97-AF65-F5344CB8AC3E}">
        <p14:creationId xmlns:p14="http://schemas.microsoft.com/office/powerpoint/2010/main" val="200308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83523-41CB-5B54-D7A8-14B2D53BD11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EB854B3-1F1B-FB76-9906-B1D3C2CCD97F}"/>
              </a:ext>
            </a:extLst>
          </p:cNvPr>
          <p:cNvSpPr>
            <a:spLocks noGrp="1"/>
          </p:cNvSpPr>
          <p:nvPr>
            <p:ph type="subTitle" idx="1"/>
          </p:nvPr>
        </p:nvSpPr>
        <p:spPr>
          <a:xfrm>
            <a:off x="138023" y="948906"/>
            <a:ext cx="11964838" cy="4623758"/>
          </a:xfrm>
        </p:spPr>
        <p:txBody>
          <a:bodyPr>
            <a:normAutofit/>
          </a:bodyPr>
          <a:lstStyle/>
          <a:p>
            <a:pPr marL="571500" indent="-571500" algn="l">
              <a:buFont typeface="Arial" panose="020B0604020202020204" pitchFamily="34" charset="0"/>
              <a:buChar char="•"/>
            </a:pPr>
            <a:endParaRPr lang="en-US" sz="2000" dirty="0"/>
          </a:p>
        </p:txBody>
      </p:sp>
      <p:pic>
        <p:nvPicPr>
          <p:cNvPr id="20" name="Picture 19">
            <a:extLst>
              <a:ext uri="{FF2B5EF4-FFF2-40B4-BE49-F238E27FC236}">
                <a16:creationId xmlns:a16="http://schemas.microsoft.com/office/drawing/2014/main" id="{BD260072-49B3-74C3-E492-540937FE8158}"/>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D74452AC-0C29-24DB-72FD-50E5CEB86705}"/>
              </a:ext>
            </a:extLst>
          </p:cNvPr>
          <p:cNvSpPr>
            <a:spLocks noGrp="1"/>
          </p:cNvSpPr>
          <p:nvPr>
            <p:ph type="ctrTitle"/>
          </p:nvPr>
        </p:nvSpPr>
        <p:spPr>
          <a:xfrm>
            <a:off x="1524000" y="289249"/>
            <a:ext cx="9144000" cy="659657"/>
          </a:xfrm>
        </p:spPr>
        <p:txBody>
          <a:bodyPr>
            <a:normAutofit fontScale="90000"/>
          </a:bodyPr>
          <a:lstStyle/>
          <a:p>
            <a:r>
              <a:rPr lang="en-US" sz="3600" b="1" dirty="0">
                <a:latin typeface="Arial" panose="020B0604020202020204" pitchFamily="34" charset="0"/>
                <a:cs typeface="Arial" panose="020B0604020202020204" pitchFamily="34" charset="0"/>
              </a:rPr>
              <a:t>Firm characteristics and the tax rate choice</a:t>
            </a:r>
          </a:p>
        </p:txBody>
      </p:sp>
      <p:pic>
        <p:nvPicPr>
          <p:cNvPr id="4" name="Picture 3">
            <a:extLst>
              <a:ext uri="{FF2B5EF4-FFF2-40B4-BE49-F238E27FC236}">
                <a16:creationId xmlns:a16="http://schemas.microsoft.com/office/drawing/2014/main" id="{AE9C34C6-523B-5514-E728-5EB89C405BF4}"/>
              </a:ext>
            </a:extLst>
          </p:cNvPr>
          <p:cNvPicPr>
            <a:picLocks noChangeAspect="1"/>
          </p:cNvPicPr>
          <p:nvPr/>
        </p:nvPicPr>
        <p:blipFill>
          <a:blip r:embed="rId3"/>
          <a:stretch>
            <a:fillRect/>
          </a:stretch>
        </p:blipFill>
        <p:spPr>
          <a:xfrm>
            <a:off x="247089" y="998282"/>
            <a:ext cx="8040222" cy="4525006"/>
          </a:xfrm>
          <a:prstGeom prst="rect">
            <a:avLst/>
          </a:prstGeom>
        </p:spPr>
      </p:pic>
      <p:sp>
        <p:nvSpPr>
          <p:cNvPr id="6" name="TextBox 5">
            <a:extLst>
              <a:ext uri="{FF2B5EF4-FFF2-40B4-BE49-F238E27FC236}">
                <a16:creationId xmlns:a16="http://schemas.microsoft.com/office/drawing/2014/main" id="{0606AC60-2450-DCF8-67B4-A9DE4C165076}"/>
              </a:ext>
            </a:extLst>
          </p:cNvPr>
          <p:cNvSpPr txBox="1"/>
          <p:nvPr/>
        </p:nvSpPr>
        <p:spPr>
          <a:xfrm>
            <a:off x="8703734" y="1413932"/>
            <a:ext cx="3107266" cy="3693319"/>
          </a:xfrm>
          <a:prstGeom prst="rect">
            <a:avLst/>
          </a:prstGeom>
          <a:noFill/>
        </p:spPr>
        <p:txBody>
          <a:bodyPr wrap="square" rtlCol="0">
            <a:spAutoFit/>
          </a:bodyPr>
          <a:lstStyle/>
          <a:p>
            <a:r>
              <a:rPr lang="en-US" dirty="0"/>
              <a:t>Public firms are 9.6 percentage points more likely to use the ETR (relative to the STR/MTR) for decision-making. </a:t>
            </a:r>
          </a:p>
          <a:p>
            <a:endParaRPr lang="en-US" dirty="0"/>
          </a:p>
          <a:p>
            <a:r>
              <a:rPr lang="en-US" dirty="0"/>
              <a:t>In contrast, private firms are 12 percentage points more likely to use the STR (relative to the ETR/MTR).</a:t>
            </a:r>
          </a:p>
          <a:p>
            <a:endParaRPr lang="en-US" dirty="0"/>
          </a:p>
          <a:p>
            <a:r>
              <a:rPr lang="en-US" dirty="0"/>
              <a:t>It is consistent with tax rate salience affecting managers’ tax rate choices</a:t>
            </a:r>
          </a:p>
        </p:txBody>
      </p:sp>
    </p:spTree>
    <p:extLst>
      <p:ext uri="{BB962C8B-B14F-4D97-AF65-F5344CB8AC3E}">
        <p14:creationId xmlns:p14="http://schemas.microsoft.com/office/powerpoint/2010/main" val="529532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96AA3-DE2D-4EEA-3610-1B0902BF02C4}"/>
              </a:ext>
            </a:extLst>
          </p:cNvPr>
          <p:cNvSpPr>
            <a:spLocks noGrp="1"/>
          </p:cNvSpPr>
          <p:nvPr>
            <p:ph type="title"/>
          </p:nvPr>
        </p:nvSpPr>
        <p:spPr>
          <a:xfrm>
            <a:off x="838200" y="365126"/>
            <a:ext cx="10515600" cy="693208"/>
          </a:xfrm>
        </p:spPr>
        <p:txBody>
          <a:bodyPr>
            <a:normAutofit/>
          </a:bodyPr>
          <a:lstStyle/>
          <a:p>
            <a:r>
              <a:rPr lang="en-US" sz="3200" b="1" dirty="0">
                <a:latin typeface="Arial" panose="020B0604020202020204" pitchFamily="34" charset="0"/>
                <a:cs typeface="Arial" panose="020B0604020202020204" pitchFamily="34" charset="0"/>
              </a:rPr>
              <a:t>Firm characteristics and the tax rate choice</a:t>
            </a:r>
            <a:endParaRPr lang="en-US" sz="3200" dirty="0"/>
          </a:p>
        </p:txBody>
      </p:sp>
      <p:sp>
        <p:nvSpPr>
          <p:cNvPr id="7" name="TextBox 6">
            <a:extLst>
              <a:ext uri="{FF2B5EF4-FFF2-40B4-BE49-F238E27FC236}">
                <a16:creationId xmlns:a16="http://schemas.microsoft.com/office/drawing/2014/main" id="{4336F895-4454-3CD4-1EFC-4FC9D819A5DC}"/>
              </a:ext>
            </a:extLst>
          </p:cNvPr>
          <p:cNvSpPr txBox="1"/>
          <p:nvPr/>
        </p:nvSpPr>
        <p:spPr>
          <a:xfrm>
            <a:off x="5528733" y="905933"/>
            <a:ext cx="6426200" cy="5632311"/>
          </a:xfrm>
          <a:prstGeom prst="rect">
            <a:avLst/>
          </a:prstGeom>
          <a:noFill/>
        </p:spPr>
        <p:txBody>
          <a:bodyPr wrap="square">
            <a:spAutoFit/>
          </a:bodyPr>
          <a:lstStyle/>
          <a:p>
            <a:pPr marL="285750" indent="-285750">
              <a:buFont typeface="Arial" panose="020B0604020202020204" pitchFamily="34" charset="0"/>
              <a:buChar char="•"/>
            </a:pPr>
            <a:r>
              <a:rPr lang="en-US" dirty="0"/>
              <a:t>Larger firms are more likely to use the STR or MTR for decision-making while smaller firms are more likely to use the ETR (consistent with panel A).</a:t>
            </a:r>
          </a:p>
          <a:p>
            <a:endParaRPr lang="en-US" dirty="0"/>
          </a:p>
          <a:p>
            <a:pPr marL="285750" indent="-285750">
              <a:buFont typeface="Arial" panose="020B0604020202020204" pitchFamily="34" charset="0"/>
              <a:buChar char="•"/>
            </a:pPr>
            <a:r>
              <a:rPr lang="en-US" dirty="0"/>
              <a:t>R&amp;D-intensive firms are more likely to use the MTR and less likely to use the ETR for decision-making. </a:t>
            </a:r>
          </a:p>
          <a:p>
            <a:endParaRPr lang="en-US" dirty="0"/>
          </a:p>
          <a:p>
            <a:pPr marL="285750" indent="-285750">
              <a:buFont typeface="Arial" panose="020B0604020202020204" pitchFamily="34" charset="0"/>
              <a:buChar char="•"/>
            </a:pPr>
            <a:r>
              <a:rPr lang="en-US" dirty="0"/>
              <a:t>firms with larger analyst following are more likely to use the ETR and less likely to use the STR and MTR for decision-making</a:t>
            </a:r>
          </a:p>
          <a:p>
            <a:endParaRPr lang="en-US" dirty="0"/>
          </a:p>
          <a:p>
            <a:pPr marL="285750" indent="-285750">
              <a:buFont typeface="Arial" panose="020B0604020202020204" pitchFamily="34" charset="0"/>
              <a:buChar char="•"/>
            </a:pPr>
            <a:r>
              <a:rPr lang="en-US" dirty="0"/>
              <a:t>firms with high institutional ownership and firms operating in environments with greater product market competition are more likely to use the MTR and less likely to use the ETR for decision-making, respectively</a:t>
            </a:r>
          </a:p>
          <a:p>
            <a:endParaRPr lang="en-US" dirty="0"/>
          </a:p>
          <a:p>
            <a:pPr marL="285750" indent="-285750">
              <a:buFont typeface="Arial" panose="020B0604020202020204" pitchFamily="34" charset="0"/>
              <a:buChar char="•"/>
            </a:pPr>
            <a:r>
              <a:rPr lang="en-US" dirty="0"/>
              <a:t>firms are less likely to use the STR for decision-making when the difference between the MTR and STR is larger: a ten percentage point increase in the difference between the MTR and STR reduces the likelihood of using the STR by 2.6 percentage points</a:t>
            </a:r>
          </a:p>
          <a:p>
            <a:endParaRPr lang="en-US" dirty="0"/>
          </a:p>
        </p:txBody>
      </p:sp>
      <p:pic>
        <p:nvPicPr>
          <p:cNvPr id="9" name="Picture 8">
            <a:extLst>
              <a:ext uri="{FF2B5EF4-FFF2-40B4-BE49-F238E27FC236}">
                <a16:creationId xmlns:a16="http://schemas.microsoft.com/office/drawing/2014/main" id="{460EA216-E295-7632-C81F-0975038702CE}"/>
              </a:ext>
            </a:extLst>
          </p:cNvPr>
          <p:cNvPicPr>
            <a:picLocks noChangeAspect="1"/>
          </p:cNvPicPr>
          <p:nvPr/>
        </p:nvPicPr>
        <p:blipFill>
          <a:blip r:embed="rId2"/>
          <a:stretch>
            <a:fillRect/>
          </a:stretch>
        </p:blipFill>
        <p:spPr>
          <a:xfrm>
            <a:off x="520803" y="1253331"/>
            <a:ext cx="4914797" cy="4588669"/>
          </a:xfrm>
          <a:prstGeom prst="rect">
            <a:avLst/>
          </a:prstGeom>
        </p:spPr>
      </p:pic>
    </p:spTree>
    <p:extLst>
      <p:ext uri="{BB962C8B-B14F-4D97-AF65-F5344CB8AC3E}">
        <p14:creationId xmlns:p14="http://schemas.microsoft.com/office/powerpoint/2010/main" val="497716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0FE72-9070-F541-7E9A-D57F93699754}"/>
              </a:ext>
            </a:extLst>
          </p:cNvPr>
          <p:cNvSpPr>
            <a:spLocks noGrp="1"/>
          </p:cNvSpPr>
          <p:nvPr>
            <p:ph type="title"/>
          </p:nvPr>
        </p:nvSpPr>
        <p:spPr>
          <a:xfrm>
            <a:off x="838200" y="373592"/>
            <a:ext cx="10769600" cy="1091141"/>
          </a:xfrm>
        </p:spPr>
        <p:txBody>
          <a:bodyPr>
            <a:normAutofit/>
          </a:bodyPr>
          <a:lstStyle/>
          <a:p>
            <a:r>
              <a:rPr lang="en-US" sz="3200" b="1" dirty="0">
                <a:latin typeface="Arial" panose="020B0604020202020204" pitchFamily="34" charset="0"/>
                <a:cs typeface="Arial" panose="020B0604020202020204" pitchFamily="34" charset="0"/>
              </a:rPr>
              <a:t>Executive educational background and tax rate choice</a:t>
            </a:r>
            <a:endParaRPr lang="en-US" sz="3200" dirty="0"/>
          </a:p>
        </p:txBody>
      </p:sp>
      <p:pic>
        <p:nvPicPr>
          <p:cNvPr id="5" name="Content Placeholder 4">
            <a:extLst>
              <a:ext uri="{FF2B5EF4-FFF2-40B4-BE49-F238E27FC236}">
                <a16:creationId xmlns:a16="http://schemas.microsoft.com/office/drawing/2014/main" id="{09E9F075-3E08-EA26-29A6-30AA03CBFEEB}"/>
              </a:ext>
            </a:extLst>
          </p:cNvPr>
          <p:cNvPicPr>
            <a:picLocks noGrp="1" noChangeAspect="1"/>
          </p:cNvPicPr>
          <p:nvPr>
            <p:ph idx="1"/>
          </p:nvPr>
        </p:nvPicPr>
        <p:blipFill>
          <a:blip r:embed="rId2"/>
          <a:stretch>
            <a:fillRect/>
          </a:stretch>
        </p:blipFill>
        <p:spPr>
          <a:xfrm>
            <a:off x="413286" y="3478741"/>
            <a:ext cx="6884980" cy="3005667"/>
          </a:xfrm>
        </p:spPr>
      </p:pic>
      <p:sp>
        <p:nvSpPr>
          <p:cNvPr id="7" name="TextBox 6">
            <a:extLst>
              <a:ext uri="{FF2B5EF4-FFF2-40B4-BE49-F238E27FC236}">
                <a16:creationId xmlns:a16="http://schemas.microsoft.com/office/drawing/2014/main" id="{FF9FD30A-50BB-A77B-98E7-D5171420AE02}"/>
              </a:ext>
            </a:extLst>
          </p:cNvPr>
          <p:cNvSpPr txBox="1"/>
          <p:nvPr/>
        </p:nvSpPr>
        <p:spPr>
          <a:xfrm>
            <a:off x="7713135" y="3559578"/>
            <a:ext cx="3767666" cy="2308324"/>
          </a:xfrm>
          <a:prstGeom prst="rect">
            <a:avLst/>
          </a:prstGeom>
          <a:noFill/>
        </p:spPr>
        <p:txBody>
          <a:bodyPr wrap="square">
            <a:spAutoFit/>
          </a:bodyPr>
          <a:lstStyle/>
          <a:p>
            <a:r>
              <a:rPr lang="en-US" dirty="0"/>
              <a:t>tax executives with at least one accounting degree are more likely to use the MTR and less likely to use the ETR </a:t>
            </a:r>
          </a:p>
          <a:p>
            <a:endParaRPr lang="en-US" dirty="0"/>
          </a:p>
          <a:p>
            <a:r>
              <a:rPr lang="en-US" dirty="0"/>
              <a:t>more educated tax executives, proxied by number of degrees, are less likely to use the ETR for decision making</a:t>
            </a:r>
          </a:p>
        </p:txBody>
      </p:sp>
      <p:pic>
        <p:nvPicPr>
          <p:cNvPr id="4" name="Picture 3">
            <a:extLst>
              <a:ext uri="{FF2B5EF4-FFF2-40B4-BE49-F238E27FC236}">
                <a16:creationId xmlns:a16="http://schemas.microsoft.com/office/drawing/2014/main" id="{D550CA4D-6B68-C099-C3A5-30DD7E64F9D1}"/>
              </a:ext>
            </a:extLst>
          </p:cNvPr>
          <p:cNvPicPr>
            <a:picLocks noChangeAspect="1"/>
          </p:cNvPicPr>
          <p:nvPr/>
        </p:nvPicPr>
        <p:blipFill>
          <a:blip r:embed="rId3"/>
          <a:stretch>
            <a:fillRect/>
          </a:stretch>
        </p:blipFill>
        <p:spPr>
          <a:xfrm>
            <a:off x="386305" y="1329178"/>
            <a:ext cx="6911961" cy="2058168"/>
          </a:xfrm>
          <a:prstGeom prst="rect">
            <a:avLst/>
          </a:prstGeom>
        </p:spPr>
      </p:pic>
    </p:spTree>
    <p:extLst>
      <p:ext uri="{BB962C8B-B14F-4D97-AF65-F5344CB8AC3E}">
        <p14:creationId xmlns:p14="http://schemas.microsoft.com/office/powerpoint/2010/main" val="1185778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650D-2979-3BF3-9A9E-2B35925F429B}"/>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207A7F1-3428-9A45-72E4-882165FC9956}"/>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7C3A185E-50BB-B673-98AE-7707A99D1D60}"/>
              </a:ext>
            </a:extLst>
          </p:cNvPr>
          <p:cNvSpPr>
            <a:spLocks noGrp="1"/>
          </p:cNvSpPr>
          <p:nvPr>
            <p:ph type="ctrTitle"/>
          </p:nvPr>
        </p:nvSpPr>
        <p:spPr>
          <a:xfrm>
            <a:off x="94891" y="59268"/>
            <a:ext cx="11852693" cy="516466"/>
          </a:xfrm>
        </p:spPr>
        <p:txBody>
          <a:bodyPr>
            <a:normAutofit fontScale="90000"/>
          </a:bodyPr>
          <a:lstStyle/>
          <a:p>
            <a:r>
              <a:rPr lang="en-US" sz="3600" b="1" dirty="0">
                <a:latin typeface="Arial" panose="020B0604020202020204" pitchFamily="34" charset="0"/>
                <a:cs typeface="Arial" panose="020B0604020202020204" pitchFamily="34" charset="0"/>
              </a:rPr>
              <a:t> Capital structure consequences of tax rate choices</a:t>
            </a:r>
          </a:p>
        </p:txBody>
      </p:sp>
      <p:sp>
        <p:nvSpPr>
          <p:cNvPr id="3" name="TextBox 2">
            <a:extLst>
              <a:ext uri="{FF2B5EF4-FFF2-40B4-BE49-F238E27FC236}">
                <a16:creationId xmlns:a16="http://schemas.microsoft.com/office/drawing/2014/main" id="{A8E79AC9-921F-42E6-BC48-87DEB0D63B3F}"/>
              </a:ext>
            </a:extLst>
          </p:cNvPr>
          <p:cNvSpPr txBox="1"/>
          <p:nvPr/>
        </p:nvSpPr>
        <p:spPr>
          <a:xfrm>
            <a:off x="982134" y="838200"/>
            <a:ext cx="10422466" cy="400110"/>
          </a:xfrm>
          <a:prstGeom prst="rect">
            <a:avLst/>
          </a:prstGeom>
          <a:noFill/>
        </p:spPr>
        <p:txBody>
          <a:bodyPr wrap="square">
            <a:spAutoFit/>
          </a:bodyPr>
          <a:lstStyle/>
          <a:p>
            <a:r>
              <a:rPr lang="en-US" sz="2000" dirty="0"/>
              <a:t>Do firms that use the ETR in capital structure decisions make suboptimal choices?</a:t>
            </a:r>
          </a:p>
        </p:txBody>
      </p:sp>
      <p:pic>
        <p:nvPicPr>
          <p:cNvPr id="4" name="Picture 3">
            <a:extLst>
              <a:ext uri="{FF2B5EF4-FFF2-40B4-BE49-F238E27FC236}">
                <a16:creationId xmlns:a16="http://schemas.microsoft.com/office/drawing/2014/main" id="{06AED05C-9FCC-88A6-853E-ED8DABF8E029}"/>
              </a:ext>
            </a:extLst>
          </p:cNvPr>
          <p:cNvPicPr>
            <a:picLocks noChangeAspect="1"/>
          </p:cNvPicPr>
          <p:nvPr/>
        </p:nvPicPr>
        <p:blipFill>
          <a:blip r:embed="rId3"/>
          <a:stretch>
            <a:fillRect/>
          </a:stretch>
        </p:blipFill>
        <p:spPr>
          <a:xfrm>
            <a:off x="959716" y="1303906"/>
            <a:ext cx="5061521" cy="3701973"/>
          </a:xfrm>
          <a:prstGeom prst="rect">
            <a:avLst/>
          </a:prstGeom>
        </p:spPr>
      </p:pic>
      <p:sp>
        <p:nvSpPr>
          <p:cNvPr id="6" name="TextBox 5">
            <a:extLst>
              <a:ext uri="{FF2B5EF4-FFF2-40B4-BE49-F238E27FC236}">
                <a16:creationId xmlns:a16="http://schemas.microsoft.com/office/drawing/2014/main" id="{784CDA3B-70F6-8298-E19F-E639069C6F24}"/>
              </a:ext>
            </a:extLst>
          </p:cNvPr>
          <p:cNvSpPr txBox="1"/>
          <p:nvPr/>
        </p:nvSpPr>
        <p:spPr>
          <a:xfrm>
            <a:off x="6170765" y="1397000"/>
            <a:ext cx="5386235" cy="1200329"/>
          </a:xfrm>
          <a:prstGeom prst="rect">
            <a:avLst/>
          </a:prstGeom>
          <a:noFill/>
        </p:spPr>
        <p:txBody>
          <a:bodyPr wrap="square" rtlCol="0">
            <a:spAutoFit/>
          </a:bodyPr>
          <a:lstStyle/>
          <a:p>
            <a:r>
              <a:rPr lang="en-US" b="1" dirty="0">
                <a:solidFill>
                  <a:srgbClr val="FF0000"/>
                </a:solidFill>
              </a:rPr>
              <a:t>Kink: </a:t>
            </a:r>
            <a:r>
              <a:rPr lang="en-US" dirty="0"/>
              <a:t>the marginal tax benefits of debt begin to decline</a:t>
            </a:r>
          </a:p>
          <a:p>
            <a:endParaRPr lang="en-US" dirty="0"/>
          </a:p>
          <a:p>
            <a:r>
              <a:rPr lang="en-US" b="1" dirty="0">
                <a:solidFill>
                  <a:srgbClr val="FF0000"/>
                </a:solidFill>
              </a:rPr>
              <a:t>“optimal” or “equilibrium” leverage ratio: </a:t>
            </a:r>
            <a:r>
              <a:rPr lang="en-US" dirty="0"/>
              <a:t>the intersection of the marginal benefit and cost curves </a:t>
            </a:r>
            <a:endParaRPr lang="en-US" b="1" dirty="0"/>
          </a:p>
        </p:txBody>
      </p:sp>
      <p:sp>
        <p:nvSpPr>
          <p:cNvPr id="8" name="TextBox 7">
            <a:extLst>
              <a:ext uri="{FF2B5EF4-FFF2-40B4-BE49-F238E27FC236}">
                <a16:creationId xmlns:a16="http://schemas.microsoft.com/office/drawing/2014/main" id="{0C17CC74-9848-501B-A4CB-FFABCCF01CE2}"/>
              </a:ext>
            </a:extLst>
          </p:cNvPr>
          <p:cNvSpPr txBox="1"/>
          <p:nvPr/>
        </p:nvSpPr>
        <p:spPr>
          <a:xfrm>
            <a:off x="7120466" y="3022600"/>
            <a:ext cx="3911601" cy="2585323"/>
          </a:xfrm>
          <a:prstGeom prst="rect">
            <a:avLst/>
          </a:prstGeom>
          <a:noFill/>
        </p:spPr>
        <p:txBody>
          <a:bodyPr wrap="square">
            <a:spAutoFit/>
          </a:bodyPr>
          <a:lstStyle/>
          <a:p>
            <a:r>
              <a:rPr lang="en-US" dirty="0">
                <a:solidFill>
                  <a:srgbClr val="FF0000"/>
                </a:solidFill>
              </a:rPr>
              <a:t>Equilibrium factor </a:t>
            </a:r>
            <a:r>
              <a:rPr lang="en-US" dirty="0"/>
              <a:t>= the model-predicted-optimal-leverage ratio / the firm’s observed leverage</a:t>
            </a:r>
          </a:p>
          <a:p>
            <a:endParaRPr lang="en-US" dirty="0"/>
          </a:p>
          <a:p>
            <a:r>
              <a:rPr lang="en-US" dirty="0"/>
              <a:t>An Equilibrium factor of 1.2 (0.8) implies that the firm’s optimal leverage ratio is 20% larger (smaller) than its actual leverage ratio and the firm is </a:t>
            </a:r>
            <a:r>
              <a:rPr lang="en-US" dirty="0" err="1"/>
              <a:t>underlevered</a:t>
            </a:r>
            <a:r>
              <a:rPr lang="en-US" dirty="0"/>
              <a:t> (</a:t>
            </a:r>
            <a:r>
              <a:rPr lang="en-US" dirty="0" err="1"/>
              <a:t>overlevered</a:t>
            </a:r>
            <a:r>
              <a:rPr lang="en-US" dirty="0"/>
              <a:t>)</a:t>
            </a:r>
          </a:p>
        </p:txBody>
      </p:sp>
    </p:spTree>
    <p:extLst>
      <p:ext uri="{BB962C8B-B14F-4D97-AF65-F5344CB8AC3E}">
        <p14:creationId xmlns:p14="http://schemas.microsoft.com/office/powerpoint/2010/main" val="3473247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650D-2979-3BF3-9A9E-2B35925F429B}"/>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207A7F1-3428-9A45-72E4-882165FC9956}"/>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7C3A185E-50BB-B673-98AE-7707A99D1D60}"/>
              </a:ext>
            </a:extLst>
          </p:cNvPr>
          <p:cNvSpPr>
            <a:spLocks noGrp="1"/>
          </p:cNvSpPr>
          <p:nvPr>
            <p:ph type="ctrTitle"/>
          </p:nvPr>
        </p:nvSpPr>
        <p:spPr>
          <a:xfrm>
            <a:off x="94891" y="59268"/>
            <a:ext cx="11852693" cy="516466"/>
          </a:xfrm>
        </p:spPr>
        <p:txBody>
          <a:bodyPr>
            <a:normAutofit fontScale="90000"/>
          </a:bodyPr>
          <a:lstStyle/>
          <a:p>
            <a:r>
              <a:rPr lang="en-US" sz="3600" b="1" dirty="0">
                <a:latin typeface="Arial" panose="020B0604020202020204" pitchFamily="34" charset="0"/>
                <a:cs typeface="Arial" panose="020B0604020202020204" pitchFamily="34" charset="0"/>
              </a:rPr>
              <a:t> Capital structure consequences of tax rate choices</a:t>
            </a:r>
          </a:p>
        </p:txBody>
      </p:sp>
      <p:sp>
        <p:nvSpPr>
          <p:cNvPr id="3" name="TextBox 2">
            <a:extLst>
              <a:ext uri="{FF2B5EF4-FFF2-40B4-BE49-F238E27FC236}">
                <a16:creationId xmlns:a16="http://schemas.microsoft.com/office/drawing/2014/main" id="{A8E79AC9-921F-42E6-BC48-87DEB0D63B3F}"/>
              </a:ext>
            </a:extLst>
          </p:cNvPr>
          <p:cNvSpPr txBox="1"/>
          <p:nvPr/>
        </p:nvSpPr>
        <p:spPr>
          <a:xfrm>
            <a:off x="982134" y="838200"/>
            <a:ext cx="10422466" cy="400110"/>
          </a:xfrm>
          <a:prstGeom prst="rect">
            <a:avLst/>
          </a:prstGeom>
          <a:noFill/>
        </p:spPr>
        <p:txBody>
          <a:bodyPr wrap="square">
            <a:spAutoFit/>
          </a:bodyPr>
          <a:lstStyle/>
          <a:p>
            <a:r>
              <a:rPr lang="en-US" sz="2000" dirty="0"/>
              <a:t>Do firms that use the ETR in capital structure decisions make suboptimal choices?</a:t>
            </a:r>
          </a:p>
        </p:txBody>
      </p:sp>
      <p:sp>
        <p:nvSpPr>
          <p:cNvPr id="11" name="TextBox 10">
            <a:extLst>
              <a:ext uri="{FF2B5EF4-FFF2-40B4-BE49-F238E27FC236}">
                <a16:creationId xmlns:a16="http://schemas.microsoft.com/office/drawing/2014/main" id="{B5D09DAB-A76A-318C-9B99-43F5C9F5050A}"/>
              </a:ext>
            </a:extLst>
          </p:cNvPr>
          <p:cNvSpPr txBox="1"/>
          <p:nvPr/>
        </p:nvSpPr>
        <p:spPr>
          <a:xfrm>
            <a:off x="643468" y="4155068"/>
            <a:ext cx="9364132" cy="1200329"/>
          </a:xfrm>
          <a:prstGeom prst="rect">
            <a:avLst/>
          </a:prstGeom>
          <a:noFill/>
        </p:spPr>
        <p:txBody>
          <a:bodyPr wrap="square">
            <a:spAutoFit/>
          </a:bodyPr>
          <a:lstStyle/>
          <a:p>
            <a:r>
              <a:rPr lang="en-US" dirty="0"/>
              <a:t>Equation (1) is estimated on the sample of firms that use ETR in their capital structure decisions</a:t>
            </a:r>
          </a:p>
          <a:p>
            <a:endParaRPr lang="en-US" dirty="0"/>
          </a:p>
          <a:p>
            <a:r>
              <a:rPr lang="en-US" dirty="0"/>
              <a:t>Equation (2) is estimated on the sample of firms that use ETR in their capital structure decisions and a matched sample of firms that use the MTR/STR in their capital structure decisions</a:t>
            </a:r>
          </a:p>
        </p:txBody>
      </p:sp>
      <p:sp>
        <p:nvSpPr>
          <p:cNvPr id="12" name="TextBox 11">
            <a:extLst>
              <a:ext uri="{FF2B5EF4-FFF2-40B4-BE49-F238E27FC236}">
                <a16:creationId xmlns:a16="http://schemas.microsoft.com/office/drawing/2014/main" id="{8165D5D7-5501-B9DD-D90B-52142FCF424C}"/>
              </a:ext>
            </a:extLst>
          </p:cNvPr>
          <p:cNvSpPr txBox="1"/>
          <p:nvPr/>
        </p:nvSpPr>
        <p:spPr>
          <a:xfrm>
            <a:off x="8576733" y="1397000"/>
            <a:ext cx="3141134" cy="2308324"/>
          </a:xfrm>
          <a:prstGeom prst="rect">
            <a:avLst/>
          </a:prstGeom>
          <a:noFill/>
        </p:spPr>
        <p:txBody>
          <a:bodyPr wrap="square" rtlCol="0">
            <a:spAutoFit/>
          </a:bodyPr>
          <a:lstStyle/>
          <a:p>
            <a:r>
              <a:rPr lang="en-US" dirty="0">
                <a:solidFill>
                  <a:srgbClr val="FF0000"/>
                </a:solidFill>
              </a:rPr>
              <a:t>i: </a:t>
            </a:r>
            <a:r>
              <a:rPr lang="en-US" dirty="0"/>
              <a:t>indexes firms</a:t>
            </a:r>
          </a:p>
          <a:p>
            <a:r>
              <a:rPr lang="en-US" dirty="0">
                <a:solidFill>
                  <a:srgbClr val="FF0000"/>
                </a:solidFill>
              </a:rPr>
              <a:t>t: </a:t>
            </a:r>
            <a:r>
              <a:rPr lang="en-US" dirty="0"/>
              <a:t>indexes years, </a:t>
            </a:r>
          </a:p>
          <a:p>
            <a:r>
              <a:rPr lang="en-US" dirty="0">
                <a:solidFill>
                  <a:srgbClr val="FF0000"/>
                </a:solidFill>
              </a:rPr>
              <a:t>α</a:t>
            </a:r>
            <a:r>
              <a:rPr lang="en-US" baseline="-25000" dirty="0">
                <a:solidFill>
                  <a:srgbClr val="FF0000"/>
                </a:solidFill>
              </a:rPr>
              <a:t>sic &amp;</a:t>
            </a:r>
            <a:r>
              <a:rPr lang="en-US" dirty="0">
                <a:solidFill>
                  <a:srgbClr val="FF0000"/>
                </a:solidFill>
              </a:rPr>
              <a:t>α</a:t>
            </a:r>
            <a:r>
              <a:rPr lang="en-US" baseline="-25000" dirty="0">
                <a:solidFill>
                  <a:srgbClr val="FF0000"/>
                </a:solidFill>
              </a:rPr>
              <a:t>t</a:t>
            </a:r>
            <a:r>
              <a:rPr lang="en-US" dirty="0">
                <a:solidFill>
                  <a:srgbClr val="FF0000"/>
                </a:solidFill>
              </a:rPr>
              <a:t> : </a:t>
            </a:r>
            <a:r>
              <a:rPr lang="en-US" dirty="0"/>
              <a:t>industry and year fixed effects, </a:t>
            </a:r>
          </a:p>
          <a:p>
            <a:r>
              <a:rPr lang="en-US" dirty="0">
                <a:solidFill>
                  <a:srgbClr val="FF0000"/>
                </a:solidFill>
              </a:rPr>
              <a:t>X: </a:t>
            </a:r>
            <a:r>
              <a:rPr lang="en-US" dirty="0"/>
              <a:t>a vector of control variables that includes a number of nontax factors that affect debt policy. </a:t>
            </a:r>
          </a:p>
        </p:txBody>
      </p:sp>
      <p:pic>
        <p:nvPicPr>
          <p:cNvPr id="14" name="Picture 13">
            <a:extLst>
              <a:ext uri="{FF2B5EF4-FFF2-40B4-BE49-F238E27FC236}">
                <a16:creationId xmlns:a16="http://schemas.microsoft.com/office/drawing/2014/main" id="{9CAF6852-5F94-B0B5-1ED8-A6C6BEA02CDB}"/>
              </a:ext>
            </a:extLst>
          </p:cNvPr>
          <p:cNvPicPr>
            <a:picLocks noChangeAspect="1"/>
          </p:cNvPicPr>
          <p:nvPr/>
        </p:nvPicPr>
        <p:blipFill>
          <a:blip r:embed="rId3"/>
          <a:stretch>
            <a:fillRect/>
          </a:stretch>
        </p:blipFill>
        <p:spPr>
          <a:xfrm>
            <a:off x="794806" y="1397000"/>
            <a:ext cx="7630590" cy="2524477"/>
          </a:xfrm>
          <a:prstGeom prst="rect">
            <a:avLst/>
          </a:prstGeom>
        </p:spPr>
      </p:pic>
    </p:spTree>
    <p:extLst>
      <p:ext uri="{BB962C8B-B14F-4D97-AF65-F5344CB8AC3E}">
        <p14:creationId xmlns:p14="http://schemas.microsoft.com/office/powerpoint/2010/main" val="527205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650D-2979-3BF3-9A9E-2B35925F429B}"/>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207A7F1-3428-9A45-72E4-882165FC9956}"/>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7C3A185E-50BB-B673-98AE-7707A99D1D60}"/>
              </a:ext>
            </a:extLst>
          </p:cNvPr>
          <p:cNvSpPr>
            <a:spLocks noGrp="1"/>
          </p:cNvSpPr>
          <p:nvPr>
            <p:ph type="ctrTitle"/>
          </p:nvPr>
        </p:nvSpPr>
        <p:spPr>
          <a:xfrm>
            <a:off x="94891" y="59268"/>
            <a:ext cx="11852693" cy="516466"/>
          </a:xfrm>
        </p:spPr>
        <p:txBody>
          <a:bodyPr>
            <a:normAutofit fontScale="90000"/>
          </a:bodyPr>
          <a:lstStyle/>
          <a:p>
            <a:r>
              <a:rPr lang="en-US" sz="3600" b="1" dirty="0">
                <a:latin typeface="Arial" panose="020B0604020202020204" pitchFamily="34" charset="0"/>
                <a:cs typeface="Arial" panose="020B0604020202020204" pitchFamily="34" charset="0"/>
              </a:rPr>
              <a:t> Capital structure consequences of tax rate choices</a:t>
            </a:r>
          </a:p>
        </p:txBody>
      </p:sp>
      <p:sp>
        <p:nvSpPr>
          <p:cNvPr id="11" name="TextBox 10">
            <a:extLst>
              <a:ext uri="{FF2B5EF4-FFF2-40B4-BE49-F238E27FC236}">
                <a16:creationId xmlns:a16="http://schemas.microsoft.com/office/drawing/2014/main" id="{B5D09DAB-A76A-318C-9B99-43F5C9F5050A}"/>
              </a:ext>
            </a:extLst>
          </p:cNvPr>
          <p:cNvSpPr txBox="1"/>
          <p:nvPr/>
        </p:nvSpPr>
        <p:spPr>
          <a:xfrm>
            <a:off x="483717" y="3148728"/>
            <a:ext cx="11396133" cy="2585323"/>
          </a:xfrm>
          <a:prstGeom prst="rect">
            <a:avLst/>
          </a:prstGeom>
          <a:noFill/>
        </p:spPr>
        <p:txBody>
          <a:bodyPr wrap="square">
            <a:spAutoFit/>
          </a:bodyPr>
          <a:lstStyle/>
          <a:p>
            <a:r>
              <a:rPr lang="en-US" dirty="0"/>
              <a:t>Positive and significant coefficients suggest that as the difference between a firm’s MTR and ETR widens such that the firm’s ETR is higher (lower) than its MTR, the firm adopts a relatively aggressive (conservative) debt policy</a:t>
            </a:r>
          </a:p>
          <a:p>
            <a:endParaRPr lang="en-US" dirty="0"/>
          </a:p>
          <a:p>
            <a:r>
              <a:rPr lang="en-US" dirty="0"/>
              <a:t>The coefficients for Use GAAP ETR and MTR – GAAP ETR in equation 2 are statistically insignificant, suggesting that the </a:t>
            </a:r>
            <a:r>
              <a:rPr lang="en-US" b="1" dirty="0"/>
              <a:t>MTR versus ETR wedge </a:t>
            </a:r>
            <a:r>
              <a:rPr lang="en-US" dirty="0"/>
              <a:t>is associated with </a:t>
            </a:r>
            <a:r>
              <a:rPr lang="en-US" b="1" dirty="0"/>
              <a:t>the debt policy of firms that use the ETR for decision-making</a:t>
            </a:r>
            <a:r>
              <a:rPr lang="en-US" dirty="0"/>
              <a:t> but there is no such association between the MTR versus ETR wedge and </a:t>
            </a:r>
            <a:r>
              <a:rPr lang="en-US" b="1" dirty="0"/>
              <a:t>debt policy of firms that use the STR and MTR</a:t>
            </a:r>
          </a:p>
          <a:p>
            <a:endParaRPr lang="en-US" dirty="0"/>
          </a:p>
          <a:p>
            <a:r>
              <a:rPr lang="en-US" dirty="0"/>
              <a:t>Firms using the ETR for decision-making make capital structures decisions similar to firms using the STR/MTR for decision-making when MTR – GAAP ETR is zero</a:t>
            </a:r>
          </a:p>
        </p:txBody>
      </p:sp>
      <p:pic>
        <p:nvPicPr>
          <p:cNvPr id="4" name="Picture 3">
            <a:extLst>
              <a:ext uri="{FF2B5EF4-FFF2-40B4-BE49-F238E27FC236}">
                <a16:creationId xmlns:a16="http://schemas.microsoft.com/office/drawing/2014/main" id="{5E0EAFB8-2110-4839-507F-2F3077953896}"/>
              </a:ext>
            </a:extLst>
          </p:cNvPr>
          <p:cNvPicPr>
            <a:picLocks noChangeAspect="1"/>
          </p:cNvPicPr>
          <p:nvPr/>
        </p:nvPicPr>
        <p:blipFill>
          <a:blip r:embed="rId3"/>
          <a:stretch>
            <a:fillRect/>
          </a:stretch>
        </p:blipFill>
        <p:spPr>
          <a:xfrm>
            <a:off x="825614" y="499534"/>
            <a:ext cx="9080385" cy="2577582"/>
          </a:xfrm>
          <a:prstGeom prst="rect">
            <a:avLst/>
          </a:prstGeom>
        </p:spPr>
      </p:pic>
    </p:spTree>
    <p:extLst>
      <p:ext uri="{BB962C8B-B14F-4D97-AF65-F5344CB8AC3E}">
        <p14:creationId xmlns:p14="http://schemas.microsoft.com/office/powerpoint/2010/main" val="408998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650D-2979-3BF3-9A9E-2B35925F429B}"/>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207A7F1-3428-9A45-72E4-882165FC9956}"/>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7C3A185E-50BB-B673-98AE-7707A99D1D60}"/>
              </a:ext>
            </a:extLst>
          </p:cNvPr>
          <p:cNvSpPr>
            <a:spLocks noGrp="1"/>
          </p:cNvSpPr>
          <p:nvPr>
            <p:ph type="ctrTitle"/>
          </p:nvPr>
        </p:nvSpPr>
        <p:spPr>
          <a:xfrm>
            <a:off x="94891" y="59268"/>
            <a:ext cx="11852693" cy="516466"/>
          </a:xfrm>
        </p:spPr>
        <p:txBody>
          <a:bodyPr>
            <a:normAutofit fontScale="90000"/>
          </a:bodyPr>
          <a:lstStyle/>
          <a:p>
            <a:r>
              <a:rPr lang="en-US" sz="3600" b="1" dirty="0">
                <a:latin typeface="Arial" panose="020B0604020202020204" pitchFamily="34" charset="0"/>
                <a:cs typeface="Arial" panose="020B0604020202020204" pitchFamily="34" charset="0"/>
              </a:rPr>
              <a:t> Capital structure consequences of tax rate choices</a:t>
            </a:r>
          </a:p>
        </p:txBody>
      </p:sp>
      <p:sp>
        <p:nvSpPr>
          <p:cNvPr id="3" name="TextBox 2">
            <a:extLst>
              <a:ext uri="{FF2B5EF4-FFF2-40B4-BE49-F238E27FC236}">
                <a16:creationId xmlns:a16="http://schemas.microsoft.com/office/drawing/2014/main" id="{A8E79AC9-921F-42E6-BC48-87DEB0D63B3F}"/>
              </a:ext>
            </a:extLst>
          </p:cNvPr>
          <p:cNvSpPr txBox="1"/>
          <p:nvPr/>
        </p:nvSpPr>
        <p:spPr>
          <a:xfrm>
            <a:off x="884767" y="547344"/>
            <a:ext cx="10422466" cy="400110"/>
          </a:xfrm>
          <a:prstGeom prst="rect">
            <a:avLst/>
          </a:prstGeom>
          <a:noFill/>
        </p:spPr>
        <p:txBody>
          <a:bodyPr wrap="square">
            <a:spAutoFit/>
          </a:bodyPr>
          <a:lstStyle/>
          <a:p>
            <a:r>
              <a:rPr lang="en-US" sz="2000" dirty="0"/>
              <a:t>Do firms that use the ETR in capital structure decisions make suboptimal choices?</a:t>
            </a:r>
          </a:p>
        </p:txBody>
      </p:sp>
      <p:sp>
        <p:nvSpPr>
          <p:cNvPr id="11" name="TextBox 10">
            <a:extLst>
              <a:ext uri="{FF2B5EF4-FFF2-40B4-BE49-F238E27FC236}">
                <a16:creationId xmlns:a16="http://schemas.microsoft.com/office/drawing/2014/main" id="{B5D09DAB-A76A-318C-9B99-43F5C9F5050A}"/>
              </a:ext>
            </a:extLst>
          </p:cNvPr>
          <p:cNvSpPr txBox="1"/>
          <p:nvPr/>
        </p:nvSpPr>
        <p:spPr>
          <a:xfrm>
            <a:off x="619824" y="3143418"/>
            <a:ext cx="11021843" cy="2031325"/>
          </a:xfrm>
          <a:prstGeom prst="rect">
            <a:avLst/>
          </a:prstGeom>
          <a:noFill/>
        </p:spPr>
        <p:txBody>
          <a:bodyPr wrap="square">
            <a:spAutoFit/>
          </a:bodyPr>
          <a:lstStyle/>
          <a:p>
            <a:r>
              <a:rPr lang="en-US" dirty="0"/>
              <a:t>a near monotonic increase in Equilibrium factor as we move from the first to the fourth quartile of MTR – GAAP ETR</a:t>
            </a:r>
          </a:p>
          <a:p>
            <a:endParaRPr lang="en-US" dirty="0"/>
          </a:p>
          <a:p>
            <a:r>
              <a:rPr lang="en-US" dirty="0"/>
              <a:t>the median firm in the 1st quartile of the MTR – GAAP ETR distribution is over-levered but the median firm in the remaining three quartiles is under-levered. Lower GAAP ETR, more conservative.</a:t>
            </a:r>
          </a:p>
          <a:p>
            <a:endParaRPr lang="en-US" dirty="0"/>
          </a:p>
          <a:p>
            <a:r>
              <a:rPr lang="en-US" dirty="0"/>
              <a:t>firms using the ETR for capital structure decisions become more under-levered as MTR becomes larger than the ETR, consistent with our prediction.</a:t>
            </a:r>
          </a:p>
        </p:txBody>
      </p:sp>
      <p:pic>
        <p:nvPicPr>
          <p:cNvPr id="6" name="Picture 5">
            <a:extLst>
              <a:ext uri="{FF2B5EF4-FFF2-40B4-BE49-F238E27FC236}">
                <a16:creationId xmlns:a16="http://schemas.microsoft.com/office/drawing/2014/main" id="{0546BE19-4A9F-C611-9FD7-BC6DA387C659}"/>
              </a:ext>
            </a:extLst>
          </p:cNvPr>
          <p:cNvPicPr>
            <a:picLocks noChangeAspect="1"/>
          </p:cNvPicPr>
          <p:nvPr/>
        </p:nvPicPr>
        <p:blipFill>
          <a:blip r:embed="rId3"/>
          <a:stretch>
            <a:fillRect/>
          </a:stretch>
        </p:blipFill>
        <p:spPr>
          <a:xfrm>
            <a:off x="640744" y="947455"/>
            <a:ext cx="10910512" cy="2031324"/>
          </a:xfrm>
          <a:prstGeom prst="rect">
            <a:avLst/>
          </a:prstGeom>
        </p:spPr>
      </p:pic>
    </p:spTree>
    <p:extLst>
      <p:ext uri="{BB962C8B-B14F-4D97-AF65-F5344CB8AC3E}">
        <p14:creationId xmlns:p14="http://schemas.microsoft.com/office/powerpoint/2010/main" val="200461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650D-2979-3BF3-9A9E-2B35925F429B}"/>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207A7F1-3428-9A45-72E4-882165FC9956}"/>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7C3A185E-50BB-B673-98AE-7707A99D1D60}"/>
              </a:ext>
            </a:extLst>
          </p:cNvPr>
          <p:cNvSpPr>
            <a:spLocks noGrp="1"/>
          </p:cNvSpPr>
          <p:nvPr>
            <p:ph type="ctrTitle"/>
          </p:nvPr>
        </p:nvSpPr>
        <p:spPr>
          <a:xfrm>
            <a:off x="94891" y="59268"/>
            <a:ext cx="11852693" cy="516466"/>
          </a:xfrm>
        </p:spPr>
        <p:txBody>
          <a:bodyPr>
            <a:normAutofit fontScale="90000"/>
          </a:bodyPr>
          <a:lstStyle/>
          <a:p>
            <a:r>
              <a:rPr lang="en-US" sz="3600" b="1" dirty="0">
                <a:latin typeface="Arial" panose="020B0604020202020204" pitchFamily="34" charset="0"/>
                <a:cs typeface="Arial" panose="020B0604020202020204" pitchFamily="34" charset="0"/>
              </a:rPr>
              <a:t> Capital structure consequences of tax rate choices</a:t>
            </a:r>
          </a:p>
        </p:txBody>
      </p:sp>
      <p:sp>
        <p:nvSpPr>
          <p:cNvPr id="3" name="TextBox 2">
            <a:extLst>
              <a:ext uri="{FF2B5EF4-FFF2-40B4-BE49-F238E27FC236}">
                <a16:creationId xmlns:a16="http://schemas.microsoft.com/office/drawing/2014/main" id="{A8E79AC9-921F-42E6-BC48-87DEB0D63B3F}"/>
              </a:ext>
            </a:extLst>
          </p:cNvPr>
          <p:cNvSpPr txBox="1"/>
          <p:nvPr/>
        </p:nvSpPr>
        <p:spPr>
          <a:xfrm>
            <a:off x="884767" y="547344"/>
            <a:ext cx="10422466" cy="400110"/>
          </a:xfrm>
          <a:prstGeom prst="rect">
            <a:avLst/>
          </a:prstGeom>
          <a:noFill/>
        </p:spPr>
        <p:txBody>
          <a:bodyPr wrap="square">
            <a:spAutoFit/>
          </a:bodyPr>
          <a:lstStyle/>
          <a:p>
            <a:r>
              <a:rPr lang="en-US" sz="2000" dirty="0"/>
              <a:t>Do firms that use the ETR in capital structure decisions make suboptimal choices?</a:t>
            </a:r>
          </a:p>
        </p:txBody>
      </p:sp>
      <p:pic>
        <p:nvPicPr>
          <p:cNvPr id="4" name="Picture 3">
            <a:extLst>
              <a:ext uri="{FF2B5EF4-FFF2-40B4-BE49-F238E27FC236}">
                <a16:creationId xmlns:a16="http://schemas.microsoft.com/office/drawing/2014/main" id="{F30BEF01-489B-6A41-6B3E-23B8BD3077A3}"/>
              </a:ext>
            </a:extLst>
          </p:cNvPr>
          <p:cNvPicPr>
            <a:picLocks noChangeAspect="1"/>
          </p:cNvPicPr>
          <p:nvPr/>
        </p:nvPicPr>
        <p:blipFill>
          <a:blip r:embed="rId3"/>
          <a:stretch>
            <a:fillRect/>
          </a:stretch>
        </p:blipFill>
        <p:spPr>
          <a:xfrm>
            <a:off x="240908" y="1030857"/>
            <a:ext cx="6570205" cy="3507020"/>
          </a:xfrm>
          <a:prstGeom prst="rect">
            <a:avLst/>
          </a:prstGeom>
        </p:spPr>
      </p:pic>
      <p:sp>
        <p:nvSpPr>
          <p:cNvPr id="8" name="TextBox 7">
            <a:extLst>
              <a:ext uri="{FF2B5EF4-FFF2-40B4-BE49-F238E27FC236}">
                <a16:creationId xmlns:a16="http://schemas.microsoft.com/office/drawing/2014/main" id="{5B022104-9143-88D1-0CA6-E2A15CA2A3B3}"/>
              </a:ext>
            </a:extLst>
          </p:cNvPr>
          <p:cNvSpPr txBox="1"/>
          <p:nvPr/>
        </p:nvSpPr>
        <p:spPr>
          <a:xfrm>
            <a:off x="6874934" y="1063810"/>
            <a:ext cx="4318000" cy="4247317"/>
          </a:xfrm>
          <a:prstGeom prst="rect">
            <a:avLst/>
          </a:prstGeom>
          <a:noFill/>
        </p:spPr>
        <p:txBody>
          <a:bodyPr wrap="square">
            <a:spAutoFit/>
          </a:bodyPr>
          <a:lstStyle/>
          <a:p>
            <a:r>
              <a:rPr lang="en-US" dirty="0"/>
              <a:t>The coefficient for |MTR – GAAP ETR|× Use GAAP ETR suggests that a one-percentage-point increase in the MTR versus ETR wedge increases Total value loss by 0.032 percentage points.</a:t>
            </a:r>
          </a:p>
          <a:p>
            <a:endParaRPr lang="en-US" dirty="0"/>
          </a:p>
          <a:p>
            <a:r>
              <a:rPr lang="en-US" dirty="0"/>
              <a:t>Considering that the average firm that uses the ETR has a MTR versus ETR wedge of 7.7%, our regression coefficient implies that a firm that uses the ETR for capital structure decisions incurs a loss of 0.25% of its book value of assets, which amounts to $16 million (in terms of 2006 dollars) from making suboptimal capital structure decisions.</a:t>
            </a:r>
          </a:p>
        </p:txBody>
      </p:sp>
    </p:spTree>
    <p:extLst>
      <p:ext uri="{BB962C8B-B14F-4D97-AF65-F5344CB8AC3E}">
        <p14:creationId xmlns:p14="http://schemas.microsoft.com/office/powerpoint/2010/main" val="2022678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650D-2979-3BF3-9A9E-2B35925F429B}"/>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207A7F1-3428-9A45-72E4-882165FC9956}"/>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7C3A185E-50BB-B673-98AE-7707A99D1D60}"/>
              </a:ext>
            </a:extLst>
          </p:cNvPr>
          <p:cNvSpPr>
            <a:spLocks noGrp="1"/>
          </p:cNvSpPr>
          <p:nvPr>
            <p:ph type="ctrTitle"/>
          </p:nvPr>
        </p:nvSpPr>
        <p:spPr>
          <a:xfrm>
            <a:off x="94891" y="59268"/>
            <a:ext cx="11852693" cy="516466"/>
          </a:xfrm>
        </p:spPr>
        <p:txBody>
          <a:bodyPr>
            <a:normAutofit fontScale="90000"/>
          </a:bodyPr>
          <a:lstStyle/>
          <a:p>
            <a:r>
              <a:rPr lang="en-US" sz="3600" b="1" dirty="0">
                <a:latin typeface="Arial" panose="020B0604020202020204" pitchFamily="34" charset="0"/>
                <a:cs typeface="Arial" panose="020B0604020202020204" pitchFamily="34" charset="0"/>
              </a:rPr>
              <a:t> Capital </a:t>
            </a:r>
            <a:r>
              <a:rPr lang="en-US" sz="3600" b="1" dirty="0">
                <a:solidFill>
                  <a:srgbClr val="FF0000"/>
                </a:solidFill>
                <a:latin typeface="Arial" panose="020B0604020202020204" pitchFamily="34" charset="0"/>
                <a:cs typeface="Arial" panose="020B0604020202020204" pitchFamily="34" charset="0"/>
              </a:rPr>
              <a:t>investment </a:t>
            </a:r>
            <a:r>
              <a:rPr lang="en-US" sz="3600" b="1" dirty="0">
                <a:latin typeface="Arial" panose="020B0604020202020204" pitchFamily="34" charset="0"/>
                <a:cs typeface="Arial" panose="020B0604020202020204" pitchFamily="34" charset="0"/>
              </a:rPr>
              <a:t>consequences of tax rate choices</a:t>
            </a:r>
          </a:p>
        </p:txBody>
      </p:sp>
      <p:sp>
        <p:nvSpPr>
          <p:cNvPr id="3" name="TextBox 2">
            <a:extLst>
              <a:ext uri="{FF2B5EF4-FFF2-40B4-BE49-F238E27FC236}">
                <a16:creationId xmlns:a16="http://schemas.microsoft.com/office/drawing/2014/main" id="{A8E79AC9-921F-42E6-BC48-87DEB0D63B3F}"/>
              </a:ext>
            </a:extLst>
          </p:cNvPr>
          <p:cNvSpPr txBox="1"/>
          <p:nvPr/>
        </p:nvSpPr>
        <p:spPr>
          <a:xfrm>
            <a:off x="190430" y="547344"/>
            <a:ext cx="11906679" cy="707886"/>
          </a:xfrm>
          <a:prstGeom prst="rect">
            <a:avLst/>
          </a:prstGeom>
          <a:noFill/>
        </p:spPr>
        <p:txBody>
          <a:bodyPr wrap="square">
            <a:spAutoFit/>
          </a:bodyPr>
          <a:lstStyle/>
          <a:p>
            <a:r>
              <a:rPr lang="en-US" sz="2000" b="1" dirty="0">
                <a:solidFill>
                  <a:srgbClr val="FF0000"/>
                </a:solidFill>
              </a:rPr>
              <a:t>Prediction: </a:t>
            </a:r>
            <a:r>
              <a:rPr lang="en-US" sz="2000" dirty="0"/>
              <a:t>if a firm’s ETR is higher (lower) than its MTR and the ETR is used for decision-making, such a firm is likely to underestimate (overestimate) the after-tax cash flows from investing and thus underinvest (overinvest).</a:t>
            </a:r>
          </a:p>
        </p:txBody>
      </p:sp>
      <p:pic>
        <p:nvPicPr>
          <p:cNvPr id="6" name="Picture 5">
            <a:extLst>
              <a:ext uri="{FF2B5EF4-FFF2-40B4-BE49-F238E27FC236}">
                <a16:creationId xmlns:a16="http://schemas.microsoft.com/office/drawing/2014/main" id="{8B565450-EDE5-3F2C-66C6-958F6FDE4459}"/>
              </a:ext>
            </a:extLst>
          </p:cNvPr>
          <p:cNvPicPr>
            <a:picLocks noChangeAspect="1"/>
          </p:cNvPicPr>
          <p:nvPr/>
        </p:nvPicPr>
        <p:blipFill>
          <a:blip r:embed="rId3"/>
          <a:stretch>
            <a:fillRect/>
          </a:stretch>
        </p:blipFill>
        <p:spPr>
          <a:xfrm>
            <a:off x="303723" y="1334277"/>
            <a:ext cx="6428985" cy="3288523"/>
          </a:xfrm>
          <a:prstGeom prst="rect">
            <a:avLst/>
          </a:prstGeom>
        </p:spPr>
      </p:pic>
      <p:sp>
        <p:nvSpPr>
          <p:cNvPr id="7" name="TextBox 6">
            <a:extLst>
              <a:ext uri="{FF2B5EF4-FFF2-40B4-BE49-F238E27FC236}">
                <a16:creationId xmlns:a16="http://schemas.microsoft.com/office/drawing/2014/main" id="{3168B034-178C-E6C7-68C4-CF97E510A6B7}"/>
              </a:ext>
            </a:extLst>
          </p:cNvPr>
          <p:cNvSpPr txBox="1"/>
          <p:nvPr/>
        </p:nvSpPr>
        <p:spPr>
          <a:xfrm>
            <a:off x="7306734" y="1676400"/>
            <a:ext cx="4309534" cy="1631216"/>
          </a:xfrm>
          <a:prstGeom prst="rect">
            <a:avLst/>
          </a:prstGeom>
          <a:noFill/>
        </p:spPr>
        <p:txBody>
          <a:bodyPr wrap="square" rtlCol="0">
            <a:spAutoFit/>
          </a:bodyPr>
          <a:lstStyle/>
          <a:p>
            <a:r>
              <a:rPr lang="en-US" sz="2000" dirty="0"/>
              <a:t>The first is estimated over firms that use the ETR and the second is estimated over firms that use the ETR and a matched sample of firms that use the MTR/STR</a:t>
            </a:r>
          </a:p>
        </p:txBody>
      </p:sp>
    </p:spTree>
    <p:extLst>
      <p:ext uri="{BB962C8B-B14F-4D97-AF65-F5344CB8AC3E}">
        <p14:creationId xmlns:p14="http://schemas.microsoft.com/office/powerpoint/2010/main" val="20414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650D-2979-3BF3-9A9E-2B35925F429B}"/>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207A7F1-3428-9A45-72E4-882165FC9956}"/>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7C3A185E-50BB-B673-98AE-7707A99D1D60}"/>
              </a:ext>
            </a:extLst>
          </p:cNvPr>
          <p:cNvSpPr>
            <a:spLocks noGrp="1"/>
          </p:cNvSpPr>
          <p:nvPr>
            <p:ph type="ctrTitle"/>
          </p:nvPr>
        </p:nvSpPr>
        <p:spPr>
          <a:xfrm>
            <a:off x="94891" y="59268"/>
            <a:ext cx="11852693" cy="516466"/>
          </a:xfrm>
        </p:spPr>
        <p:txBody>
          <a:bodyPr>
            <a:normAutofit fontScale="90000"/>
          </a:bodyPr>
          <a:lstStyle/>
          <a:p>
            <a:r>
              <a:rPr lang="en-US" sz="3600" b="1" dirty="0">
                <a:latin typeface="Arial" panose="020B0604020202020204" pitchFamily="34" charset="0"/>
                <a:cs typeface="Arial" panose="020B0604020202020204" pitchFamily="34" charset="0"/>
              </a:rPr>
              <a:t> Capital </a:t>
            </a:r>
            <a:r>
              <a:rPr lang="en-US" sz="3600" b="1" dirty="0">
                <a:solidFill>
                  <a:srgbClr val="FF0000"/>
                </a:solidFill>
                <a:latin typeface="Arial" panose="020B0604020202020204" pitchFamily="34" charset="0"/>
                <a:cs typeface="Arial" panose="020B0604020202020204" pitchFamily="34" charset="0"/>
              </a:rPr>
              <a:t>investment </a:t>
            </a:r>
            <a:r>
              <a:rPr lang="en-US" sz="3600" b="1" dirty="0">
                <a:latin typeface="Arial" panose="020B0604020202020204" pitchFamily="34" charset="0"/>
                <a:cs typeface="Arial" panose="020B0604020202020204" pitchFamily="34" charset="0"/>
              </a:rPr>
              <a:t>consequences of tax rate choices</a:t>
            </a:r>
          </a:p>
        </p:txBody>
      </p:sp>
      <p:pic>
        <p:nvPicPr>
          <p:cNvPr id="4" name="Picture 3">
            <a:extLst>
              <a:ext uri="{FF2B5EF4-FFF2-40B4-BE49-F238E27FC236}">
                <a16:creationId xmlns:a16="http://schemas.microsoft.com/office/drawing/2014/main" id="{D1FA7684-43FB-5A64-8F4A-28DBA285DED0}"/>
              </a:ext>
            </a:extLst>
          </p:cNvPr>
          <p:cNvPicPr>
            <a:picLocks noChangeAspect="1"/>
          </p:cNvPicPr>
          <p:nvPr/>
        </p:nvPicPr>
        <p:blipFill>
          <a:blip r:embed="rId3"/>
          <a:stretch>
            <a:fillRect/>
          </a:stretch>
        </p:blipFill>
        <p:spPr>
          <a:xfrm>
            <a:off x="94891" y="575734"/>
            <a:ext cx="5306842" cy="3750788"/>
          </a:xfrm>
          <a:prstGeom prst="rect">
            <a:avLst/>
          </a:prstGeom>
        </p:spPr>
      </p:pic>
      <p:sp>
        <p:nvSpPr>
          <p:cNvPr id="11" name="TextBox 10">
            <a:extLst>
              <a:ext uri="{FF2B5EF4-FFF2-40B4-BE49-F238E27FC236}">
                <a16:creationId xmlns:a16="http://schemas.microsoft.com/office/drawing/2014/main" id="{DC2B0119-CA5A-2DBB-E4C1-7277815A608D}"/>
              </a:ext>
            </a:extLst>
          </p:cNvPr>
          <p:cNvSpPr txBox="1"/>
          <p:nvPr/>
        </p:nvSpPr>
        <p:spPr>
          <a:xfrm>
            <a:off x="94891" y="4465064"/>
            <a:ext cx="11751733" cy="923330"/>
          </a:xfrm>
          <a:prstGeom prst="rect">
            <a:avLst/>
          </a:prstGeom>
          <a:noFill/>
        </p:spPr>
        <p:txBody>
          <a:bodyPr wrap="square">
            <a:spAutoFit/>
          </a:bodyPr>
          <a:lstStyle/>
          <a:p>
            <a:r>
              <a:rPr lang="en-US" dirty="0"/>
              <a:t>The estimated coefficients for |MTR A.I. – GAAP ETR|× Inv Opp and |MTR A.I. – GAAP ETR|× Inv Opp × Use GAAP ETR are negative and significant in six of eight specifications, suggesting that as the gap between a firm’s MTR and ETR widens, firms that use the ETR as the tax rate input for investment decisions become less responsive to their growth opportunities</a:t>
            </a:r>
          </a:p>
        </p:txBody>
      </p:sp>
      <p:pic>
        <p:nvPicPr>
          <p:cNvPr id="13" name="Picture 12">
            <a:extLst>
              <a:ext uri="{FF2B5EF4-FFF2-40B4-BE49-F238E27FC236}">
                <a16:creationId xmlns:a16="http://schemas.microsoft.com/office/drawing/2014/main" id="{F9D596D2-4B15-C31B-9BFD-3CFD5E5304DA}"/>
              </a:ext>
            </a:extLst>
          </p:cNvPr>
          <p:cNvPicPr>
            <a:picLocks noChangeAspect="1"/>
          </p:cNvPicPr>
          <p:nvPr/>
        </p:nvPicPr>
        <p:blipFill>
          <a:blip r:embed="rId4"/>
          <a:stretch>
            <a:fillRect/>
          </a:stretch>
        </p:blipFill>
        <p:spPr>
          <a:xfrm>
            <a:off x="6096000" y="655065"/>
            <a:ext cx="5087218" cy="3638503"/>
          </a:xfrm>
          <a:prstGeom prst="rect">
            <a:avLst/>
          </a:prstGeom>
        </p:spPr>
      </p:pic>
    </p:spTree>
    <p:extLst>
      <p:ext uri="{BB962C8B-B14F-4D97-AF65-F5344CB8AC3E}">
        <p14:creationId xmlns:p14="http://schemas.microsoft.com/office/powerpoint/2010/main" val="3116633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650D-2979-3BF3-9A9E-2B35925F429B}"/>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207A7F1-3428-9A45-72E4-882165FC9956}"/>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7C3A185E-50BB-B673-98AE-7707A99D1D60}"/>
              </a:ext>
            </a:extLst>
          </p:cNvPr>
          <p:cNvSpPr>
            <a:spLocks noGrp="1"/>
          </p:cNvSpPr>
          <p:nvPr>
            <p:ph type="ctrTitle"/>
          </p:nvPr>
        </p:nvSpPr>
        <p:spPr>
          <a:xfrm>
            <a:off x="94891" y="59268"/>
            <a:ext cx="11852693" cy="516466"/>
          </a:xfrm>
        </p:spPr>
        <p:txBody>
          <a:bodyPr>
            <a:normAutofit fontScale="90000"/>
          </a:bodyPr>
          <a:lstStyle/>
          <a:p>
            <a:r>
              <a:rPr lang="en-US" sz="3600" b="1" dirty="0">
                <a:latin typeface="Arial" panose="020B0604020202020204" pitchFamily="34" charset="0"/>
                <a:cs typeface="Arial" panose="020B0604020202020204" pitchFamily="34" charset="0"/>
              </a:rPr>
              <a:t> </a:t>
            </a:r>
            <a:r>
              <a:rPr lang="en-US" sz="2700" b="1" dirty="0">
                <a:latin typeface="Arial" panose="020B0604020202020204" pitchFamily="34" charset="0"/>
                <a:cs typeface="Arial" panose="020B0604020202020204" pitchFamily="34" charset="0"/>
              </a:rPr>
              <a:t>Additional Test _ Capital </a:t>
            </a:r>
            <a:r>
              <a:rPr lang="en-US" sz="2700" b="1" dirty="0">
                <a:solidFill>
                  <a:srgbClr val="FF0000"/>
                </a:solidFill>
                <a:latin typeface="Arial" panose="020B0604020202020204" pitchFamily="34" charset="0"/>
                <a:cs typeface="Arial" panose="020B0604020202020204" pitchFamily="34" charset="0"/>
              </a:rPr>
              <a:t>investment </a:t>
            </a:r>
            <a:r>
              <a:rPr lang="en-US" sz="2700" b="1" dirty="0">
                <a:latin typeface="Arial" panose="020B0604020202020204" pitchFamily="34" charset="0"/>
                <a:cs typeface="Arial" panose="020B0604020202020204" pitchFamily="34" charset="0"/>
              </a:rPr>
              <a:t>consequences of tax rate choices</a:t>
            </a:r>
          </a:p>
        </p:txBody>
      </p:sp>
      <p:pic>
        <p:nvPicPr>
          <p:cNvPr id="3" name="Picture 2">
            <a:extLst>
              <a:ext uri="{FF2B5EF4-FFF2-40B4-BE49-F238E27FC236}">
                <a16:creationId xmlns:a16="http://schemas.microsoft.com/office/drawing/2014/main" id="{6C0EEF5A-EA4E-3924-420E-CBAB79C5592D}"/>
              </a:ext>
            </a:extLst>
          </p:cNvPr>
          <p:cNvPicPr>
            <a:picLocks noChangeAspect="1"/>
          </p:cNvPicPr>
          <p:nvPr/>
        </p:nvPicPr>
        <p:blipFill>
          <a:blip r:embed="rId3"/>
          <a:stretch>
            <a:fillRect/>
          </a:stretch>
        </p:blipFill>
        <p:spPr>
          <a:xfrm>
            <a:off x="341314" y="921391"/>
            <a:ext cx="7563906" cy="2419688"/>
          </a:xfrm>
          <a:prstGeom prst="rect">
            <a:avLst/>
          </a:prstGeom>
        </p:spPr>
      </p:pic>
      <p:sp>
        <p:nvSpPr>
          <p:cNvPr id="7" name="TextBox 6">
            <a:extLst>
              <a:ext uri="{FF2B5EF4-FFF2-40B4-BE49-F238E27FC236}">
                <a16:creationId xmlns:a16="http://schemas.microsoft.com/office/drawing/2014/main" id="{BA2F6CA0-DD6A-7C29-CD7F-436C763A5000}"/>
              </a:ext>
            </a:extLst>
          </p:cNvPr>
          <p:cNvSpPr txBox="1"/>
          <p:nvPr/>
        </p:nvSpPr>
        <p:spPr>
          <a:xfrm>
            <a:off x="341314" y="3562910"/>
            <a:ext cx="8193086" cy="1569660"/>
          </a:xfrm>
          <a:prstGeom prst="rect">
            <a:avLst/>
          </a:prstGeom>
          <a:noFill/>
        </p:spPr>
        <p:txBody>
          <a:bodyPr wrap="square">
            <a:spAutoFit/>
          </a:bodyPr>
          <a:lstStyle/>
          <a:p>
            <a:r>
              <a:rPr lang="en-US" sz="2400" dirty="0"/>
              <a:t>Predicted capital expenditure for each firm-year is used as a proxy for optimal investment, assuming that financially unconstrained firms make optimal investment decisions on average</a:t>
            </a:r>
          </a:p>
        </p:txBody>
      </p:sp>
    </p:spTree>
    <p:extLst>
      <p:ext uri="{BB962C8B-B14F-4D97-AF65-F5344CB8AC3E}">
        <p14:creationId xmlns:p14="http://schemas.microsoft.com/office/powerpoint/2010/main" val="4261670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650D-2979-3BF3-9A9E-2B35925F429B}"/>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207A7F1-3428-9A45-72E4-882165FC9956}"/>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7C3A185E-50BB-B673-98AE-7707A99D1D60}"/>
              </a:ext>
            </a:extLst>
          </p:cNvPr>
          <p:cNvSpPr>
            <a:spLocks noGrp="1"/>
          </p:cNvSpPr>
          <p:nvPr>
            <p:ph type="ctrTitle"/>
          </p:nvPr>
        </p:nvSpPr>
        <p:spPr>
          <a:xfrm>
            <a:off x="94891" y="59268"/>
            <a:ext cx="11852693" cy="516466"/>
          </a:xfrm>
        </p:spPr>
        <p:txBody>
          <a:bodyPr>
            <a:normAutofit fontScale="90000"/>
          </a:bodyPr>
          <a:lstStyle/>
          <a:p>
            <a:r>
              <a:rPr lang="en-US" sz="3600" b="1" dirty="0">
                <a:latin typeface="Arial" panose="020B0604020202020204" pitchFamily="34" charset="0"/>
                <a:cs typeface="Arial" panose="020B0604020202020204" pitchFamily="34" charset="0"/>
              </a:rPr>
              <a:t> </a:t>
            </a:r>
            <a:r>
              <a:rPr lang="en-US" sz="2700" b="1" dirty="0">
                <a:latin typeface="Arial" panose="020B0604020202020204" pitchFamily="34" charset="0"/>
                <a:cs typeface="Arial" panose="020B0604020202020204" pitchFamily="34" charset="0"/>
              </a:rPr>
              <a:t>Additional </a:t>
            </a:r>
            <a:r>
              <a:rPr lang="en-US" sz="2700" b="1" dirty="0" err="1">
                <a:latin typeface="Arial" panose="020B0604020202020204" pitchFamily="34" charset="0"/>
                <a:cs typeface="Arial" panose="020B0604020202020204" pitchFamily="34" charset="0"/>
              </a:rPr>
              <a:t>Test_Capital</a:t>
            </a:r>
            <a:r>
              <a:rPr lang="en-US" sz="2700" b="1" dirty="0">
                <a:latin typeface="Arial" panose="020B0604020202020204" pitchFamily="34" charset="0"/>
                <a:cs typeface="Arial" panose="020B0604020202020204" pitchFamily="34" charset="0"/>
              </a:rPr>
              <a:t> </a:t>
            </a:r>
            <a:r>
              <a:rPr lang="en-US" sz="2700" b="1" dirty="0">
                <a:solidFill>
                  <a:srgbClr val="FF0000"/>
                </a:solidFill>
                <a:latin typeface="Arial" panose="020B0604020202020204" pitchFamily="34" charset="0"/>
                <a:cs typeface="Arial" panose="020B0604020202020204" pitchFamily="34" charset="0"/>
              </a:rPr>
              <a:t>investment </a:t>
            </a:r>
            <a:r>
              <a:rPr lang="en-US" sz="2700" b="1" dirty="0">
                <a:latin typeface="Arial" panose="020B0604020202020204" pitchFamily="34" charset="0"/>
                <a:cs typeface="Arial" panose="020B0604020202020204" pitchFamily="34" charset="0"/>
              </a:rPr>
              <a:t>consequences of tax rate choices</a:t>
            </a:r>
          </a:p>
        </p:txBody>
      </p:sp>
      <p:pic>
        <p:nvPicPr>
          <p:cNvPr id="4" name="Picture 3">
            <a:extLst>
              <a:ext uri="{FF2B5EF4-FFF2-40B4-BE49-F238E27FC236}">
                <a16:creationId xmlns:a16="http://schemas.microsoft.com/office/drawing/2014/main" id="{4DDA0688-2091-05B3-899E-29E039B123E9}"/>
              </a:ext>
            </a:extLst>
          </p:cNvPr>
          <p:cNvPicPr>
            <a:picLocks noChangeAspect="1"/>
          </p:cNvPicPr>
          <p:nvPr/>
        </p:nvPicPr>
        <p:blipFill>
          <a:blip r:embed="rId3"/>
          <a:stretch>
            <a:fillRect/>
          </a:stretch>
        </p:blipFill>
        <p:spPr>
          <a:xfrm>
            <a:off x="489978" y="810982"/>
            <a:ext cx="8011643" cy="3305636"/>
          </a:xfrm>
          <a:prstGeom prst="rect">
            <a:avLst/>
          </a:prstGeom>
        </p:spPr>
      </p:pic>
      <p:sp>
        <p:nvSpPr>
          <p:cNvPr id="8" name="TextBox 7">
            <a:extLst>
              <a:ext uri="{FF2B5EF4-FFF2-40B4-BE49-F238E27FC236}">
                <a16:creationId xmlns:a16="http://schemas.microsoft.com/office/drawing/2014/main" id="{407E209D-5599-29C3-D446-DF0D75032CA2}"/>
              </a:ext>
            </a:extLst>
          </p:cNvPr>
          <p:cNvSpPr txBox="1"/>
          <p:nvPr/>
        </p:nvSpPr>
        <p:spPr>
          <a:xfrm>
            <a:off x="753532" y="4351866"/>
            <a:ext cx="10549467" cy="1200329"/>
          </a:xfrm>
          <a:prstGeom prst="rect">
            <a:avLst/>
          </a:prstGeom>
          <a:noFill/>
        </p:spPr>
        <p:txBody>
          <a:bodyPr wrap="square">
            <a:spAutoFit/>
          </a:bodyPr>
          <a:lstStyle/>
          <a:p>
            <a:r>
              <a:rPr lang="en-US" dirty="0"/>
              <a:t>the coefficients for MTR A.I. – GAAP ETR and MTR A.I. – GAAP ETR × Use GAAP ETR are positive in all regressions and statistically significant in 2 of 4 regressions (these coefficients are not significant when MTRs are measured using the BCG approach), indicating that the efficiency of investment decreases with the MTR versus ETR wedge for firms that use the ETR as tax input</a:t>
            </a:r>
          </a:p>
        </p:txBody>
      </p:sp>
    </p:spTree>
    <p:extLst>
      <p:ext uri="{BB962C8B-B14F-4D97-AF65-F5344CB8AC3E}">
        <p14:creationId xmlns:p14="http://schemas.microsoft.com/office/powerpoint/2010/main" val="1335009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76200" y="685800"/>
            <a:ext cx="11652381" cy="4753947"/>
          </a:xfrm>
        </p:spPr>
        <p:txBody>
          <a:bodyPr>
            <a:normAutofit lnSpcReduction="10000"/>
          </a:bodyPr>
          <a:lstStyle/>
          <a:p>
            <a:pPr marL="571500" indent="-571500" algn="l">
              <a:buFont typeface="Arial" panose="020B0604020202020204" pitchFamily="34" charset="0"/>
              <a:buChar char="•"/>
            </a:pPr>
            <a:r>
              <a:rPr lang="en-US" dirty="0"/>
              <a:t>Many firms use the GAAP effective tax rate and the U.S. statutory tax rate as tax rate input and few firms use the marginal tax rate</a:t>
            </a:r>
          </a:p>
          <a:p>
            <a:pPr marL="571500" indent="-571500" algn="l">
              <a:buFont typeface="Arial" panose="020B0604020202020204" pitchFamily="34" charset="0"/>
              <a:buChar char="•"/>
            </a:pPr>
            <a:r>
              <a:rPr lang="en-US" dirty="0"/>
              <a:t>The difference between the STR and MTR is less than two percentage points for the vast majority of firms that use STR as the tax rate input for decision making, a result that is consistent with managers relying on simple heuristics in their decision-making process.</a:t>
            </a:r>
          </a:p>
          <a:p>
            <a:pPr marL="571500" indent="-571500" algn="l">
              <a:buFont typeface="Arial" panose="020B0604020202020204" pitchFamily="34" charset="0"/>
              <a:buChar char="•"/>
            </a:pPr>
            <a:r>
              <a:rPr lang="en-US" dirty="0"/>
              <a:t>Evidence consistent with a behavioral salience effect: Public firms are significantly more likely to use the GAAP ETR as tax rate input while private firms are more likely to use STRs in their decisions</a:t>
            </a:r>
          </a:p>
          <a:p>
            <a:pPr marL="571500" indent="-571500" algn="l">
              <a:buFont typeface="Arial" panose="020B0604020202020204" pitchFamily="34" charset="0"/>
              <a:buChar char="•"/>
            </a:pPr>
            <a:r>
              <a:rPr lang="en-US" dirty="0"/>
              <a:t>Firms using ETRs as the tax rate input for capital structure decisions adopt an aggressive (conservative) debt policy when their ETR is greater (less) than their MTR, costing the average firm $16 million (in 2006 dollars) in forgone value</a:t>
            </a:r>
            <a:endParaRPr lang="en-US" sz="2400" dirty="0"/>
          </a:p>
          <a:p>
            <a:pPr marL="571500" indent="-571500" algn="l">
              <a:buFont typeface="Arial" panose="020B0604020202020204" pitchFamily="34" charset="0"/>
              <a:buChar char="•"/>
            </a:pPr>
            <a:r>
              <a:rPr lang="en-US" dirty="0"/>
              <a:t>F</a:t>
            </a:r>
            <a:r>
              <a:rPr lang="en-US" sz="2400" dirty="0"/>
              <a:t>irms that use the ETR as the tax rate input for investment decisions are less responsive to investment opportunities when the difference between their firm’s MTR and ETR is large.</a:t>
            </a:r>
            <a:endParaRPr lang="en-US" sz="32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11762"/>
            <a:ext cx="9144000" cy="508336"/>
          </a:xfrm>
        </p:spPr>
        <p:txBody>
          <a:bodyPr>
            <a:normAutofit fontScale="90000"/>
          </a:bodyPr>
          <a:lstStyle/>
          <a:p>
            <a:r>
              <a:rPr lang="en-US" sz="3600" b="1" dirty="0">
                <a:latin typeface="Arial" panose="020B0604020202020204" pitchFamily="34" charset="0"/>
                <a:cs typeface="Arial" panose="020B0604020202020204" pitchFamily="34" charset="0"/>
              </a:rPr>
              <a:t>Conclusions</a:t>
            </a:r>
          </a:p>
        </p:txBody>
      </p:sp>
    </p:spTree>
    <p:extLst>
      <p:ext uri="{BB962C8B-B14F-4D97-AF65-F5344CB8AC3E}">
        <p14:creationId xmlns:p14="http://schemas.microsoft.com/office/powerpoint/2010/main" val="1794454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 y="829735"/>
            <a:ext cx="12073466" cy="4610012"/>
          </a:xfrm>
        </p:spPr>
        <p:txBody>
          <a:bodyPr>
            <a:noAutofit/>
          </a:bodyPr>
          <a:lstStyle/>
          <a:p>
            <a:pPr marL="571500" indent="-571500" algn="l">
              <a:buFont typeface="Arial" panose="020B0604020202020204" pitchFamily="34" charset="0"/>
              <a:buChar char="•"/>
            </a:pPr>
            <a:r>
              <a:rPr lang="en-US" dirty="0"/>
              <a:t>C</a:t>
            </a:r>
            <a:r>
              <a:rPr lang="en-US" sz="2400" dirty="0"/>
              <a:t>ontributes to the literature in psychology and behavioral economics that finds that agents often deviate from decision rules predicted by standard models, which assume agents optimize perfectly.</a:t>
            </a:r>
          </a:p>
          <a:p>
            <a:pPr marL="571500" indent="-571500" algn="l">
              <a:buFont typeface="Arial" panose="020B0604020202020204" pitchFamily="34" charset="0"/>
              <a:buChar char="•"/>
            </a:pPr>
            <a:r>
              <a:rPr lang="en-US"/>
              <a:t>contributes to the literature by providing further evidence that there is an association between taxes and corporate decisions, such as leverage and investment; associations that have drawn skepticism at times (e.g., Li, Whited, and Wu 2015)</a:t>
            </a:r>
            <a:r>
              <a:rPr lang="en-US" sz="2400"/>
              <a:t>.</a:t>
            </a:r>
            <a:endParaRPr lang="en-US" dirty="0"/>
          </a:p>
          <a:p>
            <a:pPr marL="571500" indent="-571500" algn="l">
              <a:buFont typeface="Arial" panose="020B0604020202020204" pitchFamily="34" charset="0"/>
              <a:buChar char="•"/>
            </a:pPr>
            <a:r>
              <a:rPr lang="en-US" dirty="0"/>
              <a:t>our paper responds to Baker and </a:t>
            </a:r>
            <a:r>
              <a:rPr lang="en-US" dirty="0" err="1"/>
              <a:t>Wurgler’s</a:t>
            </a:r>
            <a:r>
              <a:rPr lang="en-US" dirty="0"/>
              <a:t> (2013) call for research to examine whether behavioral biases help explain why managers do not more aggressively pursue the tax benefits of debt: We show and </a:t>
            </a:r>
            <a:r>
              <a:rPr lang="en-US" sz="2400" dirty="0"/>
              <a:t>provide a lower bound estimate of the negative economic effects from managers using the ETR in their decisions.</a:t>
            </a:r>
            <a:endParaRPr lang="en-US" sz="32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503854"/>
            <a:ext cx="9144000" cy="325880"/>
          </a:xfrm>
        </p:spPr>
        <p:txBody>
          <a:bodyPr>
            <a:normAutofit fontScale="90000"/>
          </a:bodyPr>
          <a:lstStyle/>
          <a:p>
            <a:r>
              <a:rPr lang="en-US" sz="3600" b="1" dirty="0">
                <a:latin typeface="Arial" panose="020B0604020202020204" pitchFamily="34" charset="0"/>
                <a:cs typeface="Arial" panose="020B0604020202020204" pitchFamily="34" charset="0"/>
              </a:rPr>
              <a:t>Marginal Contributions to Literature</a:t>
            </a:r>
          </a:p>
        </p:txBody>
      </p:sp>
    </p:spTree>
    <p:extLst>
      <p:ext uri="{BB962C8B-B14F-4D97-AF65-F5344CB8AC3E}">
        <p14:creationId xmlns:p14="http://schemas.microsoft.com/office/powerpoint/2010/main" val="7350657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3702</TotalTime>
  <Words>2058</Words>
  <Application>Microsoft Office PowerPoint</Application>
  <PresentationFormat>Widescreen</PresentationFormat>
  <Paragraphs>108</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Open Sans</vt:lpstr>
      <vt:lpstr>Office Theme</vt:lpstr>
      <vt:lpstr>Tax Rates and Corporate Decision Making</vt:lpstr>
      <vt:lpstr>Research Question:</vt:lpstr>
      <vt:lpstr>Prior Literature</vt:lpstr>
      <vt:lpstr>Survey methodology and sample</vt:lpstr>
      <vt:lpstr>The role of tax executives in organizations </vt:lpstr>
      <vt:lpstr>Descriptive statistics and non-response bias tests</vt:lpstr>
      <vt:lpstr>How do managers incorporate taxes into their decisions? </vt:lpstr>
      <vt:lpstr>How do managers incorporate taxes into their decisions? </vt:lpstr>
      <vt:lpstr>How do managers incorporate taxes into their decisions?</vt:lpstr>
      <vt:lpstr>Firm characteristics and the tax rate choice</vt:lpstr>
      <vt:lpstr>Firm characteristics and the tax rate choice</vt:lpstr>
      <vt:lpstr>Executive educational background and tax rate choice</vt:lpstr>
      <vt:lpstr> Capital structure consequences of tax rate choices</vt:lpstr>
      <vt:lpstr> Capital structure consequences of tax rate choices</vt:lpstr>
      <vt:lpstr> Capital structure consequences of tax rate choices</vt:lpstr>
      <vt:lpstr> Capital structure consequences of tax rate choices</vt:lpstr>
      <vt:lpstr> Capital structure consequences of tax rate choices</vt:lpstr>
      <vt:lpstr> Capital investment consequences of tax rate choices</vt:lpstr>
      <vt:lpstr> Capital investment consequences of tax rate choices</vt:lpstr>
      <vt:lpstr> Additional Test _ Capital investment consequences of tax rate choices</vt:lpstr>
      <vt:lpstr> Additional Test_Capital investment consequences of tax rate choices</vt:lpstr>
      <vt:lpstr>Conclusions</vt:lpstr>
      <vt:lpstr>Marginal Contributions to Literature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167</cp:revision>
  <dcterms:created xsi:type="dcterms:W3CDTF">2024-01-18T13:26:59Z</dcterms:created>
  <dcterms:modified xsi:type="dcterms:W3CDTF">2024-08-26T15:41:48Z</dcterms:modified>
</cp:coreProperties>
</file>