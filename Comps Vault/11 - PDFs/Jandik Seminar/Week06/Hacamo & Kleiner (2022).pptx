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78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6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54B4E-E435-4BE4-A80C-7FAA75FAD806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92B10-7737-4FA2-A97C-EDA416F57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72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5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dirty="0"/>
              <a:t>In </a:t>
            </a:r>
            <a:r>
              <a:rPr lang="en-US" sz="4000" b="1" dirty="0"/>
              <a:t>Equation 1</a:t>
            </a:r>
            <a:r>
              <a:rPr lang="en-US" sz="4000" dirty="0"/>
              <a:t>, we have a </a:t>
            </a:r>
            <a:r>
              <a:rPr lang="en-US" sz="4000" b="1" dirty="0"/>
              <a:t>conditional logit model</a:t>
            </a:r>
            <a:r>
              <a:rPr lang="en-US" sz="4000" dirty="0"/>
              <a:t> that estimates the </a:t>
            </a:r>
            <a:r>
              <a:rPr lang="en-US" sz="4000" b="1" dirty="0"/>
              <a:t>probability that graduate </a:t>
            </a:r>
            <a:r>
              <a:rPr lang="en-US" sz="4000" b="1" dirty="0" err="1"/>
              <a:t>i</a:t>
            </a:r>
            <a:r>
              <a:rPr lang="en-US" sz="4000" b="1" dirty="0"/>
              <a:t> is employed at firm j</a:t>
            </a:r>
            <a:r>
              <a:rPr lang="en-US" sz="4000" dirty="0"/>
              <a:t> after graduation. The model captures both individual-specific and firm-specific characteristics that influence the employment decision.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The term </a:t>
            </a:r>
            <a:r>
              <a:rPr lang="en-US" sz="4000" b="1" dirty="0"/>
              <a:t>βZᵢⱼ</a:t>
            </a:r>
            <a:r>
              <a:rPr lang="en-US" sz="4000" dirty="0"/>
              <a:t> represents </a:t>
            </a:r>
            <a:r>
              <a:rPr lang="en-US" sz="4000" b="1" dirty="0"/>
              <a:t>firm-specific characteristics</a:t>
            </a:r>
            <a:r>
              <a:rPr lang="en-US" sz="4000" dirty="0"/>
              <a:t>, such as the number of connections a graduate has to that firm, as well as </a:t>
            </a:r>
            <a:r>
              <a:rPr lang="en-US" sz="4000" b="1" dirty="0"/>
              <a:t>firm-year fixed effects</a:t>
            </a:r>
            <a:r>
              <a:rPr lang="en-US" sz="4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The term </a:t>
            </a:r>
            <a:r>
              <a:rPr lang="en-US" sz="4000" b="1" dirty="0" err="1"/>
              <a:t>ηⱼX</a:t>
            </a:r>
            <a:r>
              <a:rPr lang="en-US" sz="4000" b="1" dirty="0"/>
              <a:t>ᵢ</a:t>
            </a:r>
            <a:r>
              <a:rPr lang="en-US" sz="4000" dirty="0"/>
              <a:t> includes </a:t>
            </a:r>
            <a:r>
              <a:rPr lang="en-US" sz="4000" b="1" dirty="0"/>
              <a:t>individual-specific characteristics</a:t>
            </a:r>
            <a:r>
              <a:rPr lang="en-US" sz="4000" dirty="0"/>
              <a:t> of the graduate, such as their gender, nationality, race, GMAT score, and other personal attributes.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4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top-tier, mid-tier, and bottom-tier definitions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50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-Roman"/>
              </a:rPr>
              <a:t>Columns 1–2 and 4–5 define the network at the team level and define Connection as a binary variable that takes a value of one when the firm previously employed a student in that team.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-Roman"/>
              </a:rPr>
              <a:t>Columns 3 and 6 distinguish between whether the prior employee has a short or long-tenure (3 or more years) relationship with the prior employer.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40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Panel A: </a:t>
            </a:r>
            <a:r>
              <a:rPr lang="en-US" sz="1800" b="0" i="0" u="none" strike="noStrike" baseline="0" dirty="0">
                <a:latin typeface="Times-Roman"/>
              </a:rPr>
              <a:t>The effect of a team-level connection is larger than a cohort-level one.</a:t>
            </a:r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Panel B: Team connection is more important than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19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Connections matter more for high-ability graduates, likely benefitting the firms.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7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Cognitive ability is not equally distributed across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12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Firms tend to hire individuals with higher cognitive ability through social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44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-Roman"/>
              </a:rPr>
              <a:t>To confirm the results are not driven by the team assignment criteria, students are placed into placebo teams that retain the demographics of teams including gender, ethnicity, and nationality.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-Roman"/>
              </a:rPr>
              <a:t>We find no evidence that placebo team members affect student employment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92B10-7737-4FA2-A97C-EDA416F571B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3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2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7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7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7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7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4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7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4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0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6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titled-4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649"/>
            <a:ext cx="12204192" cy="10098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6C15A-DABA-4BCB-8DFA-255445BF2F7F}" type="datetimeFigureOut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7595E-7238-4F39-9C94-3FCB095D5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8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2F3F-9BCC-09B1-F869-3EE2524F2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Competing for Talent: Firms, Managers, and Social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9B1BF-EC86-216A-0216-AC0B99F01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3886200"/>
            <a:ext cx="10363201" cy="1752600"/>
          </a:xfrm>
        </p:spPr>
        <p:txBody>
          <a:bodyPr>
            <a:normAutofit/>
          </a:bodyPr>
          <a:lstStyle/>
          <a:p>
            <a:r>
              <a:rPr lang="en-US" dirty="0"/>
              <a:t>Isaac </a:t>
            </a:r>
            <a:r>
              <a:rPr lang="en-US" dirty="0" err="1"/>
              <a:t>Hacamo</a:t>
            </a:r>
            <a:r>
              <a:rPr lang="en-US" dirty="0"/>
              <a:t> and </a:t>
            </a:r>
            <a:r>
              <a:rPr lang="en-US" dirty="0" err="1"/>
              <a:t>Kristoph</a:t>
            </a:r>
            <a:r>
              <a:rPr lang="en-US" dirty="0"/>
              <a:t> Kleiner (2022)</a:t>
            </a:r>
          </a:p>
          <a:p>
            <a:r>
              <a:rPr lang="en-US" dirty="0"/>
              <a:t>Presented by Nicholas Thompson</a:t>
            </a:r>
          </a:p>
        </p:txBody>
      </p:sp>
    </p:spTree>
    <p:extLst>
      <p:ext uri="{BB962C8B-B14F-4D97-AF65-F5344CB8AC3E}">
        <p14:creationId xmlns:p14="http://schemas.microsoft.com/office/powerpoint/2010/main" val="269532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C64B-F571-5F73-4CBD-1A09355B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BFD04-1847-85C5-6CEA-9EFEDFC4C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social networks help firms recruit talented managers, particularly high-ability managers, and how do these networks influence recruitment outcomes?</a:t>
            </a:r>
          </a:p>
        </p:txBody>
      </p:sp>
    </p:spTree>
    <p:extLst>
      <p:ext uri="{BB962C8B-B14F-4D97-AF65-F5344CB8AC3E}">
        <p14:creationId xmlns:p14="http://schemas.microsoft.com/office/powerpoint/2010/main" val="417769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97D6-2423-B552-FA0E-10C91C6C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E8B2-DCD3-1F30-48F7-41E2C496E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Managers hold significant influence on firm performance (Bertrand &amp; </a:t>
            </a:r>
            <a:r>
              <a:rPr lang="en-US" dirty="0" err="1"/>
              <a:t>Schoar</a:t>
            </a:r>
            <a:r>
              <a:rPr lang="en-US" dirty="0"/>
              <a:t>, 2003; </a:t>
            </a:r>
            <a:r>
              <a:rPr lang="en-US" dirty="0" err="1"/>
              <a:t>Bennedsen</a:t>
            </a:r>
            <a:r>
              <a:rPr lang="en-US" dirty="0"/>
              <a:t>, Pérez-González, &amp; </a:t>
            </a:r>
            <a:r>
              <a:rPr lang="en-US" dirty="0" err="1"/>
              <a:t>Wolfenzon</a:t>
            </a:r>
            <a:r>
              <a:rPr lang="en-US" dirty="0"/>
              <a:t>, 2016; Chang, Dasgupta, &amp; Hilary, 2010; </a:t>
            </a:r>
            <a:r>
              <a:rPr lang="en-US" dirty="0" err="1"/>
              <a:t>Jenter</a:t>
            </a:r>
            <a:r>
              <a:rPr lang="en-US" dirty="0"/>
              <a:t>, </a:t>
            </a:r>
            <a:r>
              <a:rPr lang="en-US" dirty="0" err="1"/>
              <a:t>Matveyev</a:t>
            </a:r>
            <a:r>
              <a:rPr lang="en-US" dirty="0"/>
              <a:t>, &amp; Roth, 2020).</a:t>
            </a:r>
          </a:p>
          <a:p>
            <a:r>
              <a:rPr lang="en-US" dirty="0"/>
              <a:t>Connections are decisive in CEO hiring as most new CEOs have close connections to the hiring firm (</a:t>
            </a:r>
            <a:r>
              <a:rPr lang="en-US" dirty="0" err="1"/>
              <a:t>Cziraki</a:t>
            </a:r>
            <a:r>
              <a:rPr lang="en-US" dirty="0"/>
              <a:t> &amp; </a:t>
            </a:r>
            <a:r>
              <a:rPr lang="en-US" dirty="0" err="1"/>
              <a:t>Jenter</a:t>
            </a:r>
            <a:r>
              <a:rPr lang="en-US" dirty="0"/>
              <a:t>, 2020).</a:t>
            </a:r>
          </a:p>
          <a:p>
            <a:r>
              <a:rPr lang="en-US" dirty="0"/>
              <a:t>Labor economics literature (Beaman &amp; Magruder, 2012; </a:t>
            </a:r>
            <a:r>
              <a:rPr lang="en-US" dirty="0" err="1"/>
              <a:t>Dustmann</a:t>
            </a:r>
            <a:r>
              <a:rPr lang="en-US" dirty="0"/>
              <a:t> et al., 2015; Burks et al., 2015; </a:t>
            </a:r>
            <a:r>
              <a:rPr lang="en-US" dirty="0" err="1"/>
              <a:t>Pallais</a:t>
            </a:r>
            <a:r>
              <a:rPr lang="en-US" dirty="0"/>
              <a:t> &amp; Sands, 2016; Brown, </a:t>
            </a:r>
            <a:r>
              <a:rPr lang="en-US" dirty="0" err="1"/>
              <a:t>Setren</a:t>
            </a:r>
            <a:r>
              <a:rPr lang="en-US" dirty="0"/>
              <a:t>, &amp; </a:t>
            </a:r>
            <a:r>
              <a:rPr lang="en-US" dirty="0" err="1"/>
              <a:t>Topa</a:t>
            </a:r>
            <a:r>
              <a:rPr lang="en-US" dirty="0"/>
              <a:t>, 2016; Heath, 2018) shows that firms benefit from the networks of their employees.</a:t>
            </a:r>
          </a:p>
          <a:p>
            <a:r>
              <a:rPr lang="en-US" dirty="0" err="1"/>
              <a:t>Granovetter</a:t>
            </a:r>
            <a:r>
              <a:rPr lang="en-US" dirty="0"/>
              <a:t> (1977) emphasizes weak ties in finding employment, while Gee, Jones, and Burke (2017) argue that strong ties have a greater influence on job outcomes.</a:t>
            </a:r>
          </a:p>
        </p:txBody>
      </p:sp>
    </p:spTree>
    <p:extLst>
      <p:ext uri="{BB962C8B-B14F-4D97-AF65-F5344CB8AC3E}">
        <p14:creationId xmlns:p14="http://schemas.microsoft.com/office/powerpoint/2010/main" val="25659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1E51-5A6E-5E90-D450-65A52067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F45A7-1CFE-C7AC-5BB6-14FE6E36F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44279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Hypothesis 1</a:t>
            </a:r>
            <a:r>
              <a:rPr lang="en-US" dirty="0"/>
              <a:t>: Social connections increase the likelihood a given manager joins a given firm.</a:t>
            </a:r>
          </a:p>
          <a:p>
            <a:r>
              <a:rPr lang="en-US" b="1" dirty="0"/>
              <a:t>Hypothesis 2a</a:t>
            </a:r>
            <a:r>
              <a:rPr lang="en-US" dirty="0"/>
              <a:t>: The effect of social connections is greater for less-known firms.</a:t>
            </a:r>
          </a:p>
          <a:p>
            <a:r>
              <a:rPr lang="en-US" b="1" dirty="0"/>
              <a:t>Hypothesis 2b</a:t>
            </a:r>
            <a:r>
              <a:rPr lang="en-US" dirty="0"/>
              <a:t>: The effect of social connections is greater for tight relationships.</a:t>
            </a:r>
          </a:p>
          <a:p>
            <a:r>
              <a:rPr lang="en-US" b="1" dirty="0"/>
              <a:t>Hypothesis 3</a:t>
            </a:r>
            <a:r>
              <a:rPr lang="en-US" dirty="0"/>
              <a:t>: Social connections increase the likelihood a given high-ability manager joins a given firm relative to a low-ability manager.</a:t>
            </a:r>
          </a:p>
          <a:p>
            <a:r>
              <a:rPr lang="en-US" b="1" dirty="0"/>
              <a:t>Hypothesis 4</a:t>
            </a:r>
            <a:r>
              <a:rPr lang="en-US" dirty="0"/>
              <a:t>: Managerial social connections affect employment outcomes by influencing the preferences of applicants.</a:t>
            </a:r>
          </a:p>
        </p:txBody>
      </p:sp>
    </p:spTree>
    <p:extLst>
      <p:ext uri="{BB962C8B-B14F-4D97-AF65-F5344CB8AC3E}">
        <p14:creationId xmlns:p14="http://schemas.microsoft.com/office/powerpoint/2010/main" val="3745188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97E-B53F-13C3-43B1-58C4DAE4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432A-8E5A-A5BA-BD41-7E2B1E6AB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Indiana University MBA Program</a:t>
            </a:r>
          </a:p>
          <a:p>
            <a:pPr lvl="1"/>
            <a:r>
              <a:rPr lang="en-US" dirty="0"/>
              <a:t>Sample includes 2,176 MBA graduates from Indiana University (2003-2013).</a:t>
            </a:r>
          </a:p>
          <a:p>
            <a:pPr lvl="1"/>
            <a:r>
              <a:rPr lang="en-US" dirty="0"/>
              <a:t>Information on cohort and team assignments, GMAT scores, classroom performance, and demographic data.</a:t>
            </a:r>
          </a:p>
          <a:p>
            <a:r>
              <a:rPr lang="en-US" dirty="0"/>
              <a:t>LinkedIn Employment Records</a:t>
            </a:r>
          </a:p>
          <a:p>
            <a:pPr lvl="1"/>
            <a:r>
              <a:rPr lang="en-US" dirty="0"/>
              <a:t>Individual level employment data from LinkedIn, tracking career paths of graduates over the first five years post-MBA.</a:t>
            </a:r>
          </a:p>
          <a:p>
            <a:pPr lvl="1"/>
            <a:r>
              <a:rPr lang="en-US" dirty="0"/>
              <a:t>Firm-level data, including industry, location, and hiring practices.</a:t>
            </a:r>
          </a:p>
        </p:txBody>
      </p:sp>
    </p:spTree>
    <p:extLst>
      <p:ext uri="{BB962C8B-B14F-4D97-AF65-F5344CB8AC3E}">
        <p14:creationId xmlns:p14="http://schemas.microsoft.com/office/powerpoint/2010/main" val="376894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3F173-D167-8212-6F1F-07C65C920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6" y="15902"/>
            <a:ext cx="11838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35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C4D04-2280-8A2D-235B-295DD65C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8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775C83-2731-F220-AFEA-C361E1E98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319" y="0"/>
            <a:ext cx="74793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21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EB1A3-C0B2-E3F2-01DB-5858FB5A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89" y="0"/>
            <a:ext cx="76858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4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1EEBB-5D43-DC74-5483-119CF5C99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54" y="0"/>
            <a:ext cx="7309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3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8B368-7619-6B26-821E-A62D4C113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474" y="0"/>
            <a:ext cx="681652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2388D5-F025-352D-29E5-E4688030CB71}"/>
              </a:ext>
            </a:extLst>
          </p:cNvPr>
          <p:cNvSpPr/>
          <p:nvPr/>
        </p:nvSpPr>
        <p:spPr>
          <a:xfrm>
            <a:off x="2894474" y="1375576"/>
            <a:ext cx="6816520" cy="108137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626EC-4E14-2B69-266B-C3B0652E6FB9}"/>
              </a:ext>
            </a:extLst>
          </p:cNvPr>
          <p:cNvSpPr/>
          <p:nvPr/>
        </p:nvSpPr>
        <p:spPr>
          <a:xfrm>
            <a:off x="2894474" y="4573326"/>
            <a:ext cx="6816520" cy="108137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5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F1E77-46B9-40FA-8E58-4F420D05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81" y="0"/>
            <a:ext cx="8364037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3CB73-4FDF-5C9C-107B-297F4E8BEC6F}"/>
              </a:ext>
            </a:extLst>
          </p:cNvPr>
          <p:cNvSpPr/>
          <p:nvPr/>
        </p:nvSpPr>
        <p:spPr>
          <a:xfrm>
            <a:off x="1913980" y="1510748"/>
            <a:ext cx="8364037" cy="46912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D0E5B-F98E-2BA5-6E46-EB3D5DF3E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177" y="0"/>
            <a:ext cx="899364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0179F4-9422-FF50-BB65-3204B17907A7}"/>
              </a:ext>
            </a:extLst>
          </p:cNvPr>
          <p:cNvSpPr/>
          <p:nvPr/>
        </p:nvSpPr>
        <p:spPr>
          <a:xfrm>
            <a:off x="1599177" y="1804946"/>
            <a:ext cx="8993646" cy="56454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0E6E3-56C5-7E5A-6E4F-AB9B92378EAA}"/>
              </a:ext>
            </a:extLst>
          </p:cNvPr>
          <p:cNvSpPr/>
          <p:nvPr/>
        </p:nvSpPr>
        <p:spPr>
          <a:xfrm>
            <a:off x="1599177" y="5010647"/>
            <a:ext cx="8993646" cy="92102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8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77D407-1F5D-F858-A1C2-4B3DCACD7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05" y="0"/>
            <a:ext cx="812739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AC54C5-37D6-E621-2349-81B9335D480E}"/>
              </a:ext>
            </a:extLst>
          </p:cNvPr>
          <p:cNvSpPr/>
          <p:nvPr/>
        </p:nvSpPr>
        <p:spPr>
          <a:xfrm>
            <a:off x="2032304" y="1804947"/>
            <a:ext cx="8127389" cy="50093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9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4F03E-A086-DB2D-B144-5CF081906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917" y="0"/>
            <a:ext cx="91781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7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4F993-589C-E070-5FA3-F1AFD700D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236" y="0"/>
            <a:ext cx="7855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0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A3B73-B372-3090-E0BB-98050D944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77" y="318653"/>
            <a:ext cx="9459645" cy="62206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3C4963-80C9-09E5-4FFE-3487250FB791}"/>
              </a:ext>
            </a:extLst>
          </p:cNvPr>
          <p:cNvSpPr/>
          <p:nvPr/>
        </p:nvSpPr>
        <p:spPr>
          <a:xfrm>
            <a:off x="1366177" y="1876508"/>
            <a:ext cx="9459645" cy="500931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54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12353-D780-8CF7-36A6-73BE8F49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752" y="0"/>
            <a:ext cx="66084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32E04E-C1C2-9477-2BB0-282511729994}"/>
              </a:ext>
            </a:extLst>
          </p:cNvPr>
          <p:cNvSpPr/>
          <p:nvPr/>
        </p:nvSpPr>
        <p:spPr>
          <a:xfrm>
            <a:off x="2791752" y="3045351"/>
            <a:ext cx="6608496" cy="38365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F66659-1589-C53B-3AB3-346FAB24DA45}"/>
              </a:ext>
            </a:extLst>
          </p:cNvPr>
          <p:cNvSpPr/>
          <p:nvPr/>
        </p:nvSpPr>
        <p:spPr>
          <a:xfrm>
            <a:off x="6368995" y="675860"/>
            <a:ext cx="811033" cy="1789043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2DE506-ED6E-B4B1-A31F-AF474ED35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569" y="0"/>
            <a:ext cx="7058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75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7BA9-DC7D-1E52-584C-6B57F42E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E02E1-3165-F0CB-E822-638579C04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Social Networks Boost Recruitment</a:t>
            </a:r>
            <a:r>
              <a:rPr lang="en-US" dirty="0"/>
              <a:t>: Social connections through former employees significantly increase the likelihood of firms hiring high-ability managers, while having little effect on low-ability managers.</a:t>
            </a:r>
          </a:p>
          <a:p>
            <a:r>
              <a:rPr lang="en-US" b="1" dirty="0"/>
              <a:t>Informational Role of Networks</a:t>
            </a:r>
            <a:r>
              <a:rPr lang="en-US" dirty="0"/>
              <a:t>: Networks provide information on firm fundamentals, making them an important factor in managerial recruitment, particularly for non-local firms and for those lacking formal recruitment resources.</a:t>
            </a:r>
          </a:p>
          <a:p>
            <a:r>
              <a:rPr lang="en-US" b="1" dirty="0"/>
              <a:t>Importance of Strong Ties</a:t>
            </a:r>
            <a:r>
              <a:rPr lang="en-US" dirty="0"/>
              <a:t>: Strong social ties (e.g., team members) have a larger impact than weak ties (e.g., cohort members), with connections living nearby exerting the most influence.</a:t>
            </a:r>
          </a:p>
          <a:p>
            <a:r>
              <a:rPr lang="en-US" b="1" dirty="0"/>
              <a:t>Differentiated Effects for High-Ability Managers</a:t>
            </a:r>
            <a:r>
              <a:rPr lang="en-US" dirty="0"/>
              <a:t>: High-ability managers (measured by GMAT scores and academic performance) benefit most from social networks, being more likely to secure positions at top-tier firms.</a:t>
            </a:r>
          </a:p>
        </p:txBody>
      </p:sp>
    </p:spTree>
    <p:extLst>
      <p:ext uri="{BB962C8B-B14F-4D97-AF65-F5344CB8AC3E}">
        <p14:creationId xmlns:p14="http://schemas.microsoft.com/office/powerpoint/2010/main" val="4105117460"/>
      </p:ext>
    </p:extLst>
  </p:cSld>
  <p:clrMapOvr>
    <a:masterClrMapping/>
  </p:clrMapOvr>
</p:sld>
</file>

<file path=ppt/theme/theme1.xml><?xml version="1.0" encoding="utf-8"?>
<a:theme xmlns:a="http://schemas.openxmlformats.org/drawingml/2006/main" name="WCOB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COB Theme" id="{DF967ADD-BC05-483B-AB52-67CF82BC061D}" vid="{FC698281-B06B-48E0-B35B-6E92E503CB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WCOB Theme</Template>
  <TotalTime>281</TotalTime>
  <Words>763</Words>
  <Application>Microsoft Office PowerPoint</Application>
  <PresentationFormat>Widescreen</PresentationFormat>
  <Paragraphs>50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Times-Roman</vt:lpstr>
      <vt:lpstr>WCOB Theme</vt:lpstr>
      <vt:lpstr>Competing for Talent: Firms, Managers, and Social Networks</vt:lpstr>
      <vt:lpstr>Research question</vt:lpstr>
      <vt:lpstr>Prior literature</vt:lpstr>
      <vt:lpstr>Hypotheses</vt:lpstr>
      <vt:lpstr>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Thompson</dc:creator>
  <cp:lastModifiedBy>Nicholas Thompson</cp:lastModifiedBy>
  <cp:revision>2</cp:revision>
  <dcterms:created xsi:type="dcterms:W3CDTF">2024-09-21T05:39:36Z</dcterms:created>
  <dcterms:modified xsi:type="dcterms:W3CDTF">2024-09-21T19:45:56Z</dcterms:modified>
</cp:coreProperties>
</file>