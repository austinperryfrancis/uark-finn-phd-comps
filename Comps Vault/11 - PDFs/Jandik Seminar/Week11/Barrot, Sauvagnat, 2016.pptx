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315" r:id="rId6"/>
    <p:sldId id="346" r:id="rId7"/>
    <p:sldId id="530" r:id="rId8"/>
    <p:sldId id="531" r:id="rId9"/>
    <p:sldId id="554" r:id="rId10"/>
    <p:sldId id="533" r:id="rId11"/>
    <p:sldId id="534" r:id="rId12"/>
    <p:sldId id="535" r:id="rId13"/>
    <p:sldId id="536" r:id="rId14"/>
    <p:sldId id="537" r:id="rId15"/>
    <p:sldId id="538" r:id="rId16"/>
    <p:sldId id="539" r:id="rId17"/>
    <p:sldId id="540" r:id="rId18"/>
    <p:sldId id="541" r:id="rId19"/>
    <p:sldId id="542" r:id="rId20"/>
    <p:sldId id="543" r:id="rId21"/>
    <p:sldId id="544" r:id="rId22"/>
    <p:sldId id="545" r:id="rId23"/>
    <p:sldId id="546" r:id="rId24"/>
    <p:sldId id="547" r:id="rId25"/>
    <p:sldId id="548" r:id="rId26"/>
    <p:sldId id="549" r:id="rId27"/>
    <p:sldId id="550" r:id="rId28"/>
    <p:sldId id="551" r:id="rId29"/>
    <p:sldId id="553" r:id="rId30"/>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31"/>
            <p14:sldId id="554"/>
            <p14:sldId id="533"/>
            <p14:sldId id="534"/>
            <p14:sldId id="535"/>
            <p14:sldId id="536"/>
            <p14:sldId id="537"/>
            <p14:sldId id="538"/>
            <p14:sldId id="539"/>
            <p14:sldId id="540"/>
            <p14:sldId id="541"/>
            <p14:sldId id="542"/>
            <p14:sldId id="543"/>
            <p14:sldId id="544"/>
            <p14:sldId id="545"/>
            <p14:sldId id="546"/>
            <p14:sldId id="547"/>
            <p14:sldId id="548"/>
            <p14:sldId id="549"/>
            <p14:sldId id="550"/>
            <p14:sldId id="551"/>
            <p14:sldId id="553"/>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73B02-1446-4B7F-AF23-B2EC72A1A2A4}" v="11" dt="2024-11-05T14:41:04.4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40" autoAdjust="0"/>
    <p:restoredTop sz="70588" autoAdjust="0"/>
  </p:normalViewPr>
  <p:slideViewPr>
    <p:cSldViewPr snapToGrid="0">
      <p:cViewPr varScale="1">
        <p:scale>
          <a:sx n="77" d="100"/>
          <a:sy n="77" d="100"/>
        </p:scale>
        <p:origin x="1440" y="53"/>
      </p:cViewPr>
      <p:guideLst>
        <p:guide orient="horz" pos="1620"/>
        <p:guide pos="2880"/>
      </p:guideLst>
    </p:cSldViewPr>
  </p:slideViewPr>
  <p:notesTextViewPr>
    <p:cViewPr>
      <p:scale>
        <a:sx n="1" d="1"/>
        <a:sy n="1" d="1"/>
      </p:scale>
      <p:origin x="0" y="-35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d9206161-76a2-4d0d-bb71-2bac416203d9" providerId="ADAL" clId="{4A273B02-1446-4B7F-AF23-B2EC72A1A2A4}"/>
    <pc:docChg chg="undo redo custSel addSld delSld modSld modSection">
      <pc:chgData name="Austin Francis" userId="d9206161-76a2-4d0d-bb71-2bac416203d9" providerId="ADAL" clId="{4A273B02-1446-4B7F-AF23-B2EC72A1A2A4}" dt="2024-11-05T14:47:32.539" v="617"/>
      <pc:docMkLst>
        <pc:docMk/>
      </pc:docMkLst>
      <pc:sldChg chg="modSp mod">
        <pc:chgData name="Austin Francis" userId="d9206161-76a2-4d0d-bb71-2bac416203d9" providerId="ADAL" clId="{4A273B02-1446-4B7F-AF23-B2EC72A1A2A4}" dt="2024-11-05T00:48:25.696" v="168" actId="27636"/>
        <pc:sldMkLst>
          <pc:docMk/>
          <pc:sldMk cId="875954484" sldId="256"/>
        </pc:sldMkLst>
        <pc:spChg chg="mod">
          <ac:chgData name="Austin Francis" userId="d9206161-76a2-4d0d-bb71-2bac416203d9" providerId="ADAL" clId="{4A273B02-1446-4B7F-AF23-B2EC72A1A2A4}" dt="2024-11-05T00:47:20.469" v="96" actId="20577"/>
          <ac:spMkLst>
            <pc:docMk/>
            <pc:sldMk cId="875954484" sldId="256"/>
            <ac:spMk id="2" creationId="{00000000-0000-0000-0000-000000000000}"/>
          </ac:spMkLst>
        </pc:spChg>
        <pc:spChg chg="mod">
          <ac:chgData name="Austin Francis" userId="d9206161-76a2-4d0d-bb71-2bac416203d9" providerId="ADAL" clId="{4A273B02-1446-4B7F-AF23-B2EC72A1A2A4}" dt="2024-11-05T00:48:25.696" v="168" actId="27636"/>
          <ac:spMkLst>
            <pc:docMk/>
            <pc:sldMk cId="875954484" sldId="256"/>
            <ac:spMk id="3" creationId="{00000000-0000-0000-0000-000000000000}"/>
          </ac:spMkLst>
        </pc:spChg>
      </pc:sldChg>
      <pc:sldChg chg="modSp mod modNotesTx">
        <pc:chgData name="Austin Francis" userId="d9206161-76a2-4d0d-bb71-2bac416203d9" providerId="ADAL" clId="{4A273B02-1446-4B7F-AF23-B2EC72A1A2A4}" dt="2024-11-05T01:12:29.238" v="329" actId="20577"/>
        <pc:sldMkLst>
          <pc:docMk/>
          <pc:sldMk cId="718245954" sldId="315"/>
        </pc:sldMkLst>
        <pc:spChg chg="mod">
          <ac:chgData name="Austin Francis" userId="d9206161-76a2-4d0d-bb71-2bac416203d9" providerId="ADAL" clId="{4A273B02-1446-4B7F-AF23-B2EC72A1A2A4}" dt="2024-11-05T01:11:45.759" v="315"/>
          <ac:spMkLst>
            <pc:docMk/>
            <pc:sldMk cId="718245954" sldId="315"/>
            <ac:spMk id="3" creationId="{EC44ADDE-7BAE-4D27-8839-0025B3A2D42C}"/>
          </ac:spMkLst>
        </pc:spChg>
      </pc:sldChg>
      <pc:sldChg chg="addSp modSp mod">
        <pc:chgData name="Austin Francis" userId="d9206161-76a2-4d0d-bb71-2bac416203d9" providerId="ADAL" clId="{4A273B02-1446-4B7F-AF23-B2EC72A1A2A4}" dt="2024-11-05T14:41:34.865" v="592" actId="1076"/>
        <pc:sldMkLst>
          <pc:docMk/>
          <pc:sldMk cId="869680711" sldId="346"/>
        </pc:sldMkLst>
        <pc:spChg chg="mod">
          <ac:chgData name="Austin Francis" userId="d9206161-76a2-4d0d-bb71-2bac416203d9" providerId="ADAL" clId="{4A273B02-1446-4B7F-AF23-B2EC72A1A2A4}" dt="2024-11-05T14:41:34.865" v="592" actId="1076"/>
          <ac:spMkLst>
            <pc:docMk/>
            <pc:sldMk cId="869680711" sldId="346"/>
            <ac:spMk id="3" creationId="{EC44ADDE-7BAE-4D27-8839-0025B3A2D42C}"/>
          </ac:spMkLst>
        </pc:spChg>
        <pc:spChg chg="add">
          <ac:chgData name="Austin Francis" userId="d9206161-76a2-4d0d-bb71-2bac416203d9" providerId="ADAL" clId="{4A273B02-1446-4B7F-AF23-B2EC72A1A2A4}" dt="2024-11-05T01:13:13.236" v="340"/>
          <ac:spMkLst>
            <pc:docMk/>
            <pc:sldMk cId="869680711" sldId="346"/>
            <ac:spMk id="4" creationId="{F8B99E0A-4D22-4D77-765A-87BB7BB17D2C}"/>
          </ac:spMkLst>
        </pc:spChg>
        <pc:spChg chg="add">
          <ac:chgData name="Austin Francis" userId="d9206161-76a2-4d0d-bb71-2bac416203d9" providerId="ADAL" clId="{4A273B02-1446-4B7F-AF23-B2EC72A1A2A4}" dt="2024-11-05T01:13:16.223" v="341"/>
          <ac:spMkLst>
            <pc:docMk/>
            <pc:sldMk cId="869680711" sldId="346"/>
            <ac:spMk id="5" creationId="{E9AD13D4-59B8-EDCD-6F6C-B2D88477B4C9}"/>
          </ac:spMkLst>
        </pc:spChg>
      </pc:sldChg>
      <pc:sldChg chg="del">
        <pc:chgData name="Austin Francis" userId="d9206161-76a2-4d0d-bb71-2bac416203d9" providerId="ADAL" clId="{4A273B02-1446-4B7F-AF23-B2EC72A1A2A4}" dt="2024-11-05T00:48:39.440" v="169" actId="2696"/>
        <pc:sldMkLst>
          <pc:docMk/>
          <pc:sldMk cId="3235664569" sldId="515"/>
        </pc:sldMkLst>
      </pc:sldChg>
      <pc:sldChg chg="modSp mod modNotesTx">
        <pc:chgData name="Austin Francis" userId="d9206161-76a2-4d0d-bb71-2bac416203d9" providerId="ADAL" clId="{4A273B02-1446-4B7F-AF23-B2EC72A1A2A4}" dt="2024-11-05T01:14:06.720" v="349"/>
        <pc:sldMkLst>
          <pc:docMk/>
          <pc:sldMk cId="3996482289" sldId="530"/>
        </pc:sldMkLst>
        <pc:spChg chg="mod">
          <ac:chgData name="Austin Francis" userId="d9206161-76a2-4d0d-bb71-2bac416203d9" providerId="ADAL" clId="{4A273B02-1446-4B7F-AF23-B2EC72A1A2A4}" dt="2024-11-05T01:13:55.836" v="348"/>
          <ac:spMkLst>
            <pc:docMk/>
            <pc:sldMk cId="3996482289" sldId="530"/>
            <ac:spMk id="3" creationId="{77B4ECBA-3526-6C84-D51B-7013452FF46B}"/>
          </ac:spMkLst>
        </pc:spChg>
      </pc:sldChg>
      <pc:sldChg chg="modSp mod modNotesTx">
        <pc:chgData name="Austin Francis" userId="d9206161-76a2-4d0d-bb71-2bac416203d9" providerId="ADAL" clId="{4A273B02-1446-4B7F-AF23-B2EC72A1A2A4}" dt="2024-11-05T01:20:12.893" v="382" actId="1076"/>
        <pc:sldMkLst>
          <pc:docMk/>
          <pc:sldMk cId="144076704" sldId="531"/>
        </pc:sldMkLst>
        <pc:spChg chg="mod">
          <ac:chgData name="Austin Francis" userId="d9206161-76a2-4d0d-bb71-2bac416203d9" providerId="ADAL" clId="{4A273B02-1446-4B7F-AF23-B2EC72A1A2A4}" dt="2024-11-05T01:20:12.893" v="382" actId="1076"/>
          <ac:spMkLst>
            <pc:docMk/>
            <pc:sldMk cId="144076704" sldId="531"/>
            <ac:spMk id="2" creationId="{2A67CD4B-C4C6-9D72-EEB6-51AD7218BC16}"/>
          </ac:spMkLst>
        </pc:spChg>
        <pc:spChg chg="mod">
          <ac:chgData name="Austin Francis" userId="d9206161-76a2-4d0d-bb71-2bac416203d9" providerId="ADAL" clId="{4A273B02-1446-4B7F-AF23-B2EC72A1A2A4}" dt="2024-11-05T01:20:10.378" v="381" actId="1076"/>
          <ac:spMkLst>
            <pc:docMk/>
            <pc:sldMk cId="144076704" sldId="531"/>
            <ac:spMk id="3" creationId="{EAB73B4E-31D4-F34C-B410-EB6A2B8EEEC3}"/>
          </ac:spMkLst>
        </pc:spChg>
      </pc:sldChg>
      <pc:sldChg chg="modSp mod">
        <pc:chgData name="Austin Francis" userId="d9206161-76a2-4d0d-bb71-2bac416203d9" providerId="ADAL" clId="{4A273B02-1446-4B7F-AF23-B2EC72A1A2A4}" dt="2024-11-05T01:23:37.409" v="404" actId="27636"/>
        <pc:sldMkLst>
          <pc:docMk/>
          <pc:sldMk cId="2280721630" sldId="533"/>
        </pc:sldMkLst>
        <pc:spChg chg="mod">
          <ac:chgData name="Austin Francis" userId="d9206161-76a2-4d0d-bb71-2bac416203d9" providerId="ADAL" clId="{4A273B02-1446-4B7F-AF23-B2EC72A1A2A4}" dt="2024-11-05T01:23:37.409" v="404" actId="27636"/>
          <ac:spMkLst>
            <pc:docMk/>
            <pc:sldMk cId="2280721630" sldId="533"/>
            <ac:spMk id="3" creationId="{AFB31E7E-BB03-7F85-9FA9-B35E5C0A08A1}"/>
          </ac:spMkLst>
        </pc:spChg>
      </pc:sldChg>
      <pc:sldChg chg="modSp mod">
        <pc:chgData name="Austin Francis" userId="d9206161-76a2-4d0d-bb71-2bac416203d9" providerId="ADAL" clId="{4A273B02-1446-4B7F-AF23-B2EC72A1A2A4}" dt="2024-11-05T01:25:10.246" v="417" actId="1076"/>
        <pc:sldMkLst>
          <pc:docMk/>
          <pc:sldMk cId="102931800" sldId="534"/>
        </pc:sldMkLst>
        <pc:spChg chg="mod">
          <ac:chgData name="Austin Francis" userId="d9206161-76a2-4d0d-bb71-2bac416203d9" providerId="ADAL" clId="{4A273B02-1446-4B7F-AF23-B2EC72A1A2A4}" dt="2024-11-05T01:25:07.586" v="416" actId="1076"/>
          <ac:spMkLst>
            <pc:docMk/>
            <pc:sldMk cId="102931800" sldId="534"/>
            <ac:spMk id="2" creationId="{9EE2C7CF-9F86-8098-130C-FD3F046D2086}"/>
          </ac:spMkLst>
        </pc:spChg>
        <pc:spChg chg="mod">
          <ac:chgData name="Austin Francis" userId="d9206161-76a2-4d0d-bb71-2bac416203d9" providerId="ADAL" clId="{4A273B02-1446-4B7F-AF23-B2EC72A1A2A4}" dt="2024-11-05T01:25:10.246" v="417" actId="1076"/>
          <ac:spMkLst>
            <pc:docMk/>
            <pc:sldMk cId="102931800" sldId="534"/>
            <ac:spMk id="3" creationId="{15D56D45-BDC3-3D0B-671F-78DDB007EF2F}"/>
          </ac:spMkLst>
        </pc:spChg>
      </pc:sldChg>
      <pc:sldChg chg="addSp delSp modSp new mod">
        <pc:chgData name="Austin Francis" userId="d9206161-76a2-4d0d-bb71-2bac416203d9" providerId="ADAL" clId="{4A273B02-1446-4B7F-AF23-B2EC72A1A2A4}" dt="2024-11-05T00:50:23.803" v="190" actId="1076"/>
        <pc:sldMkLst>
          <pc:docMk/>
          <pc:sldMk cId="351161207" sldId="535"/>
        </pc:sldMkLst>
        <pc:spChg chg="del">
          <ac:chgData name="Austin Francis" userId="d9206161-76a2-4d0d-bb71-2bac416203d9" providerId="ADAL" clId="{4A273B02-1446-4B7F-AF23-B2EC72A1A2A4}" dt="2024-11-05T00:50:13.765" v="187" actId="22"/>
          <ac:spMkLst>
            <pc:docMk/>
            <pc:sldMk cId="351161207" sldId="535"/>
            <ac:spMk id="3" creationId="{F1D88C85-6F9C-DC33-0612-6857F1C13C02}"/>
          </ac:spMkLst>
        </pc:spChg>
        <pc:picChg chg="add mod ord">
          <ac:chgData name="Austin Francis" userId="d9206161-76a2-4d0d-bb71-2bac416203d9" providerId="ADAL" clId="{4A273B02-1446-4B7F-AF23-B2EC72A1A2A4}" dt="2024-11-05T00:50:23.803" v="190" actId="1076"/>
          <ac:picMkLst>
            <pc:docMk/>
            <pc:sldMk cId="351161207" sldId="535"/>
            <ac:picMk id="5" creationId="{7AEB51FB-37FD-3D94-20CE-7D46A8237B4C}"/>
          </ac:picMkLst>
        </pc:picChg>
      </pc:sldChg>
      <pc:sldChg chg="del">
        <pc:chgData name="Austin Francis" userId="d9206161-76a2-4d0d-bb71-2bac416203d9" providerId="ADAL" clId="{4A273B02-1446-4B7F-AF23-B2EC72A1A2A4}" dt="2024-11-05T00:49:19.981" v="185" actId="2696"/>
        <pc:sldMkLst>
          <pc:docMk/>
          <pc:sldMk cId="1343846881" sldId="535"/>
        </pc:sldMkLst>
      </pc:sldChg>
      <pc:sldChg chg="addSp delSp modSp new mod">
        <pc:chgData name="Austin Francis" userId="d9206161-76a2-4d0d-bb71-2bac416203d9" providerId="ADAL" clId="{4A273B02-1446-4B7F-AF23-B2EC72A1A2A4}" dt="2024-11-05T00:51:02.634" v="197" actId="1076"/>
        <pc:sldMkLst>
          <pc:docMk/>
          <pc:sldMk cId="66749379" sldId="536"/>
        </pc:sldMkLst>
        <pc:spChg chg="del">
          <ac:chgData name="Austin Francis" userId="d9206161-76a2-4d0d-bb71-2bac416203d9" providerId="ADAL" clId="{4A273B02-1446-4B7F-AF23-B2EC72A1A2A4}" dt="2024-11-05T00:50:47.461" v="192" actId="22"/>
          <ac:spMkLst>
            <pc:docMk/>
            <pc:sldMk cId="66749379" sldId="536"/>
            <ac:spMk id="3" creationId="{AFCFFB6E-523C-1D4B-EB26-9D2D07290F3C}"/>
          </ac:spMkLst>
        </pc:spChg>
        <pc:picChg chg="add mod ord">
          <ac:chgData name="Austin Francis" userId="d9206161-76a2-4d0d-bb71-2bac416203d9" providerId="ADAL" clId="{4A273B02-1446-4B7F-AF23-B2EC72A1A2A4}" dt="2024-11-05T00:51:02.634" v="197" actId="1076"/>
          <ac:picMkLst>
            <pc:docMk/>
            <pc:sldMk cId="66749379" sldId="536"/>
            <ac:picMk id="5" creationId="{DA5F0508-C76B-A482-B929-428EC2D840D6}"/>
          </ac:picMkLst>
        </pc:picChg>
      </pc:sldChg>
      <pc:sldChg chg="del">
        <pc:chgData name="Austin Francis" userId="d9206161-76a2-4d0d-bb71-2bac416203d9" providerId="ADAL" clId="{4A273B02-1446-4B7F-AF23-B2EC72A1A2A4}" dt="2024-11-05T00:49:16.902" v="184" actId="2696"/>
        <pc:sldMkLst>
          <pc:docMk/>
          <pc:sldMk cId="2293964240" sldId="536"/>
        </pc:sldMkLst>
      </pc:sldChg>
      <pc:sldChg chg="addSp modSp new mod modNotesTx">
        <pc:chgData name="Austin Francis" userId="d9206161-76a2-4d0d-bb71-2bac416203d9" providerId="ADAL" clId="{4A273B02-1446-4B7F-AF23-B2EC72A1A2A4}" dt="2024-11-05T01:34:25.487" v="482"/>
        <pc:sldMkLst>
          <pc:docMk/>
          <pc:sldMk cId="2785948293" sldId="537"/>
        </pc:sldMkLst>
        <pc:picChg chg="add mod">
          <ac:chgData name="Austin Francis" userId="d9206161-76a2-4d0d-bb71-2bac416203d9" providerId="ADAL" clId="{4A273B02-1446-4B7F-AF23-B2EC72A1A2A4}" dt="2024-11-05T00:52:05.109" v="201" actId="1076"/>
          <ac:picMkLst>
            <pc:docMk/>
            <pc:sldMk cId="2785948293" sldId="537"/>
            <ac:picMk id="5" creationId="{8136E4B8-ED89-1EF0-6AB8-1421F769999C}"/>
          </ac:picMkLst>
        </pc:picChg>
      </pc:sldChg>
      <pc:sldChg chg="del">
        <pc:chgData name="Austin Francis" userId="d9206161-76a2-4d0d-bb71-2bac416203d9" providerId="ADAL" clId="{4A273B02-1446-4B7F-AF23-B2EC72A1A2A4}" dt="2024-11-05T00:49:14.123" v="183" actId="2696"/>
        <pc:sldMkLst>
          <pc:docMk/>
          <pc:sldMk cId="3905501750" sldId="537"/>
        </pc:sldMkLst>
      </pc:sldChg>
      <pc:sldChg chg="addSp modSp new mod modNotesTx">
        <pc:chgData name="Austin Francis" userId="d9206161-76a2-4d0d-bb71-2bac416203d9" providerId="ADAL" clId="{4A273B02-1446-4B7F-AF23-B2EC72A1A2A4}" dt="2024-11-05T01:35:38.970" v="485"/>
        <pc:sldMkLst>
          <pc:docMk/>
          <pc:sldMk cId="1402370474" sldId="538"/>
        </pc:sldMkLst>
        <pc:picChg chg="add mod">
          <ac:chgData name="Austin Francis" userId="d9206161-76a2-4d0d-bb71-2bac416203d9" providerId="ADAL" clId="{4A273B02-1446-4B7F-AF23-B2EC72A1A2A4}" dt="2024-11-05T00:52:29.301" v="206" actId="1076"/>
          <ac:picMkLst>
            <pc:docMk/>
            <pc:sldMk cId="1402370474" sldId="538"/>
            <ac:picMk id="5" creationId="{9C294DD3-EA32-AD5F-9DFC-1AD59BA800AC}"/>
          </ac:picMkLst>
        </pc:picChg>
      </pc:sldChg>
      <pc:sldChg chg="del">
        <pc:chgData name="Austin Francis" userId="d9206161-76a2-4d0d-bb71-2bac416203d9" providerId="ADAL" clId="{4A273B02-1446-4B7F-AF23-B2EC72A1A2A4}" dt="2024-11-05T00:49:11.486" v="182" actId="2696"/>
        <pc:sldMkLst>
          <pc:docMk/>
          <pc:sldMk cId="1866333039" sldId="538"/>
        </pc:sldMkLst>
      </pc:sldChg>
      <pc:sldChg chg="del">
        <pc:chgData name="Austin Francis" userId="d9206161-76a2-4d0d-bb71-2bac416203d9" providerId="ADAL" clId="{4A273B02-1446-4B7F-AF23-B2EC72A1A2A4}" dt="2024-11-05T00:49:09.177" v="181" actId="2696"/>
        <pc:sldMkLst>
          <pc:docMk/>
          <pc:sldMk cId="2803546862" sldId="539"/>
        </pc:sldMkLst>
      </pc:sldChg>
      <pc:sldChg chg="addSp modSp new mod modNotesTx">
        <pc:chgData name="Austin Francis" userId="d9206161-76a2-4d0d-bb71-2bac416203d9" providerId="ADAL" clId="{4A273B02-1446-4B7F-AF23-B2EC72A1A2A4}" dt="2024-11-05T01:48:22.435" v="500"/>
        <pc:sldMkLst>
          <pc:docMk/>
          <pc:sldMk cId="3464078939" sldId="539"/>
        </pc:sldMkLst>
        <pc:spChg chg="add mod">
          <ac:chgData name="Austin Francis" userId="d9206161-76a2-4d0d-bb71-2bac416203d9" providerId="ADAL" clId="{4A273B02-1446-4B7F-AF23-B2EC72A1A2A4}" dt="2024-11-05T01:46:37.315" v="493" actId="339"/>
          <ac:spMkLst>
            <pc:docMk/>
            <pc:sldMk cId="3464078939" sldId="539"/>
            <ac:spMk id="6" creationId="{3A499C4A-80C4-F104-4108-951A9B6BD930}"/>
          </ac:spMkLst>
        </pc:spChg>
        <pc:picChg chg="add mod">
          <ac:chgData name="Austin Francis" userId="d9206161-76a2-4d0d-bb71-2bac416203d9" providerId="ADAL" clId="{4A273B02-1446-4B7F-AF23-B2EC72A1A2A4}" dt="2024-11-05T00:53:32.333" v="210" actId="1076"/>
          <ac:picMkLst>
            <pc:docMk/>
            <pc:sldMk cId="3464078939" sldId="539"/>
            <ac:picMk id="5" creationId="{87B9DB7D-F235-EFAC-9E6D-8586705FE34A}"/>
          </ac:picMkLst>
        </pc:picChg>
      </pc:sldChg>
      <pc:sldChg chg="addSp delSp modSp new mod modNotesTx">
        <pc:chgData name="Austin Francis" userId="d9206161-76a2-4d0d-bb71-2bac416203d9" providerId="ADAL" clId="{4A273B02-1446-4B7F-AF23-B2EC72A1A2A4}" dt="2024-11-05T02:00:59.621" v="512" actId="20577"/>
        <pc:sldMkLst>
          <pc:docMk/>
          <pc:sldMk cId="540496564" sldId="540"/>
        </pc:sldMkLst>
        <pc:picChg chg="add mod">
          <ac:chgData name="Austin Francis" userId="d9206161-76a2-4d0d-bb71-2bac416203d9" providerId="ADAL" clId="{4A273B02-1446-4B7F-AF23-B2EC72A1A2A4}" dt="2024-11-05T00:54:04.256" v="215" actId="1076"/>
          <ac:picMkLst>
            <pc:docMk/>
            <pc:sldMk cId="540496564" sldId="540"/>
            <ac:picMk id="5" creationId="{CD6D49C4-5FC5-01DA-8389-DF4515A6920F}"/>
          </ac:picMkLst>
        </pc:picChg>
        <pc:picChg chg="add del mod">
          <ac:chgData name="Austin Francis" userId="d9206161-76a2-4d0d-bb71-2bac416203d9" providerId="ADAL" clId="{4A273B02-1446-4B7F-AF23-B2EC72A1A2A4}" dt="2024-11-05T02:00:39.119" v="511" actId="478"/>
          <ac:picMkLst>
            <pc:docMk/>
            <pc:sldMk cId="540496564" sldId="540"/>
            <ac:picMk id="6" creationId="{F034A8DB-9D0E-EBA3-0CBE-516AC1B5F1A5}"/>
          </ac:picMkLst>
        </pc:picChg>
      </pc:sldChg>
      <pc:sldChg chg="del">
        <pc:chgData name="Austin Francis" userId="d9206161-76a2-4d0d-bb71-2bac416203d9" providerId="ADAL" clId="{4A273B02-1446-4B7F-AF23-B2EC72A1A2A4}" dt="2024-11-05T00:49:06.948" v="180" actId="2696"/>
        <pc:sldMkLst>
          <pc:docMk/>
          <pc:sldMk cId="4094571737" sldId="540"/>
        </pc:sldMkLst>
      </pc:sldChg>
      <pc:sldChg chg="addSp delSp modSp new mod modNotesTx">
        <pc:chgData name="Austin Francis" userId="d9206161-76a2-4d0d-bb71-2bac416203d9" providerId="ADAL" clId="{4A273B02-1446-4B7F-AF23-B2EC72A1A2A4}" dt="2024-11-05T14:44:11.037" v="594"/>
        <pc:sldMkLst>
          <pc:docMk/>
          <pc:sldMk cId="473750194" sldId="541"/>
        </pc:sldMkLst>
        <pc:spChg chg="add del mod">
          <ac:chgData name="Austin Francis" userId="d9206161-76a2-4d0d-bb71-2bac416203d9" providerId="ADAL" clId="{4A273B02-1446-4B7F-AF23-B2EC72A1A2A4}" dt="2024-11-05T02:00:28.013" v="510" actId="478"/>
          <ac:spMkLst>
            <pc:docMk/>
            <pc:sldMk cId="473750194" sldId="541"/>
            <ac:spMk id="6" creationId="{94D75F87-ABE6-85CB-4945-7462FED02215}"/>
          </ac:spMkLst>
        </pc:spChg>
        <pc:picChg chg="add mod">
          <ac:chgData name="Austin Francis" userId="d9206161-76a2-4d0d-bb71-2bac416203d9" providerId="ADAL" clId="{4A273B02-1446-4B7F-AF23-B2EC72A1A2A4}" dt="2024-11-05T00:54:39.855" v="219" actId="14100"/>
          <ac:picMkLst>
            <pc:docMk/>
            <pc:sldMk cId="473750194" sldId="541"/>
            <ac:picMk id="5" creationId="{25C75EBB-0897-75AB-5AF0-C0FD91D49E57}"/>
          </ac:picMkLst>
        </pc:picChg>
      </pc:sldChg>
      <pc:sldChg chg="addSp modSp new mod modNotesTx">
        <pc:chgData name="Austin Francis" userId="d9206161-76a2-4d0d-bb71-2bac416203d9" providerId="ADAL" clId="{4A273B02-1446-4B7F-AF23-B2EC72A1A2A4}" dt="2024-11-05T14:44:25.851" v="595"/>
        <pc:sldMkLst>
          <pc:docMk/>
          <pc:sldMk cId="2339346047" sldId="542"/>
        </pc:sldMkLst>
        <pc:spChg chg="mod">
          <ac:chgData name="Austin Francis" userId="d9206161-76a2-4d0d-bb71-2bac416203d9" providerId="ADAL" clId="{4A273B02-1446-4B7F-AF23-B2EC72A1A2A4}" dt="2024-11-05T00:55:00.066" v="232" actId="20577"/>
          <ac:spMkLst>
            <pc:docMk/>
            <pc:sldMk cId="2339346047" sldId="542"/>
            <ac:spMk id="2" creationId="{5583DBEC-ECAB-CC17-2E3B-B634AC886A07}"/>
          </ac:spMkLst>
        </pc:spChg>
        <pc:picChg chg="add mod">
          <ac:chgData name="Austin Francis" userId="d9206161-76a2-4d0d-bb71-2bac416203d9" providerId="ADAL" clId="{4A273B02-1446-4B7F-AF23-B2EC72A1A2A4}" dt="2024-11-05T00:55:53.609" v="239" actId="1076"/>
          <ac:picMkLst>
            <pc:docMk/>
            <pc:sldMk cId="2339346047" sldId="542"/>
            <ac:picMk id="5" creationId="{553895EF-B920-BBA0-2ECC-53A621428E32}"/>
          </ac:picMkLst>
        </pc:picChg>
      </pc:sldChg>
      <pc:sldChg chg="del">
        <pc:chgData name="Austin Francis" userId="d9206161-76a2-4d0d-bb71-2bac416203d9" providerId="ADAL" clId="{4A273B02-1446-4B7F-AF23-B2EC72A1A2A4}" dt="2024-11-05T00:49:04.687" v="179" actId="2696"/>
        <pc:sldMkLst>
          <pc:docMk/>
          <pc:sldMk cId="2507283068" sldId="542"/>
        </pc:sldMkLst>
      </pc:sldChg>
      <pc:sldChg chg="addSp modSp new mod modNotesTx">
        <pc:chgData name="Austin Francis" userId="d9206161-76a2-4d0d-bb71-2bac416203d9" providerId="ADAL" clId="{4A273B02-1446-4B7F-AF23-B2EC72A1A2A4}" dt="2024-11-05T14:46:56.084" v="611"/>
        <pc:sldMkLst>
          <pc:docMk/>
          <pc:sldMk cId="262782819" sldId="543"/>
        </pc:sldMkLst>
        <pc:picChg chg="add mod">
          <ac:chgData name="Austin Francis" userId="d9206161-76a2-4d0d-bb71-2bac416203d9" providerId="ADAL" clId="{4A273B02-1446-4B7F-AF23-B2EC72A1A2A4}" dt="2024-11-05T00:56:55.215" v="243" actId="1076"/>
          <ac:picMkLst>
            <pc:docMk/>
            <pc:sldMk cId="262782819" sldId="543"/>
            <ac:picMk id="5" creationId="{9E2B9578-9475-5E99-FE7C-9E3D1D27C4A1}"/>
          </ac:picMkLst>
        </pc:picChg>
      </pc:sldChg>
      <pc:sldChg chg="del">
        <pc:chgData name="Austin Francis" userId="d9206161-76a2-4d0d-bb71-2bac416203d9" providerId="ADAL" clId="{4A273B02-1446-4B7F-AF23-B2EC72A1A2A4}" dt="2024-11-05T00:49:02.173" v="178" actId="2696"/>
        <pc:sldMkLst>
          <pc:docMk/>
          <pc:sldMk cId="2645720968" sldId="543"/>
        </pc:sldMkLst>
      </pc:sldChg>
      <pc:sldChg chg="addSp modSp new mod modNotesTx">
        <pc:chgData name="Austin Francis" userId="d9206161-76a2-4d0d-bb71-2bac416203d9" providerId="ADAL" clId="{4A273B02-1446-4B7F-AF23-B2EC72A1A2A4}" dt="2024-11-05T14:47:32.539" v="617"/>
        <pc:sldMkLst>
          <pc:docMk/>
          <pc:sldMk cId="3687861244" sldId="544"/>
        </pc:sldMkLst>
        <pc:picChg chg="add mod">
          <ac:chgData name="Austin Francis" userId="d9206161-76a2-4d0d-bb71-2bac416203d9" providerId="ADAL" clId="{4A273B02-1446-4B7F-AF23-B2EC72A1A2A4}" dt="2024-11-05T00:57:22.665" v="247" actId="1076"/>
          <ac:picMkLst>
            <pc:docMk/>
            <pc:sldMk cId="3687861244" sldId="544"/>
            <ac:picMk id="5" creationId="{0EA11607-A6DA-681E-4D00-40A32AE719FA}"/>
          </ac:picMkLst>
        </pc:picChg>
      </pc:sldChg>
      <pc:sldChg chg="del">
        <pc:chgData name="Austin Francis" userId="d9206161-76a2-4d0d-bb71-2bac416203d9" providerId="ADAL" clId="{4A273B02-1446-4B7F-AF23-B2EC72A1A2A4}" dt="2024-11-05T00:48:59.974" v="177" actId="2696"/>
        <pc:sldMkLst>
          <pc:docMk/>
          <pc:sldMk cId="3743595202" sldId="544"/>
        </pc:sldMkLst>
      </pc:sldChg>
      <pc:sldChg chg="addSp modSp new mod modNotesTx">
        <pc:chgData name="Austin Francis" userId="d9206161-76a2-4d0d-bb71-2bac416203d9" providerId="ADAL" clId="{4A273B02-1446-4B7F-AF23-B2EC72A1A2A4}" dt="2024-11-05T14:37:22.175" v="570" actId="20577"/>
        <pc:sldMkLst>
          <pc:docMk/>
          <pc:sldMk cId="2349451294" sldId="545"/>
        </pc:sldMkLst>
        <pc:picChg chg="add mod">
          <ac:chgData name="Austin Francis" userId="d9206161-76a2-4d0d-bb71-2bac416203d9" providerId="ADAL" clId="{4A273B02-1446-4B7F-AF23-B2EC72A1A2A4}" dt="2024-11-05T00:58:08.593" v="254" actId="1076"/>
          <ac:picMkLst>
            <pc:docMk/>
            <pc:sldMk cId="2349451294" sldId="545"/>
            <ac:picMk id="5" creationId="{313489C7-CB80-7043-5C20-F4E718A93D70}"/>
          </ac:picMkLst>
        </pc:picChg>
      </pc:sldChg>
      <pc:sldChg chg="del">
        <pc:chgData name="Austin Francis" userId="d9206161-76a2-4d0d-bb71-2bac416203d9" providerId="ADAL" clId="{4A273B02-1446-4B7F-AF23-B2EC72A1A2A4}" dt="2024-11-05T00:48:56.802" v="176" actId="2696"/>
        <pc:sldMkLst>
          <pc:docMk/>
          <pc:sldMk cId="3138288309" sldId="545"/>
        </pc:sldMkLst>
      </pc:sldChg>
      <pc:sldChg chg="del">
        <pc:chgData name="Austin Francis" userId="d9206161-76a2-4d0d-bb71-2bac416203d9" providerId="ADAL" clId="{4A273B02-1446-4B7F-AF23-B2EC72A1A2A4}" dt="2024-11-05T00:48:53.979" v="175" actId="2696"/>
        <pc:sldMkLst>
          <pc:docMk/>
          <pc:sldMk cId="1393657090" sldId="546"/>
        </pc:sldMkLst>
      </pc:sldChg>
      <pc:sldChg chg="addSp modSp new mod modNotesTx">
        <pc:chgData name="Austin Francis" userId="d9206161-76a2-4d0d-bb71-2bac416203d9" providerId="ADAL" clId="{4A273B02-1446-4B7F-AF23-B2EC72A1A2A4}" dt="2024-11-05T14:38:05.492" v="573" actId="20577"/>
        <pc:sldMkLst>
          <pc:docMk/>
          <pc:sldMk cId="2030950152" sldId="546"/>
        </pc:sldMkLst>
        <pc:picChg chg="add mod">
          <ac:chgData name="Austin Francis" userId="d9206161-76a2-4d0d-bb71-2bac416203d9" providerId="ADAL" clId="{4A273B02-1446-4B7F-AF23-B2EC72A1A2A4}" dt="2024-11-05T00:58:36.677" v="259" actId="1076"/>
          <ac:picMkLst>
            <pc:docMk/>
            <pc:sldMk cId="2030950152" sldId="546"/>
            <ac:picMk id="5" creationId="{D096AD65-EF5A-EE66-9B4B-7066960F7F76}"/>
          </ac:picMkLst>
        </pc:picChg>
      </pc:sldChg>
      <pc:sldChg chg="addSp modSp new mod modNotesTx">
        <pc:chgData name="Austin Francis" userId="d9206161-76a2-4d0d-bb71-2bac416203d9" providerId="ADAL" clId="{4A273B02-1446-4B7F-AF23-B2EC72A1A2A4}" dt="2024-11-05T14:38:32.376" v="576" actId="20577"/>
        <pc:sldMkLst>
          <pc:docMk/>
          <pc:sldMk cId="1423525103" sldId="547"/>
        </pc:sldMkLst>
        <pc:picChg chg="add mod">
          <ac:chgData name="Austin Francis" userId="d9206161-76a2-4d0d-bb71-2bac416203d9" providerId="ADAL" clId="{4A273B02-1446-4B7F-AF23-B2EC72A1A2A4}" dt="2024-11-05T00:59:27.095" v="264" actId="1076"/>
          <ac:picMkLst>
            <pc:docMk/>
            <pc:sldMk cId="1423525103" sldId="547"/>
            <ac:picMk id="5" creationId="{AA066687-4A57-58F1-826F-B97765D8223B}"/>
          </ac:picMkLst>
        </pc:picChg>
      </pc:sldChg>
      <pc:sldChg chg="del">
        <pc:chgData name="Austin Francis" userId="d9206161-76a2-4d0d-bb71-2bac416203d9" providerId="ADAL" clId="{4A273B02-1446-4B7F-AF23-B2EC72A1A2A4}" dt="2024-11-05T00:48:51.791" v="174" actId="2696"/>
        <pc:sldMkLst>
          <pc:docMk/>
          <pc:sldMk cId="3296791921" sldId="547"/>
        </pc:sldMkLst>
      </pc:sldChg>
      <pc:sldChg chg="del">
        <pc:chgData name="Austin Francis" userId="d9206161-76a2-4d0d-bb71-2bac416203d9" providerId="ADAL" clId="{4A273B02-1446-4B7F-AF23-B2EC72A1A2A4}" dt="2024-11-05T00:48:44.506" v="171" actId="2696"/>
        <pc:sldMkLst>
          <pc:docMk/>
          <pc:sldMk cId="1357993590" sldId="548"/>
        </pc:sldMkLst>
      </pc:sldChg>
      <pc:sldChg chg="add del">
        <pc:chgData name="Austin Francis" userId="d9206161-76a2-4d0d-bb71-2bac416203d9" providerId="ADAL" clId="{4A273B02-1446-4B7F-AF23-B2EC72A1A2A4}" dt="2024-11-05T00:48:49.233" v="173" actId="2696"/>
        <pc:sldMkLst>
          <pc:docMk/>
          <pc:sldMk cId="4121217349" sldId="548"/>
        </pc:sldMkLst>
      </pc:sldChg>
      <pc:sldChg chg="addSp modSp new mod modNotesTx">
        <pc:chgData name="Austin Francis" userId="d9206161-76a2-4d0d-bb71-2bac416203d9" providerId="ADAL" clId="{4A273B02-1446-4B7F-AF23-B2EC72A1A2A4}" dt="2024-11-05T14:39:55.898" v="583"/>
        <pc:sldMkLst>
          <pc:docMk/>
          <pc:sldMk cId="4160839457" sldId="548"/>
        </pc:sldMkLst>
        <pc:picChg chg="add mod">
          <ac:chgData name="Austin Francis" userId="d9206161-76a2-4d0d-bb71-2bac416203d9" providerId="ADAL" clId="{4A273B02-1446-4B7F-AF23-B2EC72A1A2A4}" dt="2024-11-05T00:59:54.237" v="269" actId="1076"/>
          <ac:picMkLst>
            <pc:docMk/>
            <pc:sldMk cId="4160839457" sldId="548"/>
            <ac:picMk id="5" creationId="{10F073E5-1AF8-8DEE-A1C8-CFD53B8A7F41}"/>
          </ac:picMkLst>
        </pc:picChg>
      </pc:sldChg>
      <pc:sldChg chg="addSp modSp new mod modNotesTx">
        <pc:chgData name="Austin Francis" userId="d9206161-76a2-4d0d-bb71-2bac416203d9" providerId="ADAL" clId="{4A273B02-1446-4B7F-AF23-B2EC72A1A2A4}" dt="2024-11-05T14:40:16.781" v="587"/>
        <pc:sldMkLst>
          <pc:docMk/>
          <pc:sldMk cId="1670928540" sldId="549"/>
        </pc:sldMkLst>
        <pc:picChg chg="add mod">
          <ac:chgData name="Austin Francis" userId="d9206161-76a2-4d0d-bb71-2bac416203d9" providerId="ADAL" clId="{4A273B02-1446-4B7F-AF23-B2EC72A1A2A4}" dt="2024-11-05T01:00:20.413" v="274" actId="1076"/>
          <ac:picMkLst>
            <pc:docMk/>
            <pc:sldMk cId="1670928540" sldId="549"/>
            <ac:picMk id="5" creationId="{DA70F032-2332-2142-7734-8F3B9FC81E11}"/>
          </ac:picMkLst>
        </pc:picChg>
      </pc:sldChg>
      <pc:sldChg chg="del">
        <pc:chgData name="Austin Francis" userId="d9206161-76a2-4d0d-bb71-2bac416203d9" providerId="ADAL" clId="{4A273B02-1446-4B7F-AF23-B2EC72A1A2A4}" dt="2024-11-05T00:48:42.430" v="170" actId="2696"/>
        <pc:sldMkLst>
          <pc:docMk/>
          <pc:sldMk cId="3393607739" sldId="549"/>
        </pc:sldMkLst>
      </pc:sldChg>
      <pc:sldChg chg="addSp modSp new mod modNotesTx">
        <pc:chgData name="Austin Francis" userId="d9206161-76a2-4d0d-bb71-2bac416203d9" providerId="ADAL" clId="{4A273B02-1446-4B7F-AF23-B2EC72A1A2A4}" dt="2024-11-05T14:41:08.861" v="590"/>
        <pc:sldMkLst>
          <pc:docMk/>
          <pc:sldMk cId="3909413027" sldId="550"/>
        </pc:sldMkLst>
        <pc:picChg chg="add mod">
          <ac:chgData name="Austin Francis" userId="d9206161-76a2-4d0d-bb71-2bac416203d9" providerId="ADAL" clId="{4A273B02-1446-4B7F-AF23-B2EC72A1A2A4}" dt="2024-11-05T01:00:46.961" v="279" actId="1076"/>
          <ac:picMkLst>
            <pc:docMk/>
            <pc:sldMk cId="3909413027" sldId="550"/>
            <ac:picMk id="5" creationId="{7673EE7D-ED81-63EE-286E-8995FCBDC25D}"/>
          </ac:picMkLst>
        </pc:picChg>
      </pc:sldChg>
      <pc:sldChg chg="addSp modSp new mod modNotesTx">
        <pc:chgData name="Austin Francis" userId="d9206161-76a2-4d0d-bb71-2bac416203d9" providerId="ADAL" clId="{4A273B02-1446-4B7F-AF23-B2EC72A1A2A4}" dt="2024-11-05T14:40:51.998" v="588"/>
        <pc:sldMkLst>
          <pc:docMk/>
          <pc:sldMk cId="677523622" sldId="551"/>
        </pc:sldMkLst>
        <pc:picChg chg="add mod">
          <ac:chgData name="Austin Francis" userId="d9206161-76a2-4d0d-bb71-2bac416203d9" providerId="ADAL" clId="{4A273B02-1446-4B7F-AF23-B2EC72A1A2A4}" dt="2024-11-05T01:03:41.255" v="286" actId="1076"/>
          <ac:picMkLst>
            <pc:docMk/>
            <pc:sldMk cId="677523622" sldId="551"/>
            <ac:picMk id="5" creationId="{318F1DC1-4437-1F7D-97CF-D53C6B67E128}"/>
          </ac:picMkLst>
        </pc:picChg>
      </pc:sldChg>
      <pc:sldChg chg="addSp modSp new del mod">
        <pc:chgData name="Austin Francis" userId="d9206161-76a2-4d0d-bb71-2bac416203d9" providerId="ADAL" clId="{4A273B02-1446-4B7F-AF23-B2EC72A1A2A4}" dt="2024-11-05T14:40:56.653" v="589" actId="2696"/>
        <pc:sldMkLst>
          <pc:docMk/>
          <pc:sldMk cId="1042060900" sldId="552"/>
        </pc:sldMkLst>
        <pc:picChg chg="add mod">
          <ac:chgData name="Austin Francis" userId="d9206161-76a2-4d0d-bb71-2bac416203d9" providerId="ADAL" clId="{4A273B02-1446-4B7F-AF23-B2EC72A1A2A4}" dt="2024-11-05T01:06:16.218" v="295" actId="1076"/>
          <ac:picMkLst>
            <pc:docMk/>
            <pc:sldMk cId="1042060900" sldId="552"/>
            <ac:picMk id="5" creationId="{260F46C2-5C97-D7DD-AC61-1DA53198613B}"/>
          </ac:picMkLst>
        </pc:picChg>
      </pc:sldChg>
      <pc:sldChg chg="modSp new mod">
        <pc:chgData name="Austin Francis" userId="d9206161-76a2-4d0d-bb71-2bac416203d9" providerId="ADAL" clId="{4A273B02-1446-4B7F-AF23-B2EC72A1A2A4}" dt="2024-11-05T01:26:13.595" v="436" actId="20577"/>
        <pc:sldMkLst>
          <pc:docMk/>
          <pc:sldMk cId="3045896103" sldId="553"/>
        </pc:sldMkLst>
        <pc:spChg chg="mod">
          <ac:chgData name="Austin Francis" userId="d9206161-76a2-4d0d-bb71-2bac416203d9" providerId="ADAL" clId="{4A273B02-1446-4B7F-AF23-B2EC72A1A2A4}" dt="2024-11-05T01:25:29.916" v="427" actId="20577"/>
          <ac:spMkLst>
            <pc:docMk/>
            <pc:sldMk cId="3045896103" sldId="553"/>
            <ac:spMk id="2" creationId="{442986C3-4CBF-58CF-9190-56CF41D96A1B}"/>
          </ac:spMkLst>
        </pc:spChg>
        <pc:spChg chg="mod">
          <ac:chgData name="Austin Francis" userId="d9206161-76a2-4d0d-bb71-2bac416203d9" providerId="ADAL" clId="{4A273B02-1446-4B7F-AF23-B2EC72A1A2A4}" dt="2024-11-05T01:26:13.595" v="436" actId="20577"/>
          <ac:spMkLst>
            <pc:docMk/>
            <pc:sldMk cId="3045896103" sldId="553"/>
            <ac:spMk id="3" creationId="{383E88B0-691A-515F-D5B6-6A63ACDD9835}"/>
          </ac:spMkLst>
        </pc:spChg>
      </pc:sldChg>
      <pc:sldChg chg="modSp new mod">
        <pc:chgData name="Austin Francis" userId="d9206161-76a2-4d0d-bb71-2bac416203d9" providerId="ADAL" clId="{4A273B02-1446-4B7F-AF23-B2EC72A1A2A4}" dt="2024-11-05T01:29:21.663" v="471" actId="27636"/>
        <pc:sldMkLst>
          <pc:docMk/>
          <pc:sldMk cId="2849312468" sldId="554"/>
        </pc:sldMkLst>
        <pc:spChg chg="mod">
          <ac:chgData name="Austin Francis" userId="d9206161-76a2-4d0d-bb71-2bac416203d9" providerId="ADAL" clId="{4A273B02-1446-4B7F-AF23-B2EC72A1A2A4}" dt="2024-11-05T01:28:55.088" v="460" actId="20577"/>
          <ac:spMkLst>
            <pc:docMk/>
            <pc:sldMk cId="2849312468" sldId="554"/>
            <ac:spMk id="2" creationId="{C29958AA-A6A2-FC66-643D-9CA9B08CEF74}"/>
          </ac:spMkLst>
        </pc:spChg>
        <pc:spChg chg="mod">
          <ac:chgData name="Austin Francis" userId="d9206161-76a2-4d0d-bb71-2bac416203d9" providerId="ADAL" clId="{4A273B02-1446-4B7F-AF23-B2EC72A1A2A4}" dt="2024-11-05T01:29:21.663" v="471" actId="27636"/>
          <ac:spMkLst>
            <pc:docMk/>
            <pc:sldMk cId="2849312468" sldId="554"/>
            <ac:spMk id="3" creationId="{3A13F41C-3A6F-8403-E4FF-C91DEBE4E2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11/4/2024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Context</a:t>
            </a:r>
            <a:r>
              <a:rPr lang="en-US" dirty="0"/>
              <a:t>: This Paper Focuses on whether idiosyncratic shocks (such as natural disasters) affecting suppliers cause disruptions for their customers and further along the supply chain.</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Importance</a:t>
            </a:r>
            <a:r>
              <a:rPr lang="en-US" dirty="0"/>
              <a:t>: Understanding this helps assess economic risks tied to specific suppliers in interconnected production networks.</a:t>
            </a:r>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Expected Findings</a:t>
            </a:r>
            <a:r>
              <a:rPr lang="en-US" dirty="0"/>
              <a:t>: Firms experience significant output losses if specific suppliers face disruptions, potentially causing ripple effects on other suppliers as well.</a:t>
            </a:r>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3029317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Firms are observed over a period extending three years before and after their appearance in the </a:t>
            </a:r>
            <a:r>
              <a:rPr lang="en-US" dirty="0" err="1"/>
              <a:t>Compustat</a:t>
            </a:r>
            <a:r>
              <a:rPr lang="en-US" dirty="0"/>
              <a:t> Segment files.</a:t>
            </a:r>
          </a:p>
          <a:p>
            <a:pPr marL="171450" indent="-171450">
              <a:buFontTx/>
              <a:buChar char="-"/>
            </a:pPr>
            <a:endParaRPr lang="en-US" dirty="0"/>
          </a:p>
          <a:p>
            <a:pPr marL="171450" indent="-171450">
              <a:buFontTx/>
              <a:buChar char="-"/>
            </a:pPr>
            <a:r>
              <a:rPr lang="en-US" dirty="0"/>
              <a:t>On average, each customer firm has 1.38 suppliers, with supplier relationships lasting around seven years. The probability of a supplier being hit by a natural disaster in a given quarter is 1.4%, while the probability of a customer being hit directly is 1.6%.</a:t>
            </a:r>
          </a:p>
          <a:p>
            <a:pPr marL="171450" indent="-171450">
              <a:buFontTx/>
              <a:buChar char="-"/>
            </a:pPr>
            <a:endParaRPr lang="en-US" dirty="0"/>
          </a:p>
          <a:p>
            <a:pPr marL="171450" indent="-171450">
              <a:buFontTx/>
              <a:buChar char="-"/>
            </a:pPr>
            <a:r>
              <a:rPr lang="en-US" dirty="0"/>
              <a:t>Supplier sales represent approximately 2.5% of the customer firm's cost of goods sold, suggesting suppliers are relatively small compared to customers. There is no significant difference in the cost-of-goods-sold share between specific and nonspecific suppliers, and the average distance between suppliers and customers is over 1,250 miles, regardless of input specificity.</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1818996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Firms are observed over a period extending three years before and after their appearance in the </a:t>
            </a:r>
            <a:r>
              <a:rPr lang="en-US" dirty="0" err="1"/>
              <a:t>Compustat</a:t>
            </a:r>
            <a:r>
              <a:rPr lang="en-US" dirty="0"/>
              <a:t> Segment files.</a:t>
            </a:r>
          </a:p>
          <a:p>
            <a:pPr marL="171450" indent="-171450">
              <a:buFontTx/>
              <a:buChar char="-"/>
            </a:pPr>
            <a:endParaRPr lang="en-US" dirty="0"/>
          </a:p>
          <a:p>
            <a:pPr marL="171450" indent="-171450">
              <a:buFontTx/>
              <a:buChar char="-"/>
            </a:pPr>
            <a:r>
              <a:rPr lang="en-US" dirty="0"/>
              <a:t>On average, each customer firm has 1.38 suppliers, with supplier relationships lasting around seven years. The probability of a supplier being hit by a natural disaster in a given quarter is 1.4%, while the probability of a customer being hit directly is 1.6%.</a:t>
            </a:r>
          </a:p>
          <a:p>
            <a:pPr marL="171450" indent="-171450">
              <a:buFontTx/>
              <a:buChar char="-"/>
            </a:pPr>
            <a:endParaRPr lang="en-US" dirty="0"/>
          </a:p>
          <a:p>
            <a:pPr marL="171450" indent="-171450">
              <a:buFontTx/>
              <a:buChar char="-"/>
            </a:pPr>
            <a:r>
              <a:rPr lang="en-US" dirty="0"/>
              <a:t>Supplier sales represent approximately 2.5% of the customer firm's cost of goods sold, suggesting suppliers are relatively small compared to customers. There is no significant difference in the cost-of-goods-sold share between specific and nonspecific suppliers, and the average distance between suppliers and customers is over 1,250 miles, regardless of input specificity.</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1138317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that suppliers' sales growth significantly drops for up to three quarters following a natural disaster in their headquarters' county. This decline in growth is reflected by statistically significant coefficients for the quarters after the disaster, especially for quarter t−1t - 1t−1 (3.2% to 4.5% decrease) and quarter t−2t - 2t−2 (2.4% to 3.3% decrease).</a:t>
            </a:r>
          </a:p>
          <a:p>
            <a:endParaRPr lang="en-US" dirty="0"/>
          </a:p>
          <a:p>
            <a:r>
              <a:rPr lang="en-US" dirty="0"/>
              <a:t>The negative impact remains consistent across different specifications, even when controlling for firm characteristics (size, age, and ROA), state-year fixed effects, and industry-year fixed effects. This consistency implies that firm-specific factors and regional or industry-specific conditions do not drive the observed decrease in sales growth.</a:t>
            </a:r>
          </a:p>
          <a:p>
            <a:endParaRPr lang="en-US" dirty="0"/>
          </a:p>
          <a:p>
            <a:r>
              <a:rPr lang="en-US" dirty="0"/>
              <a:t>The persistence of the negative effect up to three quarters after the disaster suggests that natural disasters cause prolonged disruptions to affected suppliers, highlighting the vulnerability of these firms to exogenous shocks.</a:t>
            </a:r>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2363452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coefficient on the interaction term is always positive, although not statistically significant, which suggests that shocks to specific suppliers are, if anything, of smaller magnitude than shocks to nonspecific suppliers.</a:t>
            </a:r>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2823900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Firms experience a significant decline in sales growth (3.1 percentage points) when one of their suppliers is hit by a natural disaster in the previous year, highlighting the extent of disruption that supplier shocks can cause downstream.</a:t>
            </a:r>
          </a:p>
          <a:p>
            <a:br>
              <a:rPr lang="en-US" dirty="0"/>
            </a:br>
            <a:r>
              <a:rPr lang="en-US" b="1" dirty="0"/>
              <a:t>Direct Effect of Supplier Disruptions on Customer Sales Growth</a:t>
            </a:r>
            <a:r>
              <a:rPr lang="en-US" dirty="0"/>
              <a:t>: Disruptions from natural disasters affecting a firm’s supplier lead to a </a:t>
            </a:r>
            <a:r>
              <a:rPr lang="en-US" b="1" dirty="0"/>
              <a:t>3.1% drop in the firm's sales growth</a:t>
            </a:r>
            <a:r>
              <a:rPr lang="en-US" dirty="0"/>
              <a:t> on average, as indicated by the significant coefficient for “Disaster hits one supplier.” This baseline result demonstrates that shocks to suppliers have immediate adverse effects on firms’ sales performance.</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4215319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Impact on Cost of Goods Sold (COGS)</a:t>
            </a:r>
            <a:r>
              <a:rPr lang="en-US" dirty="0"/>
              <a:t>: Panel B reveals that natural disasters also impact the growth in </a:t>
            </a:r>
            <a:r>
              <a:rPr lang="en-US" b="1" dirty="0"/>
              <a:t>COGS for firms with affected suppliers</a:t>
            </a:r>
            <a:r>
              <a:rPr lang="en-US" dirty="0"/>
              <a:t>, with reductions similar in magnitude to those in sales growth. This indicates that disruptions not only reduce revenue but also alter cost structures, likely due to adjustments in sourcing or production delays.</a:t>
            </a: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215282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br>
              <a:rPr lang="en-US" dirty="0"/>
            </a:br>
            <a:r>
              <a:rPr lang="en-US" b="1" dirty="0"/>
              <a:t>Sales Growth Impact Over Time</a:t>
            </a:r>
            <a:r>
              <a:rPr lang="en-US" dirty="0"/>
              <a:t>: Table VI examines the dynamic impact on a firm’s sales growth across various quarters after a supplier experiences a disaster. The results show a </a:t>
            </a:r>
            <a:r>
              <a:rPr lang="en-US" b="1" dirty="0"/>
              <a:t>progressive decline in sales growth</a:t>
            </a:r>
            <a:r>
              <a:rPr lang="en-US" dirty="0"/>
              <a:t> reaching a peak negative effect four quarters after the disaster event, with a statistically significant decrease of approximately 3% to 3.1%. This gradual worsening suggests that the disruption effect builds over time as the firm feels increasing operational impacts.</a:t>
            </a:r>
            <a:br>
              <a:rPr lang="en-US" dirty="0"/>
            </a:br>
            <a:br>
              <a:rPr lang="en-US" dirty="0"/>
            </a:br>
            <a:r>
              <a:rPr lang="en-US" b="1" dirty="0"/>
              <a:t>Sustained Negative Effect</a:t>
            </a:r>
            <a:r>
              <a:rPr lang="en-US" dirty="0"/>
              <a:t>: The findings indicate a </a:t>
            </a:r>
            <a:r>
              <a:rPr lang="en-US" b="1" dirty="0"/>
              <a:t>sustained adverse impact</a:t>
            </a:r>
            <a:r>
              <a:rPr lang="en-US" dirty="0"/>
              <a:t> on sales growth even beyond the immediate quarters following the disaster. The coefficients remain negative and significant in subsequent quarters (t+5), which implies long-lasting disruptions for firms dependent on affected suppliers.</a:t>
            </a:r>
            <a:br>
              <a:rPr lang="en-US" dirty="0"/>
            </a:br>
            <a:br>
              <a:rPr lang="en-US" dirty="0"/>
            </a:br>
            <a:r>
              <a:rPr lang="en-US" b="1" dirty="0"/>
              <a:t>Resilience Factors</a:t>
            </a:r>
            <a:r>
              <a:rPr lang="en-US" dirty="0"/>
              <a:t>: The analysis includes controls such as </a:t>
            </a:r>
            <a:r>
              <a:rPr lang="en-US" b="1" dirty="0"/>
              <a:t>firm fixed effects, year-quarter fixed effects, and variables like firm size, age, and ROA</a:t>
            </a:r>
            <a:r>
              <a:rPr lang="en-US" dirty="0"/>
              <a:t>. This ensures the results reflect the genuine impact of supply chain disruptions rather than general market or firm-specific trends, confirming the unique vulnerability tied to supply chain dependencies​(Barrot, </a:t>
            </a:r>
            <a:r>
              <a:rPr lang="en-US" dirty="0" err="1"/>
              <a:t>Sauvagnat</a:t>
            </a:r>
            <a:r>
              <a:rPr lang="en-US" dirty="0"/>
              <a:t>, 2016)</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1765061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for Robustness Checks.</a:t>
            </a:r>
            <a:br>
              <a:rPr lang="en-US" dirty="0"/>
            </a:br>
            <a:br>
              <a:rPr lang="en-US" dirty="0"/>
            </a:br>
            <a:r>
              <a:rPr lang="en-US" dirty="0"/>
              <a:t>One might be concerned that the results are driven by the location of customers’ plants close to the headquarters of their suppliers. In Panel A, Table VII, we introduce a dummy taking the value of 1 if more than 10% of the customer’s workforce across all establishments is hit by a natural disaster.</a:t>
            </a:r>
          </a:p>
          <a:p>
            <a:endParaRPr lang="en-US" dirty="0"/>
          </a:p>
          <a:p>
            <a:r>
              <a:rPr lang="en-US" dirty="0"/>
              <a:t>Another concern is that the estimates from Table V might reflect common demand shocks affecting the firm and its suppliers, for instance, because their customer base is located in the same area. To handle this issue, we augment our OLS regressions with a dummy called Disaster hits any eventually linked suppliers’ location, which takes the value of 1 if any headquarters’ county locations of all suppliers once in a relationship with the firm is hit by a natural disaster.</a:t>
            </a:r>
            <a:br>
              <a:rPr lang="en-US" dirty="0"/>
            </a:br>
            <a:br>
              <a:rPr lang="en-US" dirty="0"/>
            </a:br>
            <a:r>
              <a:rPr lang="en-US" b="1" dirty="0"/>
              <a:t>Geographic and Economic Robustness</a:t>
            </a:r>
            <a:r>
              <a:rPr lang="en-US" dirty="0"/>
              <a:t>: Panel A of Table VII tests if results are driven by the </a:t>
            </a:r>
            <a:r>
              <a:rPr lang="en-US" b="1" dirty="0"/>
              <a:t>geographic proximity of firms and suppliers</a:t>
            </a:r>
            <a:r>
              <a:rPr lang="en-US" dirty="0"/>
              <a:t>. Introducing a variable representing significant workforce impact in a disaster area confirms that proximity alone does not explain the sales decline, as the core relationship between supplier disruptions and firm sales remains stable.</a:t>
            </a:r>
            <a:br>
              <a:rPr lang="en-US" dirty="0"/>
            </a:br>
            <a:br>
              <a:rPr lang="en-US" dirty="0"/>
            </a:br>
            <a:r>
              <a:rPr lang="en-US" b="1" dirty="0"/>
              <a:t>Control for Demand Shocks</a:t>
            </a:r>
            <a:r>
              <a:rPr lang="en-US" dirty="0"/>
              <a:t>: Panel B assesses whether </a:t>
            </a:r>
            <a:r>
              <a:rPr lang="en-US" b="1" dirty="0"/>
              <a:t>common demand shocks</a:t>
            </a:r>
            <a:r>
              <a:rPr lang="en-US" dirty="0"/>
              <a:t> might drive the observed impact by adding a variable for any disaster hitting a connected supplier location. The stability of the coefficients for “Disaster hits one supplier” suggests that </a:t>
            </a:r>
            <a:r>
              <a:rPr lang="en-US" b="1" dirty="0"/>
              <a:t>the impact is not merely due to regional demand shocks</a:t>
            </a:r>
            <a:r>
              <a:rPr lang="en-US" dirty="0"/>
              <a:t> but rather specific disruptions in the supplier relationship.</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4044126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Impact of Specific vs. Nonspecific Suppliers on Sales Growth</a:t>
            </a:r>
            <a:r>
              <a:rPr lang="en-US" dirty="0"/>
              <a:t>: When a disaster hits a </a:t>
            </a:r>
            <a:r>
              <a:rPr lang="en-US" b="1" dirty="0"/>
              <a:t>specific supplier</a:t>
            </a:r>
            <a:r>
              <a:rPr lang="en-US" dirty="0"/>
              <a:t>, there is a significant negative impact on the firm's sales growth. The coefficients for specific suppliers (across different specificity measures like differentiation, R&amp;D intensity, and patent intensity) range from -0.032 to -0.050 and are statistically significant. In contrast, </a:t>
            </a:r>
            <a:r>
              <a:rPr lang="en-US" b="1" dirty="0"/>
              <a:t>nonspecific suppliers</a:t>
            </a:r>
            <a:r>
              <a:rPr lang="en-US" dirty="0"/>
              <a:t> show negligible impact, with coefficients close to zero and often insignificant. This demonstrates that disruptions to specific suppliers have a pronounced downstream effect on firms' performance.</a:t>
            </a:r>
          </a:p>
          <a:p>
            <a:endParaRPr lang="en-US" dirty="0"/>
          </a:p>
          <a:p>
            <a:r>
              <a:rPr lang="en-US" b="1" dirty="0"/>
              <a:t>Role of Input Specificity in Shock Propagation</a:t>
            </a:r>
            <a:r>
              <a:rPr lang="en-US" dirty="0"/>
              <a:t>: The table highlights how </a:t>
            </a:r>
            <a:r>
              <a:rPr lang="en-US" b="1" dirty="0"/>
              <a:t>input specificity</a:t>
            </a:r>
            <a:r>
              <a:rPr lang="en-US" dirty="0"/>
              <a:t> intensifies the effect of shocks. Specific suppliers, which are harder to replace due to their specialized nature, drive the propagation of adverse impacts from supplier disruptions to downstream firms. This result underscores the risks associated with dependencies on specific, specialized suppliers in the supply chain.</a:t>
            </a:r>
          </a:p>
          <a:p>
            <a:endParaRPr lang="en-US" dirty="0"/>
          </a:p>
          <a:p>
            <a:r>
              <a:rPr lang="en-US" b="1" dirty="0"/>
              <a:t>Control Variables and Robustness</a:t>
            </a:r>
            <a:r>
              <a:rPr lang="en-US" dirty="0"/>
              <a:t>: The analysis includes controls for </a:t>
            </a:r>
            <a:r>
              <a:rPr lang="en-US" b="1" dirty="0"/>
              <a:t>firm and year-quarter fixed effects</a:t>
            </a:r>
            <a:r>
              <a:rPr lang="en-US" dirty="0"/>
              <a:t> and various firm-level characteristics such as size, age, and return on assets (ROA). These controls help isolate the effect of supplier-specific shocks on sales growth. The robustness of the results across different specifications strengthens the conclusion that specific suppliers are critical conduits for downstream propagation of supply shocks​(Barrot, </a:t>
            </a:r>
            <a:r>
              <a:rPr lang="en-US" dirty="0" err="1"/>
              <a:t>Sauvagnat</a:t>
            </a:r>
            <a:r>
              <a:rPr lang="en-US" dirty="0"/>
              <a:t>, 2016).</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4264255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Cumulative Abnormal Returns (CAAR) for Customers and Suppliers</a:t>
            </a:r>
            <a:r>
              <a:rPr lang="en-US" dirty="0"/>
              <a:t>: The table presents CAAR for customers, suppliers, and control firms over different event windows around disasters. Results show that </a:t>
            </a:r>
            <a:r>
              <a:rPr lang="en-US" b="1" dirty="0"/>
              <a:t>customers of affected suppliers experience a drop in CAAR</a:t>
            </a:r>
            <a:r>
              <a:rPr lang="en-US" dirty="0"/>
              <a:t>, with significant decreases within the 21-day window surrounding the disaster, indicating that investors quickly react to the impact of supplier disruptions.</a:t>
            </a:r>
          </a:p>
          <a:p>
            <a:endParaRPr lang="en-US" dirty="0"/>
          </a:p>
          <a:p>
            <a:r>
              <a:rPr lang="en-US" b="1" dirty="0"/>
              <a:t>Long-term Impact on Suppliers</a:t>
            </a:r>
            <a:r>
              <a:rPr lang="en-US" dirty="0"/>
              <a:t>: Directly affected suppliers experience a </a:t>
            </a:r>
            <a:r>
              <a:rPr lang="en-US" b="1" dirty="0"/>
              <a:t>significant negative CAAR</a:t>
            </a:r>
            <a:r>
              <a:rPr lang="en-US" dirty="0"/>
              <a:t> over the 51-day event window, which is larger in magnitude compared to customers. This suggests that suppliers hit by disasters face substantial financial losses that are prolonged over time.</a:t>
            </a:r>
          </a:p>
          <a:p>
            <a:endParaRPr lang="en-US" dirty="0"/>
          </a:p>
          <a:p>
            <a:r>
              <a:rPr lang="en-US" b="1" dirty="0"/>
              <a:t>Control Group Comparison</a:t>
            </a:r>
            <a:r>
              <a:rPr lang="en-US" dirty="0"/>
              <a:t>: The control group, representing firms with unaffected suppliers, shows minimal or no significant CAAR changes. This highlights that </a:t>
            </a:r>
            <a:r>
              <a:rPr lang="en-US" b="1" dirty="0"/>
              <a:t>the negative effect on CAAR is specific to firms with affected suppliers</a:t>
            </a:r>
            <a:r>
              <a:rPr lang="en-US" dirty="0"/>
              <a:t>, supporting the conclusion that supply chain disruptions directly harm firm value only in impacted networks​(Barrot, </a:t>
            </a:r>
            <a:r>
              <a:rPr lang="en-US" dirty="0" err="1"/>
              <a:t>Sauvagnat</a:t>
            </a:r>
            <a:r>
              <a:rPr lang="en-US" dirty="0"/>
              <a:t>, 2016).</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759573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Greater Impact of Disruptions from Specific Suppliers</a:t>
            </a:r>
            <a:r>
              <a:rPr lang="en-US" dirty="0"/>
              <a:t>: When specific suppliers (defined by product differentiation, R&amp;D intensity, or patent holdings) are hit by a disaster, </a:t>
            </a:r>
            <a:r>
              <a:rPr lang="en-US" b="1" dirty="0"/>
              <a:t>customer firms experience a significantly larger CAAR drop</a:t>
            </a:r>
            <a:r>
              <a:rPr lang="en-US" dirty="0"/>
              <a:t> compared to nonspecific suppliers. This highlights that </a:t>
            </a:r>
            <a:r>
              <a:rPr lang="en-US" b="1" dirty="0"/>
              <a:t>input specificity amplifies the financial impact of supply chain disruptions</a:t>
            </a:r>
            <a:r>
              <a:rPr lang="en-US" dirty="0"/>
              <a:t>.</a:t>
            </a:r>
          </a:p>
          <a:p>
            <a:endParaRPr lang="en-US" dirty="0"/>
          </a:p>
          <a:p>
            <a:r>
              <a:rPr lang="en-US" b="1" dirty="0"/>
              <a:t>Investor Sensitivity to Supplier Specificity</a:t>
            </a:r>
            <a:r>
              <a:rPr lang="en-US" dirty="0"/>
              <a:t>: Stock prices react more negatively for firms reliant on specific suppliers, indicating that </a:t>
            </a:r>
            <a:r>
              <a:rPr lang="en-US" b="1" dirty="0"/>
              <a:t>investors perceive specific suppliers as harder to replace</a:t>
            </a:r>
            <a:r>
              <a:rPr lang="en-US" dirty="0"/>
              <a:t>, thus leading to higher perceived risk and greater valuation losses for affected firms.</a:t>
            </a:r>
          </a:p>
          <a:p>
            <a:endParaRPr lang="en-US" dirty="0"/>
          </a:p>
          <a:p>
            <a:r>
              <a:rPr lang="en-US" b="1" dirty="0"/>
              <a:t>Consistency Across Specificity Measures</a:t>
            </a:r>
            <a:r>
              <a:rPr lang="en-US" dirty="0"/>
              <a:t>: The results are consistent across different measures of specificity, such as differentiation, R&amp;D spending, and patent intensity, reinforcing the robustness of the finding that </a:t>
            </a:r>
            <a:r>
              <a:rPr lang="en-US" b="1" dirty="0"/>
              <a:t>specific suppliers' disruptions significantly impact firm value</a:t>
            </a:r>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23455781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Impact on Sales Growth of Related Suppliers</a:t>
            </a:r>
            <a:r>
              <a:rPr lang="en-US" dirty="0"/>
              <a:t>: When a disaster affects a firm, </a:t>
            </a:r>
            <a:r>
              <a:rPr lang="en-US" b="1" dirty="0"/>
              <a:t>related suppliers who serve the same customers also experience negative sales growth</a:t>
            </a:r>
            <a:r>
              <a:rPr lang="en-US" dirty="0"/>
              <a:t>. This table shows that if a specific supplier of a common customer is hit by a disaster, other suppliers tied to that customer experience a 4% decrease in sales growth. This highlights the indirect, horizontal propagation effects across suppliers connected through a mutual customer.</a:t>
            </a:r>
          </a:p>
          <a:p>
            <a:endParaRPr lang="en-US" dirty="0"/>
          </a:p>
          <a:p>
            <a:r>
              <a:rPr lang="en-US" b="1" dirty="0"/>
              <a:t>Stronger Impact from Specific Suppliers</a:t>
            </a:r>
            <a:r>
              <a:rPr lang="en-US" dirty="0"/>
              <a:t>: Disasters impacting </a:t>
            </a:r>
            <a:r>
              <a:rPr lang="en-US" b="1" dirty="0"/>
              <a:t>specific suppliers (those with high R&amp;D or patent intensity)</a:t>
            </a:r>
            <a:r>
              <a:rPr lang="en-US" dirty="0"/>
              <a:t> lead to a larger negative effect on other related suppliers compared to nonspecific suppliers. This underscores that horizontal propagation is more pronounced when the disrupted supplier plays a critical, specialized role within the supply chain.</a:t>
            </a:r>
            <a:br>
              <a:rPr lang="en-US" dirty="0"/>
            </a:br>
            <a:br>
              <a:rPr lang="en-US" dirty="0"/>
            </a:br>
            <a:r>
              <a:rPr lang="en-US" b="1" dirty="0"/>
              <a:t>Robustness of Results Across Specifications</a:t>
            </a:r>
            <a:r>
              <a:rPr lang="en-US" dirty="0"/>
              <a:t>: The regressions include controls for </a:t>
            </a:r>
            <a:r>
              <a:rPr lang="en-US" b="1" dirty="0"/>
              <a:t>firm fixed effects, year-quarter fixed effects, and various firm characteristics</a:t>
            </a:r>
            <a:r>
              <a:rPr lang="en-US" dirty="0"/>
              <a:t>. The significant results across these controls suggest that the horizontal propagation effects are robust and not merely due to common shocks affecting the industry or location​(Barrot, </a:t>
            </a:r>
            <a:r>
              <a:rPr lang="en-US" dirty="0" err="1"/>
              <a:t>Sauvagnat</a:t>
            </a:r>
            <a:r>
              <a:rPr lang="en-US" dirty="0"/>
              <a:t>, 2016).</a:t>
            </a:r>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3683780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Geographic Proximity Does Not Drive Results</a:t>
            </a:r>
            <a:r>
              <a:rPr lang="en-US" dirty="0"/>
              <a:t>: The robustness checks in Table XII (Panel A) address the concern that results could be driven by the physical proximity of suppliers. By including a variable to account for when </a:t>
            </a:r>
            <a:r>
              <a:rPr lang="en-US" b="1" dirty="0"/>
              <a:t>10% or more of a supplier’s workforce is affected by a disaster</a:t>
            </a:r>
            <a:r>
              <a:rPr lang="en-US" dirty="0"/>
              <a:t>, the analysis finds that the initial horizontal propagation effects remain significant, indicating that proximity alone is not responsible for the observed impact.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3025359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Validation Against Common Customer Demand Shocks</a:t>
            </a:r>
            <a:r>
              <a:rPr lang="en-US" dirty="0"/>
              <a:t>: Panel B tests whether the results might stem from common demand shocks among suppliers. It includes a variable representing disasters hitting any customer-related supplier location. The consistent effects, even after including this variable, suggest that the observed impact is indeed due to active economic links and not simply common demand shocks in specific locations.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1583439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Industry-Wide Shocks Are Not the Cause</a:t>
            </a:r>
            <a:r>
              <a:rPr lang="en-US" dirty="0"/>
              <a:t>: Panel C includes a control for common industry shocks by adding a dummy for disasters hitting any eventually linked supplier. The fact that the primary results persist indicates that </a:t>
            </a:r>
            <a:r>
              <a:rPr lang="en-US" b="1" dirty="0"/>
              <a:t>industry-wide shocks</a:t>
            </a:r>
            <a:r>
              <a:rPr lang="en-US" dirty="0"/>
              <a:t> do not account for the horizontal propagation observed in the data. This supports the idea that economic linkages specific to the supply chain relationships are key in propagating the impact of shocks​(Barrot, </a:t>
            </a:r>
            <a:r>
              <a:rPr lang="en-US" dirty="0" err="1"/>
              <a:t>Sauvagnat</a:t>
            </a:r>
            <a:r>
              <a:rPr lang="en-US" dirty="0"/>
              <a:t>, 2016)​(Barrot, </a:t>
            </a:r>
            <a:r>
              <a:rPr lang="en-US" dirty="0" err="1"/>
              <a:t>Sauvagnat</a:t>
            </a:r>
            <a:r>
              <a:rPr lang="en-US" dirty="0"/>
              <a:t>, 2016).</a:t>
            </a:r>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2502573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11/4/2024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Input Specificity And The Propagation of Idiosyncratic Shocks In Production Networks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92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Jean-Noel Barrot</a:t>
            </a:r>
            <a:br>
              <a:rPr lang="en-US" sz="2900" dirty="0">
                <a:solidFill>
                  <a:schemeClr val="tx1"/>
                </a:solidFill>
                <a:ea typeface="Calibri"/>
                <a:cs typeface="Calibri"/>
              </a:rPr>
            </a:br>
            <a:endParaRPr lang="it-IT" sz="2900" dirty="0">
              <a:solidFill>
                <a:schemeClr val="tx1"/>
              </a:solidFill>
              <a:ea typeface="Calibri"/>
              <a:cs typeface="Calibri"/>
            </a:endParaRPr>
          </a:p>
          <a:p>
            <a:br>
              <a:rPr lang="en-US" sz="2900" dirty="0">
                <a:solidFill>
                  <a:schemeClr val="tx1"/>
                </a:solidFill>
                <a:ea typeface="Calibri"/>
                <a:cs typeface="Calibri"/>
              </a:rPr>
            </a:br>
            <a:r>
              <a:rPr lang="en-US" sz="2900" b="1" dirty="0">
                <a:solidFill>
                  <a:schemeClr val="tx1"/>
                </a:solidFill>
                <a:ea typeface="Calibri"/>
                <a:cs typeface="Calibri"/>
              </a:rPr>
              <a:t>Julien </a:t>
            </a:r>
            <a:r>
              <a:rPr lang="en-US" sz="2900" b="1" dirty="0" err="1">
                <a:solidFill>
                  <a:schemeClr val="tx1"/>
                </a:solidFill>
                <a:ea typeface="Calibri"/>
                <a:cs typeface="Calibri"/>
              </a:rPr>
              <a:t>Sauvagnat</a:t>
            </a:r>
            <a:br>
              <a:rPr lang="en-US" sz="2900" b="1" dirty="0">
                <a:ea typeface="Calibri"/>
                <a:cs typeface="Calibri"/>
              </a:rPr>
            </a:br>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Do firm-specific shocks propagate within production networks, or are they contained?</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49273"/>
            <a:ext cx="8229600" cy="3803977"/>
          </a:xfrm>
        </p:spPr>
        <p:txBody>
          <a:bodyPr vert="horz" lIns="91440" tIns="45720" rIns="91440" bIns="45720" rtlCol="0" anchor="t">
            <a:noAutofit/>
          </a:bodyPr>
          <a:lstStyle/>
          <a:p>
            <a:pPr marL="342900" lvl="1" indent="-342900">
              <a:buFont typeface="Arial"/>
              <a:buChar char="•"/>
            </a:pPr>
            <a:r>
              <a:rPr lang="en-US" sz="2000" b="1" dirty="0">
                <a:ea typeface="Calibri"/>
                <a:cs typeface="Calibri"/>
              </a:rPr>
              <a:t>Aggregate Shocks from Micro-level Disruptions: </a:t>
            </a:r>
            <a:r>
              <a:rPr lang="en-US" sz="2000" dirty="0">
                <a:ea typeface="Calibri"/>
                <a:cs typeface="Calibri"/>
              </a:rPr>
              <a:t>Building on research by Long and </a:t>
            </a:r>
            <a:r>
              <a:rPr lang="en-US" sz="2000" dirty="0" err="1">
                <a:ea typeface="Calibri"/>
                <a:cs typeface="Calibri"/>
              </a:rPr>
              <a:t>Plosser</a:t>
            </a:r>
            <a:r>
              <a:rPr lang="en-US" sz="2000" dirty="0">
                <a:ea typeface="Calibri"/>
                <a:cs typeface="Calibri"/>
              </a:rPr>
              <a:t> (1983), Acemoglu et al. (2012), which investigates how shocks in one sector can impact others.</a:t>
            </a:r>
          </a:p>
          <a:p>
            <a:pPr marL="342900" lvl="1" indent="-342900">
              <a:buFont typeface="Arial"/>
              <a:buChar char="•"/>
            </a:pPr>
            <a:r>
              <a:rPr lang="en-US" sz="2000" b="1" dirty="0">
                <a:ea typeface="Calibri"/>
                <a:cs typeface="Calibri"/>
              </a:rPr>
              <a:t>Propagation in Firm Networks: </a:t>
            </a:r>
            <a:r>
              <a:rPr lang="en-US" sz="2000" dirty="0">
                <a:ea typeface="Calibri"/>
                <a:cs typeface="Calibri"/>
              </a:rPr>
              <a:t>Previous studies primarily examined industry-level shocks; this paper shifts focus to firm-level, identifying how specific firms within a network react to disruptions.</a:t>
            </a: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normAutofit/>
          </a:bodyPr>
          <a:lstStyle/>
          <a:p>
            <a:r>
              <a:rPr lang="en-US" dirty="0"/>
              <a:t>Firm-specific shocks, particularly from disruptions in unique or highly specific inputs, propagate through production networks, impacting downstream customers and even other suppliers.</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a:xfrm>
            <a:off x="457200" y="195221"/>
            <a:ext cx="8229600" cy="857250"/>
          </a:xfrm>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a:xfrm>
            <a:off x="457200" y="1256867"/>
            <a:ext cx="8229600" cy="3394472"/>
          </a:xfrm>
        </p:spPr>
        <p:txBody>
          <a:bodyPr>
            <a:normAutofit/>
          </a:bodyPr>
          <a:lstStyle/>
          <a:p>
            <a:r>
              <a:rPr lang="en-US" sz="2000" dirty="0"/>
              <a:t>Sales growth: Used as a measure of performance for both suppliers and customers after a disruption.</a:t>
            </a:r>
          </a:p>
          <a:p>
            <a:pPr>
              <a:buFont typeface="Arial" panose="020B0604020202020204" pitchFamily="34" charset="0"/>
              <a:buChar char="•"/>
            </a:pPr>
            <a:r>
              <a:rPr lang="en-US" sz="2000" dirty="0"/>
              <a:t>Input specificity- Measured in three ways:</a:t>
            </a:r>
          </a:p>
          <a:p>
            <a:pPr lvl="1">
              <a:buFont typeface="Arial" panose="020B0604020202020204" pitchFamily="34" charset="0"/>
              <a:buChar char="•"/>
            </a:pPr>
            <a:r>
              <a:rPr lang="en-US" sz="1600" dirty="0"/>
              <a:t>Whether the input is classified as a differentiated (non-commodity) good.</a:t>
            </a:r>
          </a:p>
          <a:p>
            <a:pPr lvl="1">
              <a:buFont typeface="Arial" panose="020B0604020202020204" pitchFamily="34" charset="0"/>
              <a:buChar char="•"/>
            </a:pPr>
            <a:r>
              <a:rPr lang="en-US" sz="1600" dirty="0"/>
              <a:t>Research and development (R&amp;D) expenses, as higher R&amp;D implies the input may be unique or specialized.</a:t>
            </a:r>
          </a:p>
          <a:p>
            <a:pPr lvl="1">
              <a:buFont typeface="Arial" panose="020B0604020202020204" pitchFamily="34" charset="0"/>
              <a:buChar char="•"/>
            </a:pPr>
            <a:r>
              <a:rPr lang="en-US" sz="1600" dirty="0"/>
              <a:t>Patent counts, which suggest the input or technology is hard to replicate.</a:t>
            </a:r>
          </a:p>
          <a:p>
            <a:pPr>
              <a:buFont typeface="Arial" panose="020B0604020202020204" pitchFamily="34" charset="0"/>
              <a:buChar char="•"/>
            </a:pPr>
            <a:endParaRPr lang="en-US" sz="2000" dirty="0"/>
          </a:p>
          <a:p>
            <a:endParaRPr lang="en-US" sz="2000" dirty="0"/>
          </a:p>
        </p:txBody>
      </p:sp>
    </p:spTree>
    <p:extLst>
      <p:ext uri="{BB962C8B-B14F-4D97-AF65-F5344CB8AC3E}">
        <p14:creationId xmlns:p14="http://schemas.microsoft.com/office/powerpoint/2010/main" val="14407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58AA-A6A2-FC66-643D-9CA9B08CEF74}"/>
              </a:ext>
            </a:extLst>
          </p:cNvPr>
          <p:cNvSpPr>
            <a:spLocks noGrp="1"/>
          </p:cNvSpPr>
          <p:nvPr>
            <p:ph type="title"/>
          </p:nvPr>
        </p:nvSpPr>
        <p:spPr/>
        <p:txBody>
          <a:bodyPr/>
          <a:lstStyle/>
          <a:p>
            <a:r>
              <a:rPr lang="en-US" dirty="0"/>
              <a:t>Identification Strategy</a:t>
            </a:r>
          </a:p>
        </p:txBody>
      </p:sp>
      <p:sp>
        <p:nvSpPr>
          <p:cNvPr id="3" name="Content Placeholder 2">
            <a:extLst>
              <a:ext uri="{FF2B5EF4-FFF2-40B4-BE49-F238E27FC236}">
                <a16:creationId xmlns:a16="http://schemas.microsoft.com/office/drawing/2014/main" id="{3A13F41C-3A6F-8403-E4FF-C91DEBE4E2AF}"/>
              </a:ext>
            </a:extLst>
          </p:cNvPr>
          <p:cNvSpPr>
            <a:spLocks noGrp="1"/>
          </p:cNvSpPr>
          <p:nvPr>
            <p:ph idx="1"/>
          </p:nvPr>
        </p:nvSpPr>
        <p:spPr/>
        <p:txBody>
          <a:bodyPr>
            <a:normAutofit fontScale="70000" lnSpcReduction="20000"/>
          </a:bodyPr>
          <a:lstStyle/>
          <a:p>
            <a:r>
              <a:rPr lang="en-US" b="1" dirty="0"/>
              <a:t>Natural Disasters as Exogenous Shocks</a:t>
            </a:r>
            <a:r>
              <a:rPr lang="en-US" dirty="0"/>
              <a:t>: The study uses natural disasters impacting suppliers’ headquarters as an external shock to analyze disruptions in production and supply chain effects.</a:t>
            </a:r>
          </a:p>
          <a:p>
            <a:r>
              <a:rPr lang="en-US" b="1" dirty="0"/>
              <a:t>Difference-in-Differences Approach</a:t>
            </a:r>
            <a:r>
              <a:rPr lang="en-US" dirty="0"/>
              <a:t>: By comparing sales growth of firms with affected suppliers to those without, the strategy isolates the impact of these shocks on customer firms.</a:t>
            </a:r>
          </a:p>
          <a:p>
            <a:r>
              <a:rPr lang="en-US" b="1" dirty="0"/>
              <a:t>Propagation Analysis</a:t>
            </a:r>
            <a:r>
              <a:rPr lang="en-US" dirty="0"/>
              <a:t>: The study examines how disruptions extend beyond direct customers, impacting other suppliers linked within the network, thereby capturing the ripple effect of firm-specific shocks.</a:t>
            </a:r>
          </a:p>
        </p:txBody>
      </p:sp>
    </p:spTree>
    <p:extLst>
      <p:ext uri="{BB962C8B-B14F-4D97-AF65-F5344CB8AC3E}">
        <p14:creationId xmlns:p14="http://schemas.microsoft.com/office/powerpoint/2010/main" val="284931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lnSpcReduction="10000"/>
          </a:bodyPr>
          <a:lstStyle/>
          <a:p>
            <a:r>
              <a:rPr lang="en-US" sz="2400" dirty="0"/>
              <a:t>Disruptions in specific inputs lead to significant declines in customer firms' sales (2-3 percentage points)</a:t>
            </a:r>
          </a:p>
          <a:p>
            <a:r>
              <a:rPr lang="en-US" sz="2400" dirty="0"/>
              <a:t>These effects are larger when suppliers produce non-substitutable (specific) goods.</a:t>
            </a:r>
          </a:p>
          <a:p>
            <a:r>
              <a:rPr lang="en-US" sz="2400" dirty="0"/>
              <a:t>Shocks extend horizontally, impacting other suppliers tied to the disrupted customer.</a:t>
            </a:r>
          </a:p>
          <a:p>
            <a:r>
              <a:rPr lang="en-US" sz="2400" dirty="0"/>
              <a:t> Approximately $1 loss in supplier sales leads to $2.40 in lost sales at the customer level, illustrating strong amplification within the network​</a:t>
            </a:r>
          </a:p>
        </p:txBody>
      </p:sp>
    </p:spTree>
    <p:extLst>
      <p:ext uri="{BB962C8B-B14F-4D97-AF65-F5344CB8AC3E}">
        <p14:creationId xmlns:p14="http://schemas.microsoft.com/office/powerpoint/2010/main" val="228072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a:xfrm>
            <a:off x="457200" y="120252"/>
            <a:ext cx="8229600" cy="857250"/>
          </a:xfrm>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a:xfrm>
            <a:off x="457200" y="1060301"/>
            <a:ext cx="8229600" cy="3394472"/>
          </a:xfrm>
        </p:spPr>
        <p:txBody>
          <a:bodyPr>
            <a:normAutofit fontScale="85000" lnSpcReduction="10000"/>
          </a:bodyPr>
          <a:lstStyle/>
          <a:p>
            <a:r>
              <a:rPr lang="en-US" dirty="0"/>
              <a:t>Publicly listed firms’ disclosures as per SFAS No. 131 regulation, which identifies major customer relationships (10%+ of sales).</a:t>
            </a:r>
          </a:p>
          <a:p>
            <a:r>
              <a:rPr lang="en-US" dirty="0"/>
              <a:t>Major U.S. natural disasters from the SHELDUS database, covering 41 high-damage incidents from 1978-2013.</a:t>
            </a:r>
          </a:p>
          <a:p>
            <a:r>
              <a:rPr lang="en-US" dirty="0" err="1"/>
              <a:t>Compustat</a:t>
            </a:r>
            <a:r>
              <a:rPr lang="en-US" dirty="0"/>
              <a:t> for financials, with specificity proxies from industry classifications, R&amp;D spending, and patent data</a:t>
            </a:r>
          </a:p>
          <a:p>
            <a:endParaRPr lang="en-US" dirty="0"/>
          </a:p>
        </p:txBody>
      </p:sp>
    </p:spTree>
    <p:extLst>
      <p:ext uri="{BB962C8B-B14F-4D97-AF65-F5344CB8AC3E}">
        <p14:creationId xmlns:p14="http://schemas.microsoft.com/office/powerpoint/2010/main" val="102931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F1D1D-5A31-138A-8695-AD91351562C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AEB51FB-37FD-3D94-20CE-7D46A8237B4C}"/>
              </a:ext>
            </a:extLst>
          </p:cNvPr>
          <p:cNvPicPr>
            <a:picLocks noGrp="1" noChangeAspect="1"/>
          </p:cNvPicPr>
          <p:nvPr>
            <p:ph idx="1"/>
          </p:nvPr>
        </p:nvPicPr>
        <p:blipFill>
          <a:blip r:embed="rId2"/>
          <a:stretch>
            <a:fillRect/>
          </a:stretch>
        </p:blipFill>
        <p:spPr>
          <a:xfrm>
            <a:off x="587247" y="170879"/>
            <a:ext cx="7969505" cy="4801742"/>
          </a:xfrm>
        </p:spPr>
      </p:pic>
    </p:spTree>
    <p:extLst>
      <p:ext uri="{BB962C8B-B14F-4D97-AF65-F5344CB8AC3E}">
        <p14:creationId xmlns:p14="http://schemas.microsoft.com/office/powerpoint/2010/main" val="351161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F2C6-62CC-D685-5F22-B2FDB66C652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A5F0508-C76B-A482-B929-428EC2D840D6}"/>
              </a:ext>
            </a:extLst>
          </p:cNvPr>
          <p:cNvPicPr>
            <a:picLocks noGrp="1" noChangeAspect="1"/>
          </p:cNvPicPr>
          <p:nvPr>
            <p:ph idx="1"/>
          </p:nvPr>
        </p:nvPicPr>
        <p:blipFill>
          <a:blip r:embed="rId2"/>
          <a:stretch>
            <a:fillRect/>
          </a:stretch>
        </p:blipFill>
        <p:spPr>
          <a:xfrm>
            <a:off x="1067282" y="251243"/>
            <a:ext cx="7009435" cy="4641013"/>
          </a:xfrm>
        </p:spPr>
      </p:pic>
    </p:spTree>
    <p:extLst>
      <p:ext uri="{BB962C8B-B14F-4D97-AF65-F5344CB8AC3E}">
        <p14:creationId xmlns:p14="http://schemas.microsoft.com/office/powerpoint/2010/main" val="66749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337F8-7874-CB89-89AB-E33CA22A48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B686E7-90D4-8DE4-6F2E-E067CB3BD11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136E4B8-ED89-1EF0-6AB8-1421F769999C}"/>
              </a:ext>
            </a:extLst>
          </p:cNvPr>
          <p:cNvPicPr>
            <a:picLocks noChangeAspect="1"/>
          </p:cNvPicPr>
          <p:nvPr/>
        </p:nvPicPr>
        <p:blipFill>
          <a:blip r:embed="rId3"/>
          <a:stretch>
            <a:fillRect/>
          </a:stretch>
        </p:blipFill>
        <p:spPr>
          <a:xfrm>
            <a:off x="1926101" y="274438"/>
            <a:ext cx="5291797" cy="4594623"/>
          </a:xfrm>
          <a:prstGeom prst="rect">
            <a:avLst/>
          </a:prstGeom>
        </p:spPr>
      </p:pic>
    </p:spTree>
    <p:extLst>
      <p:ext uri="{BB962C8B-B14F-4D97-AF65-F5344CB8AC3E}">
        <p14:creationId xmlns:p14="http://schemas.microsoft.com/office/powerpoint/2010/main" val="2785948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7C6D-DF8E-002D-7B8E-8D7D5D3418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604C9A-39EA-8875-3C02-D2CB2A22F37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C294DD3-EA32-AD5F-9DFC-1AD59BA800AC}"/>
              </a:ext>
            </a:extLst>
          </p:cNvPr>
          <p:cNvPicPr>
            <a:picLocks noChangeAspect="1"/>
          </p:cNvPicPr>
          <p:nvPr/>
        </p:nvPicPr>
        <p:blipFill>
          <a:blip r:embed="rId3"/>
          <a:stretch>
            <a:fillRect/>
          </a:stretch>
        </p:blipFill>
        <p:spPr>
          <a:xfrm>
            <a:off x="253217" y="1010399"/>
            <a:ext cx="8637565" cy="3122702"/>
          </a:xfrm>
          <a:prstGeom prst="rect">
            <a:avLst/>
          </a:prstGeom>
        </p:spPr>
      </p:pic>
    </p:spTree>
    <p:extLst>
      <p:ext uri="{BB962C8B-B14F-4D97-AF65-F5344CB8AC3E}">
        <p14:creationId xmlns:p14="http://schemas.microsoft.com/office/powerpoint/2010/main" val="1402370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981E3-CBA9-0FAD-F7A6-F265199B49B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CD9B658-D8CF-16ED-D48E-3EAADD529F0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7B9DB7D-F235-EFAC-9E6D-8586705FE34A}"/>
              </a:ext>
            </a:extLst>
          </p:cNvPr>
          <p:cNvPicPr>
            <a:picLocks noChangeAspect="1"/>
          </p:cNvPicPr>
          <p:nvPr/>
        </p:nvPicPr>
        <p:blipFill>
          <a:blip r:embed="rId3"/>
          <a:stretch>
            <a:fillRect/>
          </a:stretch>
        </p:blipFill>
        <p:spPr>
          <a:xfrm>
            <a:off x="1592819" y="157586"/>
            <a:ext cx="5958361" cy="4828327"/>
          </a:xfrm>
          <a:prstGeom prst="rect">
            <a:avLst/>
          </a:prstGeom>
        </p:spPr>
      </p:pic>
      <p:sp>
        <p:nvSpPr>
          <p:cNvPr id="6" name="Rectangle 5">
            <a:extLst>
              <a:ext uri="{FF2B5EF4-FFF2-40B4-BE49-F238E27FC236}">
                <a16:creationId xmlns:a16="http://schemas.microsoft.com/office/drawing/2014/main" id="{3A499C4A-80C4-F104-4108-951A9B6BD930}"/>
              </a:ext>
            </a:extLst>
          </p:cNvPr>
          <p:cNvSpPr/>
          <p:nvPr/>
        </p:nvSpPr>
        <p:spPr>
          <a:xfrm>
            <a:off x="1801091" y="1505526"/>
            <a:ext cx="5750089" cy="1136073"/>
          </a:xfrm>
          <a:prstGeom prst="rect">
            <a:avLst/>
          </a:prstGeom>
          <a:noFill/>
          <a:ln w="381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4078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A4351-6A3D-F7FA-78B1-E77E5A3681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CECE3E-5D6B-831B-4035-14D476AF28D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D6D49C4-5FC5-01DA-8389-DF4515A6920F}"/>
              </a:ext>
            </a:extLst>
          </p:cNvPr>
          <p:cNvPicPr>
            <a:picLocks noChangeAspect="1"/>
          </p:cNvPicPr>
          <p:nvPr/>
        </p:nvPicPr>
        <p:blipFill>
          <a:blip r:embed="rId3"/>
          <a:stretch>
            <a:fillRect/>
          </a:stretch>
        </p:blipFill>
        <p:spPr>
          <a:xfrm>
            <a:off x="671335" y="259251"/>
            <a:ext cx="7801330" cy="4678270"/>
          </a:xfrm>
          <a:prstGeom prst="rect">
            <a:avLst/>
          </a:prstGeom>
        </p:spPr>
      </p:pic>
    </p:spTree>
    <p:extLst>
      <p:ext uri="{BB962C8B-B14F-4D97-AF65-F5344CB8AC3E}">
        <p14:creationId xmlns:p14="http://schemas.microsoft.com/office/powerpoint/2010/main" val="540496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11CB-6580-E0F0-4F53-11C313A6CD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78DBF3-BBD9-8C46-5452-473652A3D2F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5C75EBB-0897-75AB-5AF0-C0FD91D49E57}"/>
              </a:ext>
            </a:extLst>
          </p:cNvPr>
          <p:cNvPicPr>
            <a:picLocks noChangeAspect="1"/>
          </p:cNvPicPr>
          <p:nvPr/>
        </p:nvPicPr>
        <p:blipFill>
          <a:blip r:embed="rId3"/>
          <a:stretch>
            <a:fillRect/>
          </a:stretch>
        </p:blipFill>
        <p:spPr>
          <a:xfrm>
            <a:off x="457200" y="291619"/>
            <a:ext cx="7901492" cy="4481256"/>
          </a:xfrm>
          <a:prstGeom prst="rect">
            <a:avLst/>
          </a:prstGeom>
        </p:spPr>
      </p:pic>
    </p:spTree>
    <p:extLst>
      <p:ext uri="{BB962C8B-B14F-4D97-AF65-F5344CB8AC3E}">
        <p14:creationId xmlns:p14="http://schemas.microsoft.com/office/powerpoint/2010/main" val="473750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3DBEC-ECAB-CC17-2E3B-B634AC886A0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F4FF1C3-B53E-003E-29B6-DFA4D7F783E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53895EF-B920-BBA0-2ECC-53A621428E32}"/>
              </a:ext>
            </a:extLst>
          </p:cNvPr>
          <p:cNvPicPr>
            <a:picLocks noChangeAspect="1"/>
          </p:cNvPicPr>
          <p:nvPr/>
        </p:nvPicPr>
        <p:blipFill>
          <a:blip r:embed="rId3"/>
          <a:stretch>
            <a:fillRect/>
          </a:stretch>
        </p:blipFill>
        <p:spPr>
          <a:xfrm>
            <a:off x="390155" y="548877"/>
            <a:ext cx="8363690" cy="4078844"/>
          </a:xfrm>
          <a:prstGeom prst="rect">
            <a:avLst/>
          </a:prstGeom>
        </p:spPr>
      </p:pic>
    </p:spTree>
    <p:extLst>
      <p:ext uri="{BB962C8B-B14F-4D97-AF65-F5344CB8AC3E}">
        <p14:creationId xmlns:p14="http://schemas.microsoft.com/office/powerpoint/2010/main" val="2339346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65800-D5EB-3A37-1F7F-AEA06F1AC9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A81B84-1AD7-B25F-6158-C7808B22CBA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E2B9578-9475-5E99-FE7C-9E3D1D27C4A1}"/>
              </a:ext>
            </a:extLst>
          </p:cNvPr>
          <p:cNvPicPr>
            <a:picLocks noChangeAspect="1"/>
          </p:cNvPicPr>
          <p:nvPr/>
        </p:nvPicPr>
        <p:blipFill>
          <a:blip r:embed="rId3"/>
          <a:stretch>
            <a:fillRect/>
          </a:stretch>
        </p:blipFill>
        <p:spPr>
          <a:xfrm>
            <a:off x="2696764" y="256554"/>
            <a:ext cx="3750472" cy="4630391"/>
          </a:xfrm>
          <a:prstGeom prst="rect">
            <a:avLst/>
          </a:prstGeom>
        </p:spPr>
      </p:pic>
    </p:spTree>
    <p:extLst>
      <p:ext uri="{BB962C8B-B14F-4D97-AF65-F5344CB8AC3E}">
        <p14:creationId xmlns:p14="http://schemas.microsoft.com/office/powerpoint/2010/main" val="262782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31E1-992E-D302-A622-76E41DA048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73A53D-EEEB-BFB6-5C0E-2683EB8BFE4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EA11607-A6DA-681E-4D00-40A32AE719FA}"/>
              </a:ext>
            </a:extLst>
          </p:cNvPr>
          <p:cNvPicPr>
            <a:picLocks noChangeAspect="1"/>
          </p:cNvPicPr>
          <p:nvPr/>
        </p:nvPicPr>
        <p:blipFill>
          <a:blip r:embed="rId3"/>
          <a:stretch>
            <a:fillRect/>
          </a:stretch>
        </p:blipFill>
        <p:spPr>
          <a:xfrm>
            <a:off x="2731911" y="209964"/>
            <a:ext cx="3680177" cy="4727557"/>
          </a:xfrm>
          <a:prstGeom prst="rect">
            <a:avLst/>
          </a:prstGeom>
        </p:spPr>
      </p:pic>
    </p:spTree>
    <p:extLst>
      <p:ext uri="{BB962C8B-B14F-4D97-AF65-F5344CB8AC3E}">
        <p14:creationId xmlns:p14="http://schemas.microsoft.com/office/powerpoint/2010/main" val="3687861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98998-3851-08C2-921B-5E5CE5E120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FE31C7-2308-6C9F-47F0-70385B10508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13489C7-CB80-7043-5C20-F4E718A93D70}"/>
              </a:ext>
            </a:extLst>
          </p:cNvPr>
          <p:cNvPicPr>
            <a:picLocks noChangeAspect="1"/>
          </p:cNvPicPr>
          <p:nvPr/>
        </p:nvPicPr>
        <p:blipFill>
          <a:blip r:embed="rId3"/>
          <a:stretch>
            <a:fillRect/>
          </a:stretch>
        </p:blipFill>
        <p:spPr>
          <a:xfrm>
            <a:off x="1186030" y="146574"/>
            <a:ext cx="6771939" cy="4850352"/>
          </a:xfrm>
          <a:prstGeom prst="rect">
            <a:avLst/>
          </a:prstGeom>
        </p:spPr>
      </p:pic>
    </p:spTree>
    <p:extLst>
      <p:ext uri="{BB962C8B-B14F-4D97-AF65-F5344CB8AC3E}">
        <p14:creationId xmlns:p14="http://schemas.microsoft.com/office/powerpoint/2010/main" val="2349451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B83F-28EB-B9DD-BDDD-5D9C50C9C9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71F736-359D-5505-C71D-E81169D603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096AD65-EF5A-EE66-9B4B-7066960F7F76}"/>
              </a:ext>
            </a:extLst>
          </p:cNvPr>
          <p:cNvPicPr>
            <a:picLocks noChangeAspect="1"/>
          </p:cNvPicPr>
          <p:nvPr/>
        </p:nvPicPr>
        <p:blipFill>
          <a:blip r:embed="rId3"/>
          <a:stretch>
            <a:fillRect/>
          </a:stretch>
        </p:blipFill>
        <p:spPr>
          <a:xfrm>
            <a:off x="913722" y="90849"/>
            <a:ext cx="7316555" cy="4961802"/>
          </a:xfrm>
          <a:prstGeom prst="rect">
            <a:avLst/>
          </a:prstGeom>
        </p:spPr>
      </p:pic>
    </p:spTree>
    <p:extLst>
      <p:ext uri="{BB962C8B-B14F-4D97-AF65-F5344CB8AC3E}">
        <p14:creationId xmlns:p14="http://schemas.microsoft.com/office/powerpoint/2010/main" val="2030950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16F9-695B-9322-DC38-EAE45B5209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2358D8-B878-78FB-CECC-1217E6D897D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A066687-4A57-58F1-826F-B97765D8223B}"/>
              </a:ext>
            </a:extLst>
          </p:cNvPr>
          <p:cNvPicPr>
            <a:picLocks noChangeAspect="1"/>
          </p:cNvPicPr>
          <p:nvPr/>
        </p:nvPicPr>
        <p:blipFill>
          <a:blip r:embed="rId3"/>
          <a:stretch>
            <a:fillRect/>
          </a:stretch>
        </p:blipFill>
        <p:spPr>
          <a:xfrm>
            <a:off x="1134172" y="119030"/>
            <a:ext cx="6875655" cy="4905439"/>
          </a:xfrm>
          <a:prstGeom prst="rect">
            <a:avLst/>
          </a:prstGeom>
        </p:spPr>
      </p:pic>
    </p:spTree>
    <p:extLst>
      <p:ext uri="{BB962C8B-B14F-4D97-AF65-F5344CB8AC3E}">
        <p14:creationId xmlns:p14="http://schemas.microsoft.com/office/powerpoint/2010/main" val="1423525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328D7-3D6A-FBE7-13CE-4AEFFD67BE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3F7EE8-3371-E818-0E74-000D7A43D5A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0F073E5-1AF8-8DEE-A1C8-CFD53B8A7F41}"/>
              </a:ext>
            </a:extLst>
          </p:cNvPr>
          <p:cNvPicPr>
            <a:picLocks noChangeAspect="1"/>
          </p:cNvPicPr>
          <p:nvPr/>
        </p:nvPicPr>
        <p:blipFill>
          <a:blip r:embed="rId3"/>
          <a:stretch>
            <a:fillRect/>
          </a:stretch>
        </p:blipFill>
        <p:spPr>
          <a:xfrm>
            <a:off x="1566941" y="120407"/>
            <a:ext cx="6010117" cy="4902686"/>
          </a:xfrm>
          <a:prstGeom prst="rect">
            <a:avLst/>
          </a:prstGeom>
        </p:spPr>
      </p:pic>
    </p:spTree>
    <p:extLst>
      <p:ext uri="{BB962C8B-B14F-4D97-AF65-F5344CB8AC3E}">
        <p14:creationId xmlns:p14="http://schemas.microsoft.com/office/powerpoint/2010/main" val="4160839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54DD-E57D-5E6E-6F54-9432ADC266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A72290-CE4A-437D-AD70-5F04C82D063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A70F032-2332-2142-7734-8F3B9FC81E11}"/>
              </a:ext>
            </a:extLst>
          </p:cNvPr>
          <p:cNvPicPr>
            <a:picLocks noChangeAspect="1"/>
          </p:cNvPicPr>
          <p:nvPr/>
        </p:nvPicPr>
        <p:blipFill>
          <a:blip r:embed="rId3"/>
          <a:stretch>
            <a:fillRect/>
          </a:stretch>
        </p:blipFill>
        <p:spPr>
          <a:xfrm>
            <a:off x="996793" y="102989"/>
            <a:ext cx="7150414" cy="4937521"/>
          </a:xfrm>
          <a:prstGeom prst="rect">
            <a:avLst/>
          </a:prstGeom>
        </p:spPr>
      </p:pic>
    </p:spTree>
    <p:extLst>
      <p:ext uri="{BB962C8B-B14F-4D97-AF65-F5344CB8AC3E}">
        <p14:creationId xmlns:p14="http://schemas.microsoft.com/office/powerpoint/2010/main" val="1670928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62DA-A6C4-1CA7-E551-2A83DEF99F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37DB2C-3BB6-74F0-B2BD-5B781BD2BB2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673EE7D-ED81-63EE-286E-8995FCBDC25D}"/>
              </a:ext>
            </a:extLst>
          </p:cNvPr>
          <p:cNvPicPr>
            <a:picLocks noChangeAspect="1"/>
          </p:cNvPicPr>
          <p:nvPr/>
        </p:nvPicPr>
        <p:blipFill>
          <a:blip r:embed="rId3"/>
          <a:stretch>
            <a:fillRect/>
          </a:stretch>
        </p:blipFill>
        <p:spPr>
          <a:xfrm>
            <a:off x="401180" y="636165"/>
            <a:ext cx="8341640" cy="3871169"/>
          </a:xfrm>
          <a:prstGeom prst="rect">
            <a:avLst/>
          </a:prstGeom>
        </p:spPr>
      </p:pic>
    </p:spTree>
    <p:extLst>
      <p:ext uri="{BB962C8B-B14F-4D97-AF65-F5344CB8AC3E}">
        <p14:creationId xmlns:p14="http://schemas.microsoft.com/office/powerpoint/2010/main" val="3909413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38FB-560D-67D3-1C41-F9F328057E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D837CE-BE40-498A-747E-D666BE6E3B3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18F1DC1-4437-1F7D-97CF-D53C6B67E128}"/>
              </a:ext>
            </a:extLst>
          </p:cNvPr>
          <p:cNvPicPr>
            <a:picLocks noChangeAspect="1"/>
          </p:cNvPicPr>
          <p:nvPr/>
        </p:nvPicPr>
        <p:blipFill>
          <a:blip r:embed="rId3"/>
          <a:stretch>
            <a:fillRect/>
          </a:stretch>
        </p:blipFill>
        <p:spPr>
          <a:xfrm>
            <a:off x="369067" y="392754"/>
            <a:ext cx="8405865" cy="4357992"/>
          </a:xfrm>
          <a:prstGeom prst="rect">
            <a:avLst/>
          </a:prstGeom>
        </p:spPr>
      </p:pic>
    </p:spTree>
    <p:extLst>
      <p:ext uri="{BB962C8B-B14F-4D97-AF65-F5344CB8AC3E}">
        <p14:creationId xmlns:p14="http://schemas.microsoft.com/office/powerpoint/2010/main" val="677523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86C3-4CBF-58CF-9190-56CF41D96A1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83E88B0-691A-515F-D5B6-6A63ACDD9835}"/>
              </a:ext>
            </a:extLst>
          </p:cNvPr>
          <p:cNvSpPr>
            <a:spLocks noGrp="1"/>
          </p:cNvSpPr>
          <p:nvPr>
            <p:ph idx="1"/>
          </p:nvPr>
        </p:nvSpPr>
        <p:spPr/>
        <p:txBody>
          <a:bodyPr>
            <a:normAutofit fontScale="70000" lnSpcReduction="20000"/>
          </a:bodyPr>
          <a:lstStyle/>
          <a:p>
            <a:r>
              <a:rPr lang="en-US" dirty="0"/>
              <a:t>Idiosyncratic shocks, especially those affecting specific and non-substitutable inputs, significantly propagate through production networks, impacting downstream and even peer firms.</a:t>
            </a:r>
          </a:p>
          <a:p>
            <a:r>
              <a:rPr lang="en-US" dirty="0"/>
              <a:t>Input specificity plays a crucial role in determining the extent of these disruptions, highlighting the economic importance of relationship-specific investments and the potential costs of switching suppliers.</a:t>
            </a:r>
          </a:p>
          <a:p>
            <a:r>
              <a:rPr lang="en-US" dirty="0"/>
              <a:t>Findings suggest that firms heavily reliant on specific suppliers face higher risks of financial loss and operational disruptions.</a:t>
            </a:r>
          </a:p>
          <a:p>
            <a:endParaRPr lang="en-US" dirty="0"/>
          </a:p>
          <a:p>
            <a:endParaRPr lang="en-US" dirty="0"/>
          </a:p>
        </p:txBody>
      </p:sp>
    </p:spTree>
    <p:extLst>
      <p:ext uri="{BB962C8B-B14F-4D97-AF65-F5344CB8AC3E}">
        <p14:creationId xmlns:p14="http://schemas.microsoft.com/office/powerpoint/2010/main" val="3045896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2.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7436</TotalTime>
  <Words>2677</Words>
  <Application>Microsoft Office PowerPoint</Application>
  <PresentationFormat>On-screen Show (16:9)</PresentationFormat>
  <Paragraphs>104</Paragraphs>
  <Slides>26</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Input Specificity And The Propagation of Idiosyncratic Shocks In Production Networks</vt:lpstr>
      <vt:lpstr>Research Question</vt:lpstr>
      <vt:lpstr>Prior Literature</vt:lpstr>
      <vt:lpstr>Hypothesis</vt:lpstr>
      <vt:lpstr>Key Metrics</vt:lpstr>
      <vt:lpstr>Identification Strategy</vt:lpstr>
      <vt:lpstr>Results</vt:lpstr>
      <vt:lpstr>Data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356</cp:revision>
  <dcterms:created xsi:type="dcterms:W3CDTF">2020-09-10T18:37:45Z</dcterms:created>
  <dcterms:modified xsi:type="dcterms:W3CDTF">2024-11-05T14:47:40Z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