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60" r:id="rId3"/>
    <p:sldId id="257" r:id="rId4"/>
    <p:sldId id="269" r:id="rId5"/>
    <p:sldId id="270" r:id="rId6"/>
    <p:sldId id="261" r:id="rId7"/>
    <p:sldId id="258" r:id="rId8"/>
    <p:sldId id="262" r:id="rId9"/>
    <p:sldId id="263" r:id="rId10"/>
    <p:sldId id="264" r:id="rId11"/>
    <p:sldId id="265" r:id="rId12"/>
    <p:sldId id="266" r:id="rId13"/>
    <p:sldId id="267" r:id="rId14"/>
    <p:sldId id="277" r:id="rId15"/>
    <p:sldId id="268" r:id="rId16"/>
    <p:sldId id="271" r:id="rId17"/>
    <p:sldId id="272" r:id="rId18"/>
    <p:sldId id="273" r:id="rId19"/>
    <p:sldId id="274" r:id="rId20"/>
    <p:sldId id="275" r:id="rId21"/>
    <p:sldId id="25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E5F15-5C52-4EF2-95A3-083697E8AE88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C01A43-C19C-4035-A92B-A9839F4DA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5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94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imbusRomNo9L-Regu"/>
              </a:rPr>
              <a:t>In general, large firms selling to </a:t>
            </a:r>
            <a:r>
              <a:rPr lang="en-US" sz="1800" b="0" i="0" u="none" strike="noStrike" baseline="0">
                <a:latin typeface="NimbusRomNo9L-Regu"/>
              </a:rPr>
              <a:t>end consumers comprise </a:t>
            </a:r>
            <a:r>
              <a:rPr lang="en-US" sz="1800" b="0" i="0" u="none" strike="noStrike" baseline="0" dirty="0">
                <a:latin typeface="NimbusRomNo9L-Regu"/>
              </a:rPr>
              <a:t>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1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61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Although suppliers often report customers that account for less than 10% of their total sales, accounting and security regulations require suppliers to report only customers that account for at least 10% of total sales.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pattern evident in both graphs suggests that a nontrivial number of suppliers choose not to report sales to a customer when sales account for less than 10% of revenues.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82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13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26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 1</a:t>
            </a:r>
            <a:r>
              <a:rPr lang="en-US" dirty="0"/>
              <a:t> includes only the variable POST_TURNOVER along with year and customer–supplier fixed effects and shows that sales to a customer as a fraction of supplier total sales decrease by 12.7 log points (11.9%) following the replacement of the customer’s CEO.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 2</a:t>
            </a:r>
            <a:r>
              <a:rPr lang="en-US" dirty="0"/>
              <a:t> adds controls for supplier characteristics.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 3</a:t>
            </a:r>
            <a:r>
              <a:rPr lang="en-US" dirty="0"/>
              <a:t> adds controls for customer characteristics.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 4</a:t>
            </a:r>
            <a:r>
              <a:rPr lang="en-US" dirty="0"/>
              <a:t> adds industry-year fixed effects.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5–7</a:t>
            </a:r>
            <a:r>
              <a:rPr lang="en-US" dirty="0"/>
              <a:t> use alternative specifications of the dependent variable.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 8</a:t>
            </a:r>
            <a:r>
              <a:rPr lang="en-US" dirty="0"/>
              <a:t> restricts the sample to the +/- 3 years surrounding turnover.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 9</a:t>
            </a:r>
            <a:r>
              <a:rPr lang="en-US" dirty="0"/>
              <a:t> excludes observations with an above sample median number of suppliers.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 10 </a:t>
            </a:r>
            <a:r>
              <a:rPr lang="en-US" dirty="0"/>
              <a:t>uses the average across suppliers for each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0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1 and 2</a:t>
            </a:r>
            <a:r>
              <a:rPr lang="en-US" dirty="0"/>
              <a:t> show the extent to which the selected approach to matching customer–supplier relationships influences the findings.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3–6</a:t>
            </a:r>
            <a:r>
              <a:rPr lang="en-US" dirty="0"/>
              <a:t> test the sensitivity of the findings to different treatments of years when sales to a customer are missing between the first and last year of the relationship.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7 and 8</a:t>
            </a:r>
            <a:r>
              <a:rPr lang="en-US" dirty="0"/>
              <a:t> model the probability that the relationship ends.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9 and 10</a:t>
            </a:r>
            <a:r>
              <a:rPr lang="en-US" dirty="0"/>
              <a:t> use Cox proportional hazard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73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Panel A</a:t>
            </a:r>
            <a:r>
              <a:rPr lang="en-US" dirty="0"/>
              <a:t>: The interaction terms in each model imply that suppliers benefit from customer CEO turnovers when customers have greater switching costs.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Panel B</a:t>
            </a:r>
            <a:r>
              <a:rPr lang="en-US" dirty="0"/>
              <a:t>: Customer CEO turnovers benefit suppliers that are less likely to have made RSIs but hurt those that are more likely to have made RSIs.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68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Panel A</a:t>
            </a:r>
            <a:r>
              <a:rPr lang="en-US" dirty="0"/>
              <a:t>: The results show that, except when incumbent CEOs leave voluntarily and are replaced by insiders, sales to customers significantly decline following CEO turnovers.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Panel B</a:t>
            </a:r>
            <a:r>
              <a:rPr lang="en-US" dirty="0"/>
              <a:t>: The negative relation is more pronounced incumbent is more likely to have greater decision-making power over the board and weaker board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50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Panel A</a:t>
            </a:r>
            <a:r>
              <a:rPr lang="en-US" dirty="0"/>
              <a:t>: Over the 5-day window around the turnover announcement date and across our three measures of abnormal returns, suppliers experience negative and statistically significant abnormal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05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1–3</a:t>
            </a:r>
            <a:r>
              <a:rPr lang="en-US" dirty="0"/>
              <a:t> show that CARs to announcements of outside successions following forced turnovers are significantly more negative than CARs to announcements of inside successions following voluntary turnovers.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4–6</a:t>
            </a:r>
            <a:r>
              <a:rPr lang="en-US" dirty="0"/>
              <a:t> show a negative relation between supplier CARs and the incumbent’s power index.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7–9</a:t>
            </a:r>
            <a:r>
              <a:rPr lang="en-US" dirty="0"/>
              <a:t> include both turnover types and entrenchment measures in the same model and confirm the previous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2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Models 1–3</a:t>
            </a:r>
            <a:r>
              <a:rPr lang="en-US" dirty="0"/>
              <a:t> show that new CEOs are significantly more likely to divest PP&amp;E and business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9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decline in supplier sales to a customer that replaces its CEO leads to lower overall supplier financial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01A43-C19C-4035-A92B-A9839F4DA6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4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0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5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64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30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4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9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4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8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7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8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titled-4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649"/>
            <a:ext cx="12204192" cy="10098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263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A25DC-01CC-414A-A394-D35A0592A347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C5112-463C-4814-9119-B25AAF4D4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DA2A-F620-F7C0-B394-3CF55881D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58975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CEO Turnovers and Disruptions in Customer–Supplier Relationships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A4B41-7035-8BCE-4870-52321BDBD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Vincent J. </a:t>
            </a:r>
            <a:r>
              <a:rPr lang="en-US" dirty="0" err="1"/>
              <a:t>Intintoli</a:t>
            </a:r>
            <a:r>
              <a:rPr lang="en-US" dirty="0"/>
              <a:t>, Matthew </a:t>
            </a:r>
            <a:r>
              <a:rPr lang="en-US" dirty="0" err="1"/>
              <a:t>Serfling</a:t>
            </a:r>
            <a:r>
              <a:rPr lang="en-US" dirty="0"/>
              <a:t>, and Sarah Shaikh (2017)</a:t>
            </a:r>
          </a:p>
          <a:p>
            <a:r>
              <a:rPr lang="en-US" dirty="0"/>
              <a:t>Presented by Nicholas Thompson</a:t>
            </a:r>
          </a:p>
        </p:txBody>
      </p:sp>
    </p:spTree>
    <p:extLst>
      <p:ext uri="{BB962C8B-B14F-4D97-AF65-F5344CB8AC3E}">
        <p14:creationId xmlns:p14="http://schemas.microsoft.com/office/powerpoint/2010/main" val="29256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F83F-ED44-14C2-4EFB-5FE49119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9893-4D0F-B841-5D4E-414C054E2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replacement of a customer firm’s CEO affect its relationships with dependent suppliers?</a:t>
            </a:r>
          </a:p>
        </p:txBody>
      </p:sp>
    </p:spTree>
    <p:extLst>
      <p:ext uri="{BB962C8B-B14F-4D97-AF65-F5344CB8AC3E}">
        <p14:creationId xmlns:p14="http://schemas.microsoft.com/office/powerpoint/2010/main" val="60302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6F4E-BA5C-3940-40D6-065AB2AC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0C6AC-A9BF-6AC4-07F5-F7AF34E0F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Dependent suppliers benefit from operational efficiencies (</a:t>
            </a:r>
            <a:r>
              <a:rPr lang="en-US" dirty="0" err="1"/>
              <a:t>Kalwani</a:t>
            </a:r>
            <a:r>
              <a:rPr lang="en-US" dirty="0"/>
              <a:t> &amp; </a:t>
            </a:r>
            <a:r>
              <a:rPr lang="en-US" dirty="0" err="1"/>
              <a:t>Narayandas</a:t>
            </a:r>
            <a:r>
              <a:rPr lang="en-US" dirty="0"/>
              <a:t>, 1995; </a:t>
            </a:r>
            <a:r>
              <a:rPr lang="en-US" dirty="0" err="1"/>
              <a:t>Patatoukas</a:t>
            </a:r>
            <a:r>
              <a:rPr lang="en-US" dirty="0"/>
              <a:t>, 2012; Cen et al., 2016) but face risks due to limited diversification and relationship-specific investments.</a:t>
            </a:r>
          </a:p>
          <a:p>
            <a:r>
              <a:rPr lang="en-US" dirty="0"/>
              <a:t>New CEOs often drive strategic and operational changes (Denis &amp; Denis, 1995; </a:t>
            </a:r>
            <a:r>
              <a:rPr lang="en-US" dirty="0" err="1"/>
              <a:t>Huson</a:t>
            </a:r>
            <a:r>
              <a:rPr lang="en-US" dirty="0"/>
              <a:t> et al., 2004), impacting supplier sales and profitability.</a:t>
            </a:r>
          </a:p>
          <a:p>
            <a:r>
              <a:rPr lang="en-US" dirty="0"/>
              <a:t>Disruptive events can trigger negative stock reactions for suppliers (</a:t>
            </a:r>
            <a:r>
              <a:rPr lang="en-US" dirty="0" err="1"/>
              <a:t>Hertzel</a:t>
            </a:r>
            <a:r>
              <a:rPr lang="en-US" dirty="0"/>
              <a:t> et al., 2008; </a:t>
            </a:r>
            <a:r>
              <a:rPr lang="en-US" dirty="0" err="1"/>
              <a:t>Kolay</a:t>
            </a:r>
            <a:r>
              <a:rPr lang="en-US" dirty="0"/>
              <a:t> et al., 2016), reflecting heightened risks.</a:t>
            </a:r>
          </a:p>
        </p:txBody>
      </p:sp>
    </p:spTree>
    <p:extLst>
      <p:ext uri="{BB962C8B-B14F-4D97-AF65-F5344CB8AC3E}">
        <p14:creationId xmlns:p14="http://schemas.microsoft.com/office/powerpoint/2010/main" val="107093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BC2A0-9D18-4F04-A752-AED9A0CE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3558-20C7-A06B-2BE7-333875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ED16-DAE0-1543-686B-9DB2C6CB2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replacement of a customer’s CEO disrupts its relationships with dependent suppliers.</a:t>
            </a:r>
          </a:p>
        </p:txBody>
      </p:sp>
    </p:spTree>
    <p:extLst>
      <p:ext uri="{BB962C8B-B14F-4D97-AF65-F5344CB8AC3E}">
        <p14:creationId xmlns:p14="http://schemas.microsoft.com/office/powerpoint/2010/main" val="136140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396D-44C8-8AEB-A093-8076B75C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E912-98E7-EAFD-26CE-C8FE44BC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02489-5DA2-14FF-F34D-99B60C7B5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err="1"/>
              <a:t>Compustat</a:t>
            </a:r>
            <a:r>
              <a:rPr lang="en-US" b="1" dirty="0"/>
              <a:t> Segment Files</a:t>
            </a:r>
            <a:r>
              <a:rPr lang="en-US" dirty="0"/>
              <a:t>: Identified U.S.-based suppliers reporting significant customers (≥10% of revenue) from 1993–2011; includes voluntarily reported customers &lt;10%.</a:t>
            </a:r>
          </a:p>
          <a:p>
            <a:r>
              <a:rPr lang="en-US" b="1" dirty="0" err="1"/>
              <a:t>ExecuComp</a:t>
            </a:r>
            <a:r>
              <a:rPr lang="en-US" dirty="0"/>
              <a:t>: Matched customer-firm CEO data to segment files (47.1% match rate).</a:t>
            </a:r>
          </a:p>
          <a:p>
            <a:r>
              <a:rPr lang="en-US" b="1" dirty="0" err="1"/>
              <a:t>Compustat</a:t>
            </a:r>
            <a:r>
              <a:rPr lang="en-US" b="1" dirty="0"/>
              <a:t> Annual Files</a:t>
            </a:r>
            <a:r>
              <a:rPr lang="en-US" dirty="0"/>
              <a:t>: Financial statement data.</a:t>
            </a:r>
          </a:p>
          <a:p>
            <a:r>
              <a:rPr lang="en-US" b="1" dirty="0"/>
              <a:t>CRSP</a:t>
            </a:r>
            <a:r>
              <a:rPr lang="en-US" dirty="0"/>
              <a:t>: Stock return data.</a:t>
            </a:r>
          </a:p>
          <a:p>
            <a:r>
              <a:rPr lang="en-US" b="1" dirty="0"/>
              <a:t>Thomson Reuters Insider Filing Data Feed</a:t>
            </a:r>
            <a:r>
              <a:rPr lang="en-US" dirty="0"/>
              <a:t>: </a:t>
            </a:r>
            <a:r>
              <a:rPr lang="en-US" dirty="0" err="1"/>
              <a:t>Blockholder</a:t>
            </a:r>
            <a:r>
              <a:rPr lang="en-US" dirty="0"/>
              <a:t> data.</a:t>
            </a:r>
          </a:p>
          <a:p>
            <a:r>
              <a:rPr lang="en-US" b="1" dirty="0"/>
              <a:t>Sample</a:t>
            </a:r>
            <a:r>
              <a:rPr lang="en-US" dirty="0"/>
              <a:t>: 5,876 customer–supplier pairs, with 2,586 experiencing a CEO turnover (treatment group) and 3,290 without a turnover (control group).</a:t>
            </a:r>
          </a:p>
        </p:txBody>
      </p:sp>
    </p:spTree>
    <p:extLst>
      <p:ext uri="{BB962C8B-B14F-4D97-AF65-F5344CB8AC3E}">
        <p14:creationId xmlns:p14="http://schemas.microsoft.com/office/powerpoint/2010/main" val="83631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AA3C-9FD2-7448-FE4E-EADF8868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A0967-299C-CB3D-8ACC-CDFC67DD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846" y="0"/>
            <a:ext cx="7904308" cy="582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8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B465A7-85C8-44C1-31D0-BE37278F0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276" y="367523"/>
            <a:ext cx="9739448" cy="49120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591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B2825-CA3C-974B-0FE8-7455A464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0886D0-7F38-4A37-D3D9-383A1D8F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789" y="0"/>
            <a:ext cx="6988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2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CC1F-076D-7E3C-F4F1-1E68F0DC9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59E399-3107-0BF0-4BA6-EEF487C2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494" y="0"/>
            <a:ext cx="7973011" cy="58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05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E1895-A520-D394-9DE8-4590A955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F4A955-E9F1-7E8D-5283-85F94A4C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110" y="0"/>
            <a:ext cx="7897780" cy="582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2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04EC6-71A6-2D6D-B07D-A48E048A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57D3E9-595B-0D9B-3377-CBF7D6C37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37" y="0"/>
            <a:ext cx="6588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07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74D9-0860-7270-F4EC-C23BAA24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65F18E-8A62-37CA-4A06-80F07E015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0" y="-2278657"/>
            <a:ext cx="6858001" cy="114153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FC7BEF-C158-2EDE-E071-84697CB6C2BE}"/>
              </a:ext>
            </a:extLst>
          </p:cNvPr>
          <p:cNvSpPr/>
          <p:nvPr/>
        </p:nvSpPr>
        <p:spPr>
          <a:xfrm>
            <a:off x="388343" y="3496236"/>
            <a:ext cx="11480928" cy="34065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5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8891-17AD-08BC-0308-668F0FFA4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E0EA12-2C35-905E-7634-27FA92181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-2631232"/>
            <a:ext cx="6858001" cy="1212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46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FCDA-8D5C-47B2-2F6F-B22C5EB0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B0509-8BEE-E97D-9A45-47E414ADC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74720" y="-3241414"/>
            <a:ext cx="5242560" cy="1219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AF253-6DEB-9ABE-A78A-F22475839630}"/>
              </a:ext>
            </a:extLst>
          </p:cNvPr>
          <p:cNvSpPr/>
          <p:nvPr/>
        </p:nvSpPr>
        <p:spPr>
          <a:xfrm>
            <a:off x="-1" y="3971365"/>
            <a:ext cx="12191999" cy="36755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7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89A7-EDA7-BE92-D3FB-E496F6E5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E2158-76F3-2085-07B9-A5801092CE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549"/>
          <a:stretch/>
        </p:blipFill>
        <p:spPr>
          <a:xfrm>
            <a:off x="153828" y="0"/>
            <a:ext cx="5942172" cy="53877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845CBC-717C-38E8-299F-BE3ACA6715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451"/>
          <a:stretch/>
        </p:blipFill>
        <p:spPr>
          <a:xfrm>
            <a:off x="6096001" y="2859582"/>
            <a:ext cx="5942171" cy="25999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B0D642-DFF4-9063-C626-63430DA2F790}"/>
              </a:ext>
            </a:extLst>
          </p:cNvPr>
          <p:cNvSpPr/>
          <p:nvPr/>
        </p:nvSpPr>
        <p:spPr>
          <a:xfrm>
            <a:off x="153827" y="4132729"/>
            <a:ext cx="5942172" cy="31376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2D35B1-3893-7073-8A23-968128ABA273}"/>
              </a:ext>
            </a:extLst>
          </p:cNvPr>
          <p:cNvSpPr/>
          <p:nvPr/>
        </p:nvSpPr>
        <p:spPr>
          <a:xfrm>
            <a:off x="6167718" y="4235822"/>
            <a:ext cx="5870453" cy="29583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163377-F2CB-15F4-E2D3-1F247C174CD9}"/>
              </a:ext>
            </a:extLst>
          </p:cNvPr>
          <p:cNvSpPr/>
          <p:nvPr/>
        </p:nvSpPr>
        <p:spPr>
          <a:xfrm>
            <a:off x="6167718" y="3626222"/>
            <a:ext cx="5870453" cy="29583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47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D20C-CECC-321A-2839-2CBF2162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064240-B3ED-1BB6-AEA7-AA84D7FAF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536"/>
          <a:stretch/>
        </p:blipFill>
        <p:spPr>
          <a:xfrm>
            <a:off x="607212" y="0"/>
            <a:ext cx="5488788" cy="5807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B9C652-7D42-B4CA-73BA-10612A5D7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464"/>
          <a:stretch/>
        </p:blipFill>
        <p:spPr>
          <a:xfrm>
            <a:off x="6096000" y="2966523"/>
            <a:ext cx="5488789" cy="2097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1FE9B4D-9004-EAF2-1722-CAD9578FEBD9}"/>
              </a:ext>
            </a:extLst>
          </p:cNvPr>
          <p:cNvSpPr/>
          <p:nvPr/>
        </p:nvSpPr>
        <p:spPr>
          <a:xfrm>
            <a:off x="607209" y="3845860"/>
            <a:ext cx="5488789" cy="138952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53F9F2-914A-E026-CC52-1C67A9977DCA}"/>
              </a:ext>
            </a:extLst>
          </p:cNvPr>
          <p:cNvSpPr/>
          <p:nvPr/>
        </p:nvSpPr>
        <p:spPr>
          <a:xfrm>
            <a:off x="6176682" y="3639671"/>
            <a:ext cx="5408104" cy="83371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76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AFE4-B79E-FF0B-8480-28EFA2D3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AEAB3-820E-B2DE-1177-E20A2F5ECC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732"/>
          <a:stretch/>
        </p:blipFill>
        <p:spPr>
          <a:xfrm>
            <a:off x="219635" y="194158"/>
            <a:ext cx="5786717" cy="4172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91E8A3-9ECC-865C-3212-BE646F6FE6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268"/>
          <a:stretch/>
        </p:blipFill>
        <p:spPr>
          <a:xfrm>
            <a:off x="6185650" y="194158"/>
            <a:ext cx="5786717" cy="547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4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F0339-F845-B857-81FF-714F6DD6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357319-C484-4957-7BC9-8D1A027BD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13" y="0"/>
            <a:ext cx="9168173" cy="583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34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0145-50D6-D61A-7536-A5AFCC34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990362-9454-4261-C064-F6A6BBBE0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748622" y="-2667001"/>
            <a:ext cx="6694758" cy="121920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EF40F8-833F-56A0-75AF-0B01AC40778B}"/>
              </a:ext>
            </a:extLst>
          </p:cNvPr>
          <p:cNvSpPr/>
          <p:nvPr/>
        </p:nvSpPr>
        <p:spPr>
          <a:xfrm>
            <a:off x="2698376" y="3612778"/>
            <a:ext cx="3657600" cy="36755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47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15CA-BCEE-F93D-94BE-99B13A91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4A15E-10CB-74F4-3BDC-3DA1B17AE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177987" y="-2217213"/>
            <a:ext cx="5836026" cy="102704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A6B752-337C-1F04-18B0-DBFFCC42C08A}"/>
              </a:ext>
            </a:extLst>
          </p:cNvPr>
          <p:cNvSpPr/>
          <p:nvPr/>
        </p:nvSpPr>
        <p:spPr>
          <a:xfrm>
            <a:off x="960773" y="3505201"/>
            <a:ext cx="10270454" cy="2779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9E8DA4-96B2-0D4F-B304-8E2894F114EC}"/>
              </a:ext>
            </a:extLst>
          </p:cNvPr>
          <p:cNvSpPr/>
          <p:nvPr/>
        </p:nvSpPr>
        <p:spPr>
          <a:xfrm>
            <a:off x="960773" y="4921625"/>
            <a:ext cx="10270454" cy="2779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44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8A45-0979-A6D0-3453-51963349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9C414-D1FB-ACC3-FD6C-7953EA708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Replacement of a customer’s CEO significantly disrupts its relationships with dependent suppliers.</a:t>
            </a:r>
          </a:p>
          <a:p>
            <a:r>
              <a:rPr lang="en-US" dirty="0"/>
              <a:t>Dependent suppliers experience a significant decline in sales to customers that replace their CEOs.</a:t>
            </a:r>
          </a:p>
          <a:p>
            <a:r>
              <a:rPr lang="en-US" dirty="0"/>
              <a:t>Supplier firm value and operating performance deteriorate following CEO turnovers.</a:t>
            </a:r>
          </a:p>
          <a:p>
            <a:r>
              <a:rPr lang="en-US" dirty="0"/>
              <a:t>Supplier shareholders react negatively to the announcement of a customer CEO departure.</a:t>
            </a:r>
          </a:p>
        </p:txBody>
      </p:sp>
    </p:spTree>
    <p:extLst>
      <p:ext uri="{BB962C8B-B14F-4D97-AF65-F5344CB8AC3E}">
        <p14:creationId xmlns:p14="http://schemas.microsoft.com/office/powerpoint/2010/main" val="3144905138"/>
      </p:ext>
    </p:extLst>
  </p:cSld>
  <p:clrMapOvr>
    <a:masterClrMapping/>
  </p:clrMapOvr>
</p:sld>
</file>

<file path=ppt/theme/theme1.xml><?xml version="1.0" encoding="utf-8"?>
<a:theme xmlns:a="http://schemas.openxmlformats.org/drawingml/2006/main" name="WCOB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COB Theme" id="{DF967ADD-BC05-483B-AB52-67CF82BC061D}" vid="{FC698281-B06B-48E0-B35B-6E92E503CB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WCOB Theme</Template>
  <TotalTime>639</TotalTime>
  <Words>825</Words>
  <Application>Microsoft Office PowerPoint</Application>
  <PresentationFormat>Widescreen</PresentationFormat>
  <Paragraphs>62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NimbusRomNo9L-Regu</vt:lpstr>
      <vt:lpstr>WCOB Theme</vt:lpstr>
      <vt:lpstr>CEO Turnovers and Disruptions in Customer–Supplier Relationships</vt:lpstr>
      <vt:lpstr>Research Question</vt:lpstr>
      <vt:lpstr>Prior Literature</vt:lpstr>
      <vt:lpstr>Hypothesis</vt:lpstr>
      <vt:lpstr>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Thompson</dc:creator>
  <cp:lastModifiedBy>Nicholas Thompson</cp:lastModifiedBy>
  <cp:revision>25</cp:revision>
  <dcterms:created xsi:type="dcterms:W3CDTF">2024-10-18T16:03:29Z</dcterms:created>
  <dcterms:modified xsi:type="dcterms:W3CDTF">2024-11-05T15:10:00Z</dcterms:modified>
</cp:coreProperties>
</file>