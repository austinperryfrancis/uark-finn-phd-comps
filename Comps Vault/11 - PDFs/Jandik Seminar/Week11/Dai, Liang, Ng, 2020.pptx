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7"/>
  </p:notesMasterIdLst>
  <p:sldIdLst>
    <p:sldId id="256" r:id="rId5"/>
    <p:sldId id="315" r:id="rId6"/>
    <p:sldId id="346" r:id="rId7"/>
    <p:sldId id="530" r:id="rId8"/>
    <p:sldId id="569" r:id="rId9"/>
    <p:sldId id="533" r:id="rId10"/>
    <p:sldId id="534" r:id="rId11"/>
    <p:sldId id="554" r:id="rId12"/>
    <p:sldId id="555" r:id="rId13"/>
    <p:sldId id="556" r:id="rId14"/>
    <p:sldId id="557" r:id="rId15"/>
    <p:sldId id="558" r:id="rId16"/>
    <p:sldId id="559" r:id="rId17"/>
    <p:sldId id="560" r:id="rId18"/>
    <p:sldId id="561" r:id="rId19"/>
    <p:sldId id="562" r:id="rId20"/>
    <p:sldId id="563" r:id="rId21"/>
    <p:sldId id="564" r:id="rId22"/>
    <p:sldId id="565" r:id="rId23"/>
    <p:sldId id="566" r:id="rId24"/>
    <p:sldId id="567" r:id="rId25"/>
    <p:sldId id="568" r:id="rId26"/>
  </p:sldIdLst>
  <p:sldSz cx="9144000" cy="5143500" type="screen16x9"/>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F0ED9B7-CD5E-4565-9CB6-CF7B31D9F05F}">
          <p14:sldIdLst>
            <p14:sldId id="256"/>
            <p14:sldId id="315"/>
            <p14:sldId id="346"/>
            <p14:sldId id="530"/>
            <p14:sldId id="569"/>
            <p14:sldId id="533"/>
            <p14:sldId id="534"/>
            <p14:sldId id="554"/>
            <p14:sldId id="555"/>
            <p14:sldId id="556"/>
            <p14:sldId id="557"/>
            <p14:sldId id="558"/>
            <p14:sldId id="559"/>
            <p14:sldId id="560"/>
            <p14:sldId id="561"/>
            <p14:sldId id="562"/>
            <p14:sldId id="563"/>
            <p14:sldId id="564"/>
            <p14:sldId id="565"/>
            <p14:sldId id="566"/>
            <p14:sldId id="567"/>
            <p14:sldId id="568"/>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774A89-6CD1-47A3-A7B0-B3C1CA3A3ECB}" v="5" dt="2024-11-05T03:56:02.6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40" autoAdjust="0"/>
    <p:restoredTop sz="86667" autoAdjust="0"/>
  </p:normalViewPr>
  <p:slideViewPr>
    <p:cSldViewPr snapToGrid="0">
      <p:cViewPr>
        <p:scale>
          <a:sx n="100" d="100"/>
          <a:sy n="100" d="100"/>
        </p:scale>
        <p:origin x="768" y="-72"/>
      </p:cViewPr>
      <p:guideLst>
        <p:guide orient="horz" pos="1620"/>
        <p:guide pos="2880"/>
      </p:guideLst>
    </p:cSldViewPr>
  </p:slideViewPr>
  <p:notesTextViewPr>
    <p:cViewPr>
      <p:scale>
        <a:sx n="1" d="1"/>
        <a:sy n="1" d="1"/>
      </p:scale>
      <p:origin x="0" y="-437"/>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stin Francis" userId="d9206161-76a2-4d0d-bb71-2bac416203d9" providerId="ADAL" clId="{30774A89-6CD1-47A3-A7B0-B3C1CA3A3ECB}"/>
    <pc:docChg chg="undo custSel addSld delSld modSld modSection">
      <pc:chgData name="Austin Francis" userId="d9206161-76a2-4d0d-bb71-2bac416203d9" providerId="ADAL" clId="{30774A89-6CD1-47A3-A7B0-B3C1CA3A3ECB}" dt="2024-11-05T14:51:43.694" v="7291"/>
      <pc:docMkLst>
        <pc:docMk/>
      </pc:docMkLst>
      <pc:sldChg chg="modSp mod">
        <pc:chgData name="Austin Francis" userId="d9206161-76a2-4d0d-bb71-2bac416203d9" providerId="ADAL" clId="{30774A89-6CD1-47A3-A7B0-B3C1CA3A3ECB}" dt="2024-11-05T02:50:45.613" v="191" actId="27636"/>
        <pc:sldMkLst>
          <pc:docMk/>
          <pc:sldMk cId="875954484" sldId="256"/>
        </pc:sldMkLst>
        <pc:spChg chg="mod">
          <ac:chgData name="Austin Francis" userId="d9206161-76a2-4d0d-bb71-2bac416203d9" providerId="ADAL" clId="{30774A89-6CD1-47A3-A7B0-B3C1CA3A3ECB}" dt="2024-11-05T02:47:49.075" v="41" actId="27636"/>
          <ac:spMkLst>
            <pc:docMk/>
            <pc:sldMk cId="875954484" sldId="256"/>
            <ac:spMk id="2" creationId="{00000000-0000-0000-0000-000000000000}"/>
          </ac:spMkLst>
        </pc:spChg>
        <pc:spChg chg="mod">
          <ac:chgData name="Austin Francis" userId="d9206161-76a2-4d0d-bb71-2bac416203d9" providerId="ADAL" clId="{30774A89-6CD1-47A3-A7B0-B3C1CA3A3ECB}" dt="2024-11-05T02:50:45.613" v="191" actId="27636"/>
          <ac:spMkLst>
            <pc:docMk/>
            <pc:sldMk cId="875954484" sldId="256"/>
            <ac:spMk id="3" creationId="{00000000-0000-0000-0000-000000000000}"/>
          </ac:spMkLst>
        </pc:spChg>
      </pc:sldChg>
      <pc:sldChg chg="modSp mod modNotesTx">
        <pc:chgData name="Austin Francis" userId="d9206161-76a2-4d0d-bb71-2bac416203d9" providerId="ADAL" clId="{30774A89-6CD1-47A3-A7B0-B3C1CA3A3ECB}" dt="2024-11-05T03:08:40.519" v="227"/>
        <pc:sldMkLst>
          <pc:docMk/>
          <pc:sldMk cId="718245954" sldId="315"/>
        </pc:sldMkLst>
        <pc:spChg chg="mod">
          <ac:chgData name="Austin Francis" userId="d9206161-76a2-4d0d-bb71-2bac416203d9" providerId="ADAL" clId="{30774A89-6CD1-47A3-A7B0-B3C1CA3A3ECB}" dt="2024-11-05T03:08:40.519" v="227"/>
          <ac:spMkLst>
            <pc:docMk/>
            <pc:sldMk cId="718245954" sldId="315"/>
            <ac:spMk id="3" creationId="{EC44ADDE-7BAE-4D27-8839-0025B3A2D42C}"/>
          </ac:spMkLst>
        </pc:spChg>
      </pc:sldChg>
      <pc:sldChg chg="addSp delSp modSp mod">
        <pc:chgData name="Austin Francis" userId="d9206161-76a2-4d0d-bb71-2bac416203d9" providerId="ADAL" clId="{30774A89-6CD1-47A3-A7B0-B3C1CA3A3ECB}" dt="2024-11-05T03:12:51.715" v="244" actId="113"/>
        <pc:sldMkLst>
          <pc:docMk/>
          <pc:sldMk cId="869680711" sldId="346"/>
        </pc:sldMkLst>
        <pc:spChg chg="add del mod">
          <ac:chgData name="Austin Francis" userId="d9206161-76a2-4d0d-bb71-2bac416203d9" providerId="ADAL" clId="{30774A89-6CD1-47A3-A7B0-B3C1CA3A3ECB}" dt="2024-11-05T03:12:51.715" v="244" actId="113"/>
          <ac:spMkLst>
            <pc:docMk/>
            <pc:sldMk cId="869680711" sldId="346"/>
            <ac:spMk id="3" creationId="{EC44ADDE-7BAE-4D27-8839-0025B3A2D42C}"/>
          </ac:spMkLst>
        </pc:spChg>
        <pc:spChg chg="add mod">
          <ac:chgData name="Austin Francis" userId="d9206161-76a2-4d0d-bb71-2bac416203d9" providerId="ADAL" clId="{30774A89-6CD1-47A3-A7B0-B3C1CA3A3ECB}" dt="2024-11-05T03:12:12.380" v="229"/>
          <ac:spMkLst>
            <pc:docMk/>
            <pc:sldMk cId="869680711" sldId="346"/>
            <ac:spMk id="6" creationId="{CFE99D91-AA81-9EE0-BBE3-7CBF64A8A913}"/>
          </ac:spMkLst>
        </pc:spChg>
      </pc:sldChg>
      <pc:sldChg chg="modSp mod modNotesTx">
        <pc:chgData name="Austin Francis" userId="d9206161-76a2-4d0d-bb71-2bac416203d9" providerId="ADAL" clId="{30774A89-6CD1-47A3-A7B0-B3C1CA3A3ECB}" dt="2024-11-05T03:14:52.610" v="247"/>
        <pc:sldMkLst>
          <pc:docMk/>
          <pc:sldMk cId="3996482289" sldId="530"/>
        </pc:sldMkLst>
        <pc:spChg chg="mod">
          <ac:chgData name="Austin Francis" userId="d9206161-76a2-4d0d-bb71-2bac416203d9" providerId="ADAL" clId="{30774A89-6CD1-47A3-A7B0-B3C1CA3A3ECB}" dt="2024-11-05T03:14:52.610" v="247"/>
          <ac:spMkLst>
            <pc:docMk/>
            <pc:sldMk cId="3996482289" sldId="530"/>
            <ac:spMk id="3" creationId="{77B4ECBA-3526-6C84-D51B-7013452FF46B}"/>
          </ac:spMkLst>
        </pc:spChg>
      </pc:sldChg>
      <pc:sldChg chg="modSp add del mod">
        <pc:chgData name="Austin Francis" userId="d9206161-76a2-4d0d-bb71-2bac416203d9" providerId="ADAL" clId="{30774A89-6CD1-47A3-A7B0-B3C1CA3A3ECB}" dt="2024-11-05T04:45:51.877" v="572" actId="2696"/>
        <pc:sldMkLst>
          <pc:docMk/>
          <pc:sldMk cId="144076704" sldId="531"/>
        </pc:sldMkLst>
        <pc:spChg chg="mod">
          <ac:chgData name="Austin Francis" userId="d9206161-76a2-4d0d-bb71-2bac416203d9" providerId="ADAL" clId="{30774A89-6CD1-47A3-A7B0-B3C1CA3A3ECB}" dt="2024-11-05T02:51:11.661" v="197" actId="20577"/>
          <ac:spMkLst>
            <pc:docMk/>
            <pc:sldMk cId="144076704" sldId="531"/>
            <ac:spMk id="3" creationId="{EAB73B4E-31D4-F34C-B410-EB6A2B8EEEC3}"/>
          </ac:spMkLst>
        </pc:spChg>
      </pc:sldChg>
      <pc:sldChg chg="modSp mod">
        <pc:chgData name="Austin Francis" userId="d9206161-76a2-4d0d-bb71-2bac416203d9" providerId="ADAL" clId="{30774A89-6CD1-47A3-A7B0-B3C1CA3A3ECB}" dt="2024-11-05T04:00:56.836" v="375" actId="27636"/>
        <pc:sldMkLst>
          <pc:docMk/>
          <pc:sldMk cId="2280721630" sldId="533"/>
        </pc:sldMkLst>
        <pc:spChg chg="mod">
          <ac:chgData name="Austin Francis" userId="d9206161-76a2-4d0d-bb71-2bac416203d9" providerId="ADAL" clId="{30774A89-6CD1-47A3-A7B0-B3C1CA3A3ECB}" dt="2024-11-05T04:00:56.836" v="375" actId="27636"/>
          <ac:spMkLst>
            <pc:docMk/>
            <pc:sldMk cId="2280721630" sldId="533"/>
            <ac:spMk id="3" creationId="{AFB31E7E-BB03-7F85-9FA9-B35E5C0A08A1}"/>
          </ac:spMkLst>
        </pc:spChg>
      </pc:sldChg>
      <pc:sldChg chg="modSp mod">
        <pc:chgData name="Austin Francis" userId="d9206161-76a2-4d0d-bb71-2bac416203d9" providerId="ADAL" clId="{30774A89-6CD1-47A3-A7B0-B3C1CA3A3ECB}" dt="2024-11-05T04:42:47.127" v="571" actId="20577"/>
        <pc:sldMkLst>
          <pc:docMk/>
          <pc:sldMk cId="102931800" sldId="534"/>
        </pc:sldMkLst>
        <pc:spChg chg="mod">
          <ac:chgData name="Austin Francis" userId="d9206161-76a2-4d0d-bb71-2bac416203d9" providerId="ADAL" clId="{30774A89-6CD1-47A3-A7B0-B3C1CA3A3ECB}" dt="2024-11-05T04:42:47.127" v="571" actId="20577"/>
          <ac:spMkLst>
            <pc:docMk/>
            <pc:sldMk cId="102931800" sldId="534"/>
            <ac:spMk id="3" creationId="{15D56D45-BDC3-3D0B-671F-78DDB007EF2F}"/>
          </ac:spMkLst>
        </pc:spChg>
      </pc:sldChg>
      <pc:sldChg chg="del">
        <pc:chgData name="Austin Francis" userId="d9206161-76a2-4d0d-bb71-2bac416203d9" providerId="ADAL" clId="{30774A89-6CD1-47A3-A7B0-B3C1CA3A3ECB}" dt="2024-11-05T02:51:41.507" v="203" actId="2696"/>
        <pc:sldMkLst>
          <pc:docMk/>
          <pc:sldMk cId="351161207" sldId="535"/>
        </pc:sldMkLst>
      </pc:sldChg>
      <pc:sldChg chg="del">
        <pc:chgData name="Austin Francis" userId="d9206161-76a2-4d0d-bb71-2bac416203d9" providerId="ADAL" clId="{30774A89-6CD1-47A3-A7B0-B3C1CA3A3ECB}" dt="2024-11-05T02:51:44.303" v="204" actId="2696"/>
        <pc:sldMkLst>
          <pc:docMk/>
          <pc:sldMk cId="66749379" sldId="536"/>
        </pc:sldMkLst>
      </pc:sldChg>
      <pc:sldChg chg="del">
        <pc:chgData name="Austin Francis" userId="d9206161-76a2-4d0d-bb71-2bac416203d9" providerId="ADAL" clId="{30774A89-6CD1-47A3-A7B0-B3C1CA3A3ECB}" dt="2024-11-05T02:51:48.183" v="205" actId="2696"/>
        <pc:sldMkLst>
          <pc:docMk/>
          <pc:sldMk cId="2785948293" sldId="537"/>
        </pc:sldMkLst>
      </pc:sldChg>
      <pc:sldChg chg="del">
        <pc:chgData name="Austin Francis" userId="d9206161-76a2-4d0d-bb71-2bac416203d9" providerId="ADAL" clId="{30774A89-6CD1-47A3-A7B0-B3C1CA3A3ECB}" dt="2024-11-05T02:51:50.491" v="206" actId="2696"/>
        <pc:sldMkLst>
          <pc:docMk/>
          <pc:sldMk cId="1402370474" sldId="538"/>
        </pc:sldMkLst>
      </pc:sldChg>
      <pc:sldChg chg="del">
        <pc:chgData name="Austin Francis" userId="d9206161-76a2-4d0d-bb71-2bac416203d9" providerId="ADAL" clId="{30774A89-6CD1-47A3-A7B0-B3C1CA3A3ECB}" dt="2024-11-05T02:51:52.830" v="207" actId="2696"/>
        <pc:sldMkLst>
          <pc:docMk/>
          <pc:sldMk cId="3464078939" sldId="539"/>
        </pc:sldMkLst>
      </pc:sldChg>
      <pc:sldChg chg="del">
        <pc:chgData name="Austin Francis" userId="d9206161-76a2-4d0d-bb71-2bac416203d9" providerId="ADAL" clId="{30774A89-6CD1-47A3-A7B0-B3C1CA3A3ECB}" dt="2024-11-05T02:51:56.158" v="208" actId="2696"/>
        <pc:sldMkLst>
          <pc:docMk/>
          <pc:sldMk cId="540496564" sldId="540"/>
        </pc:sldMkLst>
      </pc:sldChg>
      <pc:sldChg chg="del">
        <pc:chgData name="Austin Francis" userId="d9206161-76a2-4d0d-bb71-2bac416203d9" providerId="ADAL" clId="{30774A89-6CD1-47A3-A7B0-B3C1CA3A3ECB}" dt="2024-11-05T02:51:58.724" v="209" actId="2696"/>
        <pc:sldMkLst>
          <pc:docMk/>
          <pc:sldMk cId="473750194" sldId="541"/>
        </pc:sldMkLst>
      </pc:sldChg>
      <pc:sldChg chg="del">
        <pc:chgData name="Austin Francis" userId="d9206161-76a2-4d0d-bb71-2bac416203d9" providerId="ADAL" clId="{30774A89-6CD1-47A3-A7B0-B3C1CA3A3ECB}" dt="2024-11-05T02:56:05.198" v="211" actId="2696"/>
        <pc:sldMkLst>
          <pc:docMk/>
          <pc:sldMk cId="2339346047" sldId="542"/>
        </pc:sldMkLst>
      </pc:sldChg>
      <pc:sldChg chg="del">
        <pc:chgData name="Austin Francis" userId="d9206161-76a2-4d0d-bb71-2bac416203d9" providerId="ADAL" clId="{30774A89-6CD1-47A3-A7B0-B3C1CA3A3ECB}" dt="2024-11-05T02:56:11.654" v="213" actId="2696"/>
        <pc:sldMkLst>
          <pc:docMk/>
          <pc:sldMk cId="262782819" sldId="543"/>
        </pc:sldMkLst>
      </pc:sldChg>
      <pc:sldChg chg="del">
        <pc:chgData name="Austin Francis" userId="d9206161-76a2-4d0d-bb71-2bac416203d9" providerId="ADAL" clId="{30774A89-6CD1-47A3-A7B0-B3C1CA3A3ECB}" dt="2024-11-05T02:56:26.467" v="214" actId="2696"/>
        <pc:sldMkLst>
          <pc:docMk/>
          <pc:sldMk cId="3687861244" sldId="544"/>
        </pc:sldMkLst>
      </pc:sldChg>
      <pc:sldChg chg="del">
        <pc:chgData name="Austin Francis" userId="d9206161-76a2-4d0d-bb71-2bac416203d9" providerId="ADAL" clId="{30774A89-6CD1-47A3-A7B0-B3C1CA3A3ECB}" dt="2024-11-05T02:56:28.964" v="215" actId="2696"/>
        <pc:sldMkLst>
          <pc:docMk/>
          <pc:sldMk cId="2349451294" sldId="545"/>
        </pc:sldMkLst>
      </pc:sldChg>
      <pc:sldChg chg="del">
        <pc:chgData name="Austin Francis" userId="d9206161-76a2-4d0d-bb71-2bac416203d9" providerId="ADAL" clId="{30774A89-6CD1-47A3-A7B0-B3C1CA3A3ECB}" dt="2024-11-05T02:56:32.451" v="216" actId="2696"/>
        <pc:sldMkLst>
          <pc:docMk/>
          <pc:sldMk cId="2030950152" sldId="546"/>
        </pc:sldMkLst>
      </pc:sldChg>
      <pc:sldChg chg="del">
        <pc:chgData name="Austin Francis" userId="d9206161-76a2-4d0d-bb71-2bac416203d9" providerId="ADAL" clId="{30774A89-6CD1-47A3-A7B0-B3C1CA3A3ECB}" dt="2024-11-05T02:56:35.044" v="217" actId="2696"/>
        <pc:sldMkLst>
          <pc:docMk/>
          <pc:sldMk cId="1423525103" sldId="547"/>
        </pc:sldMkLst>
      </pc:sldChg>
      <pc:sldChg chg="del">
        <pc:chgData name="Austin Francis" userId="d9206161-76a2-4d0d-bb71-2bac416203d9" providerId="ADAL" clId="{30774A89-6CD1-47A3-A7B0-B3C1CA3A3ECB}" dt="2024-11-05T02:56:37.557" v="218" actId="2696"/>
        <pc:sldMkLst>
          <pc:docMk/>
          <pc:sldMk cId="4160839457" sldId="548"/>
        </pc:sldMkLst>
      </pc:sldChg>
      <pc:sldChg chg="del">
        <pc:chgData name="Austin Francis" userId="d9206161-76a2-4d0d-bb71-2bac416203d9" providerId="ADAL" clId="{30774A89-6CD1-47A3-A7B0-B3C1CA3A3ECB}" dt="2024-11-05T02:56:40.651" v="219" actId="2696"/>
        <pc:sldMkLst>
          <pc:docMk/>
          <pc:sldMk cId="1670928540" sldId="549"/>
        </pc:sldMkLst>
      </pc:sldChg>
      <pc:sldChg chg="del">
        <pc:chgData name="Austin Francis" userId="d9206161-76a2-4d0d-bb71-2bac416203d9" providerId="ADAL" clId="{30774A89-6CD1-47A3-A7B0-B3C1CA3A3ECB}" dt="2024-11-05T02:56:43.421" v="220" actId="2696"/>
        <pc:sldMkLst>
          <pc:docMk/>
          <pc:sldMk cId="3909413027" sldId="550"/>
        </pc:sldMkLst>
      </pc:sldChg>
      <pc:sldChg chg="del">
        <pc:chgData name="Austin Francis" userId="d9206161-76a2-4d0d-bb71-2bac416203d9" providerId="ADAL" clId="{30774A89-6CD1-47A3-A7B0-B3C1CA3A3ECB}" dt="2024-11-05T02:56:45.926" v="221" actId="2696"/>
        <pc:sldMkLst>
          <pc:docMk/>
          <pc:sldMk cId="677523622" sldId="551"/>
        </pc:sldMkLst>
      </pc:sldChg>
      <pc:sldChg chg="del">
        <pc:chgData name="Austin Francis" userId="d9206161-76a2-4d0d-bb71-2bac416203d9" providerId="ADAL" clId="{30774A89-6CD1-47A3-A7B0-B3C1CA3A3ECB}" dt="2024-11-05T02:56:48.316" v="222" actId="2696"/>
        <pc:sldMkLst>
          <pc:docMk/>
          <pc:sldMk cId="1042060900" sldId="552"/>
        </pc:sldMkLst>
      </pc:sldChg>
      <pc:sldChg chg="modSp del mod">
        <pc:chgData name="Austin Francis" userId="d9206161-76a2-4d0d-bb71-2bac416203d9" providerId="ADAL" clId="{30774A89-6CD1-47A3-A7B0-B3C1CA3A3ECB}" dt="2024-11-05T03:55:56.263" v="357" actId="47"/>
        <pc:sldMkLst>
          <pc:docMk/>
          <pc:sldMk cId="3045896103" sldId="553"/>
        </pc:sldMkLst>
        <pc:spChg chg="mod">
          <ac:chgData name="Austin Francis" userId="d9206161-76a2-4d0d-bb71-2bac416203d9" providerId="ADAL" clId="{30774A89-6CD1-47A3-A7B0-B3C1CA3A3ECB}" dt="2024-11-05T02:56:52.903" v="224" actId="27636"/>
          <ac:spMkLst>
            <pc:docMk/>
            <pc:sldMk cId="3045896103" sldId="553"/>
            <ac:spMk id="3" creationId="{383E88B0-691A-515F-D5B6-6A63ACDD9835}"/>
          </ac:spMkLst>
        </pc:spChg>
      </pc:sldChg>
      <pc:sldChg chg="add del">
        <pc:chgData name="Austin Francis" userId="d9206161-76a2-4d0d-bb71-2bac416203d9" providerId="ADAL" clId="{30774A89-6CD1-47A3-A7B0-B3C1CA3A3ECB}" dt="2024-11-05T02:56:07.822" v="212" actId="2696"/>
        <pc:sldMkLst>
          <pc:docMk/>
          <pc:sldMk cId="164251039" sldId="554"/>
        </pc:sldMkLst>
      </pc:sldChg>
      <pc:sldChg chg="addSp delSp modSp new mod modNotesTx">
        <pc:chgData name="Austin Francis" userId="d9206161-76a2-4d0d-bb71-2bac416203d9" providerId="ADAL" clId="{30774A89-6CD1-47A3-A7B0-B3C1CA3A3ECB}" dt="2024-11-05T13:12:15.208" v="872" actId="20577"/>
        <pc:sldMkLst>
          <pc:docMk/>
          <pc:sldMk cId="1948743816" sldId="554"/>
        </pc:sldMkLst>
        <pc:picChg chg="add del mod">
          <ac:chgData name="Austin Francis" userId="d9206161-76a2-4d0d-bb71-2bac416203d9" providerId="ADAL" clId="{30774A89-6CD1-47A3-A7B0-B3C1CA3A3ECB}" dt="2024-11-05T03:24:16.830" v="253" actId="478"/>
          <ac:picMkLst>
            <pc:docMk/>
            <pc:sldMk cId="1948743816" sldId="554"/>
            <ac:picMk id="5" creationId="{4630833A-849A-AE92-9802-759994653CE5}"/>
          </ac:picMkLst>
        </pc:picChg>
        <pc:picChg chg="add mod">
          <ac:chgData name="Austin Francis" userId="d9206161-76a2-4d0d-bb71-2bac416203d9" providerId="ADAL" clId="{30774A89-6CD1-47A3-A7B0-B3C1CA3A3ECB}" dt="2024-11-05T03:24:37.839" v="256" actId="1076"/>
          <ac:picMkLst>
            <pc:docMk/>
            <pc:sldMk cId="1948743816" sldId="554"/>
            <ac:picMk id="7" creationId="{B33A73A1-DE21-43E6-4CDA-0A9D9296B35B}"/>
          </ac:picMkLst>
        </pc:picChg>
      </pc:sldChg>
      <pc:sldChg chg="del">
        <pc:chgData name="Austin Francis" userId="d9206161-76a2-4d0d-bb71-2bac416203d9" providerId="ADAL" clId="{30774A89-6CD1-47A3-A7B0-B3C1CA3A3ECB}" dt="2024-11-05T02:51:16.882" v="198" actId="2696"/>
        <pc:sldMkLst>
          <pc:docMk/>
          <pc:sldMk cId="2849312468" sldId="554"/>
        </pc:sldMkLst>
      </pc:sldChg>
      <pc:sldChg chg="addSp modSp new mod modNotesTx">
        <pc:chgData name="Austin Francis" userId="d9206161-76a2-4d0d-bb71-2bac416203d9" providerId="ADAL" clId="{30774A89-6CD1-47A3-A7B0-B3C1CA3A3ECB}" dt="2024-11-05T13:17:37.853" v="1247" actId="20577"/>
        <pc:sldMkLst>
          <pc:docMk/>
          <pc:sldMk cId="783740579" sldId="555"/>
        </pc:sldMkLst>
        <pc:picChg chg="add mod ord">
          <ac:chgData name="Austin Francis" userId="d9206161-76a2-4d0d-bb71-2bac416203d9" providerId="ADAL" clId="{30774A89-6CD1-47A3-A7B0-B3C1CA3A3ECB}" dt="2024-11-05T04:50:46.161" v="733" actId="1076"/>
          <ac:picMkLst>
            <pc:docMk/>
            <pc:sldMk cId="783740579" sldId="555"/>
            <ac:picMk id="5" creationId="{51783B03-5146-C66B-F35A-629336D85D48}"/>
          </ac:picMkLst>
        </pc:picChg>
        <pc:picChg chg="add mod">
          <ac:chgData name="Austin Francis" userId="d9206161-76a2-4d0d-bb71-2bac416203d9" providerId="ADAL" clId="{30774A89-6CD1-47A3-A7B0-B3C1CA3A3ECB}" dt="2024-11-05T04:50:43.723" v="732" actId="1076"/>
          <ac:picMkLst>
            <pc:docMk/>
            <pc:sldMk cId="783740579" sldId="555"/>
            <ac:picMk id="7" creationId="{03F441F7-6CBD-E6AB-AA5A-C77D320ACDD0}"/>
          </ac:picMkLst>
        </pc:picChg>
      </pc:sldChg>
      <pc:sldChg chg="addSp modSp new mod modNotesTx">
        <pc:chgData name="Austin Francis" userId="d9206161-76a2-4d0d-bb71-2bac416203d9" providerId="ADAL" clId="{30774A89-6CD1-47A3-A7B0-B3C1CA3A3ECB}" dt="2024-11-05T13:21:20.134" v="1611" actId="20577"/>
        <pc:sldMkLst>
          <pc:docMk/>
          <pc:sldMk cId="3025378506" sldId="556"/>
        </pc:sldMkLst>
        <pc:picChg chg="add mod">
          <ac:chgData name="Austin Francis" userId="d9206161-76a2-4d0d-bb71-2bac416203d9" providerId="ADAL" clId="{30774A89-6CD1-47A3-A7B0-B3C1CA3A3ECB}" dt="2024-11-05T03:25:50.641" v="263" actId="1076"/>
          <ac:picMkLst>
            <pc:docMk/>
            <pc:sldMk cId="3025378506" sldId="556"/>
            <ac:picMk id="5" creationId="{DD76B5F1-668C-691E-69DF-74069781ABBD}"/>
          </ac:picMkLst>
        </pc:picChg>
      </pc:sldChg>
      <pc:sldChg chg="addSp modSp new mod modNotesTx">
        <pc:chgData name="Austin Francis" userId="d9206161-76a2-4d0d-bb71-2bac416203d9" providerId="ADAL" clId="{30774A89-6CD1-47A3-A7B0-B3C1CA3A3ECB}" dt="2024-11-05T13:28:25.810" v="1965" actId="20577"/>
        <pc:sldMkLst>
          <pc:docMk/>
          <pc:sldMk cId="668172404" sldId="557"/>
        </pc:sldMkLst>
        <pc:picChg chg="add mod">
          <ac:chgData name="Austin Francis" userId="d9206161-76a2-4d0d-bb71-2bac416203d9" providerId="ADAL" clId="{30774A89-6CD1-47A3-A7B0-B3C1CA3A3ECB}" dt="2024-11-05T03:26:28.651" v="268" actId="1076"/>
          <ac:picMkLst>
            <pc:docMk/>
            <pc:sldMk cId="668172404" sldId="557"/>
            <ac:picMk id="5" creationId="{A4798FB5-20EF-00A1-2BC6-9E3796C94941}"/>
          </ac:picMkLst>
        </pc:picChg>
      </pc:sldChg>
      <pc:sldChg chg="addSp modSp new mod modNotesTx">
        <pc:chgData name="Austin Francis" userId="d9206161-76a2-4d0d-bb71-2bac416203d9" providerId="ADAL" clId="{30774A89-6CD1-47A3-A7B0-B3C1CA3A3ECB}" dt="2024-11-05T13:28:53.427" v="1992" actId="20577"/>
        <pc:sldMkLst>
          <pc:docMk/>
          <pc:sldMk cId="3235416760" sldId="558"/>
        </pc:sldMkLst>
        <pc:picChg chg="add mod">
          <ac:chgData name="Austin Francis" userId="d9206161-76a2-4d0d-bb71-2bac416203d9" providerId="ADAL" clId="{30774A89-6CD1-47A3-A7B0-B3C1CA3A3ECB}" dt="2024-11-05T03:26:56.992" v="273" actId="1076"/>
          <ac:picMkLst>
            <pc:docMk/>
            <pc:sldMk cId="3235416760" sldId="558"/>
            <ac:picMk id="5" creationId="{DACFD575-FADE-4B3B-F293-B6D30F0D586B}"/>
          </ac:picMkLst>
        </pc:picChg>
      </pc:sldChg>
      <pc:sldChg chg="addSp delSp modSp new mod modNotesTx">
        <pc:chgData name="Austin Francis" userId="d9206161-76a2-4d0d-bb71-2bac416203d9" providerId="ADAL" clId="{30774A89-6CD1-47A3-A7B0-B3C1CA3A3ECB}" dt="2024-11-05T13:29:52.860" v="2146" actId="20577"/>
        <pc:sldMkLst>
          <pc:docMk/>
          <pc:sldMk cId="2649451974" sldId="559"/>
        </pc:sldMkLst>
        <pc:picChg chg="add del mod">
          <ac:chgData name="Austin Francis" userId="d9206161-76a2-4d0d-bb71-2bac416203d9" providerId="ADAL" clId="{30774A89-6CD1-47A3-A7B0-B3C1CA3A3ECB}" dt="2024-11-05T03:27:33.398" v="279" actId="478"/>
          <ac:picMkLst>
            <pc:docMk/>
            <pc:sldMk cId="2649451974" sldId="559"/>
            <ac:picMk id="5" creationId="{F567868F-2E70-7358-646D-6D107D8B45AE}"/>
          </ac:picMkLst>
        </pc:picChg>
        <pc:picChg chg="add mod">
          <ac:chgData name="Austin Francis" userId="d9206161-76a2-4d0d-bb71-2bac416203d9" providerId="ADAL" clId="{30774A89-6CD1-47A3-A7B0-B3C1CA3A3ECB}" dt="2024-11-05T03:27:59.858" v="283" actId="1076"/>
          <ac:picMkLst>
            <pc:docMk/>
            <pc:sldMk cId="2649451974" sldId="559"/>
            <ac:picMk id="7" creationId="{6B117966-DF40-6D6B-60B8-7717A6376482}"/>
          </ac:picMkLst>
        </pc:picChg>
      </pc:sldChg>
      <pc:sldChg chg="addSp modSp new mod modNotesTx">
        <pc:chgData name="Austin Francis" userId="d9206161-76a2-4d0d-bb71-2bac416203d9" providerId="ADAL" clId="{30774A89-6CD1-47A3-A7B0-B3C1CA3A3ECB}" dt="2024-11-05T13:41:35.066" v="2944" actId="20577"/>
        <pc:sldMkLst>
          <pc:docMk/>
          <pc:sldMk cId="235883782" sldId="560"/>
        </pc:sldMkLst>
        <pc:picChg chg="add mod">
          <ac:chgData name="Austin Francis" userId="d9206161-76a2-4d0d-bb71-2bac416203d9" providerId="ADAL" clId="{30774A89-6CD1-47A3-A7B0-B3C1CA3A3ECB}" dt="2024-11-05T03:28:30.710" v="287" actId="1076"/>
          <ac:picMkLst>
            <pc:docMk/>
            <pc:sldMk cId="235883782" sldId="560"/>
            <ac:picMk id="5" creationId="{032FF8A1-65F2-CAAD-15E9-DEFA81BA1358}"/>
          </ac:picMkLst>
        </pc:picChg>
      </pc:sldChg>
      <pc:sldChg chg="addSp modSp new mod modNotesTx">
        <pc:chgData name="Austin Francis" userId="d9206161-76a2-4d0d-bb71-2bac416203d9" providerId="ADAL" clId="{30774A89-6CD1-47A3-A7B0-B3C1CA3A3ECB}" dt="2024-11-05T14:05:03.540" v="4457" actId="20577"/>
        <pc:sldMkLst>
          <pc:docMk/>
          <pc:sldMk cId="3810611017" sldId="561"/>
        </pc:sldMkLst>
        <pc:picChg chg="add mod">
          <ac:chgData name="Austin Francis" userId="d9206161-76a2-4d0d-bb71-2bac416203d9" providerId="ADAL" clId="{30774A89-6CD1-47A3-A7B0-B3C1CA3A3ECB}" dt="2024-11-05T13:42:07.297" v="2945" actId="14100"/>
          <ac:picMkLst>
            <pc:docMk/>
            <pc:sldMk cId="3810611017" sldId="561"/>
            <ac:picMk id="5" creationId="{830B7212-DA8C-58EF-93D1-18BC44B537EC}"/>
          </ac:picMkLst>
        </pc:picChg>
      </pc:sldChg>
      <pc:sldChg chg="addSp delSp modSp new mod modNotesTx">
        <pc:chgData name="Austin Francis" userId="d9206161-76a2-4d0d-bb71-2bac416203d9" providerId="ADAL" clId="{30774A89-6CD1-47A3-A7B0-B3C1CA3A3ECB}" dt="2024-11-05T14:09:53.695" v="5068" actId="20577"/>
        <pc:sldMkLst>
          <pc:docMk/>
          <pc:sldMk cId="3749608050" sldId="562"/>
        </pc:sldMkLst>
        <pc:picChg chg="add del mod">
          <ac:chgData name="Austin Francis" userId="d9206161-76a2-4d0d-bb71-2bac416203d9" providerId="ADAL" clId="{30774A89-6CD1-47A3-A7B0-B3C1CA3A3ECB}" dt="2024-11-05T03:40:54.402" v="304" actId="478"/>
          <ac:picMkLst>
            <pc:docMk/>
            <pc:sldMk cId="3749608050" sldId="562"/>
            <ac:picMk id="5" creationId="{632234DD-9A32-98A8-EC59-AAC97AC4EB1C}"/>
          </ac:picMkLst>
        </pc:picChg>
        <pc:picChg chg="add mod">
          <ac:chgData name="Austin Francis" userId="d9206161-76a2-4d0d-bb71-2bac416203d9" providerId="ADAL" clId="{30774A89-6CD1-47A3-A7B0-B3C1CA3A3ECB}" dt="2024-11-05T03:41:44.712" v="312" actId="1076"/>
          <ac:picMkLst>
            <pc:docMk/>
            <pc:sldMk cId="3749608050" sldId="562"/>
            <ac:picMk id="7" creationId="{58BBEF7C-401F-317C-56F2-519F58003A3A}"/>
          </ac:picMkLst>
        </pc:picChg>
        <pc:picChg chg="add mod">
          <ac:chgData name="Austin Francis" userId="d9206161-76a2-4d0d-bb71-2bac416203d9" providerId="ADAL" clId="{30774A89-6CD1-47A3-A7B0-B3C1CA3A3ECB}" dt="2024-11-05T03:41:46.507" v="313" actId="1076"/>
          <ac:picMkLst>
            <pc:docMk/>
            <pc:sldMk cId="3749608050" sldId="562"/>
            <ac:picMk id="9" creationId="{42A46028-5545-75B5-E990-39B3AE3C564D}"/>
          </ac:picMkLst>
        </pc:picChg>
      </pc:sldChg>
      <pc:sldChg chg="addSp modSp new mod modNotesTx">
        <pc:chgData name="Austin Francis" userId="d9206161-76a2-4d0d-bb71-2bac416203d9" providerId="ADAL" clId="{30774A89-6CD1-47A3-A7B0-B3C1CA3A3ECB}" dt="2024-11-05T14:16:22.877" v="5802" actId="20577"/>
        <pc:sldMkLst>
          <pc:docMk/>
          <pc:sldMk cId="309350293" sldId="563"/>
        </pc:sldMkLst>
        <pc:picChg chg="add mod">
          <ac:chgData name="Austin Francis" userId="d9206161-76a2-4d0d-bb71-2bac416203d9" providerId="ADAL" clId="{30774A89-6CD1-47A3-A7B0-B3C1CA3A3ECB}" dt="2024-11-05T03:42:47.213" v="321" actId="1076"/>
          <ac:picMkLst>
            <pc:docMk/>
            <pc:sldMk cId="309350293" sldId="563"/>
            <ac:picMk id="5" creationId="{A7E14375-5C3E-FA2E-B7B7-4A59788DA085}"/>
          </ac:picMkLst>
        </pc:picChg>
        <pc:picChg chg="add mod">
          <ac:chgData name="Austin Francis" userId="d9206161-76a2-4d0d-bb71-2bac416203d9" providerId="ADAL" clId="{30774A89-6CD1-47A3-A7B0-B3C1CA3A3ECB}" dt="2024-11-05T03:42:34.084" v="319" actId="1076"/>
          <ac:picMkLst>
            <pc:docMk/>
            <pc:sldMk cId="309350293" sldId="563"/>
            <ac:picMk id="7" creationId="{7665DBCE-71ED-448F-0295-7A1F4E8F48AA}"/>
          </ac:picMkLst>
        </pc:picChg>
      </pc:sldChg>
      <pc:sldChg chg="addSp modSp new mod modNotesTx">
        <pc:chgData name="Austin Francis" userId="d9206161-76a2-4d0d-bb71-2bac416203d9" providerId="ADAL" clId="{30774A89-6CD1-47A3-A7B0-B3C1CA3A3ECB}" dt="2024-11-05T14:33:41.872" v="7270" actId="20577"/>
        <pc:sldMkLst>
          <pc:docMk/>
          <pc:sldMk cId="632123317" sldId="564"/>
        </pc:sldMkLst>
        <pc:picChg chg="add mod">
          <ac:chgData name="Austin Francis" userId="d9206161-76a2-4d0d-bb71-2bac416203d9" providerId="ADAL" clId="{30774A89-6CD1-47A3-A7B0-B3C1CA3A3ECB}" dt="2024-11-05T03:43:13.778" v="326" actId="1076"/>
          <ac:picMkLst>
            <pc:docMk/>
            <pc:sldMk cId="632123317" sldId="564"/>
            <ac:picMk id="5" creationId="{494579C6-2AA2-74DE-1759-25FAEA900A44}"/>
          </ac:picMkLst>
        </pc:picChg>
        <pc:picChg chg="add mod">
          <ac:chgData name="Austin Francis" userId="d9206161-76a2-4d0d-bb71-2bac416203d9" providerId="ADAL" clId="{30774A89-6CD1-47A3-A7B0-B3C1CA3A3ECB}" dt="2024-11-05T03:43:36.107" v="329" actId="1076"/>
          <ac:picMkLst>
            <pc:docMk/>
            <pc:sldMk cId="632123317" sldId="564"/>
            <ac:picMk id="7" creationId="{7445F670-0C2B-862B-4F14-7BBB68C1077B}"/>
          </ac:picMkLst>
        </pc:picChg>
      </pc:sldChg>
      <pc:sldChg chg="addSp modSp new mod modNotesTx">
        <pc:chgData name="Austin Francis" userId="d9206161-76a2-4d0d-bb71-2bac416203d9" providerId="ADAL" clId="{30774A89-6CD1-47A3-A7B0-B3C1CA3A3ECB}" dt="2024-11-05T14:50:36.213" v="7277"/>
        <pc:sldMkLst>
          <pc:docMk/>
          <pc:sldMk cId="3207067121" sldId="565"/>
        </pc:sldMkLst>
        <pc:picChg chg="add mod">
          <ac:chgData name="Austin Francis" userId="d9206161-76a2-4d0d-bb71-2bac416203d9" providerId="ADAL" clId="{30774A89-6CD1-47A3-A7B0-B3C1CA3A3ECB}" dt="2024-11-05T03:44:20.657" v="334" actId="1076"/>
          <ac:picMkLst>
            <pc:docMk/>
            <pc:sldMk cId="3207067121" sldId="565"/>
            <ac:picMk id="5" creationId="{CCB69D67-71CB-419C-5BD2-E292312EAE4E}"/>
          </ac:picMkLst>
        </pc:picChg>
        <pc:picChg chg="add mod">
          <ac:chgData name="Austin Francis" userId="d9206161-76a2-4d0d-bb71-2bac416203d9" providerId="ADAL" clId="{30774A89-6CD1-47A3-A7B0-B3C1CA3A3ECB}" dt="2024-11-05T03:44:51.177" v="339" actId="1076"/>
          <ac:picMkLst>
            <pc:docMk/>
            <pc:sldMk cId="3207067121" sldId="565"/>
            <ac:picMk id="7" creationId="{E0536C8D-5DDB-5708-D4FF-8A9E7576CA53}"/>
          </ac:picMkLst>
        </pc:picChg>
      </pc:sldChg>
      <pc:sldChg chg="addSp modSp new mod modNotesTx">
        <pc:chgData name="Austin Francis" userId="d9206161-76a2-4d0d-bb71-2bac416203d9" providerId="ADAL" clId="{30774A89-6CD1-47A3-A7B0-B3C1CA3A3ECB}" dt="2024-11-05T14:51:08.007" v="7284"/>
        <pc:sldMkLst>
          <pc:docMk/>
          <pc:sldMk cId="991848421" sldId="566"/>
        </pc:sldMkLst>
        <pc:picChg chg="add mod">
          <ac:chgData name="Austin Francis" userId="d9206161-76a2-4d0d-bb71-2bac416203d9" providerId="ADAL" clId="{30774A89-6CD1-47A3-A7B0-B3C1CA3A3ECB}" dt="2024-11-05T03:52:08.249" v="344" actId="1076"/>
          <ac:picMkLst>
            <pc:docMk/>
            <pc:sldMk cId="991848421" sldId="566"/>
            <ac:picMk id="5" creationId="{A8A52A27-D924-12D4-02B7-36268FD733BE}"/>
          </ac:picMkLst>
        </pc:picChg>
        <pc:picChg chg="add mod">
          <ac:chgData name="Austin Francis" userId="d9206161-76a2-4d0d-bb71-2bac416203d9" providerId="ADAL" clId="{30774A89-6CD1-47A3-A7B0-B3C1CA3A3ECB}" dt="2024-11-05T03:52:24.283" v="347" actId="1076"/>
          <ac:picMkLst>
            <pc:docMk/>
            <pc:sldMk cId="991848421" sldId="566"/>
            <ac:picMk id="7" creationId="{539DE479-0697-62EE-8321-1D28F3FC0056}"/>
          </ac:picMkLst>
        </pc:picChg>
      </pc:sldChg>
      <pc:sldChg chg="addSp modSp new mod modNotesTx">
        <pc:chgData name="Austin Francis" userId="d9206161-76a2-4d0d-bb71-2bac416203d9" providerId="ADAL" clId="{30774A89-6CD1-47A3-A7B0-B3C1CA3A3ECB}" dt="2024-11-05T14:51:43.694" v="7291"/>
        <pc:sldMkLst>
          <pc:docMk/>
          <pc:sldMk cId="1539072127" sldId="567"/>
        </pc:sldMkLst>
        <pc:picChg chg="add mod">
          <ac:chgData name="Austin Francis" userId="d9206161-76a2-4d0d-bb71-2bac416203d9" providerId="ADAL" clId="{30774A89-6CD1-47A3-A7B0-B3C1CA3A3ECB}" dt="2024-11-05T03:52:58.704" v="351" actId="1076"/>
          <ac:picMkLst>
            <pc:docMk/>
            <pc:sldMk cId="1539072127" sldId="567"/>
            <ac:picMk id="5" creationId="{C27B7062-6207-F019-DCB8-2FA576803FAC}"/>
          </ac:picMkLst>
        </pc:picChg>
        <pc:picChg chg="add mod">
          <ac:chgData name="Austin Francis" userId="d9206161-76a2-4d0d-bb71-2bac416203d9" providerId="ADAL" clId="{30774A89-6CD1-47A3-A7B0-B3C1CA3A3ECB}" dt="2024-11-05T03:53:16.082" v="354" actId="1076"/>
          <ac:picMkLst>
            <pc:docMk/>
            <pc:sldMk cId="1539072127" sldId="567"/>
            <ac:picMk id="7" creationId="{B850D673-64CB-64F9-4C88-28CDEF6AEACA}"/>
          </ac:picMkLst>
        </pc:picChg>
      </pc:sldChg>
      <pc:sldChg chg="new del">
        <pc:chgData name="Austin Francis" userId="d9206161-76a2-4d0d-bb71-2bac416203d9" providerId="ADAL" clId="{30774A89-6CD1-47A3-A7B0-B3C1CA3A3ECB}" dt="2024-11-05T03:54:59.006" v="356" actId="47"/>
        <pc:sldMkLst>
          <pc:docMk/>
          <pc:sldMk cId="1950046906" sldId="568"/>
        </pc:sldMkLst>
      </pc:sldChg>
      <pc:sldChg chg="addSp delSp modSp new mod">
        <pc:chgData name="Austin Francis" userId="d9206161-76a2-4d0d-bb71-2bac416203d9" providerId="ADAL" clId="{30774A89-6CD1-47A3-A7B0-B3C1CA3A3ECB}" dt="2024-11-05T04:55:50.025" v="751" actId="20577"/>
        <pc:sldMkLst>
          <pc:docMk/>
          <pc:sldMk cId="3662343610" sldId="568"/>
        </pc:sldMkLst>
        <pc:spChg chg="mod">
          <ac:chgData name="Austin Francis" userId="d9206161-76a2-4d0d-bb71-2bac416203d9" providerId="ADAL" clId="{30774A89-6CD1-47A3-A7B0-B3C1CA3A3ECB}" dt="2024-11-05T04:55:50.025" v="751" actId="20577"/>
          <ac:spMkLst>
            <pc:docMk/>
            <pc:sldMk cId="3662343610" sldId="568"/>
            <ac:spMk id="2" creationId="{D99F5057-E48A-1949-314A-64F3903798D9}"/>
          </ac:spMkLst>
        </pc:spChg>
        <pc:spChg chg="add del mod">
          <ac:chgData name="Austin Francis" userId="d9206161-76a2-4d0d-bb71-2bac416203d9" providerId="ADAL" clId="{30774A89-6CD1-47A3-A7B0-B3C1CA3A3ECB}" dt="2024-11-05T03:56:34.587" v="373" actId="27636"/>
          <ac:spMkLst>
            <pc:docMk/>
            <pc:sldMk cId="3662343610" sldId="568"/>
            <ac:spMk id="3" creationId="{97098D5B-D963-A83A-0654-1AE660147258}"/>
          </ac:spMkLst>
        </pc:spChg>
        <pc:spChg chg="add mod">
          <ac:chgData name="Austin Francis" userId="d9206161-76a2-4d0d-bb71-2bac416203d9" providerId="ADAL" clId="{30774A89-6CD1-47A3-A7B0-B3C1CA3A3ECB}" dt="2024-11-05T03:56:02.655" v="360"/>
          <ac:spMkLst>
            <pc:docMk/>
            <pc:sldMk cId="3662343610" sldId="568"/>
            <ac:spMk id="4" creationId="{0DFB78DC-F6AC-837C-91A4-5E629176C5E0}"/>
          </ac:spMkLst>
        </pc:spChg>
      </pc:sldChg>
      <pc:sldChg chg="modSp new mod modNotesTx">
        <pc:chgData name="Austin Francis" userId="d9206161-76a2-4d0d-bb71-2bac416203d9" providerId="ADAL" clId="{30774A89-6CD1-47A3-A7B0-B3C1CA3A3ECB}" dt="2024-11-05T04:46:45.895" v="719" actId="20577"/>
        <pc:sldMkLst>
          <pc:docMk/>
          <pc:sldMk cId="1644409380" sldId="569"/>
        </pc:sldMkLst>
        <pc:spChg chg="mod">
          <ac:chgData name="Austin Francis" userId="d9206161-76a2-4d0d-bb71-2bac416203d9" providerId="ADAL" clId="{30774A89-6CD1-47A3-A7B0-B3C1CA3A3ECB}" dt="2024-11-05T04:45:58.460" v="588" actId="20577"/>
          <ac:spMkLst>
            <pc:docMk/>
            <pc:sldMk cId="1644409380" sldId="569"/>
            <ac:spMk id="2" creationId="{3DD99A09-8EF3-2C86-9285-A484A906E134}"/>
          </ac:spMkLst>
        </pc:spChg>
        <pc:spChg chg="mod">
          <ac:chgData name="Austin Francis" userId="d9206161-76a2-4d0d-bb71-2bac416203d9" providerId="ADAL" clId="{30774A89-6CD1-47A3-A7B0-B3C1CA3A3ECB}" dt="2024-11-05T04:46:22.796" v="674" actId="20577"/>
          <ac:spMkLst>
            <pc:docMk/>
            <pc:sldMk cId="1644409380" sldId="569"/>
            <ac:spMk id="3" creationId="{85AD1D0D-652C-A038-1E8B-FCAD4014C2A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44" tIns="48323" rIns="96644" bIns="48323" rtlCol="0"/>
          <a:lstStyle>
            <a:lvl1pPr algn="l">
              <a:defRPr sz="12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44" tIns="48323" rIns="96644" bIns="48323" rtlCol="0"/>
          <a:lstStyle>
            <a:lvl1pPr algn="r">
              <a:defRPr sz="1200"/>
            </a:lvl1pPr>
          </a:lstStyle>
          <a:p>
            <a:fld id="{77EE0671-D154-4A0D-90F0-4F99050D0CF0}" type="datetimeFigureOut">
              <a:rPr lang="en-US" smtClean="0"/>
              <a:t>11/4/2024</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44" tIns="48323" rIns="96644" bIns="48323"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44" tIns="48323" rIns="96644" bIns="48323"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6644" tIns="48323" rIns="96644" bIns="48323"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44" tIns="48323" rIns="96644" bIns="48323" rtlCol="0" anchor="b"/>
          <a:lstStyle>
            <a:lvl1pPr algn="r">
              <a:defRPr sz="1200"/>
            </a:lvl1pPr>
          </a:lstStyle>
          <a:p>
            <a:fld id="{55CCDD01-DD87-4F55-A952-E63114553089}" type="slidenum">
              <a:rPr lang="en-US" smtClean="0"/>
              <a:t>‹#›</a:t>
            </a:fld>
            <a:endParaRPr lang="en-US"/>
          </a:p>
        </p:txBody>
      </p:sp>
    </p:spTree>
    <p:extLst>
      <p:ext uri="{BB962C8B-B14F-4D97-AF65-F5344CB8AC3E}">
        <p14:creationId xmlns:p14="http://schemas.microsoft.com/office/powerpoint/2010/main" val="1739130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a:t>
            </a:fld>
            <a:endParaRPr lang="en-US"/>
          </a:p>
        </p:txBody>
      </p:sp>
    </p:spTree>
    <p:extLst>
      <p:ext uri="{BB962C8B-B14F-4D97-AF65-F5344CB8AC3E}">
        <p14:creationId xmlns:p14="http://schemas.microsoft.com/office/powerpoint/2010/main" val="1203571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3</a:t>
            </a:fld>
            <a:endParaRPr lang="en-US"/>
          </a:p>
        </p:txBody>
      </p:sp>
    </p:spTree>
    <p:extLst>
      <p:ext uri="{BB962C8B-B14F-4D97-AF65-F5344CB8AC3E}">
        <p14:creationId xmlns:p14="http://schemas.microsoft.com/office/powerpoint/2010/main" val="1213616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4</a:t>
            </a:fld>
            <a:endParaRPr lang="en-US"/>
          </a:p>
        </p:txBody>
      </p:sp>
    </p:spTree>
    <p:extLst>
      <p:ext uri="{BB962C8B-B14F-4D97-AF65-F5344CB8AC3E}">
        <p14:creationId xmlns:p14="http://schemas.microsoft.com/office/powerpoint/2010/main" val="303408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CSR = Corporate Social Responsibility</a:t>
            </a:r>
          </a:p>
        </p:txBody>
      </p:sp>
      <p:sp>
        <p:nvSpPr>
          <p:cNvPr id="4" name="Slide Number Placeholder 3"/>
          <p:cNvSpPr>
            <a:spLocks noGrp="1"/>
          </p:cNvSpPr>
          <p:nvPr>
            <p:ph type="sldNum" sz="quarter" idx="5"/>
          </p:nvPr>
        </p:nvSpPr>
        <p:spPr/>
        <p:txBody>
          <a:bodyPr/>
          <a:lstStyle/>
          <a:p>
            <a:fld id="{55CCDD01-DD87-4F55-A952-E63114553089}" type="slidenum">
              <a:rPr lang="en-US" smtClean="0"/>
              <a:t>5</a:t>
            </a:fld>
            <a:endParaRPr lang="en-US"/>
          </a:p>
        </p:txBody>
      </p:sp>
    </p:spTree>
    <p:extLst>
      <p:ext uri="{BB962C8B-B14F-4D97-AF65-F5344CB8AC3E}">
        <p14:creationId xmlns:p14="http://schemas.microsoft.com/office/powerpoint/2010/main" val="4162854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6</a:t>
            </a:fld>
            <a:endParaRPr lang="en-US"/>
          </a:p>
        </p:txBody>
      </p:sp>
    </p:spTree>
    <p:extLst>
      <p:ext uri="{BB962C8B-B14F-4D97-AF65-F5344CB8AC3E}">
        <p14:creationId xmlns:p14="http://schemas.microsoft.com/office/powerpoint/2010/main" val="22534147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7</a:t>
            </a:fld>
            <a:endParaRPr lang="en-US"/>
          </a:p>
        </p:txBody>
      </p:sp>
    </p:spTree>
    <p:extLst>
      <p:ext uri="{BB962C8B-B14F-4D97-AF65-F5344CB8AC3E}">
        <p14:creationId xmlns:p14="http://schemas.microsoft.com/office/powerpoint/2010/main" val="30293177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that Customers have a higher CSR Score. </a:t>
            </a:r>
            <a:br>
              <a:rPr lang="en-US" dirty="0"/>
            </a:br>
            <a:br>
              <a:rPr lang="en-US" dirty="0"/>
            </a:br>
            <a:r>
              <a:rPr lang="en-US" dirty="0"/>
              <a:t>% hares held by common institutional Investors</a:t>
            </a:r>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8</a:t>
            </a:fld>
            <a:endParaRPr lang="en-US"/>
          </a:p>
        </p:txBody>
      </p:sp>
    </p:spTree>
    <p:extLst>
      <p:ext uri="{BB962C8B-B14F-4D97-AF65-F5344CB8AC3E}">
        <p14:creationId xmlns:p14="http://schemas.microsoft.com/office/powerpoint/2010/main" val="27514871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Columns 1-4 Dependent variable is Supplier CSR Score and the key independent variable is Customer CSR Score (Column 4 all customer supplier relationships with less than 2 years)</a:t>
            </a:r>
            <a:br>
              <a:rPr lang="en-US" dirty="0"/>
            </a:br>
            <a:br>
              <a:rPr lang="en-US" dirty="0"/>
            </a:br>
            <a:r>
              <a:rPr lang="en-US" dirty="0"/>
              <a:t>Columns 5-6 Dependent variable is Customer CSR Score and Key Variable is Supplier CSR Score </a:t>
            </a:r>
            <a:br>
              <a:rPr lang="en-US" dirty="0"/>
            </a:br>
            <a:br>
              <a:rPr lang="en-US" dirty="0"/>
            </a:br>
            <a:r>
              <a:rPr lang="en-US" dirty="0"/>
              <a:t>Delta CSR is from T to T+2 </a:t>
            </a:r>
            <a:br>
              <a:rPr lang="en-US" dirty="0"/>
            </a:br>
            <a:br>
              <a:rPr lang="en-US" dirty="0"/>
            </a:br>
            <a:br>
              <a:rPr lang="en-US" dirty="0"/>
            </a:br>
            <a:r>
              <a:rPr lang="en-US" dirty="0"/>
              <a:t>You can see that the relationship is only one way. </a:t>
            </a:r>
            <a:br>
              <a:rPr lang="en-US" dirty="0"/>
            </a:br>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9</a:t>
            </a:fld>
            <a:endParaRPr lang="en-US"/>
          </a:p>
        </p:txBody>
      </p:sp>
    </p:spTree>
    <p:extLst>
      <p:ext uri="{BB962C8B-B14F-4D97-AF65-F5344CB8AC3E}">
        <p14:creationId xmlns:p14="http://schemas.microsoft.com/office/powerpoint/2010/main" val="13628084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CUSTOMER COUNTRY IS HIGH, it has a stronger influence only on high Supplier country</a:t>
            </a:r>
            <a:br>
              <a:rPr lang="en-US" dirty="0"/>
            </a:br>
            <a:br>
              <a:rPr lang="en-US" dirty="0"/>
            </a:br>
            <a:r>
              <a:rPr lang="en-US" dirty="0"/>
              <a:t>Varying social political contexts make it difficult for a customer to pressure its supplier to act responsibly.</a:t>
            </a:r>
            <a:br>
              <a:rPr lang="en-US" dirty="0"/>
            </a:br>
            <a:br>
              <a:rPr lang="en-US" dirty="0"/>
            </a:br>
            <a:r>
              <a:rPr lang="en-US" dirty="0"/>
              <a:t>We test this conjecture by replicating our baseline regression results shown in Column 4 of Table 2 on a sample of suppliers and customers located in countries with high vs. low national CSR standards</a:t>
            </a:r>
          </a:p>
          <a:p>
            <a:endParaRPr lang="en-US" dirty="0"/>
          </a:p>
          <a:p>
            <a:r>
              <a:rPr lang="en-US" dirty="0"/>
              <a:t>We employ the </a:t>
            </a:r>
            <a:r>
              <a:rPr lang="en-US" dirty="0" err="1"/>
              <a:t>Vigeocountry</a:t>
            </a:r>
            <a:r>
              <a:rPr lang="en-US" dirty="0"/>
              <a:t> index to rank the 50 countries in our sample. We classify the top 25 countries as those with high national CSR standards and the rest as those with low national CSR standards. Our analysis also includes tests on a sample of customers and suppliers residing in the US and on another located in non-US countries</a:t>
            </a:r>
          </a:p>
        </p:txBody>
      </p:sp>
      <p:sp>
        <p:nvSpPr>
          <p:cNvPr id="4" name="Slide Number Placeholder 3"/>
          <p:cNvSpPr>
            <a:spLocks noGrp="1"/>
          </p:cNvSpPr>
          <p:nvPr>
            <p:ph type="sldNum" sz="quarter" idx="5"/>
          </p:nvPr>
        </p:nvSpPr>
        <p:spPr/>
        <p:txBody>
          <a:bodyPr/>
          <a:lstStyle/>
          <a:p>
            <a:fld id="{55CCDD01-DD87-4F55-A952-E63114553089}" type="slidenum">
              <a:rPr lang="en-US" smtClean="0"/>
              <a:t>10</a:t>
            </a:fld>
            <a:endParaRPr lang="en-US"/>
          </a:p>
        </p:txBody>
      </p:sp>
    </p:spTree>
    <p:extLst>
      <p:ext uri="{BB962C8B-B14F-4D97-AF65-F5344CB8AC3E}">
        <p14:creationId xmlns:p14="http://schemas.microsoft.com/office/powerpoint/2010/main" val="39735099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additional Measures. CSR GAP. Measuring the difference Between CSRC and CSRS With an Indicator Variable and otherwise </a:t>
            </a:r>
            <a:br>
              <a:rPr lang="en-US" dirty="0"/>
            </a:br>
            <a:br>
              <a:rPr lang="en-US" dirty="0"/>
            </a:br>
            <a:r>
              <a:rPr lang="en-US" dirty="0"/>
              <a:t>Meant  to rule out the alternative interpretation of the baseline result that customers with weak CSR performance induce suppliers to become less socially responsible.</a:t>
            </a:r>
          </a:p>
          <a:p>
            <a:endParaRPr lang="en-US" dirty="0"/>
          </a:p>
          <a:p>
            <a:endParaRPr lang="en-US" dirty="0"/>
          </a:p>
          <a:p>
            <a:endParaRPr lang="en-US" dirty="0"/>
          </a:p>
          <a:p>
            <a:r>
              <a:rPr lang="en-US" dirty="0"/>
              <a:t>We construct two additional CSR measures that capture the differential CSR between customers and suppliers (CSR gap);</a:t>
            </a:r>
          </a:p>
          <a:p>
            <a:endParaRPr lang="en-US" dirty="0"/>
          </a:p>
          <a:p>
            <a:r>
              <a:rPr lang="en-US" dirty="0"/>
              <a:t>further confirm our baseline finding that customers play a significant role in suppliers striving for high CSR standards. For example, the overall customer effect of CSR on supplier CSR is 0.177 (=0.121+0.056) in Column 1 and is 0.820 (=0.016+0.804) in Column 2. All the coefficients are statistically significant at conventional levels.</a:t>
            </a:r>
          </a:p>
        </p:txBody>
      </p:sp>
      <p:sp>
        <p:nvSpPr>
          <p:cNvPr id="4" name="Slide Number Placeholder 3"/>
          <p:cNvSpPr>
            <a:spLocks noGrp="1"/>
          </p:cNvSpPr>
          <p:nvPr>
            <p:ph type="sldNum" sz="quarter" idx="5"/>
          </p:nvPr>
        </p:nvSpPr>
        <p:spPr/>
        <p:txBody>
          <a:bodyPr/>
          <a:lstStyle/>
          <a:p>
            <a:fld id="{55CCDD01-DD87-4F55-A952-E63114553089}" type="slidenum">
              <a:rPr lang="en-US" smtClean="0"/>
              <a:t>11</a:t>
            </a:fld>
            <a:endParaRPr lang="en-US"/>
          </a:p>
        </p:txBody>
      </p:sp>
    </p:spTree>
    <p:extLst>
      <p:ext uri="{BB962C8B-B14F-4D97-AF65-F5344CB8AC3E}">
        <p14:creationId xmlns:p14="http://schemas.microsoft.com/office/powerpoint/2010/main" val="3436271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Alternative measures of CSR</a:t>
            </a:r>
          </a:p>
        </p:txBody>
      </p:sp>
      <p:sp>
        <p:nvSpPr>
          <p:cNvPr id="4" name="Slide Number Placeholder 3"/>
          <p:cNvSpPr>
            <a:spLocks noGrp="1"/>
          </p:cNvSpPr>
          <p:nvPr>
            <p:ph type="sldNum" sz="quarter" idx="5"/>
          </p:nvPr>
        </p:nvSpPr>
        <p:spPr/>
        <p:txBody>
          <a:bodyPr/>
          <a:lstStyle/>
          <a:p>
            <a:fld id="{55CCDD01-DD87-4F55-A952-E63114553089}" type="slidenum">
              <a:rPr lang="en-US" smtClean="0"/>
              <a:t>12</a:t>
            </a:fld>
            <a:endParaRPr lang="en-US"/>
          </a:p>
        </p:txBody>
      </p:sp>
    </p:spTree>
    <p:extLst>
      <p:ext uri="{BB962C8B-B14F-4D97-AF65-F5344CB8AC3E}">
        <p14:creationId xmlns:p14="http://schemas.microsoft.com/office/powerpoint/2010/main" val="38305731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Envirenmental</a:t>
            </a:r>
            <a:r>
              <a:rPr lang="en-US" dirty="0"/>
              <a:t> and social Specific tests</a:t>
            </a:r>
            <a:br>
              <a:rPr lang="en-US" dirty="0"/>
            </a:br>
            <a:br>
              <a:rPr lang="en-US" dirty="0"/>
            </a:br>
            <a:r>
              <a:rPr lang="en-US" dirty="0"/>
              <a:t>Using a pseudo supplier, similar in size and industry, and with no links, and effect is not there.</a:t>
            </a:r>
          </a:p>
        </p:txBody>
      </p:sp>
      <p:sp>
        <p:nvSpPr>
          <p:cNvPr id="4" name="Slide Number Placeholder 3"/>
          <p:cNvSpPr>
            <a:spLocks noGrp="1"/>
          </p:cNvSpPr>
          <p:nvPr>
            <p:ph type="sldNum" sz="quarter" idx="5"/>
          </p:nvPr>
        </p:nvSpPr>
        <p:spPr/>
        <p:txBody>
          <a:bodyPr/>
          <a:lstStyle/>
          <a:p>
            <a:fld id="{55CCDD01-DD87-4F55-A952-E63114553089}" type="slidenum">
              <a:rPr lang="en-US" smtClean="0"/>
              <a:t>13</a:t>
            </a:fld>
            <a:endParaRPr lang="en-US"/>
          </a:p>
        </p:txBody>
      </p:sp>
    </p:spTree>
    <p:extLst>
      <p:ext uri="{BB962C8B-B14F-4D97-AF65-F5344CB8AC3E}">
        <p14:creationId xmlns:p14="http://schemas.microsoft.com/office/powerpoint/2010/main" val="24038201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study has a sample of 31,634 customer CSR related shareholder-sponsored proposals that allows us to examine T+1 CSR scores of suppliers whose customers marginally pass a CSR Proposal (pass suppliers) </a:t>
            </a:r>
          </a:p>
          <a:p>
            <a:br>
              <a:rPr lang="en-US" dirty="0"/>
            </a:br>
            <a:r>
              <a:rPr lang="en-US" dirty="0"/>
              <a:t>Panel A suggests no systemic or significant difference between pass and fail suppliers around the majority threshold, which lends support to our identification strategy. </a:t>
            </a:r>
          </a:p>
          <a:p>
            <a:r>
              <a:rPr lang="en-US" dirty="0"/>
              <a:t>Panel B shows RDD estimates of the difference in CSR performances between pass and fail suppliers, with different bandwidths.</a:t>
            </a:r>
            <a:br>
              <a:rPr lang="en-US" dirty="0"/>
            </a:br>
            <a:r>
              <a:rPr lang="en-US" dirty="0"/>
              <a:t>Panel D indicates greater and statistically significant CSR </a:t>
            </a:r>
            <a:r>
              <a:rPr lang="en-US" dirty="0" err="1"/>
              <a:t>imporovements</a:t>
            </a:r>
            <a:r>
              <a:rPr lang="en-US" dirty="0"/>
              <a:t> in the subsample of implemented than non implemented proposals for both news of CSR implementation and board voted “for” categories</a:t>
            </a:r>
          </a:p>
        </p:txBody>
      </p:sp>
      <p:sp>
        <p:nvSpPr>
          <p:cNvPr id="4" name="Slide Number Placeholder 3"/>
          <p:cNvSpPr>
            <a:spLocks noGrp="1"/>
          </p:cNvSpPr>
          <p:nvPr>
            <p:ph type="sldNum" sz="quarter" idx="5"/>
          </p:nvPr>
        </p:nvSpPr>
        <p:spPr/>
        <p:txBody>
          <a:bodyPr/>
          <a:lstStyle/>
          <a:p>
            <a:fld id="{55CCDD01-DD87-4F55-A952-E63114553089}" type="slidenum">
              <a:rPr lang="en-US" smtClean="0"/>
              <a:t>14</a:t>
            </a:fld>
            <a:endParaRPr lang="en-US"/>
          </a:p>
        </p:txBody>
      </p:sp>
    </p:spTree>
    <p:extLst>
      <p:ext uri="{BB962C8B-B14F-4D97-AF65-F5344CB8AC3E}">
        <p14:creationId xmlns:p14="http://schemas.microsoft.com/office/powerpoint/2010/main" val="20165358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Identification Strategy focuses on some of the worst product safety issues or scandals in history that have drawn global attention and heightened societal awareness and activism demanding for more socially responsible practices among supply chains </a:t>
            </a:r>
            <a:br>
              <a:rPr lang="en-US" dirty="0"/>
            </a:br>
            <a:br>
              <a:rPr lang="en-US" dirty="0"/>
            </a:br>
            <a:r>
              <a:rPr lang="en-US" dirty="0"/>
              <a:t>2008 Chinese milk scandal. Infant milk </a:t>
            </a:r>
            <a:r>
              <a:rPr lang="en-US" dirty="0" err="1"/>
              <a:t>conatained</a:t>
            </a:r>
            <a:r>
              <a:rPr lang="en-US" dirty="0"/>
              <a:t> Melamine and gave kids kidney stones. 300,000 Chinese babies were sick and the damage led to 6 deaths.</a:t>
            </a:r>
            <a:br>
              <a:rPr lang="en-US" dirty="0"/>
            </a:br>
            <a:r>
              <a:rPr lang="en-US" dirty="0"/>
              <a:t>2013 Toyota defective airbags</a:t>
            </a:r>
            <a:br>
              <a:rPr lang="en-US" dirty="0"/>
            </a:br>
            <a:br>
              <a:rPr lang="en-US" dirty="0"/>
            </a:br>
            <a:r>
              <a:rPr lang="en-US" dirty="0"/>
              <a:t>Column 1 shows estimates on a sample of existing inked firms in the global related food industry suppliers</a:t>
            </a:r>
            <a:br>
              <a:rPr lang="en-US" dirty="0"/>
            </a:br>
            <a:br>
              <a:rPr lang="en-US" dirty="0"/>
            </a:br>
            <a:r>
              <a:rPr lang="en-US" dirty="0"/>
              <a:t>Variable of interest is the interaction between CSRC and event indicator. Coefficient is positive and statistically significant in both cases. </a:t>
            </a:r>
            <a:br>
              <a:rPr lang="en-US" dirty="0"/>
            </a:br>
            <a:r>
              <a:rPr lang="en-US" dirty="0"/>
              <a:t>A one standard deviation increases in customers product responsibility rating in the scandal year will lead to a 9 % to 10.9% rise in the suppliers mean product responsibility rating. </a:t>
            </a:r>
            <a:br>
              <a:rPr lang="en-US" dirty="0"/>
            </a:br>
            <a:br>
              <a:rPr lang="en-US" dirty="0"/>
            </a:br>
            <a:r>
              <a:rPr lang="en-US" dirty="0"/>
              <a:t>These findings suggest that the effect of a customers product responsibility rating on the suppliers rating is more pronounced in the event year. Indicating that pressure is more intense. </a:t>
            </a:r>
            <a:br>
              <a:rPr lang="en-US" dirty="0"/>
            </a:br>
            <a:br>
              <a:rPr lang="en-US" dirty="0"/>
            </a:br>
            <a:br>
              <a:rPr lang="en-US" dirty="0"/>
            </a:br>
            <a:r>
              <a:rPr lang="en-US" dirty="0"/>
              <a:t>Results from columns 3-4 suggest strong evidence of a positive association between the suppliers </a:t>
            </a:r>
            <a:r>
              <a:rPr lang="en-US" dirty="0" err="1"/>
              <a:t>REPRIsk</a:t>
            </a:r>
            <a:r>
              <a:rPr lang="en-US" dirty="0"/>
              <a:t> and the customers next month </a:t>
            </a:r>
            <a:r>
              <a:rPr lang="en-US" dirty="0" err="1"/>
              <a:t>RepRisk</a:t>
            </a:r>
            <a:r>
              <a:rPr lang="en-US" dirty="0"/>
              <a:t> index. This transmission of </a:t>
            </a:r>
            <a:r>
              <a:rPr lang="en-US" dirty="0" err="1"/>
              <a:t>reprisk</a:t>
            </a:r>
            <a:r>
              <a:rPr lang="en-US" dirty="0"/>
              <a:t> from supplier to customer provides a strong incentive for the customer to strengthen it’s influence on its supplier’s CSR when a global ESG scandal floods the worldwide news media. </a:t>
            </a:r>
          </a:p>
        </p:txBody>
      </p:sp>
      <p:sp>
        <p:nvSpPr>
          <p:cNvPr id="4" name="Slide Number Placeholder 3"/>
          <p:cNvSpPr>
            <a:spLocks noGrp="1"/>
          </p:cNvSpPr>
          <p:nvPr>
            <p:ph type="sldNum" sz="quarter" idx="5"/>
          </p:nvPr>
        </p:nvSpPr>
        <p:spPr/>
        <p:txBody>
          <a:bodyPr/>
          <a:lstStyle/>
          <a:p>
            <a:fld id="{55CCDD01-DD87-4F55-A952-E63114553089}" type="slidenum">
              <a:rPr lang="en-US" smtClean="0"/>
              <a:t>15</a:t>
            </a:fld>
            <a:endParaRPr lang="en-US"/>
          </a:p>
        </p:txBody>
      </p:sp>
    </p:spTree>
    <p:extLst>
      <p:ext uri="{BB962C8B-B14F-4D97-AF65-F5344CB8AC3E}">
        <p14:creationId xmlns:p14="http://schemas.microsoft.com/office/powerpoint/2010/main" val="34422835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Customers with high CSR may select suppliers who meet their expectations. </a:t>
            </a:r>
            <a:br>
              <a:rPr lang="en-US" dirty="0"/>
            </a:br>
            <a:r>
              <a:rPr lang="en-US" dirty="0"/>
              <a:t>It is also possible that customers actively push suppliers to get involved in CSR. </a:t>
            </a:r>
            <a:br>
              <a:rPr lang="en-US" dirty="0"/>
            </a:br>
            <a:br>
              <a:rPr lang="en-US" dirty="0"/>
            </a:br>
            <a:r>
              <a:rPr lang="en-US" dirty="0"/>
              <a:t>Column 1 shows the overall customer CSR effect to be .013 on supplier CSR. Suggesting some selection associated with the initial establishment of the relationship. </a:t>
            </a:r>
            <a:br>
              <a:rPr lang="en-US" dirty="0"/>
            </a:br>
            <a:br>
              <a:rPr lang="en-US" dirty="0"/>
            </a:br>
            <a:r>
              <a:rPr lang="en-US" dirty="0"/>
              <a:t>Socially conscious customers choose firms with </a:t>
            </a:r>
            <a:r>
              <a:rPr lang="en-US" dirty="0" err="1"/>
              <a:t>igh</a:t>
            </a:r>
            <a:r>
              <a:rPr lang="en-US" dirty="0"/>
              <a:t> CSR potential to form a supply chain relationship, and dissolve the relationship if the supplier is constrained to further improve its </a:t>
            </a:r>
            <a:r>
              <a:rPr lang="en-US" dirty="0" err="1"/>
              <a:t>csr</a:t>
            </a:r>
            <a:r>
              <a:rPr lang="en-US" dirty="0"/>
              <a:t> standards</a:t>
            </a:r>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16</a:t>
            </a:fld>
            <a:endParaRPr lang="en-US"/>
          </a:p>
        </p:txBody>
      </p:sp>
    </p:spTree>
    <p:extLst>
      <p:ext uri="{BB962C8B-B14F-4D97-AF65-F5344CB8AC3E}">
        <p14:creationId xmlns:p14="http://schemas.microsoft.com/office/powerpoint/2010/main" val="898038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columns 1-2, the impact of all acquisitions on the suppliers subsequent CSR performance </a:t>
            </a:r>
            <a:br>
              <a:rPr lang="en-US" dirty="0"/>
            </a:br>
            <a:br>
              <a:rPr lang="en-US" dirty="0"/>
            </a:br>
            <a:r>
              <a:rPr lang="en-US" dirty="0"/>
              <a:t>columns 3-4 and 5-6 show separate results of suppliers as targets and customers as targets, respectively.</a:t>
            </a:r>
            <a:br>
              <a:rPr lang="en-US" dirty="0"/>
            </a:br>
            <a:br>
              <a:rPr lang="en-US" dirty="0"/>
            </a:br>
            <a:r>
              <a:rPr lang="en-US" dirty="0"/>
              <a:t>Columns 2, 4, 6 report the effect of customers whose CSR ratings are above the median level of the sample customer CSR rankings </a:t>
            </a:r>
            <a:br>
              <a:rPr lang="en-US" dirty="0"/>
            </a:br>
            <a:br>
              <a:rPr lang="en-US" dirty="0"/>
            </a:br>
            <a:br>
              <a:rPr lang="en-US" dirty="0"/>
            </a:br>
            <a:r>
              <a:rPr lang="en-US" dirty="0"/>
              <a:t>Columns 3 and 4, when a supplier is the target, its CSR practices become negatively associated with its customers. It may be that the suppliers acquirer is unwilling to expend more resources to maintain the sustainability of the suppliers CSR standard. </a:t>
            </a:r>
            <a:br>
              <a:rPr lang="en-US" dirty="0"/>
            </a:br>
            <a:br>
              <a:rPr lang="en-US" dirty="0"/>
            </a:br>
            <a:r>
              <a:rPr lang="en-US" dirty="0"/>
              <a:t>When customer is the </a:t>
            </a:r>
          </a:p>
        </p:txBody>
      </p:sp>
      <p:sp>
        <p:nvSpPr>
          <p:cNvPr id="4" name="Slide Number Placeholder 3"/>
          <p:cNvSpPr>
            <a:spLocks noGrp="1"/>
          </p:cNvSpPr>
          <p:nvPr>
            <p:ph type="sldNum" sz="quarter" idx="5"/>
          </p:nvPr>
        </p:nvSpPr>
        <p:spPr/>
        <p:txBody>
          <a:bodyPr/>
          <a:lstStyle/>
          <a:p>
            <a:fld id="{55CCDD01-DD87-4F55-A952-E63114553089}" type="slidenum">
              <a:rPr lang="en-US" smtClean="0"/>
              <a:t>17</a:t>
            </a:fld>
            <a:endParaRPr lang="en-US"/>
          </a:p>
        </p:txBody>
      </p:sp>
    </p:spTree>
    <p:extLst>
      <p:ext uri="{BB962C8B-B14F-4D97-AF65-F5344CB8AC3E}">
        <p14:creationId xmlns:p14="http://schemas.microsoft.com/office/powerpoint/2010/main" val="34978275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Theory: suppliers with more investments in innovation are more likely to engage in customer specific investments. The greater the suppliers innovation capacity, the customers would have less power to influence their suppliers to be more socially responsible. </a:t>
            </a:r>
            <a:br>
              <a:rPr lang="en-US" dirty="0"/>
            </a:br>
            <a:br>
              <a:rPr lang="en-US" dirty="0"/>
            </a:br>
            <a:r>
              <a:rPr lang="en-US" dirty="0"/>
              <a:t>In columns 1-2. They are consistent with expectations. </a:t>
            </a:r>
            <a:br>
              <a:rPr lang="en-US" dirty="0"/>
            </a:br>
            <a:r>
              <a:rPr lang="en-US" dirty="0"/>
              <a:t>The interaction effect of CSRC score and INNOV(S) is negative and statistically significant for both proxies of the customer specific investment</a:t>
            </a:r>
            <a:br>
              <a:rPr lang="en-US" dirty="0"/>
            </a:br>
            <a:br>
              <a:rPr lang="en-US" dirty="0"/>
            </a:br>
            <a:r>
              <a:rPr lang="en-US" dirty="0"/>
              <a:t>For instance, the interaction effect of CSRC and R&amp;D is -.323 this finding suggests that when a supplier’s customer specific investment is low, the supplier is more inclined to meet the CSR standard of its customer. </a:t>
            </a:r>
            <a:br>
              <a:rPr lang="en-US" dirty="0"/>
            </a:br>
            <a:br>
              <a:rPr lang="en-US" dirty="0"/>
            </a:br>
            <a:r>
              <a:rPr lang="en-US" dirty="0"/>
              <a:t>In other words, if they have less bargaining power, they comply more. </a:t>
            </a:r>
          </a:p>
          <a:p>
            <a:br>
              <a:rPr lang="en-US" dirty="0"/>
            </a:br>
            <a:br>
              <a:rPr lang="en-US" dirty="0"/>
            </a:br>
            <a:r>
              <a:rPr lang="en-US" dirty="0"/>
              <a:t>Column 3-4 measures Industry competition. </a:t>
            </a:r>
            <a:br>
              <a:rPr lang="en-US" dirty="0"/>
            </a:br>
            <a:br>
              <a:rPr lang="en-US" dirty="0"/>
            </a:br>
            <a:r>
              <a:rPr lang="en-US" dirty="0"/>
              <a:t>Column3 is suppliers HHI on suppliers CRS score. </a:t>
            </a:r>
            <a:br>
              <a:rPr lang="en-US" dirty="0"/>
            </a:br>
            <a:r>
              <a:rPr lang="en-US" dirty="0"/>
              <a:t>Column 4 is customers HHI</a:t>
            </a:r>
            <a:br>
              <a:rPr lang="en-US" dirty="0"/>
            </a:br>
            <a:br>
              <a:rPr lang="en-US" dirty="0"/>
            </a:br>
            <a:r>
              <a:rPr lang="en-US" dirty="0"/>
              <a:t>Column 4 is </a:t>
            </a:r>
            <a:br>
              <a:rPr lang="en-US" dirty="0"/>
            </a:br>
            <a:r>
              <a:rPr lang="en-US" dirty="0"/>
              <a:t>When the supplier is in a highly competitive industry, it tends to align its practices with that of its customer. </a:t>
            </a:r>
            <a:br>
              <a:rPr lang="en-US" dirty="0"/>
            </a:br>
            <a:r>
              <a:rPr lang="en-US" dirty="0"/>
              <a:t>This suggests that the supplier may lose it’s customer if it </a:t>
            </a:r>
            <a:r>
              <a:rPr lang="en-US" dirty="0" err="1"/>
              <a:t>doesn</a:t>
            </a:r>
            <a:r>
              <a:rPr lang="en-US" dirty="0"/>
              <a:t> </a:t>
            </a:r>
            <a:r>
              <a:rPr lang="en-US" dirty="0" err="1"/>
              <a:t>ot</a:t>
            </a:r>
            <a:r>
              <a:rPr lang="en-US" dirty="0"/>
              <a:t> improve its CSR standard </a:t>
            </a:r>
          </a:p>
          <a:p>
            <a:endParaRPr lang="en-US" dirty="0"/>
          </a:p>
          <a:p>
            <a:r>
              <a:rPr lang="en-US" dirty="0"/>
              <a:t>On the other hand, when a customer is in a less competitive industry, it has strong bargaining power to influence its suppliers to be more socially responsible. </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18</a:t>
            </a:fld>
            <a:endParaRPr lang="en-US"/>
          </a:p>
        </p:txBody>
      </p:sp>
    </p:spTree>
    <p:extLst>
      <p:ext uri="{BB962C8B-B14F-4D97-AF65-F5344CB8AC3E}">
        <p14:creationId xmlns:p14="http://schemas.microsoft.com/office/powerpoint/2010/main" val="34917129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Influence of Shared Ownership</a:t>
            </a:r>
            <a:r>
              <a:rPr lang="en-US" dirty="0"/>
              <a:t>: Common institutional ownership between customer and supplier firms correlates positively with suppliers’ CSR (Corporate Social Responsibility) scores. This suggests that shared institutional investors are effective in transmitting CSR standards along the supply chain, as suppliers tend to adopt CSR practices that align with their customers' expectations​(Dai, Liang, Ng, 2020).</a:t>
            </a:r>
          </a:p>
          <a:p>
            <a:endParaRPr lang="en-US" dirty="0"/>
          </a:p>
          <a:p>
            <a:r>
              <a:rPr lang="en-US" b="1" dirty="0"/>
              <a:t>Multiplier Effect in CSR Standards</a:t>
            </a:r>
            <a:r>
              <a:rPr lang="en-US" dirty="0"/>
              <a:t>: When a customer with high CSR standards shares institutional ownership with a supplier, there’s a notable “multiplier effect,” where a higher CSR rating of the customer encourages a more substantial increase in the supplier's CSR scores. This effect emphasizes the role of common investors in fostering CSR consistency across related firms​(Dai, Liang, Ng, 2020).</a:t>
            </a:r>
          </a:p>
          <a:p>
            <a:endParaRPr lang="en-US" dirty="0"/>
          </a:p>
          <a:p>
            <a:r>
              <a:rPr lang="en-US" b="1" dirty="0"/>
              <a:t>Strengthened CSR Through Networked Influence</a:t>
            </a:r>
            <a:r>
              <a:rPr lang="en-US" dirty="0"/>
              <a:t>: The presence of common institutional investors not only improves CSR alignment between customers and suppliers but also demonstrates how networked ownership can drive responsible practices across sectors, indicating that institutional investors may prioritize firms that actively engage in CSR practices​</a:t>
            </a:r>
          </a:p>
        </p:txBody>
      </p:sp>
      <p:sp>
        <p:nvSpPr>
          <p:cNvPr id="4" name="Slide Number Placeholder 3"/>
          <p:cNvSpPr>
            <a:spLocks noGrp="1"/>
          </p:cNvSpPr>
          <p:nvPr>
            <p:ph type="sldNum" sz="quarter" idx="5"/>
          </p:nvPr>
        </p:nvSpPr>
        <p:spPr/>
        <p:txBody>
          <a:bodyPr/>
          <a:lstStyle/>
          <a:p>
            <a:fld id="{55CCDD01-DD87-4F55-A952-E63114553089}" type="slidenum">
              <a:rPr lang="en-US" smtClean="0"/>
              <a:t>19</a:t>
            </a:fld>
            <a:endParaRPr lang="en-US"/>
          </a:p>
        </p:txBody>
      </p:sp>
    </p:spTree>
    <p:extLst>
      <p:ext uri="{BB962C8B-B14F-4D97-AF65-F5344CB8AC3E}">
        <p14:creationId xmlns:p14="http://schemas.microsoft.com/office/powerpoint/2010/main" val="4786450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Positive CSR Influence Through Board Overlap</a:t>
            </a:r>
            <a:r>
              <a:rPr lang="en-US" dirty="0"/>
              <a:t>: Common directors between customer and supplier firms significantly influence CSR alignment, where suppliers tend to adopt stronger CSR standards when there is a board member overlap with customers. This finding highlights the impact of shared governance in driving CSR consistency within supply chains​</a:t>
            </a:r>
            <a:br>
              <a:rPr lang="en-US" dirty="0"/>
            </a:br>
            <a:br>
              <a:rPr lang="en-US" dirty="0"/>
            </a:br>
            <a:r>
              <a:rPr lang="en-US" b="1" dirty="0"/>
              <a:t>Importance of Newly Appointed Directors</a:t>
            </a:r>
            <a:r>
              <a:rPr lang="en-US" dirty="0"/>
              <a:t>: The appointment of new directors who have affiliations with both customer and supplier firms boosts the likelihood of CSR improvement among suppliers. This suggests that recent governance linkages can actively enhance CSR practices, likely through shared values or increased CSR-related oversight​(Dai, Liang, Ng, 2020).</a:t>
            </a:r>
          </a:p>
          <a:p>
            <a:endParaRPr lang="en-US" dirty="0"/>
          </a:p>
          <a:p>
            <a:r>
              <a:rPr lang="en-US" b="1" dirty="0"/>
              <a:t>Extended Influence Beyond Direct Financial Ties</a:t>
            </a:r>
            <a:r>
              <a:rPr lang="en-US" dirty="0"/>
              <a:t>: Even when there isn’t a direct financial relationship, overlapping directorships can still promote CSR practices among suppliers. This indicates that social networks and shared board values play a crucial role in propagating responsible business behaviors across connected firms​(Dai, Liang, Ng, 2020).</a:t>
            </a:r>
          </a:p>
        </p:txBody>
      </p:sp>
      <p:sp>
        <p:nvSpPr>
          <p:cNvPr id="4" name="Slide Number Placeholder 3"/>
          <p:cNvSpPr>
            <a:spLocks noGrp="1"/>
          </p:cNvSpPr>
          <p:nvPr>
            <p:ph type="sldNum" sz="quarter" idx="5"/>
          </p:nvPr>
        </p:nvSpPr>
        <p:spPr/>
        <p:txBody>
          <a:bodyPr/>
          <a:lstStyle/>
          <a:p>
            <a:fld id="{55CCDD01-DD87-4F55-A952-E63114553089}" type="slidenum">
              <a:rPr lang="en-US" smtClean="0"/>
              <a:t>20</a:t>
            </a:fld>
            <a:endParaRPr lang="en-US"/>
          </a:p>
        </p:txBody>
      </p:sp>
    </p:spTree>
    <p:extLst>
      <p:ext uri="{BB962C8B-B14F-4D97-AF65-F5344CB8AC3E}">
        <p14:creationId xmlns:p14="http://schemas.microsoft.com/office/powerpoint/2010/main" val="2056848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Operational Efficiency Gains</a:t>
            </a:r>
            <a:r>
              <a:rPr lang="en-US" dirty="0"/>
              <a:t>: Suppliers that align their CSR practices with those of their customers experience reductions in operational expenses, such as selling, general, and administrative (SG&amp;A) costs. This efficiency improvement suggests that CSR alignment not only meets ethical standards but also drives cost-saving advantages​(Dai, Liang, Ng, 2020).</a:t>
            </a:r>
          </a:p>
          <a:p>
            <a:endParaRPr lang="en-US" dirty="0"/>
          </a:p>
          <a:p>
            <a:r>
              <a:rPr lang="en-US" b="1" dirty="0"/>
              <a:t>Customer Sales Growth</a:t>
            </a:r>
            <a:r>
              <a:rPr lang="en-US" dirty="0"/>
              <a:t>: Customers who successfully encourage higher CSR standards from their suppliers enjoy increased sales growth, highlighting the market benefits of CSR alignment. The reputation boost from responsible supply chain practices likely contributes to this sales increase for customers​(Dai, Liang, Ng, 2020)​(Dai, Liang, Ng, 2020).</a:t>
            </a:r>
          </a:p>
          <a:p>
            <a:endParaRPr lang="en-US" dirty="0"/>
          </a:p>
          <a:p>
            <a:r>
              <a:rPr lang="en-US" b="1" dirty="0"/>
              <a:t>Enhanced Firm Valuation</a:t>
            </a:r>
            <a:r>
              <a:rPr lang="en-US" dirty="0"/>
              <a:t>: Both customers and suppliers benefit in terms of market valuation when they engage in coordinated CSR efforts. However, customers, in particular, show a stronger valuation impact, which underlines the broader market appeal and financial incentives associated with CSR-driven supply chain management​(Dai, Liang, Ng, 2020).</a:t>
            </a:r>
          </a:p>
        </p:txBody>
      </p:sp>
      <p:sp>
        <p:nvSpPr>
          <p:cNvPr id="4" name="Slide Number Placeholder 3"/>
          <p:cNvSpPr>
            <a:spLocks noGrp="1"/>
          </p:cNvSpPr>
          <p:nvPr>
            <p:ph type="sldNum" sz="quarter" idx="5"/>
          </p:nvPr>
        </p:nvSpPr>
        <p:spPr/>
        <p:txBody>
          <a:bodyPr/>
          <a:lstStyle/>
          <a:p>
            <a:fld id="{55CCDD01-DD87-4F55-A952-E63114553089}" type="slidenum">
              <a:rPr lang="en-US" smtClean="0"/>
              <a:t>21</a:t>
            </a:fld>
            <a:endParaRPr lang="en-US"/>
          </a:p>
        </p:txBody>
      </p:sp>
    </p:spTree>
    <p:extLst>
      <p:ext uri="{BB962C8B-B14F-4D97-AF65-F5344CB8AC3E}">
        <p14:creationId xmlns:p14="http://schemas.microsoft.com/office/powerpoint/2010/main" val="7505779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4E038BA-856D-E640-9AF0-8E7AA133C933}"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1524648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012273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4E038BA-856D-E640-9AF0-8E7AA133C933}"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303031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4E038BA-856D-E640-9AF0-8E7AA133C933}" type="datetimeFigureOut">
              <a:rPr lang="en-US" smtClean="0"/>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585448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4E038BA-856D-E640-9AF0-8E7AA133C933}" type="datetimeFigureOut">
              <a:rPr lang="en-US" smtClean="0"/>
              <a:t>11/4/2024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870676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4E038BA-856D-E640-9AF0-8E7AA133C933}" type="datetimeFigureOut">
              <a:rPr lang="en-US" smtClean="0"/>
              <a:t>11/4/2024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1008595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E038BA-856D-E640-9AF0-8E7AA133C933}" type="datetimeFigureOut">
              <a:rPr lang="en-US" smtClean="0"/>
              <a:t>11/4/2024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218653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20688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571403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510983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4003078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Untitled-4.pn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4397736"/>
            <a:ext cx="9153144" cy="757423"/>
          </a:xfrm>
          <a:prstGeom prst="rect">
            <a:avLst/>
          </a:prstGeom>
        </p:spPr>
      </p:pic>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34E038BA-856D-E640-9AF0-8E7AA133C933}" type="datetimeFigureOut">
              <a:rPr lang="en-US" smtClean="0"/>
              <a:t>11/4/2024</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870BBC46-B35C-FC4A-B901-4F9F5D11ECB6}" type="slidenum">
              <a:rPr lang="en-US" smtClean="0"/>
              <a:t>‹#›</a:t>
            </a:fld>
            <a:endParaRPr lang="en-US"/>
          </a:p>
        </p:txBody>
      </p:sp>
    </p:spTree>
    <p:extLst>
      <p:ext uri="{BB962C8B-B14F-4D97-AF65-F5344CB8AC3E}">
        <p14:creationId xmlns:p14="http://schemas.microsoft.com/office/powerpoint/2010/main" val="35373879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38264"/>
            <a:ext cx="7772400" cy="1102519"/>
          </a:xfrm>
        </p:spPr>
        <p:txBody>
          <a:bodyPr>
            <a:normAutofit fontScale="90000"/>
          </a:bodyPr>
          <a:lstStyle/>
          <a:p>
            <a:r>
              <a:rPr lang="en-US" sz="3600" dirty="0">
                <a:ea typeface="+mj-lt"/>
                <a:cs typeface="+mj-lt"/>
              </a:rPr>
              <a:t>Socially Responsible Corporate Customers</a:t>
            </a:r>
          </a:p>
        </p:txBody>
      </p:sp>
      <p:sp>
        <p:nvSpPr>
          <p:cNvPr id="3" name="Subtitle 2"/>
          <p:cNvSpPr>
            <a:spLocks noGrp="1"/>
          </p:cNvSpPr>
          <p:nvPr>
            <p:ph type="subTitle" idx="1"/>
          </p:nvPr>
        </p:nvSpPr>
        <p:spPr>
          <a:xfrm>
            <a:off x="1073150" y="1589529"/>
            <a:ext cx="6997700" cy="2639787"/>
          </a:xfrm>
        </p:spPr>
        <p:txBody>
          <a:bodyPr vert="horz" lIns="91440" tIns="45720" rIns="91440" bIns="45720" rtlCol="0" anchor="t">
            <a:normAutofit fontScale="62500" lnSpcReduction="20000"/>
          </a:bodyPr>
          <a:lstStyle/>
          <a:p>
            <a:endParaRPr lang="en-US" sz="2900" b="1" dirty="0">
              <a:solidFill>
                <a:schemeClr val="tx1"/>
              </a:solidFill>
              <a:latin typeface="+mj-lt"/>
              <a:ea typeface="Calibri"/>
              <a:cs typeface="Times New Roman" panose="02020603050405020304" pitchFamily="18" charset="0"/>
            </a:endParaRPr>
          </a:p>
          <a:p>
            <a:r>
              <a:rPr lang="en-US" sz="2900" b="1" dirty="0">
                <a:solidFill>
                  <a:schemeClr val="tx1"/>
                </a:solidFill>
                <a:ea typeface="Calibri"/>
                <a:cs typeface="Calibri"/>
              </a:rPr>
              <a:t>Rui Dai </a:t>
            </a:r>
          </a:p>
          <a:p>
            <a:r>
              <a:rPr lang="en-US" sz="1700" i="1" dirty="0">
                <a:solidFill>
                  <a:schemeClr val="bg1">
                    <a:lumMod val="50000"/>
                  </a:schemeClr>
                </a:solidFill>
                <a:ea typeface="Calibri"/>
                <a:cs typeface="Calibri"/>
              </a:rPr>
              <a:t>Wharton School of Business</a:t>
            </a:r>
          </a:p>
          <a:p>
            <a:endParaRPr lang="en-US" sz="1700" i="1" dirty="0">
              <a:solidFill>
                <a:schemeClr val="bg1">
                  <a:lumMod val="50000"/>
                </a:schemeClr>
              </a:solidFill>
              <a:ea typeface="Calibri"/>
              <a:cs typeface="Calibri"/>
            </a:endParaRPr>
          </a:p>
          <a:p>
            <a:r>
              <a:rPr lang="en-US" sz="2900" b="1" dirty="0">
                <a:solidFill>
                  <a:schemeClr val="tx1"/>
                </a:solidFill>
                <a:ea typeface="Calibri"/>
                <a:cs typeface="Calibri"/>
              </a:rPr>
              <a:t>Hao Liang</a:t>
            </a:r>
          </a:p>
          <a:p>
            <a:r>
              <a:rPr lang="en-US" sz="1900" i="1" dirty="0">
                <a:solidFill>
                  <a:schemeClr val="bg1">
                    <a:lumMod val="50000"/>
                  </a:schemeClr>
                </a:solidFill>
                <a:ea typeface="Calibri"/>
                <a:cs typeface="Calibri"/>
              </a:rPr>
              <a:t>Lee Kong </a:t>
            </a:r>
            <a:r>
              <a:rPr lang="en-US" sz="1900" i="1" dirty="0" err="1">
                <a:solidFill>
                  <a:schemeClr val="bg1">
                    <a:lumMod val="50000"/>
                  </a:schemeClr>
                </a:solidFill>
                <a:ea typeface="Calibri"/>
                <a:cs typeface="Calibri"/>
              </a:rPr>
              <a:t>Chian</a:t>
            </a:r>
            <a:r>
              <a:rPr lang="en-US" sz="1900" i="1" dirty="0">
                <a:solidFill>
                  <a:schemeClr val="bg1">
                    <a:lumMod val="50000"/>
                  </a:schemeClr>
                </a:solidFill>
                <a:ea typeface="Calibri"/>
                <a:cs typeface="Calibri"/>
              </a:rPr>
              <a:t> School of Business</a:t>
            </a:r>
          </a:p>
          <a:p>
            <a:endParaRPr lang="en-US" sz="1900" i="1" dirty="0">
              <a:solidFill>
                <a:schemeClr val="bg1">
                  <a:lumMod val="50000"/>
                </a:schemeClr>
              </a:solidFill>
              <a:ea typeface="Calibri"/>
              <a:cs typeface="Calibri"/>
            </a:endParaRPr>
          </a:p>
          <a:p>
            <a:r>
              <a:rPr lang="en-US" sz="2900" b="1" dirty="0">
                <a:solidFill>
                  <a:schemeClr val="tx1"/>
                </a:solidFill>
                <a:ea typeface="Calibri"/>
                <a:cs typeface="Calibri"/>
              </a:rPr>
              <a:t> Lilian Ng</a:t>
            </a:r>
          </a:p>
          <a:p>
            <a:r>
              <a:rPr lang="en-US" sz="1700" i="1" dirty="0">
                <a:solidFill>
                  <a:schemeClr val="bg1">
                    <a:lumMod val="50000"/>
                  </a:schemeClr>
                </a:solidFill>
                <a:ea typeface="Calibri"/>
                <a:cs typeface="Calibri"/>
              </a:rPr>
              <a:t>Schulich School of Business</a:t>
            </a:r>
            <a:br>
              <a:rPr lang="en-US" sz="2900" dirty="0">
                <a:solidFill>
                  <a:schemeClr val="tx1"/>
                </a:solidFill>
                <a:ea typeface="Calibri"/>
                <a:cs typeface="Calibri"/>
              </a:rPr>
            </a:br>
            <a:br>
              <a:rPr lang="en-US" sz="2900" b="1" dirty="0">
                <a:ea typeface="Calibri"/>
                <a:cs typeface="Calibri"/>
              </a:rPr>
            </a:br>
            <a:endParaRPr lang="en-US" sz="2000" i="1" dirty="0">
              <a:solidFill>
                <a:schemeClr val="tx1"/>
              </a:solidFill>
              <a:latin typeface="+mj-lt"/>
              <a:ea typeface="Calibri"/>
              <a:cs typeface="Times New Roman" panose="02020603050405020304" pitchFamily="18" charset="0"/>
            </a:endParaRPr>
          </a:p>
          <a:p>
            <a:r>
              <a:rPr lang="en-US" sz="1800" dirty="0">
                <a:solidFill>
                  <a:schemeClr val="tx1"/>
                </a:solidFill>
                <a:latin typeface="+mj-lt"/>
                <a:cs typeface="Times New Roman"/>
              </a:rPr>
              <a:t>Presented by Austin Francis</a:t>
            </a:r>
            <a:endParaRPr lang="en-US" sz="1800" dirty="0">
              <a:solidFill>
                <a:schemeClr val="tx1"/>
              </a:solidFill>
              <a:latin typeface="+mj-lt"/>
              <a:ea typeface="Calibri"/>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5954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p:txBody>
          <a:bodyPr/>
          <a:lstStyle/>
          <a:p>
            <a:r>
              <a:rPr lang="en-US" dirty="0"/>
              <a:t>Research Question</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p:txBody>
          <a:bodyPr vert="horz" lIns="91440" tIns="45720" rIns="91440" bIns="45720" rtlCol="0" anchor="t">
            <a:normAutofit/>
          </a:bodyPr>
          <a:lstStyle/>
          <a:p>
            <a:r>
              <a:rPr lang="en-US" sz="2800" dirty="0">
                <a:ea typeface="Calibri"/>
                <a:cs typeface="Times New Roman"/>
              </a:rPr>
              <a:t>How do corporate customers drive CSR practices in global supply chains, and what are the economic implications for both customers and suppliers?</a:t>
            </a:r>
          </a:p>
        </p:txBody>
      </p:sp>
    </p:spTree>
    <p:extLst>
      <p:ext uri="{BB962C8B-B14F-4D97-AF65-F5344CB8AC3E}">
        <p14:creationId xmlns:p14="http://schemas.microsoft.com/office/powerpoint/2010/main" val="718245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57200" y="0"/>
            <a:ext cx="8229600" cy="681526"/>
          </a:xfrm>
        </p:spPr>
        <p:txBody>
          <a:bodyPr>
            <a:normAutofit fontScale="90000"/>
          </a:bodyPr>
          <a:lstStyle/>
          <a:p>
            <a:r>
              <a:rPr lang="en-US" dirty="0"/>
              <a:t>Prior Literature</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a:xfrm>
            <a:off x="457200" y="681526"/>
            <a:ext cx="8229600" cy="3803977"/>
          </a:xfrm>
        </p:spPr>
        <p:txBody>
          <a:bodyPr vert="horz" lIns="91440" tIns="45720" rIns="91440" bIns="45720" rtlCol="0" anchor="t">
            <a:noAutofit/>
          </a:bodyPr>
          <a:lstStyle/>
          <a:p>
            <a:pPr marL="342900" lvl="1" indent="-342900">
              <a:buFont typeface="Arial"/>
              <a:buChar char="•"/>
            </a:pPr>
            <a:r>
              <a:rPr lang="en-US" sz="2000" b="1" dirty="0">
                <a:ea typeface="Calibri"/>
                <a:cs typeface="Calibri"/>
              </a:rPr>
              <a:t>Limited Research on Customer Influence: </a:t>
            </a:r>
            <a:r>
              <a:rPr lang="en-US" sz="2000" dirty="0">
                <a:ea typeface="Calibri"/>
                <a:cs typeface="Calibri"/>
              </a:rPr>
              <a:t>Few studies have examined the specific role of corporate customers in driving CSR practices among suppliers (</a:t>
            </a:r>
            <a:r>
              <a:rPr lang="en-US" sz="2000" dirty="0" err="1">
                <a:ea typeface="Calibri"/>
                <a:cs typeface="Calibri"/>
              </a:rPr>
              <a:t>Kitzmueller</a:t>
            </a:r>
            <a:r>
              <a:rPr lang="en-US" sz="2000" dirty="0">
                <a:ea typeface="Calibri"/>
                <a:cs typeface="Calibri"/>
              </a:rPr>
              <a:t> &amp; </a:t>
            </a:r>
            <a:r>
              <a:rPr lang="en-US" sz="2000" dirty="0" err="1">
                <a:ea typeface="Calibri"/>
                <a:cs typeface="Calibri"/>
              </a:rPr>
              <a:t>Shimshack</a:t>
            </a:r>
            <a:r>
              <a:rPr lang="en-US" sz="2000" dirty="0">
                <a:ea typeface="Calibri"/>
                <a:cs typeface="Calibri"/>
              </a:rPr>
              <a:t>, 2012; Koehn &amp; </a:t>
            </a:r>
            <a:r>
              <a:rPr lang="en-US" sz="2000" dirty="0" err="1">
                <a:ea typeface="Calibri"/>
                <a:cs typeface="Calibri"/>
              </a:rPr>
              <a:t>Ueng</a:t>
            </a:r>
            <a:r>
              <a:rPr lang="en-US" sz="2000" dirty="0">
                <a:ea typeface="Calibri"/>
                <a:cs typeface="Calibri"/>
              </a:rPr>
              <a:t>, 2010).</a:t>
            </a:r>
          </a:p>
          <a:p>
            <a:pPr marL="342900" lvl="1" indent="-342900">
              <a:buFont typeface="Arial"/>
              <a:buChar char="•"/>
            </a:pPr>
            <a:r>
              <a:rPr lang="en-US" sz="2000" b="1" dirty="0">
                <a:ea typeface="Calibri"/>
                <a:cs typeface="Calibri"/>
              </a:rPr>
              <a:t>CSR Motivations and Agency Problems: </a:t>
            </a:r>
            <a:r>
              <a:rPr lang="en-US" sz="2000" dirty="0">
                <a:ea typeface="Calibri"/>
                <a:cs typeface="Calibri"/>
              </a:rPr>
              <a:t>Existing literature primarily attributes CSR engagement to a firm's strategic pursuit of financial performance and addresses agency problems within corporations (Flammer, 2015a; </a:t>
            </a:r>
            <a:r>
              <a:rPr lang="en-US" sz="2000" dirty="0" err="1">
                <a:ea typeface="Calibri"/>
                <a:cs typeface="Calibri"/>
              </a:rPr>
              <a:t>Masulis</a:t>
            </a:r>
            <a:r>
              <a:rPr lang="en-US" sz="2000" dirty="0">
                <a:ea typeface="Calibri"/>
                <a:cs typeface="Calibri"/>
              </a:rPr>
              <a:t> &amp; Reza, 2015; Cheng et al., 2016).</a:t>
            </a:r>
          </a:p>
          <a:p>
            <a:pPr marL="342900" lvl="1" indent="-342900">
              <a:buFont typeface="Arial"/>
              <a:buChar char="•"/>
            </a:pPr>
            <a:r>
              <a:rPr lang="en-US" sz="2000" b="1" dirty="0">
                <a:ea typeface="Calibri"/>
                <a:cs typeface="Calibri"/>
              </a:rPr>
              <a:t>Institutional and Environmental Factors: </a:t>
            </a:r>
            <a:r>
              <a:rPr lang="en-US" sz="2000" dirty="0">
                <a:ea typeface="Calibri"/>
                <a:cs typeface="Calibri"/>
              </a:rPr>
              <a:t>Recent research highlights the impact of national institutions and inter-firm interactions on CSR, but lacks focus on economically linked stakeholders like corporate customers (Ioannou &amp; </a:t>
            </a:r>
            <a:r>
              <a:rPr lang="en-US" sz="2000" dirty="0" err="1">
                <a:ea typeface="Calibri"/>
                <a:cs typeface="Calibri"/>
              </a:rPr>
              <a:t>Serafeim</a:t>
            </a:r>
            <a:r>
              <a:rPr lang="en-US" sz="2000" dirty="0">
                <a:ea typeface="Calibri"/>
                <a:cs typeface="Calibri"/>
              </a:rPr>
              <a:t>, 2012; Liang &amp; </a:t>
            </a:r>
            <a:r>
              <a:rPr lang="en-US" sz="2000" dirty="0" err="1">
                <a:ea typeface="Calibri"/>
                <a:cs typeface="Calibri"/>
              </a:rPr>
              <a:t>Renneboog</a:t>
            </a:r>
            <a:r>
              <a:rPr lang="en-US" sz="2000" dirty="0">
                <a:ea typeface="Calibri"/>
                <a:cs typeface="Calibri"/>
              </a:rPr>
              <a:t>, 2017).</a:t>
            </a:r>
          </a:p>
          <a:p>
            <a:pPr marL="342900" lvl="1" indent="-342900">
              <a:buFont typeface="Arial"/>
              <a:buChar char="•"/>
            </a:pPr>
            <a:endParaRPr lang="en-US" sz="2000" dirty="0">
              <a:ea typeface="Calibri"/>
              <a:cs typeface="Calibri"/>
            </a:endParaRPr>
          </a:p>
        </p:txBody>
      </p:sp>
    </p:spTree>
    <p:extLst>
      <p:ext uri="{BB962C8B-B14F-4D97-AF65-F5344CB8AC3E}">
        <p14:creationId xmlns:p14="http://schemas.microsoft.com/office/powerpoint/2010/main" val="869680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A56A5-86C3-A8D8-A981-308591F1FD23}"/>
              </a:ext>
            </a:extLst>
          </p:cNvPr>
          <p:cNvSpPr>
            <a:spLocks noGrp="1"/>
          </p:cNvSpPr>
          <p:nvPr>
            <p:ph type="title"/>
          </p:nvPr>
        </p:nvSpPr>
        <p:spPr/>
        <p:txBody>
          <a:bodyPr/>
          <a:lstStyle/>
          <a:p>
            <a:r>
              <a:rPr lang="en-US" dirty="0"/>
              <a:t>Hypothesis</a:t>
            </a:r>
          </a:p>
        </p:txBody>
      </p:sp>
      <p:sp>
        <p:nvSpPr>
          <p:cNvPr id="3" name="Content Placeholder 2">
            <a:extLst>
              <a:ext uri="{FF2B5EF4-FFF2-40B4-BE49-F238E27FC236}">
                <a16:creationId xmlns:a16="http://schemas.microsoft.com/office/drawing/2014/main" id="{77B4ECBA-3526-6C84-D51B-7013452FF46B}"/>
              </a:ext>
            </a:extLst>
          </p:cNvPr>
          <p:cNvSpPr>
            <a:spLocks noGrp="1"/>
          </p:cNvSpPr>
          <p:nvPr>
            <p:ph idx="1"/>
          </p:nvPr>
        </p:nvSpPr>
        <p:spPr/>
        <p:txBody>
          <a:bodyPr>
            <a:normAutofit/>
          </a:bodyPr>
          <a:lstStyle/>
          <a:p>
            <a:r>
              <a:rPr lang="en-US" dirty="0"/>
              <a:t>Corporate customers exert a significant unilateral influence on their suppliers’ CSR practices, resulting in improved CSR performance among suppliers that is economically beneficial for both parties.</a:t>
            </a:r>
          </a:p>
        </p:txBody>
      </p:sp>
    </p:spTree>
    <p:extLst>
      <p:ext uri="{BB962C8B-B14F-4D97-AF65-F5344CB8AC3E}">
        <p14:creationId xmlns:p14="http://schemas.microsoft.com/office/powerpoint/2010/main" val="3996482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99A09-8EF3-2C86-9285-A484A906E134}"/>
              </a:ext>
            </a:extLst>
          </p:cNvPr>
          <p:cNvSpPr>
            <a:spLocks noGrp="1"/>
          </p:cNvSpPr>
          <p:nvPr>
            <p:ph type="title"/>
          </p:nvPr>
        </p:nvSpPr>
        <p:spPr/>
        <p:txBody>
          <a:bodyPr/>
          <a:lstStyle/>
          <a:p>
            <a:r>
              <a:rPr lang="en-US" dirty="0"/>
              <a:t>Key Metrics</a:t>
            </a:r>
          </a:p>
        </p:txBody>
      </p:sp>
      <p:sp>
        <p:nvSpPr>
          <p:cNvPr id="3" name="Content Placeholder 2">
            <a:extLst>
              <a:ext uri="{FF2B5EF4-FFF2-40B4-BE49-F238E27FC236}">
                <a16:creationId xmlns:a16="http://schemas.microsoft.com/office/drawing/2014/main" id="{85AD1D0D-652C-A038-1E8B-FCAD4014C2A5}"/>
              </a:ext>
            </a:extLst>
          </p:cNvPr>
          <p:cNvSpPr>
            <a:spLocks noGrp="1"/>
          </p:cNvSpPr>
          <p:nvPr>
            <p:ph idx="1"/>
          </p:nvPr>
        </p:nvSpPr>
        <p:spPr/>
        <p:txBody>
          <a:bodyPr/>
          <a:lstStyle/>
          <a:p>
            <a:r>
              <a:rPr lang="en-US" dirty="0"/>
              <a:t>CSR(S) = CSR Supplier Score </a:t>
            </a:r>
          </a:p>
          <a:p>
            <a:r>
              <a:rPr lang="en-US" dirty="0"/>
              <a:t>CSR(C) = CSR Customer Score</a:t>
            </a:r>
          </a:p>
        </p:txBody>
      </p:sp>
    </p:spTree>
    <p:extLst>
      <p:ext uri="{BB962C8B-B14F-4D97-AF65-F5344CB8AC3E}">
        <p14:creationId xmlns:p14="http://schemas.microsoft.com/office/powerpoint/2010/main" val="1644409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FC2FF-A745-F5D3-D8DB-B77CF69A33F4}"/>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AFB31E7E-BB03-7F85-9FA9-B35E5C0A08A1}"/>
              </a:ext>
            </a:extLst>
          </p:cNvPr>
          <p:cNvSpPr>
            <a:spLocks noGrp="1"/>
          </p:cNvSpPr>
          <p:nvPr>
            <p:ph idx="1"/>
          </p:nvPr>
        </p:nvSpPr>
        <p:spPr>
          <a:xfrm>
            <a:off x="457200" y="1063229"/>
            <a:ext cx="8229600" cy="3394472"/>
          </a:xfrm>
        </p:spPr>
        <p:txBody>
          <a:bodyPr>
            <a:normAutofit fontScale="92500" lnSpcReduction="10000"/>
          </a:bodyPr>
          <a:lstStyle/>
          <a:p>
            <a:r>
              <a:rPr lang="en-US" sz="2400" dirty="0"/>
              <a:t>Large corporate customers significantly drive improvements in suppliers’ CSR practices through their bargaining power and collaborative efforts.</a:t>
            </a:r>
          </a:p>
          <a:p>
            <a:r>
              <a:rPr lang="en-US" sz="2400" dirty="0"/>
              <a:t>A firm's CSR initiatives can create a multiplier effect across global supply chains, enhancing operational efficiency and firm value for both customers and suppliers.</a:t>
            </a:r>
          </a:p>
          <a:p>
            <a:r>
              <a:rPr lang="en-US" sz="2400" dirty="0"/>
              <a:t>Companies are incentivized to promote responsible practices among suppliers, especially in response to product-safety scandals, highlighting the importance of CSR in strategic management and organizational behavior.</a:t>
            </a:r>
          </a:p>
          <a:p>
            <a:endParaRPr lang="en-US" sz="2400" dirty="0"/>
          </a:p>
        </p:txBody>
      </p:sp>
    </p:spTree>
    <p:extLst>
      <p:ext uri="{BB962C8B-B14F-4D97-AF65-F5344CB8AC3E}">
        <p14:creationId xmlns:p14="http://schemas.microsoft.com/office/powerpoint/2010/main" val="2280721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2C7CF-9F86-8098-130C-FD3F046D2086}"/>
              </a:ext>
            </a:extLst>
          </p:cNvPr>
          <p:cNvSpPr>
            <a:spLocks noGrp="1"/>
          </p:cNvSpPr>
          <p:nvPr>
            <p:ph type="title"/>
          </p:nvPr>
        </p:nvSpPr>
        <p:spPr>
          <a:xfrm>
            <a:off x="457200" y="120252"/>
            <a:ext cx="8229600" cy="857250"/>
          </a:xfrm>
        </p:spPr>
        <p:txBody>
          <a:bodyPr/>
          <a:lstStyle/>
          <a:p>
            <a:r>
              <a:rPr lang="en-US" dirty="0"/>
              <a:t>Data Collection</a:t>
            </a:r>
          </a:p>
        </p:txBody>
      </p:sp>
      <p:sp>
        <p:nvSpPr>
          <p:cNvPr id="3" name="Content Placeholder 2">
            <a:extLst>
              <a:ext uri="{FF2B5EF4-FFF2-40B4-BE49-F238E27FC236}">
                <a16:creationId xmlns:a16="http://schemas.microsoft.com/office/drawing/2014/main" id="{15D56D45-BDC3-3D0B-671F-78DDB007EF2F}"/>
              </a:ext>
            </a:extLst>
          </p:cNvPr>
          <p:cNvSpPr>
            <a:spLocks noGrp="1"/>
          </p:cNvSpPr>
          <p:nvPr>
            <p:ph idx="1"/>
          </p:nvPr>
        </p:nvSpPr>
        <p:spPr>
          <a:xfrm>
            <a:off x="457200" y="1060301"/>
            <a:ext cx="8229600" cy="3394472"/>
          </a:xfrm>
        </p:spPr>
        <p:txBody>
          <a:bodyPr>
            <a:normAutofit/>
          </a:bodyPr>
          <a:lstStyle/>
          <a:p>
            <a:r>
              <a:rPr lang="en-US" dirty="0"/>
              <a:t>Customer-supplier relationships from FactSet Revere </a:t>
            </a:r>
          </a:p>
          <a:p>
            <a:r>
              <a:rPr lang="en-US" dirty="0"/>
              <a:t>CSR ratings provided by Thomson Reuters ASSET4 ESG Database</a:t>
            </a:r>
          </a:p>
          <a:p>
            <a:r>
              <a:rPr lang="en-US" dirty="0"/>
              <a:t>M&amp;A information from SDC Platinum</a:t>
            </a:r>
          </a:p>
        </p:txBody>
      </p:sp>
    </p:spTree>
    <p:extLst>
      <p:ext uri="{BB962C8B-B14F-4D97-AF65-F5344CB8AC3E}">
        <p14:creationId xmlns:p14="http://schemas.microsoft.com/office/powerpoint/2010/main" val="102931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2F7E5-8AA9-2FE4-A469-8C62373CBC2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C5147F5-24D5-D927-CF30-533CFC8FFBFC}"/>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B33A73A1-DE21-43E6-4CDA-0A9D9296B35B}"/>
              </a:ext>
            </a:extLst>
          </p:cNvPr>
          <p:cNvPicPr>
            <a:picLocks noChangeAspect="1"/>
          </p:cNvPicPr>
          <p:nvPr/>
        </p:nvPicPr>
        <p:blipFill>
          <a:blip r:embed="rId3"/>
          <a:stretch>
            <a:fillRect/>
          </a:stretch>
        </p:blipFill>
        <p:spPr>
          <a:xfrm>
            <a:off x="227565" y="205979"/>
            <a:ext cx="8688870" cy="4155839"/>
          </a:xfrm>
          <a:prstGeom prst="rect">
            <a:avLst/>
          </a:prstGeom>
        </p:spPr>
      </p:pic>
    </p:spTree>
    <p:extLst>
      <p:ext uri="{BB962C8B-B14F-4D97-AF65-F5344CB8AC3E}">
        <p14:creationId xmlns:p14="http://schemas.microsoft.com/office/powerpoint/2010/main" val="1948743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DA9E3-55C4-7DBE-B3B8-DC1B4D752953}"/>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81B85499-DBF6-53F1-04FA-D3A5B15F75B3}"/>
              </a:ext>
            </a:extLst>
          </p:cNvPr>
          <p:cNvSpPr>
            <a:spLocks noGrp="1"/>
          </p:cNvSpPr>
          <p:nvPr>
            <p:ph idx="1"/>
          </p:nvPr>
        </p:nvSpPr>
        <p:spPr/>
        <p:txBody>
          <a:bodyPr/>
          <a:lstStyle/>
          <a:p>
            <a:endParaRPr lang="en-US" dirty="0"/>
          </a:p>
        </p:txBody>
      </p:sp>
      <p:pic>
        <p:nvPicPr>
          <p:cNvPr id="7" name="Picture 6">
            <a:extLst>
              <a:ext uri="{FF2B5EF4-FFF2-40B4-BE49-F238E27FC236}">
                <a16:creationId xmlns:a16="http://schemas.microsoft.com/office/drawing/2014/main" id="{03F441F7-6CBD-E6AB-AA5A-C77D320ACDD0}"/>
              </a:ext>
            </a:extLst>
          </p:cNvPr>
          <p:cNvPicPr>
            <a:picLocks noChangeAspect="1"/>
          </p:cNvPicPr>
          <p:nvPr/>
        </p:nvPicPr>
        <p:blipFill>
          <a:blip r:embed="rId3"/>
          <a:stretch>
            <a:fillRect/>
          </a:stretch>
        </p:blipFill>
        <p:spPr>
          <a:xfrm>
            <a:off x="161447" y="50521"/>
            <a:ext cx="6839905" cy="1171739"/>
          </a:xfrm>
          <a:prstGeom prst="rect">
            <a:avLst/>
          </a:prstGeom>
        </p:spPr>
      </p:pic>
      <p:pic>
        <p:nvPicPr>
          <p:cNvPr id="5" name="Picture 4">
            <a:extLst>
              <a:ext uri="{FF2B5EF4-FFF2-40B4-BE49-F238E27FC236}">
                <a16:creationId xmlns:a16="http://schemas.microsoft.com/office/drawing/2014/main" id="{51783B03-5146-C66B-F35A-629336D85D48}"/>
              </a:ext>
            </a:extLst>
          </p:cNvPr>
          <p:cNvPicPr>
            <a:picLocks noChangeAspect="1"/>
          </p:cNvPicPr>
          <p:nvPr/>
        </p:nvPicPr>
        <p:blipFill>
          <a:blip r:embed="rId4"/>
          <a:stretch>
            <a:fillRect/>
          </a:stretch>
        </p:blipFill>
        <p:spPr>
          <a:xfrm>
            <a:off x="3368040" y="480297"/>
            <a:ext cx="5711604" cy="4305338"/>
          </a:xfrm>
          <a:prstGeom prst="rect">
            <a:avLst/>
          </a:prstGeom>
        </p:spPr>
      </p:pic>
    </p:spTree>
    <p:extLst>
      <p:ext uri="{BB962C8B-B14F-4D97-AF65-F5344CB8AC3E}">
        <p14:creationId xmlns:p14="http://schemas.microsoft.com/office/powerpoint/2010/main" val="7837405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742A9-F3C6-4B5C-E86A-30DA6B770C1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598E1BE-E1FE-312B-54F0-FF053888CEDE}"/>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D76B5F1-668C-691E-69DF-74069781ABBD}"/>
              </a:ext>
            </a:extLst>
          </p:cNvPr>
          <p:cNvPicPr>
            <a:picLocks noChangeAspect="1"/>
          </p:cNvPicPr>
          <p:nvPr/>
        </p:nvPicPr>
        <p:blipFill>
          <a:blip r:embed="rId3"/>
          <a:stretch>
            <a:fillRect/>
          </a:stretch>
        </p:blipFill>
        <p:spPr>
          <a:xfrm>
            <a:off x="656264" y="205979"/>
            <a:ext cx="7554379" cy="3848637"/>
          </a:xfrm>
          <a:prstGeom prst="rect">
            <a:avLst/>
          </a:prstGeom>
        </p:spPr>
      </p:pic>
    </p:spTree>
    <p:extLst>
      <p:ext uri="{BB962C8B-B14F-4D97-AF65-F5344CB8AC3E}">
        <p14:creationId xmlns:p14="http://schemas.microsoft.com/office/powerpoint/2010/main" val="30253785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FDA15-4F55-EE54-AF06-448FB2A8ECE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5D3EF48-79DC-E721-DCA1-9079D246778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4798FB5-20EF-00A1-2BC6-9E3796C94941}"/>
              </a:ext>
            </a:extLst>
          </p:cNvPr>
          <p:cNvPicPr>
            <a:picLocks noChangeAspect="1"/>
          </p:cNvPicPr>
          <p:nvPr/>
        </p:nvPicPr>
        <p:blipFill>
          <a:blip r:embed="rId3"/>
          <a:stretch>
            <a:fillRect/>
          </a:stretch>
        </p:blipFill>
        <p:spPr>
          <a:xfrm>
            <a:off x="979328" y="265325"/>
            <a:ext cx="7185344" cy="3927713"/>
          </a:xfrm>
          <a:prstGeom prst="rect">
            <a:avLst/>
          </a:prstGeom>
        </p:spPr>
      </p:pic>
    </p:spTree>
    <p:extLst>
      <p:ext uri="{BB962C8B-B14F-4D97-AF65-F5344CB8AC3E}">
        <p14:creationId xmlns:p14="http://schemas.microsoft.com/office/powerpoint/2010/main" val="6681724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2C6C6-F0BE-FC61-F728-C4DA6E7B77C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9D51DA2-444C-313E-310C-FED3D62E2A34}"/>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ACFD575-FADE-4B3B-F293-B6D30F0D586B}"/>
              </a:ext>
            </a:extLst>
          </p:cNvPr>
          <p:cNvPicPr>
            <a:picLocks noChangeAspect="1"/>
          </p:cNvPicPr>
          <p:nvPr/>
        </p:nvPicPr>
        <p:blipFill>
          <a:blip r:embed="rId3"/>
          <a:stretch>
            <a:fillRect/>
          </a:stretch>
        </p:blipFill>
        <p:spPr>
          <a:xfrm>
            <a:off x="278236" y="835495"/>
            <a:ext cx="8587528" cy="2676632"/>
          </a:xfrm>
          <a:prstGeom prst="rect">
            <a:avLst/>
          </a:prstGeom>
        </p:spPr>
      </p:pic>
    </p:spTree>
    <p:extLst>
      <p:ext uri="{BB962C8B-B14F-4D97-AF65-F5344CB8AC3E}">
        <p14:creationId xmlns:p14="http://schemas.microsoft.com/office/powerpoint/2010/main" val="32354167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46043-4702-3DD7-C219-1D14B47EA0F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F8642DB-AD7B-C1C7-6AEE-EF81E7263527}"/>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6B117966-DF40-6D6B-60B8-7717A6376482}"/>
              </a:ext>
            </a:extLst>
          </p:cNvPr>
          <p:cNvPicPr>
            <a:picLocks noChangeAspect="1"/>
          </p:cNvPicPr>
          <p:nvPr/>
        </p:nvPicPr>
        <p:blipFill>
          <a:blip r:embed="rId3"/>
          <a:stretch>
            <a:fillRect/>
          </a:stretch>
        </p:blipFill>
        <p:spPr>
          <a:xfrm>
            <a:off x="696845" y="205979"/>
            <a:ext cx="7750310" cy="3964239"/>
          </a:xfrm>
          <a:prstGeom prst="rect">
            <a:avLst/>
          </a:prstGeom>
        </p:spPr>
      </p:pic>
    </p:spTree>
    <p:extLst>
      <p:ext uri="{BB962C8B-B14F-4D97-AF65-F5344CB8AC3E}">
        <p14:creationId xmlns:p14="http://schemas.microsoft.com/office/powerpoint/2010/main" val="2649451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3B4C5-D690-D627-0CF0-951723100A5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6F36BF2-DA6E-3BDE-26C5-F8D6DD9E0FB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032FF8A1-65F2-CAAD-15E9-DEFA81BA1358}"/>
              </a:ext>
            </a:extLst>
          </p:cNvPr>
          <p:cNvPicPr>
            <a:picLocks noChangeAspect="1"/>
          </p:cNvPicPr>
          <p:nvPr/>
        </p:nvPicPr>
        <p:blipFill>
          <a:blip r:embed="rId3"/>
          <a:stretch>
            <a:fillRect/>
          </a:stretch>
        </p:blipFill>
        <p:spPr>
          <a:xfrm>
            <a:off x="1322445" y="95966"/>
            <a:ext cx="6499109" cy="4841555"/>
          </a:xfrm>
          <a:prstGeom prst="rect">
            <a:avLst/>
          </a:prstGeom>
        </p:spPr>
      </p:pic>
    </p:spTree>
    <p:extLst>
      <p:ext uri="{BB962C8B-B14F-4D97-AF65-F5344CB8AC3E}">
        <p14:creationId xmlns:p14="http://schemas.microsoft.com/office/powerpoint/2010/main" val="2358837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85B9D-2AF0-E749-2A6D-7651F33F2EA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EDA9222-7479-372D-F023-AA5172BACCD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30B7212-DA8C-58EF-93D1-18BC44B537EC}"/>
              </a:ext>
            </a:extLst>
          </p:cNvPr>
          <p:cNvPicPr>
            <a:picLocks noChangeAspect="1"/>
          </p:cNvPicPr>
          <p:nvPr/>
        </p:nvPicPr>
        <p:blipFill>
          <a:blip r:embed="rId3"/>
          <a:stretch>
            <a:fillRect/>
          </a:stretch>
        </p:blipFill>
        <p:spPr>
          <a:xfrm>
            <a:off x="1880416" y="0"/>
            <a:ext cx="5896842" cy="4693920"/>
          </a:xfrm>
          <a:prstGeom prst="rect">
            <a:avLst/>
          </a:prstGeom>
        </p:spPr>
      </p:pic>
    </p:spTree>
    <p:extLst>
      <p:ext uri="{BB962C8B-B14F-4D97-AF65-F5344CB8AC3E}">
        <p14:creationId xmlns:p14="http://schemas.microsoft.com/office/powerpoint/2010/main" val="38106110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8A5E5-8FC3-1904-91F5-D17E6020B76D}"/>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82A9A716-1C8E-0ECC-542B-4C00182ADA5C}"/>
              </a:ext>
            </a:extLst>
          </p:cNvPr>
          <p:cNvSpPr>
            <a:spLocks noGrp="1"/>
          </p:cNvSpPr>
          <p:nvPr>
            <p:ph idx="1"/>
          </p:nvPr>
        </p:nvSpPr>
        <p:spPr/>
        <p:txBody>
          <a:bodyPr/>
          <a:lstStyle/>
          <a:p>
            <a:endParaRPr lang="en-US" dirty="0"/>
          </a:p>
        </p:txBody>
      </p:sp>
      <p:pic>
        <p:nvPicPr>
          <p:cNvPr id="7" name="Picture 6">
            <a:extLst>
              <a:ext uri="{FF2B5EF4-FFF2-40B4-BE49-F238E27FC236}">
                <a16:creationId xmlns:a16="http://schemas.microsoft.com/office/drawing/2014/main" id="{58BBEF7C-401F-317C-56F2-519F58003A3A}"/>
              </a:ext>
            </a:extLst>
          </p:cNvPr>
          <p:cNvPicPr>
            <a:picLocks noChangeAspect="1"/>
          </p:cNvPicPr>
          <p:nvPr/>
        </p:nvPicPr>
        <p:blipFill>
          <a:blip r:embed="rId3"/>
          <a:stretch>
            <a:fillRect/>
          </a:stretch>
        </p:blipFill>
        <p:spPr>
          <a:xfrm>
            <a:off x="205809" y="179892"/>
            <a:ext cx="3635441" cy="1592214"/>
          </a:xfrm>
          <a:prstGeom prst="rect">
            <a:avLst/>
          </a:prstGeom>
        </p:spPr>
      </p:pic>
      <p:pic>
        <p:nvPicPr>
          <p:cNvPr id="9" name="Picture 8">
            <a:extLst>
              <a:ext uri="{FF2B5EF4-FFF2-40B4-BE49-F238E27FC236}">
                <a16:creationId xmlns:a16="http://schemas.microsoft.com/office/drawing/2014/main" id="{42A46028-5545-75B5-E990-39B3AE3C564D}"/>
              </a:ext>
            </a:extLst>
          </p:cNvPr>
          <p:cNvPicPr>
            <a:picLocks noChangeAspect="1"/>
          </p:cNvPicPr>
          <p:nvPr/>
        </p:nvPicPr>
        <p:blipFill>
          <a:blip r:embed="rId4"/>
          <a:stretch>
            <a:fillRect/>
          </a:stretch>
        </p:blipFill>
        <p:spPr>
          <a:xfrm>
            <a:off x="3841250" y="975999"/>
            <a:ext cx="4461866" cy="3105391"/>
          </a:xfrm>
          <a:prstGeom prst="rect">
            <a:avLst/>
          </a:prstGeom>
        </p:spPr>
      </p:pic>
    </p:spTree>
    <p:extLst>
      <p:ext uri="{BB962C8B-B14F-4D97-AF65-F5344CB8AC3E}">
        <p14:creationId xmlns:p14="http://schemas.microsoft.com/office/powerpoint/2010/main" val="37496080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B2EE0-9D19-D5FF-F1B2-6249B4BA43E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F247458-ED51-8BCF-743C-0FF69E3F9C6E}"/>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7E14375-5C3E-FA2E-B7B7-4A59788DA085}"/>
              </a:ext>
            </a:extLst>
          </p:cNvPr>
          <p:cNvPicPr>
            <a:picLocks noChangeAspect="1"/>
          </p:cNvPicPr>
          <p:nvPr/>
        </p:nvPicPr>
        <p:blipFill>
          <a:blip r:embed="rId3"/>
          <a:stretch>
            <a:fillRect/>
          </a:stretch>
        </p:blipFill>
        <p:spPr>
          <a:xfrm>
            <a:off x="100445" y="109919"/>
            <a:ext cx="8943109" cy="1309328"/>
          </a:xfrm>
          <a:prstGeom prst="rect">
            <a:avLst/>
          </a:prstGeom>
        </p:spPr>
      </p:pic>
      <p:pic>
        <p:nvPicPr>
          <p:cNvPr id="7" name="Picture 6">
            <a:extLst>
              <a:ext uri="{FF2B5EF4-FFF2-40B4-BE49-F238E27FC236}">
                <a16:creationId xmlns:a16="http://schemas.microsoft.com/office/drawing/2014/main" id="{7665DBCE-71ED-448F-0295-7A1F4E8F48AA}"/>
              </a:ext>
            </a:extLst>
          </p:cNvPr>
          <p:cNvPicPr>
            <a:picLocks noChangeAspect="1"/>
          </p:cNvPicPr>
          <p:nvPr/>
        </p:nvPicPr>
        <p:blipFill>
          <a:blip r:embed="rId4"/>
          <a:stretch>
            <a:fillRect/>
          </a:stretch>
        </p:blipFill>
        <p:spPr>
          <a:xfrm>
            <a:off x="457200" y="1309075"/>
            <a:ext cx="8125691" cy="2934687"/>
          </a:xfrm>
          <a:prstGeom prst="rect">
            <a:avLst/>
          </a:prstGeom>
        </p:spPr>
      </p:pic>
    </p:spTree>
    <p:extLst>
      <p:ext uri="{BB962C8B-B14F-4D97-AF65-F5344CB8AC3E}">
        <p14:creationId xmlns:p14="http://schemas.microsoft.com/office/powerpoint/2010/main" val="3093502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84249-B97F-2D04-E666-D52D4534370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025FAF7-8047-9BDC-0A91-C9A1ADB9420B}"/>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494579C6-2AA2-74DE-1759-25FAEA900A44}"/>
              </a:ext>
            </a:extLst>
          </p:cNvPr>
          <p:cNvPicPr>
            <a:picLocks noChangeAspect="1"/>
          </p:cNvPicPr>
          <p:nvPr/>
        </p:nvPicPr>
        <p:blipFill>
          <a:blip r:embed="rId3"/>
          <a:stretch>
            <a:fillRect/>
          </a:stretch>
        </p:blipFill>
        <p:spPr>
          <a:xfrm>
            <a:off x="193963" y="133297"/>
            <a:ext cx="3996093" cy="1859864"/>
          </a:xfrm>
          <a:prstGeom prst="rect">
            <a:avLst/>
          </a:prstGeom>
        </p:spPr>
      </p:pic>
      <p:pic>
        <p:nvPicPr>
          <p:cNvPr id="7" name="Picture 6">
            <a:extLst>
              <a:ext uri="{FF2B5EF4-FFF2-40B4-BE49-F238E27FC236}">
                <a16:creationId xmlns:a16="http://schemas.microsoft.com/office/drawing/2014/main" id="{7445F670-0C2B-862B-4F14-7BBB68C1077B}"/>
              </a:ext>
            </a:extLst>
          </p:cNvPr>
          <p:cNvPicPr>
            <a:picLocks noChangeAspect="1"/>
          </p:cNvPicPr>
          <p:nvPr/>
        </p:nvPicPr>
        <p:blipFill>
          <a:blip r:embed="rId4"/>
          <a:stretch>
            <a:fillRect/>
          </a:stretch>
        </p:blipFill>
        <p:spPr>
          <a:xfrm>
            <a:off x="4261693" y="401781"/>
            <a:ext cx="3861325" cy="3746703"/>
          </a:xfrm>
          <a:prstGeom prst="rect">
            <a:avLst/>
          </a:prstGeom>
        </p:spPr>
      </p:pic>
    </p:spTree>
    <p:extLst>
      <p:ext uri="{BB962C8B-B14F-4D97-AF65-F5344CB8AC3E}">
        <p14:creationId xmlns:p14="http://schemas.microsoft.com/office/powerpoint/2010/main" val="6321233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84625-56AC-87DF-1EE4-9F1A5F18F25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8B59C10-B562-BB5A-AAFB-E099CFC71A9E}"/>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CB69D67-71CB-419C-5BD2-E292312EAE4E}"/>
              </a:ext>
            </a:extLst>
          </p:cNvPr>
          <p:cNvPicPr>
            <a:picLocks noChangeAspect="1"/>
          </p:cNvPicPr>
          <p:nvPr/>
        </p:nvPicPr>
        <p:blipFill>
          <a:blip r:embed="rId3"/>
          <a:stretch>
            <a:fillRect/>
          </a:stretch>
        </p:blipFill>
        <p:spPr>
          <a:xfrm>
            <a:off x="173182" y="150935"/>
            <a:ext cx="8797636" cy="1218134"/>
          </a:xfrm>
          <a:prstGeom prst="rect">
            <a:avLst/>
          </a:prstGeom>
        </p:spPr>
      </p:pic>
      <p:pic>
        <p:nvPicPr>
          <p:cNvPr id="7" name="Picture 6">
            <a:extLst>
              <a:ext uri="{FF2B5EF4-FFF2-40B4-BE49-F238E27FC236}">
                <a16:creationId xmlns:a16="http://schemas.microsoft.com/office/drawing/2014/main" id="{E0536C8D-5DDB-5708-D4FF-8A9E7576CA53}"/>
              </a:ext>
            </a:extLst>
          </p:cNvPr>
          <p:cNvPicPr>
            <a:picLocks noChangeAspect="1"/>
          </p:cNvPicPr>
          <p:nvPr/>
        </p:nvPicPr>
        <p:blipFill>
          <a:blip r:embed="rId4"/>
          <a:stretch>
            <a:fillRect/>
          </a:stretch>
        </p:blipFill>
        <p:spPr>
          <a:xfrm>
            <a:off x="1149927" y="1260936"/>
            <a:ext cx="6844145" cy="3092908"/>
          </a:xfrm>
          <a:prstGeom prst="rect">
            <a:avLst/>
          </a:prstGeom>
        </p:spPr>
      </p:pic>
    </p:spTree>
    <p:extLst>
      <p:ext uri="{BB962C8B-B14F-4D97-AF65-F5344CB8AC3E}">
        <p14:creationId xmlns:p14="http://schemas.microsoft.com/office/powerpoint/2010/main" val="32070671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D2641-3D37-0AE5-164D-05675F801A1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A6DF5F4-74F8-DE2B-F759-1866C375E20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8A52A27-D924-12D4-02B7-36268FD733BE}"/>
              </a:ext>
            </a:extLst>
          </p:cNvPr>
          <p:cNvPicPr>
            <a:picLocks noChangeAspect="1"/>
          </p:cNvPicPr>
          <p:nvPr/>
        </p:nvPicPr>
        <p:blipFill>
          <a:blip r:embed="rId3"/>
          <a:stretch>
            <a:fillRect/>
          </a:stretch>
        </p:blipFill>
        <p:spPr>
          <a:xfrm>
            <a:off x="245918" y="128891"/>
            <a:ext cx="8652163" cy="1199310"/>
          </a:xfrm>
          <a:prstGeom prst="rect">
            <a:avLst/>
          </a:prstGeom>
        </p:spPr>
      </p:pic>
      <p:pic>
        <p:nvPicPr>
          <p:cNvPr id="7" name="Picture 6">
            <a:extLst>
              <a:ext uri="{FF2B5EF4-FFF2-40B4-BE49-F238E27FC236}">
                <a16:creationId xmlns:a16="http://schemas.microsoft.com/office/drawing/2014/main" id="{539DE479-0697-62EE-8321-1D28F3FC0056}"/>
              </a:ext>
            </a:extLst>
          </p:cNvPr>
          <p:cNvPicPr>
            <a:picLocks noChangeAspect="1"/>
          </p:cNvPicPr>
          <p:nvPr/>
        </p:nvPicPr>
        <p:blipFill>
          <a:blip r:embed="rId4"/>
          <a:stretch>
            <a:fillRect/>
          </a:stretch>
        </p:blipFill>
        <p:spPr>
          <a:xfrm>
            <a:off x="245918" y="1200151"/>
            <a:ext cx="8652164" cy="3138376"/>
          </a:xfrm>
          <a:prstGeom prst="rect">
            <a:avLst/>
          </a:prstGeom>
        </p:spPr>
      </p:pic>
    </p:spTree>
    <p:extLst>
      <p:ext uri="{BB962C8B-B14F-4D97-AF65-F5344CB8AC3E}">
        <p14:creationId xmlns:p14="http://schemas.microsoft.com/office/powerpoint/2010/main" val="9918484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A5302-F783-A305-A647-76298B1DEFF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4337BB0-59EC-5419-FCA9-B930FA64C11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27B7062-6207-F019-DCB8-2FA576803FAC}"/>
              </a:ext>
            </a:extLst>
          </p:cNvPr>
          <p:cNvPicPr>
            <a:picLocks noChangeAspect="1"/>
          </p:cNvPicPr>
          <p:nvPr/>
        </p:nvPicPr>
        <p:blipFill>
          <a:blip r:embed="rId3"/>
          <a:stretch>
            <a:fillRect/>
          </a:stretch>
        </p:blipFill>
        <p:spPr>
          <a:xfrm>
            <a:off x="405245" y="129266"/>
            <a:ext cx="8333509" cy="1175431"/>
          </a:xfrm>
          <a:prstGeom prst="rect">
            <a:avLst/>
          </a:prstGeom>
        </p:spPr>
      </p:pic>
      <p:pic>
        <p:nvPicPr>
          <p:cNvPr id="7" name="Picture 6">
            <a:extLst>
              <a:ext uri="{FF2B5EF4-FFF2-40B4-BE49-F238E27FC236}">
                <a16:creationId xmlns:a16="http://schemas.microsoft.com/office/drawing/2014/main" id="{B850D673-64CB-64F9-4C88-28CDEF6AEACA}"/>
              </a:ext>
            </a:extLst>
          </p:cNvPr>
          <p:cNvPicPr>
            <a:picLocks noChangeAspect="1"/>
          </p:cNvPicPr>
          <p:nvPr/>
        </p:nvPicPr>
        <p:blipFill>
          <a:blip r:embed="rId4"/>
          <a:stretch>
            <a:fillRect/>
          </a:stretch>
        </p:blipFill>
        <p:spPr>
          <a:xfrm>
            <a:off x="342899" y="1304697"/>
            <a:ext cx="8458200" cy="2755439"/>
          </a:xfrm>
          <a:prstGeom prst="rect">
            <a:avLst/>
          </a:prstGeom>
        </p:spPr>
      </p:pic>
    </p:spTree>
    <p:extLst>
      <p:ext uri="{BB962C8B-B14F-4D97-AF65-F5344CB8AC3E}">
        <p14:creationId xmlns:p14="http://schemas.microsoft.com/office/powerpoint/2010/main" val="15390721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F5057-E48A-1949-314A-64F3903798D9}"/>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97098D5B-D963-A83A-0654-1AE660147258}"/>
              </a:ext>
            </a:extLst>
          </p:cNvPr>
          <p:cNvSpPr>
            <a:spLocks noGrp="1"/>
          </p:cNvSpPr>
          <p:nvPr>
            <p:ph idx="1"/>
          </p:nvPr>
        </p:nvSpPr>
        <p:spPr/>
        <p:txBody>
          <a:bodyPr>
            <a:normAutofit lnSpcReduction="10000"/>
          </a:bodyPr>
          <a:lstStyle/>
          <a:p>
            <a:r>
              <a:rPr lang="en-US" sz="2200" dirty="0"/>
              <a:t>Large corporate customers significantly drive improvements in suppliers’ CSR practices through their bargaining power and collaborative efforts.</a:t>
            </a:r>
          </a:p>
          <a:p>
            <a:r>
              <a:rPr lang="en-US" sz="2200" dirty="0"/>
              <a:t>A firm's CSR initiatives can create a multiplier effect across global supply chains, enhancing operational efficiency and firm value for both customers and suppliers.</a:t>
            </a:r>
          </a:p>
          <a:p>
            <a:r>
              <a:rPr lang="en-US" sz="2200" dirty="0"/>
              <a:t>Companies are incentivized to promote responsible practices among suppliers, especially in response to product-safety scandals, highlighting the importance of CSR in strategic management and organizational behavior.</a:t>
            </a:r>
          </a:p>
          <a:p>
            <a:endParaRPr lang="en-US" dirty="0"/>
          </a:p>
        </p:txBody>
      </p:sp>
    </p:spTree>
    <p:extLst>
      <p:ext uri="{BB962C8B-B14F-4D97-AF65-F5344CB8AC3E}">
        <p14:creationId xmlns:p14="http://schemas.microsoft.com/office/powerpoint/2010/main" val="36623436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1fe8f82f-0556-4c42-a658-6aa8fd4f9ee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2E64A7C7C8D8942ABE466F3AC32BB0E" ma:contentTypeVersion="6" ma:contentTypeDescription="Create a new document." ma:contentTypeScope="" ma:versionID="ef648cd0a4d738a27aa9253740c30aa6">
  <xsd:schema xmlns:xsd="http://www.w3.org/2001/XMLSchema" xmlns:xs="http://www.w3.org/2001/XMLSchema" xmlns:p="http://schemas.microsoft.com/office/2006/metadata/properties" xmlns:ns3="1fe8f82f-0556-4c42-a658-6aa8fd4f9ee2" targetNamespace="http://schemas.microsoft.com/office/2006/metadata/properties" ma:root="true" ma:fieldsID="5f081ffb0889366177bbb0fe137485fe" ns3:_="">
    <xsd:import namespace="1fe8f82f-0556-4c42-a658-6aa8fd4f9ee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e8f82f-0556-4c42-a658-6aa8fd4f9ee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A5FFBEB-A448-4BA1-A8D8-5F9D7FB6B153}">
  <ds:schemaRefs>
    <ds:schemaRef ds:uri="http://purl.org/dc/elements/1.1/"/>
    <ds:schemaRef ds:uri="http://schemas.microsoft.com/office/2006/metadata/properties"/>
    <ds:schemaRef ds:uri="http://schemas.openxmlformats.org/package/2006/metadata/core-properties"/>
    <ds:schemaRef ds:uri="http://schemas.microsoft.com/office/2006/documentManagement/types"/>
    <ds:schemaRef ds:uri="1fe8f82f-0556-4c42-a658-6aa8fd4f9ee2"/>
    <ds:schemaRef ds:uri="http://schemas.microsoft.com/office/infopath/2007/PartnerControls"/>
    <ds:schemaRef ds:uri="http://www.w3.org/XML/1998/namespace"/>
    <ds:schemaRef ds:uri="http://purl.org/dc/dcmitype/"/>
    <ds:schemaRef ds:uri="http://purl.org/dc/terms/"/>
  </ds:schemaRefs>
</ds:datastoreItem>
</file>

<file path=customXml/itemProps2.xml><?xml version="1.0" encoding="utf-8"?>
<ds:datastoreItem xmlns:ds="http://schemas.openxmlformats.org/officeDocument/2006/customXml" ds:itemID="{B59F502D-FA94-4398-A8EF-92E089490A40}">
  <ds:schemaRefs>
    <ds:schemaRef ds:uri="http://schemas.microsoft.com/sharepoint/v3/contenttype/forms"/>
  </ds:schemaRefs>
</ds:datastoreItem>
</file>

<file path=customXml/itemProps3.xml><?xml version="1.0" encoding="utf-8"?>
<ds:datastoreItem xmlns:ds="http://schemas.openxmlformats.org/officeDocument/2006/customXml" ds:itemID="{8F324E69-EE82-4883-B96D-18BE646D0B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fe8f82f-0556-4c42-a658-6aa8fd4f9e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9c742c4-e61c-4fa5-be89-a3cb566a80d1}" enabled="0" method="" siteId="{79c742c4-e61c-4fa5-be89-a3cb566a80d1}" removed="1"/>
</clbl:labelList>
</file>

<file path=docProps/app.xml><?xml version="1.0" encoding="utf-8"?>
<Properties xmlns="http://schemas.openxmlformats.org/officeDocument/2006/extended-properties" xmlns:vt="http://schemas.openxmlformats.org/officeDocument/2006/docPropsVTypes">
  <TotalTime>7467</TotalTime>
  <Words>2159</Words>
  <Application>Microsoft Office PowerPoint</Application>
  <PresentationFormat>On-screen Show (16:9)</PresentationFormat>
  <Paragraphs>92</Paragraphs>
  <Slides>22</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Times New Roman</vt:lpstr>
      <vt:lpstr>Office Theme</vt:lpstr>
      <vt:lpstr>Socially Responsible Corporate Customers</vt:lpstr>
      <vt:lpstr>Research Question</vt:lpstr>
      <vt:lpstr>Prior Literature</vt:lpstr>
      <vt:lpstr>Hypothesis</vt:lpstr>
      <vt:lpstr>Key Metrics</vt:lpstr>
      <vt:lpstr>Results</vt:lpstr>
      <vt:lpstr>Data Collection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Sharing, Holdup, and External Finance: Evidence from Private Firms</dc:title>
  <dc:creator>Tyler Johnson</dc:creator>
  <cp:lastModifiedBy>Austin Francis</cp:lastModifiedBy>
  <cp:revision>357</cp:revision>
  <dcterms:created xsi:type="dcterms:W3CDTF">2020-09-10T18:37:45Z</dcterms:created>
  <dcterms:modified xsi:type="dcterms:W3CDTF">2024-11-05T14:51:50Z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0x01010092E64A7C7C8D8942ABE466F3AC32BB0E</vt:lpwstr>
  </property>
</Properties>
</file>