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6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3" autoAdjust="0"/>
    <p:restoredTop sz="94660"/>
  </p:normalViewPr>
  <p:slideViewPr>
    <p:cSldViewPr snapToGrid="0">
      <p:cViewPr varScale="1">
        <p:scale>
          <a:sx n="119" d="100"/>
          <a:sy n="119" d="100"/>
        </p:scale>
        <p:origin x="12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A19D27-D46D-479F-9E79-6F1D99C62C55}" type="datetimeFigureOut">
              <a:rPr lang="en-US" smtClean="0"/>
              <a:t>9/16/2024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D1E95-29A1-461D-AD40-D4BC62AC4AC3}" type="slidenum">
              <a:rPr lang="en-US" smtClean="0"/>
              <a:t>‹#›</a:t>
            </a:fld>
            <a:endParaRPr lang="en-US"/>
          </a:p>
        </p:txBody>
      </p:sp>
    </p:spTree>
    <p:extLst>
      <p:ext uri="{BB962C8B-B14F-4D97-AF65-F5344CB8AC3E}">
        <p14:creationId xmlns:p14="http://schemas.microsoft.com/office/powerpoint/2010/main" val="3423980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High access to capital markets / low investment uncertainty </a:t>
            </a:r>
            <a:r>
              <a:rPr lang="en-US" dirty="0">
                <a:sym typeface="Wingdings" panose="05000000000000000000" pitchFamily="2" charset="2"/>
              </a:rPr>
              <a:t></a:t>
            </a:r>
            <a:r>
              <a:rPr lang="en-US" dirty="0"/>
              <a:t> firm holds less cash</a:t>
            </a:r>
          </a:p>
        </p:txBody>
      </p:sp>
      <p:sp>
        <p:nvSpPr>
          <p:cNvPr id="4" name="Slide Number Placeholder 3"/>
          <p:cNvSpPr>
            <a:spLocks noGrp="1"/>
          </p:cNvSpPr>
          <p:nvPr>
            <p:ph type="sldNum" sz="quarter" idx="5"/>
          </p:nvPr>
        </p:nvSpPr>
        <p:spPr/>
        <p:txBody>
          <a:bodyPr/>
          <a:lstStyle/>
          <a:p>
            <a:fld id="{0EED1E95-29A1-461D-AD40-D4BC62AC4AC3}" type="slidenum">
              <a:rPr lang="en-US" smtClean="0"/>
              <a:t>3</a:t>
            </a:fld>
            <a:endParaRPr lang="en-US"/>
          </a:p>
        </p:txBody>
      </p:sp>
    </p:spTree>
    <p:extLst>
      <p:ext uri="{BB962C8B-B14F-4D97-AF65-F5344CB8AC3E}">
        <p14:creationId xmlns:p14="http://schemas.microsoft.com/office/powerpoint/2010/main" val="2760426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4</a:t>
            </a:fld>
            <a:endParaRPr lang="en-US"/>
          </a:p>
        </p:txBody>
      </p:sp>
    </p:spTree>
    <p:extLst>
      <p:ext uri="{BB962C8B-B14F-4D97-AF65-F5344CB8AC3E}">
        <p14:creationId xmlns:p14="http://schemas.microsoft.com/office/powerpoint/2010/main" val="275028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5</a:t>
            </a:fld>
            <a:endParaRPr lang="en-US"/>
          </a:p>
        </p:txBody>
      </p:sp>
    </p:spTree>
    <p:extLst>
      <p:ext uri="{BB962C8B-B14F-4D97-AF65-F5344CB8AC3E}">
        <p14:creationId xmlns:p14="http://schemas.microsoft.com/office/powerpoint/2010/main" val="1913889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As this weighted average rate declines, we would expect the firm to hold more foreign cash because the realized deferral benefits are greater.</a:t>
            </a:r>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6</a:t>
            </a:fld>
            <a:endParaRPr lang="en-US"/>
          </a:p>
        </p:txBody>
      </p:sp>
    </p:spTree>
    <p:extLst>
      <p:ext uri="{BB962C8B-B14F-4D97-AF65-F5344CB8AC3E}">
        <p14:creationId xmlns:p14="http://schemas.microsoft.com/office/powerpoint/2010/main" val="2936556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In the annual surveys, we must estimate marketable securities by subtracting an estimate of accounts receivable from other current assets.</a:t>
            </a:r>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7</a:t>
            </a:fld>
            <a:endParaRPr lang="en-US"/>
          </a:p>
        </p:txBody>
      </p:sp>
    </p:spTree>
    <p:extLst>
      <p:ext uri="{BB962C8B-B14F-4D97-AF65-F5344CB8AC3E}">
        <p14:creationId xmlns:p14="http://schemas.microsoft.com/office/powerpoint/2010/main" val="4062272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The rise in foreign cash of MNCs has been much greater than the rise of domestic cash (in either domestic firms or MNCs).</a:t>
            </a:r>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8</a:t>
            </a:fld>
            <a:endParaRPr lang="en-US"/>
          </a:p>
        </p:txBody>
      </p:sp>
    </p:spTree>
    <p:extLst>
      <p:ext uri="{BB962C8B-B14F-4D97-AF65-F5344CB8AC3E}">
        <p14:creationId xmlns:p14="http://schemas.microsoft.com/office/powerpoint/2010/main" val="138954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correlation between sales and cash weakens from 1998 to 2008.</a:t>
            </a:r>
          </a:p>
          <a:p>
            <a:pPr marL="171450" indent="-171450">
              <a:buFont typeface="Arial" panose="020B0604020202020204" pitchFamily="34" charset="0"/>
              <a:buChar char="•"/>
            </a:pPr>
            <a:r>
              <a:rPr lang="en-US" dirty="0"/>
              <a:t>Part of the shift between 1998 and 2008 was caused by firms increasing their stockpile of cash in countries that had low tax rates even in 1998. Foreign tax rates also declined relative to U.S. rates.</a:t>
            </a:r>
          </a:p>
        </p:txBody>
      </p:sp>
      <p:sp>
        <p:nvSpPr>
          <p:cNvPr id="4" name="Slide Number Placeholder 3"/>
          <p:cNvSpPr>
            <a:spLocks noGrp="1"/>
          </p:cNvSpPr>
          <p:nvPr>
            <p:ph type="sldNum" sz="quarter" idx="5"/>
          </p:nvPr>
        </p:nvSpPr>
        <p:spPr/>
        <p:txBody>
          <a:bodyPr/>
          <a:lstStyle/>
          <a:p>
            <a:fld id="{0EED1E95-29A1-461D-AD40-D4BC62AC4AC3}" type="slidenum">
              <a:rPr lang="en-US" smtClean="0"/>
              <a:t>9</a:t>
            </a:fld>
            <a:endParaRPr lang="en-US"/>
          </a:p>
        </p:txBody>
      </p:sp>
    </p:spTree>
    <p:extLst>
      <p:ext uri="{BB962C8B-B14F-4D97-AF65-F5344CB8AC3E}">
        <p14:creationId xmlns:p14="http://schemas.microsoft.com/office/powerpoint/2010/main" val="2931358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tax rates have fallen in many foreign countries relative to the U.S., the incentive to earn income in foreign subsidiaries has risen. As a result, cash builds up in the firm’s foreign subsidiaries.</a:t>
            </a:r>
          </a:p>
        </p:txBody>
      </p:sp>
      <p:sp>
        <p:nvSpPr>
          <p:cNvPr id="4" name="Slide Number Placeholder 3"/>
          <p:cNvSpPr>
            <a:spLocks noGrp="1"/>
          </p:cNvSpPr>
          <p:nvPr>
            <p:ph type="sldNum" sz="quarter" idx="5"/>
          </p:nvPr>
        </p:nvSpPr>
        <p:spPr/>
        <p:txBody>
          <a:bodyPr/>
          <a:lstStyle/>
          <a:p>
            <a:fld id="{0EED1E95-29A1-461D-AD40-D4BC62AC4AC3}" type="slidenum">
              <a:rPr lang="en-US" smtClean="0"/>
              <a:t>10</a:t>
            </a:fld>
            <a:endParaRPr lang="en-US"/>
          </a:p>
        </p:txBody>
      </p:sp>
    </p:spTree>
    <p:extLst>
      <p:ext uri="{BB962C8B-B14F-4D97-AF65-F5344CB8AC3E}">
        <p14:creationId xmlns:p14="http://schemas.microsoft.com/office/powerpoint/2010/main" val="2144536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Total cash to assets is approximately the same. The MNCs have significantly higher foreign cash and less domestic cash.</a:t>
            </a:r>
          </a:p>
          <a:p>
            <a:pPr marL="171450" indent="-171450">
              <a:buFont typeface="Arial" panose="020B0604020202020204" pitchFamily="34" charset="0"/>
              <a:buChar char="•"/>
            </a:pPr>
            <a:r>
              <a:rPr lang="en-US" dirty="0"/>
              <a:t>MNCs are also larger, more profitable, more likely to pay dividends, more likely to have access to the bond market, have less-volatile cash flows, and invest less in capex and R&amp;D. These firm characteristics are normally associated with greater capital market access, not less. The average MNC is not a capital-constrained firm, yet these firms are responsible for most of the rise in cash.</a:t>
            </a:r>
          </a:p>
        </p:txBody>
      </p:sp>
      <p:sp>
        <p:nvSpPr>
          <p:cNvPr id="4" name="Slide Number Placeholder 3"/>
          <p:cNvSpPr>
            <a:spLocks noGrp="1"/>
          </p:cNvSpPr>
          <p:nvPr>
            <p:ph type="sldNum" sz="quarter" idx="5"/>
          </p:nvPr>
        </p:nvSpPr>
        <p:spPr/>
        <p:txBody>
          <a:bodyPr/>
          <a:lstStyle/>
          <a:p>
            <a:fld id="{0EED1E95-29A1-461D-AD40-D4BC62AC4AC3}" type="slidenum">
              <a:rPr lang="en-US" smtClean="0"/>
              <a:t>11</a:t>
            </a:fld>
            <a:endParaRPr lang="en-US"/>
          </a:p>
        </p:txBody>
      </p:sp>
    </p:spTree>
    <p:extLst>
      <p:ext uri="{BB962C8B-B14F-4D97-AF65-F5344CB8AC3E}">
        <p14:creationId xmlns:p14="http://schemas.microsoft.com/office/powerpoint/2010/main" val="3346183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12</a:t>
            </a:fld>
            <a:endParaRPr lang="en-US"/>
          </a:p>
        </p:txBody>
      </p:sp>
    </p:spTree>
    <p:extLst>
      <p:ext uri="{BB962C8B-B14F-4D97-AF65-F5344CB8AC3E}">
        <p14:creationId xmlns:p14="http://schemas.microsoft.com/office/powerpoint/2010/main" val="4237730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Related sales started to grow faster than the country’s economy beginning in 1999. This corresponds to timing of check-the-box regulation, which facilitated income shifting.</a:t>
            </a:r>
          </a:p>
          <a:p>
            <a:pPr marL="171450" indent="-171450">
              <a:buFont typeface="Arial" panose="020B0604020202020204" pitchFamily="34" charset="0"/>
              <a:buChar char="•"/>
            </a:pPr>
            <a:r>
              <a:rPr lang="en-US" dirty="0"/>
              <a:t>If we divide the sample into countries that are classified as tax havens and those that are not, the growth in related sales (relative to the economy) is concentrated exclusively in the tax haven countries.</a:t>
            </a:r>
          </a:p>
        </p:txBody>
      </p:sp>
      <p:sp>
        <p:nvSpPr>
          <p:cNvPr id="4" name="Slide Number Placeholder 3"/>
          <p:cNvSpPr>
            <a:spLocks noGrp="1"/>
          </p:cNvSpPr>
          <p:nvPr>
            <p:ph type="sldNum" sz="quarter" idx="5"/>
          </p:nvPr>
        </p:nvSpPr>
        <p:spPr/>
        <p:txBody>
          <a:bodyPr/>
          <a:lstStyle/>
          <a:p>
            <a:fld id="{0EED1E95-29A1-461D-AD40-D4BC62AC4AC3}" type="slidenum">
              <a:rPr lang="en-US" smtClean="0"/>
              <a:t>13</a:t>
            </a:fld>
            <a:endParaRPr lang="en-US"/>
          </a:p>
        </p:txBody>
      </p:sp>
    </p:spTree>
    <p:extLst>
      <p:ext uri="{BB962C8B-B14F-4D97-AF65-F5344CB8AC3E}">
        <p14:creationId xmlns:p14="http://schemas.microsoft.com/office/powerpoint/2010/main" val="3497578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D1E95-29A1-461D-AD40-D4BC62AC4AC3}" type="slidenum">
              <a:rPr lang="en-US" smtClean="0"/>
              <a:t>14</a:t>
            </a:fld>
            <a:endParaRPr lang="en-US"/>
          </a:p>
        </p:txBody>
      </p:sp>
    </p:spTree>
    <p:extLst>
      <p:ext uri="{BB962C8B-B14F-4D97-AF65-F5344CB8AC3E}">
        <p14:creationId xmlns:p14="http://schemas.microsoft.com/office/powerpoint/2010/main" val="765804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Table 4 but with fixed effects</a:t>
            </a:r>
          </a:p>
        </p:txBody>
      </p:sp>
      <p:sp>
        <p:nvSpPr>
          <p:cNvPr id="4" name="Slide Number Placeholder 3"/>
          <p:cNvSpPr>
            <a:spLocks noGrp="1"/>
          </p:cNvSpPr>
          <p:nvPr>
            <p:ph type="sldNum" sz="quarter" idx="5"/>
          </p:nvPr>
        </p:nvSpPr>
        <p:spPr/>
        <p:txBody>
          <a:bodyPr/>
          <a:lstStyle/>
          <a:p>
            <a:fld id="{0EED1E95-29A1-461D-AD40-D4BC62AC4AC3}" type="slidenum">
              <a:rPr lang="en-US" smtClean="0"/>
              <a:t>16</a:t>
            </a:fld>
            <a:endParaRPr lang="en-US"/>
          </a:p>
        </p:txBody>
      </p:sp>
    </p:spTree>
    <p:extLst>
      <p:ext uri="{BB962C8B-B14F-4D97-AF65-F5344CB8AC3E}">
        <p14:creationId xmlns:p14="http://schemas.microsoft.com/office/powerpoint/2010/main" val="932539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fraction of income earned abroad has risen from 38% to 53% over our sample.</a:t>
            </a:r>
          </a:p>
        </p:txBody>
      </p:sp>
      <p:sp>
        <p:nvSpPr>
          <p:cNvPr id="4" name="Slide Number Placeholder 3"/>
          <p:cNvSpPr>
            <a:spLocks noGrp="1"/>
          </p:cNvSpPr>
          <p:nvPr>
            <p:ph type="sldNum" sz="quarter" idx="5"/>
          </p:nvPr>
        </p:nvSpPr>
        <p:spPr/>
        <p:txBody>
          <a:bodyPr/>
          <a:lstStyle/>
          <a:p>
            <a:fld id="{0EED1E95-29A1-461D-AD40-D4BC62AC4AC3}" type="slidenum">
              <a:rPr lang="en-US" smtClean="0"/>
              <a:t>17</a:t>
            </a:fld>
            <a:endParaRPr lang="en-US"/>
          </a:p>
        </p:txBody>
      </p:sp>
    </p:spTree>
    <p:extLst>
      <p:ext uri="{BB962C8B-B14F-4D97-AF65-F5344CB8AC3E}">
        <p14:creationId xmlns:p14="http://schemas.microsoft.com/office/powerpoint/2010/main" val="3082648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see that income is sticky; cash tends to be held where it is earned.</a:t>
            </a:r>
          </a:p>
          <a:p>
            <a:pPr marL="171450" indent="-171450">
              <a:buFont typeface="Arial" panose="020B0604020202020204" pitchFamily="34" charset="0"/>
              <a:buChar char="•"/>
            </a:pPr>
            <a:r>
              <a:rPr lang="en-US" dirty="0"/>
              <a:t>Decreasing the foreign tax rate increases the amount of foreign cash that MNCs hold but has no statistically significant effect on domestic cash.</a:t>
            </a:r>
          </a:p>
        </p:txBody>
      </p:sp>
      <p:sp>
        <p:nvSpPr>
          <p:cNvPr id="4" name="Slide Number Placeholder 3"/>
          <p:cNvSpPr>
            <a:spLocks noGrp="1"/>
          </p:cNvSpPr>
          <p:nvPr>
            <p:ph type="sldNum" sz="quarter" idx="5"/>
          </p:nvPr>
        </p:nvSpPr>
        <p:spPr/>
        <p:txBody>
          <a:bodyPr/>
          <a:lstStyle/>
          <a:p>
            <a:fld id="{0EED1E95-29A1-461D-AD40-D4BC62AC4AC3}" type="slidenum">
              <a:rPr lang="en-US" smtClean="0"/>
              <a:t>18</a:t>
            </a:fld>
            <a:endParaRPr lang="en-US"/>
          </a:p>
        </p:txBody>
      </p:sp>
    </p:spTree>
    <p:extLst>
      <p:ext uri="{BB962C8B-B14F-4D97-AF65-F5344CB8AC3E}">
        <p14:creationId xmlns:p14="http://schemas.microsoft.com/office/powerpoint/2010/main" val="449839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in the static effective tax rate measure only changes in foreign tax rates in countries where the subsidiaries were initially located. For firms with no related sales, the static and (dynamic) effective tax rate are the same (compare the dashed line to the triangles). These firms do not shift income toward low-tax jurisdictions.</a:t>
            </a:r>
          </a:p>
        </p:txBody>
      </p:sp>
      <p:sp>
        <p:nvSpPr>
          <p:cNvPr id="4" name="Slide Number Placeholder 3"/>
          <p:cNvSpPr>
            <a:spLocks noGrp="1"/>
          </p:cNvSpPr>
          <p:nvPr>
            <p:ph type="sldNum" sz="quarter" idx="5"/>
          </p:nvPr>
        </p:nvSpPr>
        <p:spPr/>
        <p:txBody>
          <a:bodyPr/>
          <a:lstStyle/>
          <a:p>
            <a:fld id="{0EED1E95-29A1-461D-AD40-D4BC62AC4AC3}" type="slidenum">
              <a:rPr lang="en-US" smtClean="0"/>
              <a:t>19</a:t>
            </a:fld>
            <a:endParaRPr lang="en-US"/>
          </a:p>
        </p:txBody>
      </p:sp>
    </p:spTree>
    <p:extLst>
      <p:ext uri="{BB962C8B-B14F-4D97-AF65-F5344CB8AC3E}">
        <p14:creationId xmlns:p14="http://schemas.microsoft.com/office/powerpoint/2010/main" val="2600303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Firms increased the fraction of income earned in a country between 1998 and 2008 when the foreign tax rate was initially further below the U.S. rate. With this additional control, we find a statistically significant coefficient on the change in the tax rate.</a:t>
            </a:r>
          </a:p>
        </p:txBody>
      </p:sp>
      <p:sp>
        <p:nvSpPr>
          <p:cNvPr id="4" name="Slide Number Placeholder 3"/>
          <p:cNvSpPr>
            <a:spLocks noGrp="1"/>
          </p:cNvSpPr>
          <p:nvPr>
            <p:ph type="sldNum" sz="quarter" idx="5"/>
          </p:nvPr>
        </p:nvSpPr>
        <p:spPr/>
        <p:txBody>
          <a:bodyPr/>
          <a:lstStyle/>
          <a:p>
            <a:fld id="{0EED1E95-29A1-461D-AD40-D4BC62AC4AC3}" type="slidenum">
              <a:rPr lang="en-US" smtClean="0"/>
              <a:t>20</a:t>
            </a:fld>
            <a:endParaRPr lang="en-US"/>
          </a:p>
        </p:txBody>
      </p:sp>
    </p:spTree>
    <p:extLst>
      <p:ext uri="{BB962C8B-B14F-4D97-AF65-F5344CB8AC3E}">
        <p14:creationId xmlns:p14="http://schemas.microsoft.com/office/powerpoint/2010/main" val="4176942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the country tax rate, the more cash a firm holds in that subsidiary. The higher the fraction of subsidiary sales to other subsidiaries or to the parent (related sales), the more cash held in the subsidiary.</a:t>
            </a:r>
          </a:p>
        </p:txBody>
      </p:sp>
      <p:sp>
        <p:nvSpPr>
          <p:cNvPr id="4" name="Slide Number Placeholder 3"/>
          <p:cNvSpPr>
            <a:spLocks noGrp="1"/>
          </p:cNvSpPr>
          <p:nvPr>
            <p:ph type="sldNum" sz="quarter" idx="5"/>
          </p:nvPr>
        </p:nvSpPr>
        <p:spPr/>
        <p:txBody>
          <a:bodyPr/>
          <a:lstStyle/>
          <a:p>
            <a:fld id="{0EED1E95-29A1-461D-AD40-D4BC62AC4AC3}" type="slidenum">
              <a:rPr lang="en-US" smtClean="0"/>
              <a:t>21</a:t>
            </a:fld>
            <a:endParaRPr lang="en-US"/>
          </a:p>
        </p:txBody>
      </p:sp>
    </p:spTree>
    <p:extLst>
      <p:ext uri="{BB962C8B-B14F-4D97-AF65-F5344CB8AC3E}">
        <p14:creationId xmlns:p14="http://schemas.microsoft.com/office/powerpoint/2010/main" val="3164488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DC1705B-C0FE-460A-A7FE-7F5BA97F836D}"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1930762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C1705B-C0FE-460A-A7FE-7F5BA97F836D}"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2827246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C1705B-C0FE-460A-A7FE-7F5BA97F836D}"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2191190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C1705B-C0FE-460A-A7FE-7F5BA97F836D}"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186761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C1705B-C0FE-460A-A7FE-7F5BA97F836D}"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1776464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C1705B-C0FE-460A-A7FE-7F5BA97F836D}"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4162509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C1705B-C0FE-460A-A7FE-7F5BA97F836D}"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371412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DC1705B-C0FE-460A-A7FE-7F5BA97F836D}"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287307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DC1705B-C0FE-460A-A7FE-7F5BA97F836D}"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3699227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C1705B-C0FE-460A-A7FE-7F5BA97F836D}"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132298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C1705B-C0FE-460A-A7FE-7F5BA97F836D}"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B9104-C2DD-4E80-8835-A2F49CBCBFA5}" type="slidenum">
              <a:rPr lang="en-US" smtClean="0"/>
              <a:t>‹#›</a:t>
            </a:fld>
            <a:endParaRPr lang="en-US"/>
          </a:p>
        </p:txBody>
      </p:sp>
    </p:spTree>
    <p:extLst>
      <p:ext uri="{BB962C8B-B14F-4D97-AF65-F5344CB8AC3E}">
        <p14:creationId xmlns:p14="http://schemas.microsoft.com/office/powerpoint/2010/main" val="761176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5863649"/>
            <a:ext cx="12204192" cy="1009897"/>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DC1705B-C0FE-460A-A7FE-7F5BA97F836D}" type="datetimeFigureOut">
              <a:rPr lang="en-US" smtClean="0"/>
              <a:t>9/16/2024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4F1B9104-C2DD-4E80-8835-A2F49CBCBFA5}" type="slidenum">
              <a:rPr lang="en-US" smtClean="0"/>
              <a:t>‹#›</a:t>
            </a:fld>
            <a:endParaRPr lang="en-US"/>
          </a:p>
        </p:txBody>
      </p:sp>
    </p:spTree>
    <p:extLst>
      <p:ext uri="{BB962C8B-B14F-4D97-AF65-F5344CB8AC3E}">
        <p14:creationId xmlns:p14="http://schemas.microsoft.com/office/powerpoint/2010/main" val="311464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076F0-C46C-2C8D-2019-91CDD27BBB24}"/>
              </a:ext>
            </a:extLst>
          </p:cNvPr>
          <p:cNvSpPr>
            <a:spLocks noGrp="1"/>
          </p:cNvSpPr>
          <p:nvPr>
            <p:ph type="ctrTitle"/>
          </p:nvPr>
        </p:nvSpPr>
        <p:spPr>
          <a:xfrm>
            <a:off x="914400" y="1219200"/>
            <a:ext cx="10363200" cy="2667000"/>
          </a:xfrm>
        </p:spPr>
        <p:txBody>
          <a:bodyPr>
            <a:normAutofit fontScale="90000"/>
          </a:bodyPr>
          <a:lstStyle/>
          <a:p>
            <a:r>
              <a:rPr lang="en-US" dirty="0"/>
              <a:t>Understanding the Rise in Corporate Cash: Precautionary Savings or Foreign Taxes</a:t>
            </a:r>
          </a:p>
        </p:txBody>
      </p:sp>
      <p:sp>
        <p:nvSpPr>
          <p:cNvPr id="3" name="Subtitle 2">
            <a:extLst>
              <a:ext uri="{FF2B5EF4-FFF2-40B4-BE49-F238E27FC236}">
                <a16:creationId xmlns:a16="http://schemas.microsoft.com/office/drawing/2014/main" id="{F947C6A7-A62B-68D1-6529-0367FEF8CA1A}"/>
              </a:ext>
            </a:extLst>
          </p:cNvPr>
          <p:cNvSpPr>
            <a:spLocks noGrp="1"/>
          </p:cNvSpPr>
          <p:nvPr>
            <p:ph type="subTitle" idx="1"/>
          </p:nvPr>
        </p:nvSpPr>
        <p:spPr/>
        <p:txBody>
          <a:bodyPr>
            <a:normAutofit fontScale="92500" lnSpcReduction="20000"/>
          </a:bodyPr>
          <a:lstStyle/>
          <a:p>
            <a:r>
              <a:rPr lang="en-US" dirty="0"/>
              <a:t>Michael W. </a:t>
            </a:r>
            <a:r>
              <a:rPr lang="en-US" dirty="0" err="1"/>
              <a:t>Faulkender</a:t>
            </a:r>
            <a:r>
              <a:rPr lang="en-US" dirty="0"/>
              <a:t>, Kristine W. Hankins, and Mitchell A. Petersen (2019)</a:t>
            </a:r>
          </a:p>
          <a:p>
            <a:r>
              <a:rPr lang="en-US" dirty="0"/>
              <a:t>Presented by Nicholas Thompson</a:t>
            </a:r>
          </a:p>
        </p:txBody>
      </p:sp>
    </p:spTree>
    <p:extLst>
      <p:ext uri="{BB962C8B-B14F-4D97-AF65-F5344CB8AC3E}">
        <p14:creationId xmlns:p14="http://schemas.microsoft.com/office/powerpoint/2010/main" val="2891411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1A61-E279-8FD7-541E-2DB4403C2109}"/>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9DFA574C-EC7E-1851-345A-7FF9720E97BF}"/>
              </a:ext>
            </a:extLst>
          </p:cNvPr>
          <p:cNvSpPr>
            <a:spLocks noGrp="1"/>
          </p:cNvSpPr>
          <p:nvPr>
            <p:ph idx="1"/>
          </p:nvPr>
        </p:nvSpPr>
        <p:spPr/>
        <p:txBody>
          <a:bodyPr>
            <a:normAutofit/>
          </a:bodyPr>
          <a:lstStyle/>
          <a:p>
            <a:r>
              <a:rPr lang="en-US" dirty="0"/>
              <a:t>What factors have driven U.S. multinational corporations (MNCs) to significantly increase cash holdings?</a:t>
            </a:r>
          </a:p>
          <a:p>
            <a:pPr lvl="1"/>
            <a:r>
              <a:rPr lang="en-US" dirty="0"/>
              <a:t>Specifically, is this increase driven by </a:t>
            </a:r>
            <a:r>
              <a:rPr lang="en-US" b="1" dirty="0"/>
              <a:t>precautionary savings</a:t>
            </a:r>
            <a:r>
              <a:rPr lang="en-US" dirty="0"/>
              <a:t> or </a:t>
            </a:r>
            <a:r>
              <a:rPr lang="en-US" b="1" dirty="0"/>
              <a:t>foreign taxes</a:t>
            </a:r>
            <a:r>
              <a:rPr lang="en-US" dirty="0"/>
              <a:t>?</a:t>
            </a:r>
          </a:p>
        </p:txBody>
      </p:sp>
    </p:spTree>
    <p:extLst>
      <p:ext uri="{BB962C8B-B14F-4D97-AF65-F5344CB8AC3E}">
        <p14:creationId xmlns:p14="http://schemas.microsoft.com/office/powerpoint/2010/main" val="976166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3553-F7D7-8C0F-AE99-6734C7D66D16}"/>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AB0E8AE9-8676-8569-6362-0CAE09130836}"/>
              </a:ext>
            </a:extLst>
          </p:cNvPr>
          <p:cNvSpPr>
            <a:spLocks noGrp="1"/>
          </p:cNvSpPr>
          <p:nvPr>
            <p:ph idx="1"/>
          </p:nvPr>
        </p:nvSpPr>
        <p:spPr/>
        <p:txBody>
          <a:bodyPr>
            <a:normAutofit fontScale="70000" lnSpcReduction="20000"/>
          </a:bodyPr>
          <a:lstStyle/>
          <a:p>
            <a:r>
              <a:rPr lang="en-US" dirty="0"/>
              <a:t>Precautionary savings:</a:t>
            </a:r>
          </a:p>
          <a:p>
            <a:pPr lvl="1"/>
            <a:r>
              <a:rPr lang="en-US" dirty="0"/>
              <a:t>Earlier work focused on measuring firms’ </a:t>
            </a:r>
            <a:r>
              <a:rPr lang="en-US" b="1" dirty="0"/>
              <a:t>access to capital markets</a:t>
            </a:r>
            <a:r>
              <a:rPr lang="en-US" dirty="0"/>
              <a:t> (Opler et al., 1999).</a:t>
            </a:r>
          </a:p>
          <a:p>
            <a:pPr lvl="1"/>
            <a:r>
              <a:rPr lang="en-US" dirty="0"/>
              <a:t>More recent work focuses on role of increasing </a:t>
            </a:r>
            <a:r>
              <a:rPr lang="en-US" b="1" dirty="0"/>
              <a:t>investment uncertainty</a:t>
            </a:r>
            <a:r>
              <a:rPr lang="en-US" dirty="0"/>
              <a:t> (Martin &amp; </a:t>
            </a:r>
            <a:r>
              <a:rPr lang="en-US" dirty="0" err="1"/>
              <a:t>Santomero</a:t>
            </a:r>
            <a:r>
              <a:rPr lang="en-US" dirty="0"/>
              <a:t>, 1997; Boyle &amp; Guthrie, 2003; Bates, Kahle, &amp; </a:t>
            </a:r>
            <a:r>
              <a:rPr lang="en-US" dirty="0" err="1"/>
              <a:t>Stulz</a:t>
            </a:r>
            <a:r>
              <a:rPr lang="en-US" dirty="0"/>
              <a:t>, 2009; Harford, </a:t>
            </a:r>
            <a:r>
              <a:rPr lang="en-US" dirty="0" err="1"/>
              <a:t>Klasa</a:t>
            </a:r>
            <a:r>
              <a:rPr lang="en-US" dirty="0"/>
              <a:t>, &amp; Maxwell, 2014).</a:t>
            </a:r>
          </a:p>
          <a:p>
            <a:r>
              <a:rPr lang="en-US" dirty="0"/>
              <a:t>Foreign taxes:</a:t>
            </a:r>
          </a:p>
          <a:p>
            <a:pPr lvl="1"/>
            <a:r>
              <a:rPr lang="en-US" dirty="0"/>
              <a:t>Firms’ objective to minimize present value of taxes may result in a buildup of cash in foreign subsidiaries—“</a:t>
            </a:r>
            <a:r>
              <a:rPr lang="en-US" b="1" dirty="0"/>
              <a:t>trapped cash</a:t>
            </a:r>
            <a:r>
              <a:rPr lang="en-US" dirty="0"/>
              <a:t>.”</a:t>
            </a:r>
          </a:p>
          <a:p>
            <a:pPr lvl="1"/>
            <a:r>
              <a:rPr lang="en-US" dirty="0"/>
              <a:t>Foley et al. (2007) show that lower foreign tax rates are associated with higher total and higher foreign cash.</a:t>
            </a:r>
          </a:p>
        </p:txBody>
      </p:sp>
    </p:spTree>
    <p:extLst>
      <p:ext uri="{BB962C8B-B14F-4D97-AF65-F5344CB8AC3E}">
        <p14:creationId xmlns:p14="http://schemas.microsoft.com/office/powerpoint/2010/main" val="3621488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A23BF-875B-1A02-522C-1D596570C5ED}"/>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0E16C894-9521-0C27-8C94-94D82DA4441B}"/>
              </a:ext>
            </a:extLst>
          </p:cNvPr>
          <p:cNvSpPr>
            <a:spLocks noGrp="1"/>
          </p:cNvSpPr>
          <p:nvPr>
            <p:ph idx="1"/>
          </p:nvPr>
        </p:nvSpPr>
        <p:spPr/>
        <p:txBody>
          <a:bodyPr>
            <a:normAutofit fontScale="92500" lnSpcReduction="10000"/>
          </a:bodyPr>
          <a:lstStyle/>
          <a:p>
            <a:r>
              <a:rPr lang="en-US" dirty="0"/>
              <a:t>Period: 1998 to 2008</a:t>
            </a:r>
          </a:p>
          <a:p>
            <a:r>
              <a:rPr lang="en-US" dirty="0"/>
              <a:t>BEA surveys (BE-10 and BE-11): Non-public surveys with detailed financial data on foreign subsidiaries of U.S. MNCs</a:t>
            </a:r>
          </a:p>
          <a:p>
            <a:r>
              <a:rPr lang="en-US" dirty="0" err="1"/>
              <a:t>Compustat</a:t>
            </a:r>
            <a:r>
              <a:rPr lang="en-US" dirty="0"/>
              <a:t>: Firm-level financial data</a:t>
            </a:r>
          </a:p>
          <a:p>
            <a:r>
              <a:rPr lang="en-US" dirty="0"/>
              <a:t>Full sample: 78,336 firm-year observations</a:t>
            </a:r>
          </a:p>
          <a:p>
            <a:r>
              <a:rPr lang="en-US" dirty="0"/>
              <a:t>BEA sample: 13,153 firm-year observations</a:t>
            </a:r>
          </a:p>
        </p:txBody>
      </p:sp>
    </p:spTree>
    <p:extLst>
      <p:ext uri="{BB962C8B-B14F-4D97-AF65-F5344CB8AC3E}">
        <p14:creationId xmlns:p14="http://schemas.microsoft.com/office/powerpoint/2010/main" val="2280542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DB03D-7EA7-D858-72ED-471247D00BE6}"/>
              </a:ext>
            </a:extLst>
          </p:cNvPr>
          <p:cNvPicPr>
            <a:picLocks noChangeAspect="1"/>
          </p:cNvPicPr>
          <p:nvPr/>
        </p:nvPicPr>
        <p:blipFill>
          <a:blip r:embed="rId3"/>
          <a:stretch>
            <a:fillRect/>
          </a:stretch>
        </p:blipFill>
        <p:spPr>
          <a:xfrm>
            <a:off x="1066772" y="25842"/>
            <a:ext cx="10058456" cy="5809376"/>
          </a:xfrm>
          <a:prstGeom prst="rect">
            <a:avLst/>
          </a:prstGeom>
        </p:spPr>
      </p:pic>
    </p:spTree>
    <p:extLst>
      <p:ext uri="{BB962C8B-B14F-4D97-AF65-F5344CB8AC3E}">
        <p14:creationId xmlns:p14="http://schemas.microsoft.com/office/powerpoint/2010/main" val="677716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FE27EA-F3CE-2871-B518-0061353F976C}"/>
              </a:ext>
            </a:extLst>
          </p:cNvPr>
          <p:cNvPicPr>
            <a:picLocks noChangeAspect="1"/>
          </p:cNvPicPr>
          <p:nvPr/>
        </p:nvPicPr>
        <p:blipFill>
          <a:blip r:embed="rId3"/>
          <a:stretch>
            <a:fillRect/>
          </a:stretch>
        </p:blipFill>
        <p:spPr>
          <a:xfrm>
            <a:off x="0" y="2008128"/>
            <a:ext cx="12192000" cy="2841744"/>
          </a:xfrm>
          <a:prstGeom prst="rect">
            <a:avLst/>
          </a:prstGeom>
        </p:spPr>
      </p:pic>
    </p:spTree>
    <p:extLst>
      <p:ext uri="{BB962C8B-B14F-4D97-AF65-F5344CB8AC3E}">
        <p14:creationId xmlns:p14="http://schemas.microsoft.com/office/powerpoint/2010/main" val="1125952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DC49C4-D1A1-FD55-8F9B-CD14FC801D88}"/>
              </a:ext>
            </a:extLst>
          </p:cNvPr>
          <p:cNvPicPr>
            <a:picLocks noChangeAspect="1"/>
          </p:cNvPicPr>
          <p:nvPr/>
        </p:nvPicPr>
        <p:blipFill>
          <a:blip r:embed="rId3"/>
          <a:stretch>
            <a:fillRect/>
          </a:stretch>
        </p:blipFill>
        <p:spPr>
          <a:xfrm>
            <a:off x="0" y="2121833"/>
            <a:ext cx="12192000" cy="2614333"/>
          </a:xfrm>
          <a:prstGeom prst="rect">
            <a:avLst/>
          </a:prstGeom>
        </p:spPr>
      </p:pic>
    </p:spTree>
    <p:extLst>
      <p:ext uri="{BB962C8B-B14F-4D97-AF65-F5344CB8AC3E}">
        <p14:creationId xmlns:p14="http://schemas.microsoft.com/office/powerpoint/2010/main" val="142584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E992AE-7820-C259-83D0-FB6752079C73}"/>
              </a:ext>
            </a:extLst>
          </p:cNvPr>
          <p:cNvPicPr>
            <a:picLocks noChangeAspect="1"/>
          </p:cNvPicPr>
          <p:nvPr/>
        </p:nvPicPr>
        <p:blipFill>
          <a:blip r:embed="rId3"/>
          <a:stretch>
            <a:fillRect/>
          </a:stretch>
        </p:blipFill>
        <p:spPr>
          <a:xfrm>
            <a:off x="1708822" y="111318"/>
            <a:ext cx="8774355" cy="5714580"/>
          </a:xfrm>
          <a:prstGeom prst="rect">
            <a:avLst/>
          </a:prstGeom>
        </p:spPr>
      </p:pic>
    </p:spTree>
    <p:extLst>
      <p:ext uri="{BB962C8B-B14F-4D97-AF65-F5344CB8AC3E}">
        <p14:creationId xmlns:p14="http://schemas.microsoft.com/office/powerpoint/2010/main" val="54360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93740D-4038-90D4-8D89-98806426D6AF}"/>
              </a:ext>
            </a:extLst>
          </p:cNvPr>
          <p:cNvPicPr>
            <a:picLocks noChangeAspect="1"/>
          </p:cNvPicPr>
          <p:nvPr/>
        </p:nvPicPr>
        <p:blipFill>
          <a:blip r:embed="rId3"/>
          <a:stretch>
            <a:fillRect/>
          </a:stretch>
        </p:blipFill>
        <p:spPr>
          <a:xfrm>
            <a:off x="2425835" y="0"/>
            <a:ext cx="7340329" cy="5851096"/>
          </a:xfrm>
          <a:prstGeom prst="rect">
            <a:avLst/>
          </a:prstGeom>
        </p:spPr>
      </p:pic>
      <p:sp>
        <p:nvSpPr>
          <p:cNvPr id="4" name="Rectangle 3">
            <a:extLst>
              <a:ext uri="{FF2B5EF4-FFF2-40B4-BE49-F238E27FC236}">
                <a16:creationId xmlns:a16="http://schemas.microsoft.com/office/drawing/2014/main" id="{1EFFD1EE-F8D5-7630-E1E7-EA624E6FD020}"/>
              </a:ext>
            </a:extLst>
          </p:cNvPr>
          <p:cNvSpPr/>
          <p:nvPr/>
        </p:nvSpPr>
        <p:spPr>
          <a:xfrm>
            <a:off x="2425834" y="4170948"/>
            <a:ext cx="7340329" cy="26469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59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F16DA9-24DD-9122-9F0E-2AB4284CB2DA}"/>
              </a:ext>
            </a:extLst>
          </p:cNvPr>
          <p:cNvPicPr>
            <a:picLocks noChangeAspect="1"/>
          </p:cNvPicPr>
          <p:nvPr/>
        </p:nvPicPr>
        <p:blipFill>
          <a:blip r:embed="rId3"/>
          <a:stretch>
            <a:fillRect/>
          </a:stretch>
        </p:blipFill>
        <p:spPr>
          <a:xfrm>
            <a:off x="1966063" y="0"/>
            <a:ext cx="8259873" cy="5815873"/>
          </a:xfrm>
          <a:prstGeom prst="rect">
            <a:avLst/>
          </a:prstGeom>
        </p:spPr>
      </p:pic>
    </p:spTree>
    <p:extLst>
      <p:ext uri="{BB962C8B-B14F-4D97-AF65-F5344CB8AC3E}">
        <p14:creationId xmlns:p14="http://schemas.microsoft.com/office/powerpoint/2010/main" val="298144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41536B-79EF-490A-FD42-DC6F10BAF0E3}"/>
              </a:ext>
            </a:extLst>
          </p:cNvPr>
          <p:cNvPicPr>
            <a:picLocks noChangeAspect="1"/>
          </p:cNvPicPr>
          <p:nvPr/>
        </p:nvPicPr>
        <p:blipFill>
          <a:blip r:embed="rId3"/>
          <a:stretch>
            <a:fillRect/>
          </a:stretch>
        </p:blipFill>
        <p:spPr>
          <a:xfrm>
            <a:off x="1743536" y="0"/>
            <a:ext cx="8704928" cy="5841133"/>
          </a:xfrm>
          <a:prstGeom prst="rect">
            <a:avLst/>
          </a:prstGeom>
        </p:spPr>
      </p:pic>
    </p:spTree>
    <p:extLst>
      <p:ext uri="{BB962C8B-B14F-4D97-AF65-F5344CB8AC3E}">
        <p14:creationId xmlns:p14="http://schemas.microsoft.com/office/powerpoint/2010/main" val="3774709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4526B0-4832-C027-0E7C-79DB81792822}"/>
              </a:ext>
            </a:extLst>
          </p:cNvPr>
          <p:cNvPicPr>
            <a:picLocks noChangeAspect="1"/>
          </p:cNvPicPr>
          <p:nvPr/>
        </p:nvPicPr>
        <p:blipFill>
          <a:blip r:embed="rId3"/>
          <a:stretch>
            <a:fillRect/>
          </a:stretch>
        </p:blipFill>
        <p:spPr>
          <a:xfrm>
            <a:off x="0" y="0"/>
            <a:ext cx="6383671" cy="6858000"/>
          </a:xfrm>
          <a:prstGeom prst="rect">
            <a:avLst/>
          </a:prstGeom>
        </p:spPr>
      </p:pic>
      <p:sp>
        <p:nvSpPr>
          <p:cNvPr id="9" name="TextBox 8">
            <a:extLst>
              <a:ext uri="{FF2B5EF4-FFF2-40B4-BE49-F238E27FC236}">
                <a16:creationId xmlns:a16="http://schemas.microsoft.com/office/drawing/2014/main" id="{9CDF4C45-8041-8776-9315-FB579D665686}"/>
              </a:ext>
            </a:extLst>
          </p:cNvPr>
          <p:cNvSpPr txBox="1"/>
          <p:nvPr/>
        </p:nvSpPr>
        <p:spPr>
          <a:xfrm>
            <a:off x="6383671" y="304800"/>
            <a:ext cx="5808329" cy="4247317"/>
          </a:xfrm>
          <a:prstGeom prst="rect">
            <a:avLst/>
          </a:prstGeom>
          <a:noFill/>
        </p:spPr>
        <p:txBody>
          <a:bodyPr wrap="square" rtlCol="0">
            <a:spAutoFit/>
          </a:bodyPr>
          <a:lstStyle/>
          <a:p>
            <a:r>
              <a:rPr lang="en-US" b="1" dirty="0"/>
              <a:t>Columns I and II</a:t>
            </a:r>
            <a:r>
              <a:rPr lang="en-US" dirty="0"/>
              <a:t> show that firms that should have greater access to the capital markets (are larger and have greater asset tangibility [higher PPE/book assets and lower market to book ratio]) and invest less and or/return more capital to investors (lower R&amp;D, lower capex, and higher dividends) hold less cash. Traditionally, these results have been interpreted as consistent with the </a:t>
            </a:r>
            <a:r>
              <a:rPr lang="en-US" b="1" dirty="0"/>
              <a:t>precautionary savings</a:t>
            </a:r>
            <a:r>
              <a:rPr lang="en-US" dirty="0"/>
              <a:t> motivation.</a:t>
            </a:r>
          </a:p>
          <a:p>
            <a:endParaRPr lang="en-US" dirty="0"/>
          </a:p>
          <a:p>
            <a:r>
              <a:rPr lang="en-US" b="1" dirty="0"/>
              <a:t>Columns III, IV, and V</a:t>
            </a:r>
            <a:r>
              <a:rPr lang="en-US" dirty="0"/>
              <a:t> similarly support the precautionary savings motivation for </a:t>
            </a:r>
            <a:r>
              <a:rPr lang="en-US" b="1" dirty="0"/>
              <a:t>domestic cash</a:t>
            </a:r>
            <a:r>
              <a:rPr lang="en-US" dirty="0"/>
              <a:t> positions.</a:t>
            </a:r>
          </a:p>
          <a:p>
            <a:endParaRPr lang="en-US" dirty="0"/>
          </a:p>
          <a:p>
            <a:r>
              <a:rPr lang="en-US" dirty="0"/>
              <a:t>However, </a:t>
            </a:r>
            <a:r>
              <a:rPr lang="en-US" b="1" dirty="0"/>
              <a:t>Columns VI, VII, and VIII</a:t>
            </a:r>
            <a:r>
              <a:rPr lang="en-US" dirty="0"/>
              <a:t> show that the precautionary savings variables have little predictive power in explaining </a:t>
            </a:r>
            <a:r>
              <a:rPr lang="en-US" b="1" dirty="0"/>
              <a:t>foreign cash</a:t>
            </a:r>
            <a:r>
              <a:rPr lang="en-US" dirty="0"/>
              <a:t> positions.</a:t>
            </a:r>
          </a:p>
        </p:txBody>
      </p:sp>
    </p:spTree>
    <p:extLst>
      <p:ext uri="{BB962C8B-B14F-4D97-AF65-F5344CB8AC3E}">
        <p14:creationId xmlns:p14="http://schemas.microsoft.com/office/powerpoint/2010/main" val="114339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0ACFDE-300B-106D-DD1D-AD51314FD267}"/>
              </a:ext>
            </a:extLst>
          </p:cNvPr>
          <p:cNvPicPr>
            <a:picLocks noChangeAspect="1"/>
          </p:cNvPicPr>
          <p:nvPr/>
        </p:nvPicPr>
        <p:blipFill>
          <a:blip r:embed="rId3"/>
          <a:srcRect t="44638" b="10724"/>
          <a:stretch/>
        </p:blipFill>
        <p:spPr>
          <a:xfrm>
            <a:off x="6096000" y="763323"/>
            <a:ext cx="5790238" cy="3702498"/>
          </a:xfrm>
          <a:prstGeom prst="rect">
            <a:avLst/>
          </a:prstGeom>
        </p:spPr>
      </p:pic>
      <p:pic>
        <p:nvPicPr>
          <p:cNvPr id="4" name="Picture 3">
            <a:extLst>
              <a:ext uri="{FF2B5EF4-FFF2-40B4-BE49-F238E27FC236}">
                <a16:creationId xmlns:a16="http://schemas.microsoft.com/office/drawing/2014/main" id="{592CBEC8-2A6D-A826-7529-1A0586378370}"/>
              </a:ext>
            </a:extLst>
          </p:cNvPr>
          <p:cNvPicPr>
            <a:picLocks noChangeAspect="1"/>
          </p:cNvPicPr>
          <p:nvPr/>
        </p:nvPicPr>
        <p:blipFill>
          <a:blip r:embed="rId3"/>
          <a:srcRect b="55362"/>
          <a:stretch/>
        </p:blipFill>
        <p:spPr>
          <a:xfrm>
            <a:off x="305762" y="763323"/>
            <a:ext cx="5790238" cy="3702498"/>
          </a:xfrm>
          <a:prstGeom prst="rect">
            <a:avLst/>
          </a:prstGeom>
        </p:spPr>
      </p:pic>
      <p:pic>
        <p:nvPicPr>
          <p:cNvPr id="6" name="Picture 5">
            <a:extLst>
              <a:ext uri="{FF2B5EF4-FFF2-40B4-BE49-F238E27FC236}">
                <a16:creationId xmlns:a16="http://schemas.microsoft.com/office/drawing/2014/main" id="{52044A20-4239-E980-8A15-8D24FA45C55A}"/>
              </a:ext>
            </a:extLst>
          </p:cNvPr>
          <p:cNvPicPr>
            <a:picLocks noChangeAspect="1"/>
          </p:cNvPicPr>
          <p:nvPr/>
        </p:nvPicPr>
        <p:blipFill>
          <a:blip r:embed="rId3"/>
          <a:srcRect t="88719"/>
          <a:stretch/>
        </p:blipFill>
        <p:spPr>
          <a:xfrm>
            <a:off x="3200881" y="4465821"/>
            <a:ext cx="5790238" cy="935782"/>
          </a:xfrm>
          <a:prstGeom prst="rect">
            <a:avLst/>
          </a:prstGeom>
        </p:spPr>
      </p:pic>
    </p:spTree>
    <p:extLst>
      <p:ext uri="{BB962C8B-B14F-4D97-AF65-F5344CB8AC3E}">
        <p14:creationId xmlns:p14="http://schemas.microsoft.com/office/powerpoint/2010/main" val="372241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B55FA3-98AC-52FD-7BF7-2C4F1EC88E03}"/>
              </a:ext>
            </a:extLst>
          </p:cNvPr>
          <p:cNvPicPr>
            <a:picLocks noChangeAspect="1"/>
          </p:cNvPicPr>
          <p:nvPr/>
        </p:nvPicPr>
        <p:blipFill>
          <a:blip r:embed="rId3"/>
          <a:stretch>
            <a:fillRect/>
          </a:stretch>
        </p:blipFill>
        <p:spPr>
          <a:xfrm>
            <a:off x="295420" y="0"/>
            <a:ext cx="5360780" cy="6858000"/>
          </a:xfrm>
          <a:prstGeom prst="rect">
            <a:avLst/>
          </a:prstGeom>
        </p:spPr>
      </p:pic>
      <p:sp>
        <p:nvSpPr>
          <p:cNvPr id="6" name="Rectangle 5">
            <a:extLst>
              <a:ext uri="{FF2B5EF4-FFF2-40B4-BE49-F238E27FC236}">
                <a16:creationId xmlns:a16="http://schemas.microsoft.com/office/drawing/2014/main" id="{6392FC31-4C52-E7DE-60F9-31E537B3772B}"/>
              </a:ext>
            </a:extLst>
          </p:cNvPr>
          <p:cNvSpPr/>
          <p:nvPr/>
        </p:nvSpPr>
        <p:spPr>
          <a:xfrm>
            <a:off x="295421" y="1283368"/>
            <a:ext cx="5360780" cy="13475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D384F38-0E6D-0FB2-0F0F-156EB70C9458}"/>
              </a:ext>
            </a:extLst>
          </p:cNvPr>
          <p:cNvSpPr txBox="1"/>
          <p:nvPr/>
        </p:nvSpPr>
        <p:spPr>
          <a:xfrm>
            <a:off x="5656200" y="1347537"/>
            <a:ext cx="6535800" cy="923330"/>
          </a:xfrm>
          <a:prstGeom prst="rect">
            <a:avLst/>
          </a:prstGeom>
          <a:noFill/>
        </p:spPr>
        <p:txBody>
          <a:bodyPr wrap="square" rtlCol="0">
            <a:spAutoFit/>
          </a:bodyPr>
          <a:lstStyle/>
          <a:p>
            <a:r>
              <a:rPr lang="en-US" dirty="0"/>
              <a:t>Firms with </a:t>
            </a:r>
            <a:r>
              <a:rPr lang="en-US" b="1" dirty="0"/>
              <a:t>higher related sales</a:t>
            </a:r>
            <a:r>
              <a:rPr lang="en-US" dirty="0"/>
              <a:t> and </a:t>
            </a:r>
            <a:r>
              <a:rPr lang="en-US" b="1" dirty="0"/>
              <a:t>lower effective tax rates</a:t>
            </a:r>
            <a:r>
              <a:rPr lang="en-US" dirty="0"/>
              <a:t> hold more </a:t>
            </a:r>
            <a:r>
              <a:rPr lang="en-US" b="1" dirty="0"/>
              <a:t>foreign cash</a:t>
            </a:r>
            <a:r>
              <a:rPr lang="en-US" dirty="0"/>
              <a:t>, consistent with a tax avoidance story. This is especially true for firms that spend on intellectual property (R&amp;D).</a:t>
            </a:r>
          </a:p>
        </p:txBody>
      </p:sp>
    </p:spTree>
    <p:extLst>
      <p:ext uri="{BB962C8B-B14F-4D97-AF65-F5344CB8AC3E}">
        <p14:creationId xmlns:p14="http://schemas.microsoft.com/office/powerpoint/2010/main" val="268015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102D65-9A50-A9D7-EA83-86B6D113B2E1}"/>
              </a:ext>
            </a:extLst>
          </p:cNvPr>
          <p:cNvPicPr>
            <a:picLocks noChangeAspect="1"/>
          </p:cNvPicPr>
          <p:nvPr/>
        </p:nvPicPr>
        <p:blipFill>
          <a:blip r:embed="rId2"/>
          <a:srcRect b="56421"/>
          <a:stretch/>
        </p:blipFill>
        <p:spPr>
          <a:xfrm>
            <a:off x="925720" y="1140643"/>
            <a:ext cx="5170280" cy="3271101"/>
          </a:xfrm>
          <a:prstGeom prst="rect">
            <a:avLst/>
          </a:prstGeom>
        </p:spPr>
      </p:pic>
      <p:pic>
        <p:nvPicPr>
          <p:cNvPr id="4" name="Picture 3">
            <a:extLst>
              <a:ext uri="{FF2B5EF4-FFF2-40B4-BE49-F238E27FC236}">
                <a16:creationId xmlns:a16="http://schemas.microsoft.com/office/drawing/2014/main" id="{10A73B93-5079-F23C-8C1E-2F60193AA810}"/>
              </a:ext>
            </a:extLst>
          </p:cNvPr>
          <p:cNvPicPr>
            <a:picLocks noChangeAspect="1"/>
          </p:cNvPicPr>
          <p:nvPr/>
        </p:nvPicPr>
        <p:blipFill>
          <a:blip r:embed="rId2"/>
          <a:srcRect t="45085" b="11336"/>
          <a:stretch/>
        </p:blipFill>
        <p:spPr>
          <a:xfrm>
            <a:off x="6095999" y="1140643"/>
            <a:ext cx="5170281" cy="3271101"/>
          </a:xfrm>
          <a:prstGeom prst="rect">
            <a:avLst/>
          </a:prstGeom>
        </p:spPr>
      </p:pic>
      <p:pic>
        <p:nvPicPr>
          <p:cNvPr id="5" name="Picture 4">
            <a:extLst>
              <a:ext uri="{FF2B5EF4-FFF2-40B4-BE49-F238E27FC236}">
                <a16:creationId xmlns:a16="http://schemas.microsoft.com/office/drawing/2014/main" id="{1943BED5-F0B8-6696-6532-F864FB004A3E}"/>
              </a:ext>
            </a:extLst>
          </p:cNvPr>
          <p:cNvPicPr>
            <a:picLocks noChangeAspect="1"/>
          </p:cNvPicPr>
          <p:nvPr/>
        </p:nvPicPr>
        <p:blipFill>
          <a:blip r:embed="rId2"/>
          <a:srcRect t="89167"/>
          <a:stretch/>
        </p:blipFill>
        <p:spPr>
          <a:xfrm>
            <a:off x="3510858" y="4702500"/>
            <a:ext cx="5170281" cy="813133"/>
          </a:xfrm>
          <a:prstGeom prst="rect">
            <a:avLst/>
          </a:prstGeom>
        </p:spPr>
      </p:pic>
    </p:spTree>
    <p:extLst>
      <p:ext uri="{BB962C8B-B14F-4D97-AF65-F5344CB8AC3E}">
        <p14:creationId xmlns:p14="http://schemas.microsoft.com/office/powerpoint/2010/main" val="829961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429884-2394-6EA1-A946-F6AD5B046EF0}"/>
              </a:ext>
            </a:extLst>
          </p:cNvPr>
          <p:cNvPicPr>
            <a:picLocks noChangeAspect="1"/>
          </p:cNvPicPr>
          <p:nvPr/>
        </p:nvPicPr>
        <p:blipFill>
          <a:blip r:embed="rId3"/>
          <a:stretch>
            <a:fillRect/>
          </a:stretch>
        </p:blipFill>
        <p:spPr>
          <a:xfrm>
            <a:off x="1785375" y="79513"/>
            <a:ext cx="8621249" cy="5782833"/>
          </a:xfrm>
          <a:prstGeom prst="rect">
            <a:avLst/>
          </a:prstGeom>
        </p:spPr>
      </p:pic>
    </p:spTree>
    <p:extLst>
      <p:ext uri="{BB962C8B-B14F-4D97-AF65-F5344CB8AC3E}">
        <p14:creationId xmlns:p14="http://schemas.microsoft.com/office/powerpoint/2010/main" val="1617333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2D9739-C85B-A60E-AB8E-F50C7AE21433}"/>
              </a:ext>
            </a:extLst>
          </p:cNvPr>
          <p:cNvPicPr>
            <a:picLocks noChangeAspect="1"/>
          </p:cNvPicPr>
          <p:nvPr/>
        </p:nvPicPr>
        <p:blipFill>
          <a:blip r:embed="rId3"/>
          <a:stretch>
            <a:fillRect/>
          </a:stretch>
        </p:blipFill>
        <p:spPr>
          <a:xfrm>
            <a:off x="1492204" y="75414"/>
            <a:ext cx="9207592" cy="5701720"/>
          </a:xfrm>
          <a:prstGeom prst="rect">
            <a:avLst/>
          </a:prstGeom>
        </p:spPr>
      </p:pic>
    </p:spTree>
    <p:extLst>
      <p:ext uri="{BB962C8B-B14F-4D97-AF65-F5344CB8AC3E}">
        <p14:creationId xmlns:p14="http://schemas.microsoft.com/office/powerpoint/2010/main" val="2982770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C44892-E83A-6B35-6F46-FCDB837B2933}"/>
              </a:ext>
            </a:extLst>
          </p:cNvPr>
          <p:cNvPicPr>
            <a:picLocks noChangeAspect="1"/>
          </p:cNvPicPr>
          <p:nvPr/>
        </p:nvPicPr>
        <p:blipFill>
          <a:blip r:embed="rId3"/>
          <a:stretch>
            <a:fillRect/>
          </a:stretch>
        </p:blipFill>
        <p:spPr>
          <a:xfrm>
            <a:off x="2454972" y="0"/>
            <a:ext cx="7282055" cy="6858000"/>
          </a:xfrm>
          <a:prstGeom prst="rect">
            <a:avLst/>
          </a:prstGeom>
        </p:spPr>
      </p:pic>
      <p:sp>
        <p:nvSpPr>
          <p:cNvPr id="6" name="Rectangle 5">
            <a:extLst>
              <a:ext uri="{FF2B5EF4-FFF2-40B4-BE49-F238E27FC236}">
                <a16:creationId xmlns:a16="http://schemas.microsoft.com/office/drawing/2014/main" id="{47CE3662-C7BE-DCC0-D3CB-2EA44C88918E}"/>
              </a:ext>
            </a:extLst>
          </p:cNvPr>
          <p:cNvSpPr/>
          <p:nvPr/>
        </p:nvSpPr>
        <p:spPr>
          <a:xfrm>
            <a:off x="2454972" y="1219201"/>
            <a:ext cx="7282055" cy="762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0515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C10284-057D-ECA5-87AB-9885948D21F4}"/>
              </a:ext>
            </a:extLst>
          </p:cNvPr>
          <p:cNvPicPr>
            <a:picLocks noChangeAspect="1"/>
          </p:cNvPicPr>
          <p:nvPr/>
        </p:nvPicPr>
        <p:blipFill>
          <a:blip r:embed="rId3"/>
          <a:stretch>
            <a:fillRect/>
          </a:stretch>
        </p:blipFill>
        <p:spPr>
          <a:xfrm>
            <a:off x="2272684" y="0"/>
            <a:ext cx="7646632" cy="6858000"/>
          </a:xfrm>
          <a:prstGeom prst="rect">
            <a:avLst/>
          </a:prstGeom>
        </p:spPr>
      </p:pic>
    </p:spTree>
    <p:extLst>
      <p:ext uri="{BB962C8B-B14F-4D97-AF65-F5344CB8AC3E}">
        <p14:creationId xmlns:p14="http://schemas.microsoft.com/office/powerpoint/2010/main" val="3813241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9A0CFB-9353-0260-14CF-3E3A82B17B06}"/>
              </a:ext>
            </a:extLst>
          </p:cNvPr>
          <p:cNvPicPr>
            <a:picLocks noChangeAspect="1"/>
          </p:cNvPicPr>
          <p:nvPr/>
        </p:nvPicPr>
        <p:blipFill>
          <a:blip r:embed="rId3"/>
          <a:stretch>
            <a:fillRect/>
          </a:stretch>
        </p:blipFill>
        <p:spPr>
          <a:xfrm>
            <a:off x="920684" y="99350"/>
            <a:ext cx="10350631" cy="5749577"/>
          </a:xfrm>
          <a:prstGeom prst="rect">
            <a:avLst/>
          </a:prstGeom>
        </p:spPr>
      </p:pic>
      <p:sp>
        <p:nvSpPr>
          <p:cNvPr id="4" name="Rectangle 3">
            <a:extLst>
              <a:ext uri="{FF2B5EF4-FFF2-40B4-BE49-F238E27FC236}">
                <a16:creationId xmlns:a16="http://schemas.microsoft.com/office/drawing/2014/main" id="{2E9066E1-2230-844C-E223-694DF34BDFF3}"/>
              </a:ext>
            </a:extLst>
          </p:cNvPr>
          <p:cNvSpPr/>
          <p:nvPr/>
        </p:nvSpPr>
        <p:spPr>
          <a:xfrm>
            <a:off x="9553073" y="628072"/>
            <a:ext cx="1718242" cy="23156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F35675F-A2B1-29E2-8C1F-396302AF409A}"/>
              </a:ext>
            </a:extLst>
          </p:cNvPr>
          <p:cNvSpPr/>
          <p:nvPr/>
        </p:nvSpPr>
        <p:spPr>
          <a:xfrm>
            <a:off x="1981199" y="4820653"/>
            <a:ext cx="9152021" cy="94648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41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D29401-0DD8-DD52-A392-23EE0738A75F}"/>
              </a:ext>
            </a:extLst>
          </p:cNvPr>
          <p:cNvPicPr>
            <a:picLocks noChangeAspect="1"/>
          </p:cNvPicPr>
          <p:nvPr/>
        </p:nvPicPr>
        <p:blipFill>
          <a:blip r:embed="rId3"/>
          <a:stretch>
            <a:fillRect/>
          </a:stretch>
        </p:blipFill>
        <p:spPr>
          <a:xfrm>
            <a:off x="2451058" y="0"/>
            <a:ext cx="7289883" cy="6858000"/>
          </a:xfrm>
          <a:prstGeom prst="rect">
            <a:avLst/>
          </a:prstGeom>
        </p:spPr>
      </p:pic>
      <p:sp>
        <p:nvSpPr>
          <p:cNvPr id="4" name="Rectangle 3">
            <a:extLst>
              <a:ext uri="{FF2B5EF4-FFF2-40B4-BE49-F238E27FC236}">
                <a16:creationId xmlns:a16="http://schemas.microsoft.com/office/drawing/2014/main" id="{8F24B4FC-DDF9-A779-DE3C-FE027A7955D3}"/>
              </a:ext>
            </a:extLst>
          </p:cNvPr>
          <p:cNvSpPr/>
          <p:nvPr/>
        </p:nvSpPr>
        <p:spPr>
          <a:xfrm>
            <a:off x="2451057" y="802106"/>
            <a:ext cx="7289883" cy="76199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803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FC38E-3DF2-BC33-258B-2F24AE725D3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F89A8CA-2E9C-D313-2B0E-990DE1898DDA}"/>
              </a:ext>
            </a:extLst>
          </p:cNvPr>
          <p:cNvSpPr>
            <a:spLocks noGrp="1"/>
          </p:cNvSpPr>
          <p:nvPr>
            <p:ph idx="1"/>
          </p:nvPr>
        </p:nvSpPr>
        <p:spPr/>
        <p:txBody>
          <a:bodyPr>
            <a:normAutofit fontScale="77500" lnSpcReduction="20000"/>
          </a:bodyPr>
          <a:lstStyle/>
          <a:p>
            <a:r>
              <a:rPr lang="en-US" dirty="0"/>
              <a:t>The rise in corporate cash is almost entirely due to an increase in </a:t>
            </a:r>
            <a:r>
              <a:rPr lang="en-US" b="1" dirty="0"/>
              <a:t>foreign cash</a:t>
            </a:r>
            <a:r>
              <a:rPr lang="en-US" dirty="0"/>
              <a:t>, not domestic cash.</a:t>
            </a:r>
          </a:p>
          <a:p>
            <a:r>
              <a:rPr lang="en-US" b="1" dirty="0"/>
              <a:t>Foreign tax rates</a:t>
            </a:r>
            <a:r>
              <a:rPr lang="en-US" dirty="0"/>
              <a:t> and ability to shift income to low-tax jurisdictions explain most of rise in foreign cash holdings.</a:t>
            </a:r>
          </a:p>
          <a:p>
            <a:r>
              <a:rPr lang="en-US" dirty="0"/>
              <a:t>Firms with significant </a:t>
            </a:r>
            <a:r>
              <a:rPr lang="en-US" b="1" dirty="0"/>
              <a:t>intangible assets</a:t>
            </a:r>
            <a:r>
              <a:rPr lang="en-US" dirty="0"/>
              <a:t> are better positioned to shift income to low-tax jurisdictions.</a:t>
            </a:r>
          </a:p>
          <a:p>
            <a:r>
              <a:rPr lang="en-US" dirty="0"/>
              <a:t>Precautionary savings explain domestic cash but have </a:t>
            </a:r>
            <a:r>
              <a:rPr lang="en-US" b="1" dirty="0"/>
              <a:t>little to no role</a:t>
            </a:r>
            <a:r>
              <a:rPr lang="en-US" dirty="0"/>
              <a:t> in explaining foreign cash accumulation.</a:t>
            </a:r>
          </a:p>
        </p:txBody>
      </p:sp>
    </p:spTree>
    <p:extLst>
      <p:ext uri="{BB962C8B-B14F-4D97-AF65-F5344CB8AC3E}">
        <p14:creationId xmlns:p14="http://schemas.microsoft.com/office/powerpoint/2010/main" val="1167499553"/>
      </p:ext>
    </p:extLst>
  </p:cSld>
  <p:clrMapOvr>
    <a:masterClrMapping/>
  </p:clrMapOvr>
</p:sld>
</file>

<file path=ppt/theme/theme1.xml><?xml version="1.0" encoding="utf-8"?>
<a:theme xmlns:a="http://schemas.openxmlformats.org/drawingml/2006/main" name="WCOB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OB Theme" id="{DF967ADD-BC05-483B-AB52-67CF82BC061D}" vid="{FC698281-B06B-48E0-B35B-6E92E503CB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WCOB Theme</Template>
  <TotalTime>428</TotalTime>
  <Words>1041</Words>
  <Application>Microsoft Office PowerPoint</Application>
  <PresentationFormat>Widescreen</PresentationFormat>
  <Paragraphs>66</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Times-Roman</vt:lpstr>
      <vt:lpstr>Wingdings</vt:lpstr>
      <vt:lpstr>WCOB Theme</vt:lpstr>
      <vt:lpstr>Understanding the Rise in Corporate Cash: Precautionary Savings or Foreign Taxes</vt:lpstr>
      <vt:lpstr>Research Question</vt:lpstr>
      <vt:lpstr>Prior Literature</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Thompson</dc:creator>
  <cp:lastModifiedBy>Nicholas Thompson</cp:lastModifiedBy>
  <cp:revision>3</cp:revision>
  <dcterms:created xsi:type="dcterms:W3CDTF">2024-09-15T21:06:14Z</dcterms:created>
  <dcterms:modified xsi:type="dcterms:W3CDTF">2024-09-16T15:23:27Z</dcterms:modified>
</cp:coreProperties>
</file>