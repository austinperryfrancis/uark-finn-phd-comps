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315" r:id="rId3"/>
    <p:sldId id="346" r:id="rId4"/>
    <p:sldId id="512" r:id="rId5"/>
    <p:sldId id="513" r:id="rId6"/>
    <p:sldId id="501" r:id="rId7"/>
    <p:sldId id="495" r:id="rId8"/>
    <p:sldId id="395" r:id="rId9"/>
    <p:sldId id="505" r:id="rId10"/>
    <p:sldId id="506" r:id="rId11"/>
    <p:sldId id="507" r:id="rId12"/>
    <p:sldId id="397" r:id="rId13"/>
    <p:sldId id="453" r:id="rId14"/>
    <p:sldId id="442" r:id="rId15"/>
    <p:sldId id="454" r:id="rId16"/>
    <p:sldId id="496" r:id="rId17"/>
    <p:sldId id="502" r:id="rId18"/>
    <p:sldId id="503" r:id="rId19"/>
    <p:sldId id="504" r:id="rId20"/>
    <p:sldId id="455" r:id="rId21"/>
    <p:sldId id="445" r:id="rId22"/>
    <p:sldId id="456" r:id="rId23"/>
    <p:sldId id="446" r:id="rId24"/>
    <p:sldId id="498" r:id="rId25"/>
    <p:sldId id="508" r:id="rId26"/>
    <p:sldId id="500" r:id="rId27"/>
    <p:sldId id="473" r:id="rId28"/>
    <p:sldId id="474" r:id="rId29"/>
    <p:sldId id="475" r:id="rId30"/>
    <p:sldId id="509" r:id="rId31"/>
    <p:sldId id="510" r:id="rId32"/>
    <p:sldId id="511" r:id="rId33"/>
    <p:sldId id="476" r:id="rId34"/>
    <p:sldId id="467" r:id="rId35"/>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512"/>
            <p14:sldId id="513"/>
            <p14:sldId id="501"/>
            <p14:sldId id="495"/>
            <p14:sldId id="395"/>
            <p14:sldId id="505"/>
            <p14:sldId id="506"/>
            <p14:sldId id="507"/>
            <p14:sldId id="397"/>
            <p14:sldId id="453"/>
            <p14:sldId id="442"/>
            <p14:sldId id="454"/>
            <p14:sldId id="496"/>
            <p14:sldId id="502"/>
            <p14:sldId id="503"/>
            <p14:sldId id="504"/>
            <p14:sldId id="455"/>
            <p14:sldId id="445"/>
            <p14:sldId id="456"/>
            <p14:sldId id="446"/>
            <p14:sldId id="498"/>
            <p14:sldId id="508"/>
            <p14:sldId id="500"/>
            <p14:sldId id="473"/>
            <p14:sldId id="474"/>
            <p14:sldId id="475"/>
            <p14:sldId id="509"/>
            <p14:sldId id="510"/>
            <p14:sldId id="511"/>
            <p14:sldId id="476"/>
            <p14:sldId id="467"/>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3" autoAdjust="0"/>
  </p:normalViewPr>
  <p:slideViewPr>
    <p:cSldViewPr snapToGrid="0">
      <p:cViewPr varScale="1">
        <p:scale>
          <a:sx n="104" d="100"/>
          <a:sy n="104" d="100"/>
        </p:scale>
        <p:origin x="878"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9/16/2024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Relationship lenders often acquire private information about borrowers, creating an information asymmetry that makes it costly for borrowers to switch lenders. This allows relationship lenders to increase loan spreads and hold up borrowers</a:t>
            </a:r>
          </a:p>
          <a:p>
            <a:endParaRPr lang="en-US" dirty="0">
              <a:ea typeface="Calibri"/>
              <a:cs typeface="Calibri"/>
            </a:endParaRPr>
          </a:p>
          <a:p>
            <a:r>
              <a:rPr lang="en-US" dirty="0"/>
              <a:t>Potential outside lenders face a winner’s curse when competing to lend to a borrower with an incumbent lender, as the outside lenders are less informed </a:t>
            </a:r>
          </a:p>
          <a:p>
            <a:endParaRPr lang="en-US" dirty="0">
              <a:ea typeface="Calibri"/>
              <a:cs typeface="Calibri"/>
            </a:endParaRPr>
          </a:p>
          <a:p>
            <a:r>
              <a:rPr lang="en-US" dirty="0"/>
              <a:t>Borrowers respond to information asymmetry by publicly sharing information, which reduces loan spreads by increasing lender competition</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Relationship lenders often acquire private information about borrowers, creating an information asymmetry that makes it costly for borrowers to switch lenders. This allows relationship lenders to increase loan spreads and hold up borrowers</a:t>
            </a:r>
          </a:p>
          <a:p>
            <a:endParaRPr lang="en-US" dirty="0">
              <a:ea typeface="Calibri"/>
              <a:cs typeface="Calibri"/>
            </a:endParaRPr>
          </a:p>
          <a:p>
            <a:r>
              <a:rPr lang="en-US" dirty="0"/>
              <a:t>Potential outside lenders face a winner’s curse when competing to lend to a borrower with an incumbent lender, as the outside lenders are less informed </a:t>
            </a:r>
          </a:p>
          <a:p>
            <a:endParaRPr lang="en-US" dirty="0">
              <a:ea typeface="Calibri"/>
              <a:cs typeface="Calibri"/>
            </a:endParaRPr>
          </a:p>
          <a:p>
            <a:r>
              <a:rPr lang="en-US" dirty="0"/>
              <a:t>Borrowers respond to information asymmetry by publicly sharing information, which reduces loan spreads by increasing lender competition</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1995082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Relationship lenders often acquire private information about borrowers, creating an information asymmetry that makes it costly for borrowers to switch lenders. This allows relationship lenders to increase loan spreads and hold up borrowers</a:t>
            </a:r>
          </a:p>
          <a:p>
            <a:endParaRPr lang="en-US" dirty="0">
              <a:ea typeface="Calibri"/>
              <a:cs typeface="Calibri"/>
            </a:endParaRPr>
          </a:p>
          <a:p>
            <a:r>
              <a:rPr lang="en-US" dirty="0"/>
              <a:t>Potential outside lenders face a winner’s curse when competing to lend to a borrower with an incumbent lender, as the outside lenders are less informed </a:t>
            </a:r>
          </a:p>
          <a:p>
            <a:endParaRPr lang="en-US" dirty="0">
              <a:ea typeface="Calibri"/>
              <a:cs typeface="Calibri"/>
            </a:endParaRPr>
          </a:p>
          <a:p>
            <a:r>
              <a:rPr lang="en-US" dirty="0"/>
              <a:t>Borrowers respond to information asymmetry by publicly sharing information, which reduces loan spreads by increasing lender competition</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a:p>
        </p:txBody>
      </p:sp>
    </p:spTree>
    <p:extLst>
      <p:ext uri="{BB962C8B-B14F-4D97-AF65-F5344CB8AC3E}">
        <p14:creationId xmlns:p14="http://schemas.microsoft.com/office/powerpoint/2010/main" val="1142590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 introduced Rule 10b-18 in 1982 to provide a safe harbor for companies repurchasing their own shares, protecting them from charges of market manipulation.</a:t>
            </a:r>
            <a:br>
              <a:rPr lang="en-US" dirty="0"/>
            </a:br>
            <a:br>
              <a:rPr lang="en-US" dirty="0"/>
            </a:br>
            <a:r>
              <a:rPr lang="en-US" b="1" dirty="0"/>
              <a:t>SEC Rule 10b-18</a:t>
            </a:r>
            <a:r>
              <a:rPr lang="en-US" dirty="0"/>
              <a:t> was introduced to create a “safe harbor” for companies repurchasing their own shares, protecting them from charges of market manipulation under the Securities Exchange Act of 1934. However, to benefit from this protection, firms must follow four key conditions:</a:t>
            </a:r>
          </a:p>
          <a:p>
            <a:pPr>
              <a:buFont typeface="+mj-lt"/>
              <a:buAutoNum type="arabicPeriod"/>
            </a:pPr>
            <a:r>
              <a:rPr lang="en-US" b="1" dirty="0"/>
              <a:t>Manner</a:t>
            </a:r>
            <a:r>
              <a:rPr lang="en-US" dirty="0"/>
              <a:t>: Firms can only use one broker or dealer to execute repurchases in a single day.</a:t>
            </a:r>
          </a:p>
          <a:p>
            <a:pPr>
              <a:buFont typeface="+mj-lt"/>
              <a:buAutoNum type="arabicPeriod"/>
            </a:pPr>
            <a:r>
              <a:rPr lang="en-US" b="1" dirty="0"/>
              <a:t>Timing</a:t>
            </a:r>
            <a:r>
              <a:rPr lang="en-US" dirty="0"/>
              <a:t>: Firms cannot repurchase shares during the opening or final 30 minutes of trading.</a:t>
            </a:r>
          </a:p>
          <a:p>
            <a:pPr>
              <a:buFont typeface="+mj-lt"/>
              <a:buAutoNum type="arabicPeriod"/>
            </a:pPr>
            <a:r>
              <a:rPr lang="en-US" b="1" dirty="0"/>
              <a:t>Price</a:t>
            </a:r>
            <a:r>
              <a:rPr lang="en-US" dirty="0"/>
              <a:t>: The repurchase price cannot exceed the highest independent bid or the last independent trade price.</a:t>
            </a:r>
          </a:p>
          <a:p>
            <a:pPr>
              <a:buFont typeface="+mj-lt"/>
              <a:buAutoNum type="arabicPeriod"/>
            </a:pPr>
            <a:r>
              <a:rPr lang="en-US" b="1" dirty="0"/>
              <a:t>Volume</a:t>
            </a:r>
            <a:r>
              <a:rPr lang="en-US" dirty="0"/>
              <a:t>: Firms cannot repurchase more than 25% of the average daily trading volume over the previous four weeks.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1040449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a:p>
        </p:txBody>
      </p:sp>
    </p:spTree>
    <p:extLst>
      <p:ext uri="{BB962C8B-B14F-4D97-AF65-F5344CB8AC3E}">
        <p14:creationId xmlns:p14="http://schemas.microsoft.com/office/powerpoint/2010/main" val="3777218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9</a:t>
            </a:fld>
            <a:endParaRPr lang="en-US"/>
          </a:p>
        </p:txBody>
      </p:sp>
    </p:spTree>
    <p:extLst>
      <p:ext uri="{BB962C8B-B14F-4D97-AF65-F5344CB8AC3E}">
        <p14:creationId xmlns:p14="http://schemas.microsoft.com/office/powerpoint/2010/main" val="2506531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10</a:t>
            </a:fld>
            <a:endParaRPr lang="en-US"/>
          </a:p>
        </p:txBody>
      </p:sp>
    </p:spTree>
    <p:extLst>
      <p:ext uri="{BB962C8B-B14F-4D97-AF65-F5344CB8AC3E}">
        <p14:creationId xmlns:p14="http://schemas.microsoft.com/office/powerpoint/2010/main" val="2449935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1359296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a:p>
        </p:txBody>
      </p:sp>
    </p:spTree>
    <p:extLst>
      <p:ext uri="{BB962C8B-B14F-4D97-AF65-F5344CB8AC3E}">
        <p14:creationId xmlns:p14="http://schemas.microsoft.com/office/powerpoint/2010/main" val="3350740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19985647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3736809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meaning the number of companies repurchasing shares stayed roughly the same.</a:t>
            </a:r>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5742192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Tick-Constrained Firms:</a:t>
            </a:r>
          </a:p>
          <a:p>
            <a:pPr>
              <a:buFont typeface="Arial" panose="020B0604020202020204" pitchFamily="34" charset="0"/>
              <a:buChar char="•"/>
            </a:pPr>
            <a:r>
              <a:rPr lang="en-US" dirty="0"/>
              <a:t>These firms had </a:t>
            </a:r>
            <a:r>
              <a:rPr lang="en-US" b="1" dirty="0"/>
              <a:t>pre-Pilot quoted spreads</a:t>
            </a:r>
            <a:r>
              <a:rPr lang="en-US" dirty="0"/>
              <a:t> (the difference between bid and ask prices) that were </a:t>
            </a:r>
            <a:r>
              <a:rPr lang="en-US" b="1" dirty="0"/>
              <a:t>less than 5 cents</a:t>
            </a:r>
            <a:r>
              <a:rPr lang="en-US" dirty="0"/>
              <a:t>.</a:t>
            </a:r>
          </a:p>
          <a:p>
            <a:pPr>
              <a:buFont typeface="Arial" panose="020B0604020202020204" pitchFamily="34" charset="0"/>
              <a:buChar char="•"/>
            </a:pPr>
            <a:r>
              <a:rPr lang="en-US" dirty="0"/>
              <a:t>The Tick Size Pilot </a:t>
            </a:r>
            <a:r>
              <a:rPr lang="en-US" b="1" dirty="0"/>
              <a:t>imposed a binding constraint</a:t>
            </a:r>
            <a:r>
              <a:rPr lang="en-US" dirty="0"/>
              <a:t> on these firms by increasing the tick size to 5 cents, meaning these firms faced tighter trading conditions and greater price competition at the new, wider tick size.</a:t>
            </a:r>
          </a:p>
          <a:p>
            <a:pPr>
              <a:buFont typeface="Arial" panose="020B0604020202020204" pitchFamily="34" charset="0"/>
              <a:buChar char="•"/>
            </a:pPr>
            <a:r>
              <a:rPr lang="en-US" dirty="0"/>
              <a:t>Results showed that </a:t>
            </a:r>
            <a:r>
              <a:rPr lang="en-US" b="1" dirty="0"/>
              <a:t>tick-constrained firms experienced a larger reduction in share repurchases</a:t>
            </a:r>
            <a:r>
              <a:rPr lang="en-US" dirty="0"/>
              <a:t>, around 45%, because the wider tick size increased queuing competition (more traders quoting the same price), making it harder for firms to repurchase shares at the price ceiling.</a:t>
            </a:r>
          </a:p>
          <a:p>
            <a:r>
              <a:rPr lang="en-US" b="1" dirty="0"/>
              <a:t>Tick-Unconstrained Firms:</a:t>
            </a:r>
          </a:p>
          <a:p>
            <a:pPr>
              <a:buFont typeface="Arial" panose="020B0604020202020204" pitchFamily="34" charset="0"/>
              <a:buChar char="•"/>
            </a:pPr>
            <a:r>
              <a:rPr lang="en-US" dirty="0"/>
              <a:t>These firms had </a:t>
            </a:r>
            <a:r>
              <a:rPr lang="en-US" b="1" dirty="0"/>
              <a:t>pre-Pilot quoted spreads greater than 5 cents</a:t>
            </a:r>
            <a:r>
              <a:rPr lang="en-US" dirty="0"/>
              <a:t>, so the new 5-cent tick size did not impose as significant a constraint on them.</a:t>
            </a:r>
          </a:p>
          <a:p>
            <a:pPr>
              <a:buFont typeface="Arial" panose="020B0604020202020204" pitchFamily="34" charset="0"/>
              <a:buChar char="•"/>
            </a:pPr>
            <a:r>
              <a:rPr lang="en-US" dirty="0"/>
              <a:t>Since their trading conditions were already broader, they did not face the same level of increased competition at the new tick size.</a:t>
            </a:r>
          </a:p>
          <a:p>
            <a:pPr>
              <a:buFont typeface="Arial" panose="020B0604020202020204" pitchFamily="34" charset="0"/>
              <a:buChar char="•"/>
            </a:pPr>
            <a:r>
              <a:rPr lang="en-US" b="1" dirty="0"/>
              <a:t>Tick-unconstrained firms showed little to no reduction in share repurchases</a:t>
            </a:r>
            <a:r>
              <a:rPr lang="en-US" dirty="0"/>
              <a:t>, indicating that the Pilot's effects were mainly felt by firms that were constrained by the new tick size rules.</a:t>
            </a:r>
          </a:p>
          <a:p>
            <a:r>
              <a:rPr lang="en-US" dirty="0"/>
              <a:t>In summary, </a:t>
            </a:r>
            <a:r>
              <a:rPr lang="en-US" b="1" dirty="0"/>
              <a:t>tick-constrained firms</a:t>
            </a:r>
            <a:r>
              <a:rPr lang="en-US" dirty="0"/>
              <a:t> were more heavily impacted by the tick size increase, which led to a significant drop in their ability to buy back shares, while </a:t>
            </a:r>
            <a:r>
              <a:rPr lang="en-US" b="1" dirty="0"/>
              <a:t>tick-unconstrained firms</a:t>
            </a:r>
            <a:r>
              <a:rPr lang="en-US" dirty="0"/>
              <a:t> were relatively unaffected.</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1689727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br>
              <a:rPr lang="en-US" dirty="0"/>
            </a:br>
            <a:br>
              <a:rPr lang="en-US" dirty="0"/>
            </a:br>
            <a:r>
              <a:rPr lang="en-US" dirty="0"/>
              <a:t>Model 3: controls for cash and leverage effects over time. </a:t>
            </a:r>
          </a:p>
        </p:txBody>
      </p:sp>
      <p:sp>
        <p:nvSpPr>
          <p:cNvPr id="4" name="Slide Number Placeholder 3"/>
          <p:cNvSpPr>
            <a:spLocks noGrp="1"/>
          </p:cNvSpPr>
          <p:nvPr>
            <p:ph type="sldNum" sz="quarter" idx="5"/>
          </p:nvPr>
        </p:nvSpPr>
        <p:spPr/>
        <p:txBody>
          <a:bodyPr/>
          <a:lstStyle/>
          <a:p>
            <a:fld id="{55CCDD01-DD87-4F55-A952-E63114553089}" type="slidenum">
              <a:rPr lang="en-US" smtClean="0"/>
              <a:t>17</a:t>
            </a:fld>
            <a:endParaRPr lang="en-US"/>
          </a:p>
        </p:txBody>
      </p:sp>
    </p:spTree>
    <p:extLst>
      <p:ext uri="{BB962C8B-B14F-4D97-AF65-F5344CB8AC3E}">
        <p14:creationId xmlns:p14="http://schemas.microsoft.com/office/powerpoint/2010/main" val="2856334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br>
              <a:rPr lang="en-US" dirty="0"/>
            </a:br>
            <a:br>
              <a:rPr lang="en-US" dirty="0"/>
            </a:br>
            <a:r>
              <a:rPr lang="en-US" dirty="0"/>
              <a:t>Model 3: controls for cash and leverage effects over time. </a:t>
            </a:r>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38280799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br>
              <a:rPr lang="en-US" dirty="0"/>
            </a:br>
            <a:br>
              <a:rPr lang="en-US" dirty="0"/>
            </a:br>
            <a:r>
              <a:rPr lang="en-US" dirty="0"/>
              <a:t>Model 3: controls for cash and leverage effects over time. </a:t>
            </a:r>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10766748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31166821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21</a:t>
            </a:fld>
            <a:endParaRPr lang="en-US"/>
          </a:p>
        </p:txBody>
      </p:sp>
    </p:spTree>
    <p:extLst>
      <p:ext uri="{BB962C8B-B14F-4D97-AF65-F5344CB8AC3E}">
        <p14:creationId xmlns:p14="http://schemas.microsoft.com/office/powerpoint/2010/main" val="2323701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22</a:t>
            </a:fld>
            <a:endParaRPr lang="en-US"/>
          </a:p>
        </p:txBody>
      </p:sp>
    </p:spTree>
    <p:extLst>
      <p:ext uri="{BB962C8B-B14F-4D97-AF65-F5344CB8AC3E}">
        <p14:creationId xmlns:p14="http://schemas.microsoft.com/office/powerpoint/2010/main" val="40014748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23</a:t>
            </a:fld>
            <a:endParaRPr lang="en-US"/>
          </a:p>
        </p:txBody>
      </p:sp>
    </p:spTree>
    <p:extLst>
      <p:ext uri="{BB962C8B-B14F-4D97-AF65-F5344CB8AC3E}">
        <p14:creationId xmlns:p14="http://schemas.microsoft.com/office/powerpoint/2010/main" val="6644038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24</a:t>
            </a:fld>
            <a:endParaRPr lang="en-US"/>
          </a:p>
        </p:txBody>
      </p:sp>
    </p:spTree>
    <p:extLst>
      <p:ext uri="{BB962C8B-B14F-4D97-AF65-F5344CB8AC3E}">
        <p14:creationId xmlns:p14="http://schemas.microsoft.com/office/powerpoint/2010/main" val="24889206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25</a:t>
            </a:fld>
            <a:endParaRPr lang="en-US"/>
          </a:p>
        </p:txBody>
      </p:sp>
    </p:spTree>
    <p:extLst>
      <p:ext uri="{BB962C8B-B14F-4D97-AF65-F5344CB8AC3E}">
        <p14:creationId xmlns:p14="http://schemas.microsoft.com/office/powerpoint/2010/main" val="33617872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1994 Nasdaq Manning Rule</a:t>
            </a:r>
            <a:r>
              <a:rPr lang="en-US" dirty="0"/>
              <a:t>:</a:t>
            </a:r>
          </a:p>
          <a:p>
            <a:pPr>
              <a:buFont typeface="Arial" panose="020B0604020202020204" pitchFamily="34" charset="0"/>
              <a:buChar char="•"/>
            </a:pPr>
            <a:r>
              <a:rPr lang="en-US" dirty="0"/>
              <a:t>Prevented dealers from trading ahead of customers, leading to a 60% increase in repurchases for Nasdaq firms.</a:t>
            </a:r>
          </a:p>
          <a:p>
            <a:r>
              <a:rPr lang="en-US" b="1" dirty="0"/>
              <a:t>1997 Order Handling Rules</a:t>
            </a:r>
            <a:r>
              <a:rPr lang="en-US" dirty="0"/>
              <a:t>:</a:t>
            </a:r>
          </a:p>
          <a:p>
            <a:pPr>
              <a:buFont typeface="Arial" panose="020B0604020202020204" pitchFamily="34" charset="0"/>
              <a:buChar char="•"/>
            </a:pPr>
            <a:r>
              <a:rPr lang="en-US" dirty="0"/>
              <a:t>Made firm limit orders visible to all dealers, increasing transparency and improving firms' execution priority. This resulted in a 38% increase in repurchases for Nasdaq firms.</a:t>
            </a:r>
          </a:p>
          <a:p>
            <a:r>
              <a:rPr lang="en-US" b="1" dirty="0"/>
              <a:t>1997 Tick Size Reduction</a:t>
            </a:r>
            <a:r>
              <a:rPr lang="en-US" dirty="0"/>
              <a:t>:</a:t>
            </a:r>
          </a:p>
          <a:p>
            <a:pPr>
              <a:buFont typeface="Arial" panose="020B0604020202020204" pitchFamily="34" charset="0"/>
              <a:buChar char="•"/>
            </a:pPr>
            <a:r>
              <a:rPr lang="en-US" dirty="0"/>
              <a:t>Reduced tick sizes (price increments) from $1/8 to $1/16, lowering transaction costs and increasing repurchases by 41%.</a:t>
            </a:r>
          </a:p>
          <a:p>
            <a:r>
              <a:rPr lang="en-US" b="1" dirty="0"/>
              <a:t>2001 Decimalization</a:t>
            </a:r>
            <a:r>
              <a:rPr lang="en-US" dirty="0"/>
              <a:t>:</a:t>
            </a:r>
          </a:p>
          <a:p>
            <a:pPr>
              <a:buFont typeface="Arial" panose="020B0604020202020204" pitchFamily="34" charset="0"/>
              <a:buChar char="•"/>
            </a:pPr>
            <a:r>
              <a:rPr lang="en-US" dirty="0"/>
              <a:t>Reduced tick sizes further to $0.01, making trading cheaper and increasing repurchases by 32%.</a:t>
            </a:r>
          </a:p>
          <a:p>
            <a:r>
              <a:rPr lang="en-US" b="1" dirty="0"/>
              <a:t>2003 NYSE </a:t>
            </a:r>
            <a:r>
              <a:rPr lang="en-US" b="1" dirty="0" err="1"/>
              <a:t>Autoquote</a:t>
            </a:r>
            <a:r>
              <a:rPr lang="en-US" b="1" dirty="0"/>
              <a:t> Installation</a:t>
            </a:r>
            <a:r>
              <a:rPr lang="en-US" dirty="0"/>
              <a:t>:</a:t>
            </a:r>
          </a:p>
          <a:p>
            <a:pPr>
              <a:buFont typeface="Arial" panose="020B0604020202020204" pitchFamily="34" charset="0"/>
              <a:buChar char="•"/>
            </a:pPr>
            <a:r>
              <a:rPr lang="en-US" dirty="0"/>
              <a:t>Automating order execution reduced costs and compliance friction, boosting repurchases by 25%.</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27</a:t>
            </a:fld>
            <a:endParaRPr lang="en-US"/>
          </a:p>
        </p:txBody>
      </p:sp>
    </p:spTree>
    <p:extLst>
      <p:ext uri="{BB962C8B-B14F-4D97-AF65-F5344CB8AC3E}">
        <p14:creationId xmlns:p14="http://schemas.microsoft.com/office/powerpoint/2010/main" val="1673863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Book leverage. </a:t>
            </a:r>
          </a:p>
        </p:txBody>
      </p:sp>
      <p:sp>
        <p:nvSpPr>
          <p:cNvPr id="4" name="Slide Number Placeholder 3"/>
          <p:cNvSpPr>
            <a:spLocks noGrp="1"/>
          </p:cNvSpPr>
          <p:nvPr>
            <p:ph type="sldNum" sz="quarter" idx="5"/>
          </p:nvPr>
        </p:nvSpPr>
        <p:spPr/>
        <p:txBody>
          <a:bodyPr/>
          <a:lstStyle/>
          <a:p>
            <a:fld id="{55CCDD01-DD87-4F55-A952-E63114553089}" type="slidenum">
              <a:rPr lang="en-US" smtClean="0"/>
              <a:t>29</a:t>
            </a:fld>
            <a:endParaRPr lang="en-US"/>
          </a:p>
        </p:txBody>
      </p:sp>
    </p:spTree>
    <p:extLst>
      <p:ext uri="{BB962C8B-B14F-4D97-AF65-F5344CB8AC3E}">
        <p14:creationId xmlns:p14="http://schemas.microsoft.com/office/powerpoint/2010/main" val="15743257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34</a:t>
            </a:fld>
            <a:endParaRPr lang="en-US"/>
          </a:p>
        </p:txBody>
      </p:sp>
    </p:spTree>
    <p:extLst>
      <p:ext uri="{BB962C8B-B14F-4D97-AF65-F5344CB8AC3E}">
        <p14:creationId xmlns:p14="http://schemas.microsoft.com/office/powerpoint/2010/main" val="4079982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9/16/2024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9/16/2024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9/16/2024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9/16/2024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fontScale="90000"/>
          </a:bodyPr>
          <a:lstStyle/>
          <a:p>
            <a:r>
              <a:rPr lang="en-US" sz="3600" dirty="0">
                <a:ea typeface="+mj-lt"/>
                <a:cs typeface="+mj-lt"/>
              </a:rPr>
              <a:t>Price Ceilings, Market Structure, and Payout Policies</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475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err="1">
                <a:solidFill>
                  <a:schemeClr val="tx1"/>
                </a:solidFill>
                <a:ea typeface="Calibri"/>
                <a:cs typeface="Calibri"/>
              </a:rPr>
              <a:t>Xiongshi</a:t>
            </a:r>
            <a:r>
              <a:rPr lang="en-US" sz="2900" b="1" dirty="0">
                <a:solidFill>
                  <a:schemeClr val="tx1"/>
                </a:solidFill>
                <a:ea typeface="Calibri"/>
                <a:cs typeface="Calibri"/>
              </a:rPr>
              <a:t> Li</a:t>
            </a:r>
            <a:br>
              <a:rPr lang="en-US" sz="2900" dirty="0">
                <a:solidFill>
                  <a:schemeClr val="tx1"/>
                </a:solidFill>
                <a:ea typeface="Calibri"/>
                <a:cs typeface="Calibri"/>
              </a:rPr>
            </a:br>
            <a:r>
              <a:rPr lang="en-US" sz="2900" dirty="0">
                <a:solidFill>
                  <a:schemeClr val="tx1"/>
                </a:solidFill>
                <a:ea typeface="Calibri"/>
                <a:cs typeface="Calibri"/>
              </a:rPr>
              <a:t>Guangxi University of Finance and Economics, China</a:t>
            </a:r>
          </a:p>
          <a:p>
            <a:br>
              <a:rPr lang="en-US" sz="2900" b="1" dirty="0">
                <a:solidFill>
                  <a:schemeClr val="tx1"/>
                </a:solidFill>
                <a:ea typeface="Calibri"/>
                <a:cs typeface="Calibri"/>
              </a:rPr>
            </a:br>
            <a:r>
              <a:rPr lang="en-US" sz="2900" b="1" dirty="0">
                <a:solidFill>
                  <a:schemeClr val="tx1"/>
                </a:solidFill>
                <a:ea typeface="Calibri"/>
                <a:cs typeface="Calibri"/>
              </a:rPr>
              <a:t>Mao Ye</a:t>
            </a:r>
            <a:br>
              <a:rPr lang="en-US" sz="2900" b="1" dirty="0">
                <a:solidFill>
                  <a:schemeClr val="tx1"/>
                </a:solidFill>
                <a:ea typeface="Calibri"/>
                <a:cs typeface="Calibri"/>
              </a:rPr>
            </a:br>
            <a:r>
              <a:rPr lang="en-US" sz="2900" dirty="0">
                <a:solidFill>
                  <a:schemeClr val="tx1"/>
                </a:solidFill>
                <a:ea typeface="Calibri"/>
                <a:cs typeface="Calibri"/>
              </a:rPr>
              <a:t>Cornell University</a:t>
            </a:r>
          </a:p>
          <a:p>
            <a:br>
              <a:rPr lang="en-US" sz="2900" dirty="0">
                <a:solidFill>
                  <a:schemeClr val="tx1"/>
                </a:solidFill>
                <a:ea typeface="Calibri"/>
                <a:cs typeface="Calibri"/>
              </a:rPr>
            </a:br>
            <a:r>
              <a:rPr lang="en-US" sz="2900" b="1" dirty="0">
                <a:solidFill>
                  <a:schemeClr val="tx1"/>
                </a:solidFill>
                <a:ea typeface="Calibri"/>
                <a:cs typeface="Calibri"/>
              </a:rPr>
              <a:t>Miles Zheng</a:t>
            </a:r>
            <a:br>
              <a:rPr lang="en-US" sz="2900" b="1" dirty="0">
                <a:ea typeface="Calibri"/>
                <a:cs typeface="Calibri"/>
              </a:rPr>
            </a:br>
            <a:r>
              <a:rPr lang="en-US" sz="2900" dirty="0">
                <a:solidFill>
                  <a:schemeClr val="tx1"/>
                </a:solidFill>
                <a:ea typeface="Calibri"/>
                <a:cs typeface="Calibri"/>
              </a:rPr>
              <a:t>Texas Christian University</a:t>
            </a:r>
          </a:p>
          <a:p>
            <a:endParaRPr lang="en-US" sz="2600" i="1" dirty="0">
              <a:solidFill>
                <a:schemeClr val="tx1"/>
              </a:solidFill>
              <a:latin typeface="+mj-lt"/>
              <a:ea typeface="Calibri"/>
              <a:cs typeface="Times New Roman"/>
            </a:endParaRPr>
          </a:p>
          <a:p>
            <a:endParaRPr lang="en-US" sz="2900" dirty="0">
              <a:solidFill>
                <a:srgbClr val="000000"/>
              </a:solidFill>
              <a:ea typeface="Calibri"/>
              <a:cs typeface="Times New Roman"/>
            </a:endParaRPr>
          </a:p>
          <a:p>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mn-lt"/>
                <a:cs typeface="+mn-lt"/>
              </a:rPr>
              <a:t>How does voluntary information sharing by private borrowers affect lender competition, borrower switching behavior, loan financing costs, and financial constraints?</a:t>
            </a:r>
            <a:endParaRPr lang="en-US" sz="2800" dirty="0">
              <a:ea typeface="Calibri"/>
              <a:cs typeface="Times New Roman"/>
            </a:endParaRP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108824"/>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895927"/>
            <a:ext cx="8229600" cy="3715416"/>
          </a:xfrm>
        </p:spPr>
        <p:txBody>
          <a:bodyPr vert="horz" lIns="91440" tIns="45720" rIns="91440" bIns="45720" rtlCol="0" anchor="t">
            <a:noAutofit/>
          </a:bodyPr>
          <a:lstStyle/>
          <a:p>
            <a:pPr marL="342900" lvl="1" indent="-342900">
              <a:buFont typeface="Arial"/>
              <a:buChar char="•"/>
            </a:pPr>
            <a:r>
              <a:rPr lang="en-US" sz="2000" dirty="0">
                <a:ea typeface="Calibri"/>
                <a:cs typeface="Calibri"/>
              </a:rPr>
              <a:t>Miller and Modigliani (1961) argue that in a frictionless market, it does not matter whether firms pay out through dividends or share repurchases. It also suggests that shareholders would prefer repurchases if dividends are taxed at a higher rate than capital gains. </a:t>
            </a:r>
          </a:p>
          <a:p>
            <a:pPr marL="0" lvl="1" indent="0">
              <a:buNone/>
            </a:pPr>
            <a:endParaRPr lang="en-US" sz="2000" dirty="0">
              <a:ea typeface="Calibri"/>
              <a:cs typeface="Calibri"/>
            </a:endParaRPr>
          </a:p>
          <a:p>
            <a:pPr marL="342900" lvl="1" indent="-342900">
              <a:buFont typeface="Arial"/>
              <a:buChar char="•"/>
            </a:pPr>
            <a:r>
              <a:rPr lang="en-US" sz="2000" dirty="0">
                <a:ea typeface="Calibri"/>
                <a:cs typeface="Calibri"/>
              </a:rPr>
              <a:t>Surprisingly, dividends dominated share repurchases until the 1990s. </a:t>
            </a: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108824"/>
            <a:ext cx="8229600" cy="681526"/>
          </a:xfrm>
        </p:spPr>
        <p:txBody>
          <a:bodyPr>
            <a:normAutofit fontScale="90000"/>
          </a:bodyPr>
          <a:lstStyle/>
          <a:p>
            <a:r>
              <a:rPr lang="en-US" dirty="0"/>
              <a:t>Prior Literature</a:t>
            </a:r>
          </a:p>
        </p:txBody>
      </p:sp>
      <p:pic>
        <p:nvPicPr>
          <p:cNvPr id="5" name="Content Placeholder 4">
            <a:extLst>
              <a:ext uri="{FF2B5EF4-FFF2-40B4-BE49-F238E27FC236}">
                <a16:creationId xmlns:a16="http://schemas.microsoft.com/office/drawing/2014/main" id="{6AD6EC23-14F1-85A6-7096-67BA6C8BCAE2}"/>
              </a:ext>
            </a:extLst>
          </p:cNvPr>
          <p:cNvPicPr>
            <a:picLocks noGrp="1" noChangeAspect="1"/>
          </p:cNvPicPr>
          <p:nvPr>
            <p:ph idx="1"/>
          </p:nvPr>
        </p:nvPicPr>
        <p:blipFill>
          <a:blip r:embed="rId3"/>
          <a:stretch>
            <a:fillRect/>
          </a:stretch>
        </p:blipFill>
        <p:spPr>
          <a:xfrm>
            <a:off x="2069417" y="790350"/>
            <a:ext cx="5005165" cy="3556862"/>
          </a:xfrm>
        </p:spPr>
      </p:pic>
    </p:spTree>
    <p:extLst>
      <p:ext uri="{BB962C8B-B14F-4D97-AF65-F5344CB8AC3E}">
        <p14:creationId xmlns:p14="http://schemas.microsoft.com/office/powerpoint/2010/main" val="3144348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108824"/>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895927"/>
            <a:ext cx="8229600" cy="3715416"/>
          </a:xfrm>
        </p:spPr>
        <p:txBody>
          <a:bodyPr vert="horz" lIns="91440" tIns="45720" rIns="91440" bIns="45720" rtlCol="0" anchor="t">
            <a:noAutofit/>
          </a:bodyPr>
          <a:lstStyle/>
          <a:p>
            <a:pPr marL="342900" lvl="1" indent="-342900">
              <a:buFont typeface="Arial"/>
              <a:buChar char="•"/>
            </a:pPr>
            <a:r>
              <a:rPr lang="en-US" sz="2000" dirty="0">
                <a:ea typeface="Calibri"/>
                <a:cs typeface="Calibri"/>
              </a:rPr>
              <a:t>Market structure reforms have been reducing friction that constrain issuers from buying at the price ceilings.</a:t>
            </a:r>
          </a:p>
          <a:p>
            <a:pPr marL="342900" lvl="1" indent="-342900">
              <a:buFont typeface="Arial"/>
              <a:buChar char="•"/>
            </a:pPr>
            <a:endParaRPr lang="en-US" sz="2000" dirty="0">
              <a:ea typeface="Calibri"/>
              <a:cs typeface="Calibri"/>
            </a:endParaRPr>
          </a:p>
        </p:txBody>
      </p:sp>
    </p:spTree>
    <p:extLst>
      <p:ext uri="{BB962C8B-B14F-4D97-AF65-F5344CB8AC3E}">
        <p14:creationId xmlns:p14="http://schemas.microsoft.com/office/powerpoint/2010/main" val="930727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ADAAC-99D9-28B2-F5C3-74813E2016D4}"/>
              </a:ext>
            </a:extLst>
          </p:cNvPr>
          <p:cNvSpPr>
            <a:spLocks noGrp="1"/>
          </p:cNvSpPr>
          <p:nvPr>
            <p:ph type="title"/>
          </p:nvPr>
        </p:nvSpPr>
        <p:spPr/>
        <p:txBody>
          <a:bodyPr/>
          <a:lstStyle/>
          <a:p>
            <a:r>
              <a:rPr lang="en-US" dirty="0"/>
              <a:t>Institutional Background</a:t>
            </a:r>
          </a:p>
        </p:txBody>
      </p:sp>
      <p:sp>
        <p:nvSpPr>
          <p:cNvPr id="3" name="Content Placeholder 2">
            <a:extLst>
              <a:ext uri="{FF2B5EF4-FFF2-40B4-BE49-F238E27FC236}">
                <a16:creationId xmlns:a16="http://schemas.microsoft.com/office/drawing/2014/main" id="{E45057AA-1194-62DD-1884-7D4187BC7C3B}"/>
              </a:ext>
            </a:extLst>
          </p:cNvPr>
          <p:cNvSpPr>
            <a:spLocks noGrp="1"/>
          </p:cNvSpPr>
          <p:nvPr>
            <p:ph idx="1"/>
          </p:nvPr>
        </p:nvSpPr>
        <p:spPr/>
        <p:txBody>
          <a:bodyPr/>
          <a:lstStyle/>
          <a:p>
            <a:r>
              <a:rPr lang="en-US" dirty="0"/>
              <a:t>Price Ceilings enacted under SEC Rule 10b-18</a:t>
            </a:r>
          </a:p>
          <a:p>
            <a:r>
              <a:rPr lang="en-US" dirty="0"/>
              <a:t>Evolving markets developed algorithms and dark pools to reduce costs and risk associated with share repurchases </a:t>
            </a:r>
          </a:p>
          <a:p>
            <a:pPr marL="0" indent="0">
              <a:buNone/>
            </a:pPr>
            <a:endParaRPr lang="en-US" dirty="0"/>
          </a:p>
        </p:txBody>
      </p:sp>
    </p:spTree>
    <p:extLst>
      <p:ext uri="{BB962C8B-B14F-4D97-AF65-F5344CB8AC3E}">
        <p14:creationId xmlns:p14="http://schemas.microsoft.com/office/powerpoint/2010/main" val="569361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9BDF-685E-4E84-164E-063738161EA0}"/>
              </a:ext>
            </a:extLst>
          </p:cNvPr>
          <p:cNvSpPr>
            <a:spLocks noGrp="1"/>
          </p:cNvSpPr>
          <p:nvPr>
            <p:ph type="title"/>
          </p:nvPr>
        </p:nvSpPr>
        <p:spPr/>
        <p:txBody>
          <a:bodyPr/>
          <a:lstStyle/>
          <a:p>
            <a:r>
              <a:rPr lang="en-US" dirty="0"/>
              <a:t>Key Findings</a:t>
            </a:r>
          </a:p>
        </p:txBody>
      </p:sp>
      <p:sp>
        <p:nvSpPr>
          <p:cNvPr id="3" name="Content Placeholder 2">
            <a:extLst>
              <a:ext uri="{FF2B5EF4-FFF2-40B4-BE49-F238E27FC236}">
                <a16:creationId xmlns:a16="http://schemas.microsoft.com/office/drawing/2014/main" id="{42FB8C10-60D5-40E3-47EB-1B9E7603DB57}"/>
              </a:ext>
            </a:extLst>
          </p:cNvPr>
          <p:cNvSpPr>
            <a:spLocks noGrp="1"/>
          </p:cNvSpPr>
          <p:nvPr>
            <p:ph idx="1"/>
          </p:nvPr>
        </p:nvSpPr>
        <p:spPr/>
        <p:txBody>
          <a:bodyPr/>
          <a:lstStyle/>
          <a:p>
            <a:r>
              <a:rPr lang="en-US" dirty="0"/>
              <a:t>When trading becomes more complex or expensive, firms reduce their share buyback significantly. </a:t>
            </a:r>
          </a:p>
          <a:p>
            <a:r>
              <a:rPr lang="en-US" dirty="0"/>
              <a:t>Market-structure reforms have played a key role in boosting share repurchase.</a:t>
            </a:r>
          </a:p>
        </p:txBody>
      </p:sp>
    </p:spTree>
    <p:extLst>
      <p:ext uri="{BB962C8B-B14F-4D97-AF65-F5344CB8AC3E}">
        <p14:creationId xmlns:p14="http://schemas.microsoft.com/office/powerpoint/2010/main" val="3188028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noAutofit/>
          </a:bodyPr>
          <a:lstStyle/>
          <a:p>
            <a:r>
              <a:rPr lang="en-US" dirty="0"/>
              <a:t>Experiment Details</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1063229"/>
            <a:ext cx="8229600" cy="3394472"/>
          </a:xfrm>
        </p:spPr>
        <p:txBody>
          <a:bodyPr vert="horz" lIns="91440" tIns="45720" rIns="91440" bIns="45720" rtlCol="0" anchor="t">
            <a:normAutofit/>
          </a:bodyPr>
          <a:lstStyle/>
          <a:p>
            <a:pPr marL="171450" indent="-171450">
              <a:buFont typeface="Arial" panose="020B0604020202020204" pitchFamily="34" charset="0"/>
              <a:buChar char="•"/>
            </a:pPr>
            <a:r>
              <a:rPr lang="en-US" dirty="0">
                <a:ea typeface="Calibri"/>
                <a:cs typeface="Calibri"/>
              </a:rPr>
              <a:t> Tick Size Pilot Program: SEC experiment to from 2016 to 2018. It tested how changing the tick size for stocks from $0.01 to $0.05 impacted trading behaviors. This was a partial reversal of preview reforms.</a:t>
            </a:r>
          </a:p>
          <a:p>
            <a:pPr marL="171450" indent="-171450">
              <a:buFont typeface="Arial" panose="020B0604020202020204" pitchFamily="34" charset="0"/>
              <a:buChar char="•"/>
            </a:pPr>
            <a:endParaRPr lang="en-US" dirty="0">
              <a:ea typeface="Calibri"/>
              <a:cs typeface="Calibri"/>
            </a:endParaRPr>
          </a:p>
        </p:txBody>
      </p:sp>
    </p:spTree>
    <p:extLst>
      <p:ext uri="{BB962C8B-B14F-4D97-AF65-F5344CB8AC3E}">
        <p14:creationId xmlns:p14="http://schemas.microsoft.com/office/powerpoint/2010/main" val="2158989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noAutofit/>
          </a:bodyPr>
          <a:lstStyle/>
          <a:p>
            <a:r>
              <a:rPr lang="en-US" dirty="0"/>
              <a:t>Experiment Details</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1063229"/>
            <a:ext cx="8229600" cy="3394472"/>
          </a:xfrm>
        </p:spPr>
        <p:txBody>
          <a:bodyPr vert="horz" lIns="91440" tIns="45720" rIns="91440" bIns="45720" rtlCol="0" anchor="t">
            <a:normAutofit/>
          </a:bodyPr>
          <a:lstStyle/>
          <a:p>
            <a:pPr marL="171450" indent="-171450">
              <a:buFont typeface="Arial" panose="020B0604020202020204" pitchFamily="34" charset="0"/>
              <a:buChar char="•"/>
            </a:pPr>
            <a:r>
              <a:rPr lang="en-US" dirty="0">
                <a:ea typeface="Calibri"/>
                <a:cs typeface="Calibri"/>
              </a:rPr>
              <a:t> Control Group: 1,199 firms continued to be traded at the 1 cent tick size </a:t>
            </a:r>
          </a:p>
        </p:txBody>
      </p:sp>
    </p:spTree>
    <p:extLst>
      <p:ext uri="{BB962C8B-B14F-4D97-AF65-F5344CB8AC3E}">
        <p14:creationId xmlns:p14="http://schemas.microsoft.com/office/powerpoint/2010/main" val="2703451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noAutofit/>
          </a:bodyPr>
          <a:lstStyle/>
          <a:p>
            <a:r>
              <a:rPr lang="en-US" dirty="0"/>
              <a:t>Experiment Details</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1063229"/>
            <a:ext cx="8229600" cy="3394472"/>
          </a:xfrm>
        </p:spPr>
        <p:txBody>
          <a:bodyPr vert="horz" lIns="91440" tIns="45720" rIns="91440" bIns="45720" rtlCol="0" anchor="t">
            <a:normAutofit fontScale="92500" lnSpcReduction="10000"/>
          </a:bodyPr>
          <a:lstStyle/>
          <a:p>
            <a:pPr marL="171450" indent="-171450">
              <a:buFont typeface="Arial" panose="020B0604020202020204" pitchFamily="34" charset="0"/>
              <a:buChar char="•"/>
            </a:pPr>
            <a:r>
              <a:rPr lang="en-US" dirty="0">
                <a:ea typeface="Calibri"/>
                <a:cs typeface="Calibri"/>
              </a:rPr>
              <a:t> Treatment Group: 1200 firms were divided into three groups. </a:t>
            </a:r>
          </a:p>
          <a:p>
            <a:pPr marL="571500" lvl="1" indent="-171450">
              <a:buFont typeface="Arial" panose="020B0604020202020204" pitchFamily="34" charset="0"/>
              <a:buChar char="•"/>
            </a:pPr>
            <a:r>
              <a:rPr lang="en-US" dirty="0">
                <a:ea typeface="Calibri"/>
                <a:cs typeface="Calibri"/>
              </a:rPr>
              <a:t>Group 1: quoted in 5 cent increments, but traded in 1 cent increments </a:t>
            </a:r>
          </a:p>
          <a:p>
            <a:pPr marL="571500" lvl="1" indent="-171450">
              <a:buFont typeface="Arial" panose="020B0604020202020204" pitchFamily="34" charset="0"/>
              <a:buChar char="•"/>
            </a:pPr>
            <a:r>
              <a:rPr lang="en-US" dirty="0">
                <a:ea typeface="Calibri"/>
                <a:cs typeface="Calibri"/>
              </a:rPr>
              <a:t>Group 2: quoted and traded in 5 cent increments</a:t>
            </a:r>
          </a:p>
          <a:p>
            <a:pPr marL="571500" lvl="1" indent="-171450">
              <a:buFont typeface="Arial" panose="020B0604020202020204" pitchFamily="34" charset="0"/>
              <a:buChar char="•"/>
            </a:pPr>
            <a:r>
              <a:rPr lang="en-US" dirty="0">
                <a:ea typeface="Calibri"/>
                <a:cs typeface="Calibri"/>
              </a:rPr>
              <a:t>Group 3: same as group 2, but subject to an additional Trade-at-Rule, requiring a price improvement to execute hidden orders</a:t>
            </a:r>
          </a:p>
        </p:txBody>
      </p:sp>
    </p:spTree>
    <p:extLst>
      <p:ext uri="{BB962C8B-B14F-4D97-AF65-F5344CB8AC3E}">
        <p14:creationId xmlns:p14="http://schemas.microsoft.com/office/powerpoint/2010/main" val="1378164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noAutofit/>
          </a:bodyPr>
          <a:lstStyle/>
          <a:p>
            <a:r>
              <a:rPr lang="en-US" dirty="0"/>
              <a:t>Experiment Details</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1063229"/>
            <a:ext cx="8229600" cy="3394472"/>
          </a:xfrm>
        </p:spPr>
        <p:txBody>
          <a:bodyPr vert="horz" lIns="91440" tIns="45720" rIns="91440" bIns="45720" rtlCol="0" anchor="t">
            <a:normAutofit/>
          </a:bodyPr>
          <a:lstStyle/>
          <a:p>
            <a:pPr marL="171450" indent="-171450">
              <a:buFont typeface="Arial" panose="020B0604020202020204" pitchFamily="34" charset="0"/>
              <a:buChar char="•"/>
            </a:pPr>
            <a:r>
              <a:rPr lang="en-US" dirty="0">
                <a:ea typeface="Calibri"/>
                <a:cs typeface="Calibri"/>
              </a:rPr>
              <a:t> Key Variables :</a:t>
            </a:r>
          </a:p>
          <a:p>
            <a:pPr marL="571500" lvl="1" indent="-171450">
              <a:buFont typeface="Arial" panose="020B0604020202020204" pitchFamily="34" charset="0"/>
              <a:buChar char="•"/>
            </a:pPr>
            <a:r>
              <a:rPr lang="en-US" dirty="0">
                <a:ea typeface="Calibri"/>
                <a:cs typeface="Calibri"/>
              </a:rPr>
              <a:t>Repurchase payouts </a:t>
            </a:r>
          </a:p>
          <a:p>
            <a:pPr marL="571500" lvl="1" indent="-171450">
              <a:buFont typeface="Arial" panose="020B0604020202020204" pitchFamily="34" charset="0"/>
              <a:buChar char="•"/>
            </a:pPr>
            <a:r>
              <a:rPr lang="en-US" dirty="0">
                <a:ea typeface="Calibri"/>
                <a:cs typeface="Calibri"/>
              </a:rPr>
              <a:t>Dividend payouts </a:t>
            </a:r>
          </a:p>
          <a:p>
            <a:pPr marL="571500" lvl="1" indent="-171450">
              <a:buFont typeface="Arial" panose="020B0604020202020204" pitchFamily="34" charset="0"/>
              <a:buChar char="•"/>
            </a:pPr>
            <a:r>
              <a:rPr lang="en-US" dirty="0">
                <a:ea typeface="Calibri"/>
                <a:cs typeface="Calibri"/>
              </a:rPr>
              <a:t>Total payouts</a:t>
            </a:r>
          </a:p>
        </p:txBody>
      </p:sp>
    </p:spTree>
    <p:extLst>
      <p:ext uri="{BB962C8B-B14F-4D97-AF65-F5344CB8AC3E}">
        <p14:creationId xmlns:p14="http://schemas.microsoft.com/office/powerpoint/2010/main" val="486170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91740" y="70624"/>
            <a:ext cx="9177086" cy="857250"/>
          </a:xfrm>
          <a:ln>
            <a:solidFill>
              <a:srgbClr val="4472C4"/>
            </a:solidFill>
          </a:ln>
        </p:spPr>
        <p:txBody>
          <a:bodyPr>
            <a:noAutofit/>
          </a:bodyPr>
          <a:lstStyle/>
          <a:p>
            <a:r>
              <a:rPr lang="en-US" sz="2800" dirty="0"/>
              <a:t>Table 1 – Difference-in-Differences Results</a:t>
            </a:r>
            <a:endParaRPr lang="en-US" sz="2800" dirty="0">
              <a:ea typeface="Calibri"/>
              <a:cs typeface="Calibri"/>
            </a:endParaRPr>
          </a:p>
        </p:txBody>
      </p:sp>
      <p:sp>
        <p:nvSpPr>
          <p:cNvPr id="5" name="Rectangle 4">
            <a:extLst>
              <a:ext uri="{FF2B5EF4-FFF2-40B4-BE49-F238E27FC236}">
                <a16:creationId xmlns:a16="http://schemas.microsoft.com/office/drawing/2014/main" id="{BB3E50EF-061C-13A1-7541-C8A2B27147B1}"/>
              </a:ext>
            </a:extLst>
          </p:cNvPr>
          <p:cNvSpPr/>
          <p:nvPr/>
        </p:nvSpPr>
        <p:spPr>
          <a:xfrm>
            <a:off x="2848086" y="2277030"/>
            <a:ext cx="669868" cy="1639526"/>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9C9BADBF-04AB-78E9-5923-3AEE4281D70D}"/>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8A5CA7B2-FCEE-146A-D251-24B69E9C7AEB}"/>
              </a:ext>
            </a:extLst>
          </p:cNvPr>
          <p:cNvPicPr>
            <a:picLocks noChangeAspect="1"/>
          </p:cNvPicPr>
          <p:nvPr/>
        </p:nvPicPr>
        <p:blipFill>
          <a:blip r:embed="rId3"/>
          <a:stretch>
            <a:fillRect/>
          </a:stretch>
        </p:blipFill>
        <p:spPr>
          <a:xfrm>
            <a:off x="1091550" y="1055374"/>
            <a:ext cx="6544588" cy="3924848"/>
          </a:xfrm>
          <a:prstGeom prst="rect">
            <a:avLst/>
          </a:prstGeom>
        </p:spPr>
      </p:pic>
    </p:spTree>
    <p:extLst>
      <p:ext uri="{BB962C8B-B14F-4D97-AF65-F5344CB8AC3E}">
        <p14:creationId xmlns:p14="http://schemas.microsoft.com/office/powerpoint/2010/main" val="1660926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264F8-2588-11AC-4B49-3C96314C6727}"/>
              </a:ext>
            </a:extLst>
          </p:cNvPr>
          <p:cNvSpPr>
            <a:spLocks noGrp="1"/>
          </p:cNvSpPr>
          <p:nvPr>
            <p:ph type="title"/>
          </p:nvPr>
        </p:nvSpPr>
        <p:spPr/>
        <p:txBody>
          <a:bodyPr/>
          <a:lstStyle/>
          <a:p>
            <a:r>
              <a:rPr lang="en-US">
                <a:ea typeface="Calibri"/>
                <a:cs typeface="Calibri"/>
              </a:rPr>
              <a:t>Table 1 Takeaways</a:t>
            </a:r>
            <a:endParaRPr lang="en-US"/>
          </a:p>
        </p:txBody>
      </p:sp>
      <p:sp>
        <p:nvSpPr>
          <p:cNvPr id="3" name="Content Placeholder 2">
            <a:extLst>
              <a:ext uri="{FF2B5EF4-FFF2-40B4-BE49-F238E27FC236}">
                <a16:creationId xmlns:a16="http://schemas.microsoft.com/office/drawing/2014/main" id="{C57A2EFD-A0BC-81FA-1CC0-C60FF5F3D1CA}"/>
              </a:ext>
            </a:extLst>
          </p:cNvPr>
          <p:cNvSpPr>
            <a:spLocks noGrp="1"/>
          </p:cNvSpPr>
          <p:nvPr>
            <p:ph idx="1"/>
          </p:nvPr>
        </p:nvSpPr>
        <p:spPr/>
        <p:txBody>
          <a:bodyPr vert="horz" lIns="91440" tIns="45720" rIns="91440" bIns="45720" rtlCol="0" anchor="t">
            <a:normAutofit/>
          </a:bodyPr>
          <a:lstStyle/>
          <a:p>
            <a:r>
              <a:rPr lang="en-US" dirty="0">
                <a:ea typeface="Calibri"/>
                <a:cs typeface="Calibri"/>
              </a:rPr>
              <a:t>Repurchase payouts dropped by .09 percentage points. Firms are repurchasing fewer shares due to the pilot </a:t>
            </a:r>
          </a:p>
          <a:p>
            <a:r>
              <a:rPr lang="en-US" dirty="0">
                <a:ea typeface="Calibri"/>
                <a:cs typeface="Calibri"/>
              </a:rPr>
              <a:t>Dividend payouts remain unchanged </a:t>
            </a:r>
          </a:p>
          <a:p>
            <a:r>
              <a:rPr lang="en-US" dirty="0">
                <a:ea typeface="Calibri"/>
                <a:cs typeface="Calibri"/>
              </a:rPr>
              <a:t>Total payouts decreased </a:t>
            </a:r>
          </a:p>
        </p:txBody>
      </p:sp>
    </p:spTree>
    <p:extLst>
      <p:ext uri="{BB962C8B-B14F-4D97-AF65-F5344CB8AC3E}">
        <p14:creationId xmlns:p14="http://schemas.microsoft.com/office/powerpoint/2010/main" val="4233582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133814" y="342901"/>
            <a:ext cx="8616176" cy="857250"/>
          </a:xfrm>
        </p:spPr>
        <p:txBody>
          <a:bodyPr>
            <a:noAutofit/>
          </a:bodyPr>
          <a:lstStyle/>
          <a:p>
            <a:r>
              <a:rPr lang="en-US" sz="2800" dirty="0"/>
              <a:t>Table 2 -Extensive vs Intensive Margins</a:t>
            </a:r>
            <a:br>
              <a:rPr lang="en-US" sz="2800" dirty="0"/>
            </a:br>
            <a:endParaRPr lang="en-US" sz="2800" dirty="0"/>
          </a:p>
        </p:txBody>
      </p:sp>
      <p:pic>
        <p:nvPicPr>
          <p:cNvPr id="6" name="Content Placeholder 5">
            <a:extLst>
              <a:ext uri="{FF2B5EF4-FFF2-40B4-BE49-F238E27FC236}">
                <a16:creationId xmlns:a16="http://schemas.microsoft.com/office/drawing/2014/main" id="{67B18EF3-2D71-A57B-C8E3-F050DB761D5D}"/>
              </a:ext>
            </a:extLst>
          </p:cNvPr>
          <p:cNvPicPr>
            <a:picLocks noGrp="1" noChangeAspect="1"/>
          </p:cNvPicPr>
          <p:nvPr>
            <p:ph idx="1"/>
          </p:nvPr>
        </p:nvPicPr>
        <p:blipFill>
          <a:blip r:embed="rId3"/>
          <a:stretch>
            <a:fillRect/>
          </a:stretch>
        </p:blipFill>
        <p:spPr>
          <a:xfrm>
            <a:off x="1098160" y="1011239"/>
            <a:ext cx="6687483" cy="3296110"/>
          </a:xfrm>
        </p:spPr>
      </p:pic>
    </p:spTree>
    <p:extLst>
      <p:ext uri="{BB962C8B-B14F-4D97-AF65-F5344CB8AC3E}">
        <p14:creationId xmlns:p14="http://schemas.microsoft.com/office/powerpoint/2010/main" val="3921299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a:t>Table 2 Takeaways</a:t>
            </a:r>
          </a:p>
        </p:txBody>
      </p:sp>
      <p:sp>
        <p:nvSpPr>
          <p:cNvPr id="4" name="Content Placeholder 3">
            <a:extLst>
              <a:ext uri="{FF2B5EF4-FFF2-40B4-BE49-F238E27FC236}">
                <a16:creationId xmlns:a16="http://schemas.microsoft.com/office/drawing/2014/main" id="{22DDC56A-D7F3-FBC5-8D2F-DA585681679B}"/>
              </a:ext>
            </a:extLst>
          </p:cNvPr>
          <p:cNvSpPr>
            <a:spLocks noGrp="1"/>
          </p:cNvSpPr>
          <p:nvPr>
            <p:ph idx="1"/>
          </p:nvPr>
        </p:nvSpPr>
        <p:spPr/>
        <p:txBody>
          <a:bodyPr vert="horz" lIns="91440" tIns="45720" rIns="91440" bIns="45720" rtlCol="0" anchor="t">
            <a:normAutofit/>
          </a:bodyPr>
          <a:lstStyle/>
          <a:p>
            <a:r>
              <a:rPr lang="en-US" dirty="0">
                <a:ea typeface="Calibri"/>
                <a:cs typeface="Calibri"/>
              </a:rPr>
              <a:t>The extensive margin, which measures how many firms repurchase shares, does not show significant changes</a:t>
            </a:r>
          </a:p>
          <a:p>
            <a:r>
              <a:rPr lang="en-US" dirty="0">
                <a:ea typeface="Calibri"/>
                <a:cs typeface="Calibri"/>
              </a:rPr>
              <a:t>The decrease in share repurchases comes from treatment firms buying back fewer shares after the Pilot. </a:t>
            </a:r>
          </a:p>
        </p:txBody>
      </p:sp>
    </p:spTree>
    <p:extLst>
      <p:ext uri="{BB962C8B-B14F-4D97-AF65-F5344CB8AC3E}">
        <p14:creationId xmlns:p14="http://schemas.microsoft.com/office/powerpoint/2010/main" val="3278758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59473" y="317151"/>
            <a:ext cx="9084527" cy="857250"/>
          </a:xfrm>
        </p:spPr>
        <p:txBody>
          <a:bodyPr>
            <a:noAutofit/>
          </a:bodyPr>
          <a:lstStyle/>
          <a:p>
            <a:r>
              <a:rPr lang="en-US" sz="2800" dirty="0"/>
              <a:t>Table 3 - The Queuing Channel</a:t>
            </a:r>
            <a:br>
              <a:rPr lang="en-US" sz="2800" dirty="0"/>
            </a:br>
            <a:endParaRPr lang="en-US" sz="2800" dirty="0"/>
          </a:p>
        </p:txBody>
      </p:sp>
      <p:pic>
        <p:nvPicPr>
          <p:cNvPr id="4" name="Picture 3">
            <a:extLst>
              <a:ext uri="{FF2B5EF4-FFF2-40B4-BE49-F238E27FC236}">
                <a16:creationId xmlns:a16="http://schemas.microsoft.com/office/drawing/2014/main" id="{E3225991-2F21-8A8B-0427-7DCF4B588079}"/>
              </a:ext>
            </a:extLst>
          </p:cNvPr>
          <p:cNvPicPr>
            <a:picLocks noChangeAspect="1"/>
          </p:cNvPicPr>
          <p:nvPr/>
        </p:nvPicPr>
        <p:blipFill>
          <a:blip r:embed="rId3"/>
          <a:stretch>
            <a:fillRect/>
          </a:stretch>
        </p:blipFill>
        <p:spPr>
          <a:xfrm>
            <a:off x="59473" y="1174401"/>
            <a:ext cx="8926171" cy="2238687"/>
          </a:xfrm>
          <a:prstGeom prst="rect">
            <a:avLst/>
          </a:prstGeom>
        </p:spPr>
      </p:pic>
    </p:spTree>
    <p:extLst>
      <p:ext uri="{BB962C8B-B14F-4D97-AF65-F5344CB8AC3E}">
        <p14:creationId xmlns:p14="http://schemas.microsoft.com/office/powerpoint/2010/main" val="3990079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59473" y="317151"/>
            <a:ext cx="9084527" cy="857250"/>
          </a:xfrm>
        </p:spPr>
        <p:txBody>
          <a:bodyPr>
            <a:noAutofit/>
          </a:bodyPr>
          <a:lstStyle/>
          <a:p>
            <a:r>
              <a:rPr lang="en-US" sz="2800" dirty="0"/>
              <a:t>Table 3 - The Queuing Channel</a:t>
            </a:r>
            <a:br>
              <a:rPr lang="en-US" sz="2800" dirty="0"/>
            </a:br>
            <a:endParaRPr lang="en-US" sz="2800" dirty="0"/>
          </a:p>
        </p:txBody>
      </p:sp>
      <p:pic>
        <p:nvPicPr>
          <p:cNvPr id="5" name="Picture 4">
            <a:extLst>
              <a:ext uri="{FF2B5EF4-FFF2-40B4-BE49-F238E27FC236}">
                <a16:creationId xmlns:a16="http://schemas.microsoft.com/office/drawing/2014/main" id="{61EEB6F3-5F82-3F0F-F43C-7AEE029DB14C}"/>
              </a:ext>
            </a:extLst>
          </p:cNvPr>
          <p:cNvPicPr>
            <a:picLocks noChangeAspect="1"/>
          </p:cNvPicPr>
          <p:nvPr/>
        </p:nvPicPr>
        <p:blipFill>
          <a:blip r:embed="rId3"/>
          <a:stretch>
            <a:fillRect/>
          </a:stretch>
        </p:blipFill>
        <p:spPr>
          <a:xfrm>
            <a:off x="130097" y="911906"/>
            <a:ext cx="8883805" cy="1223406"/>
          </a:xfrm>
          <a:prstGeom prst="rect">
            <a:avLst/>
          </a:prstGeom>
        </p:spPr>
      </p:pic>
      <p:pic>
        <p:nvPicPr>
          <p:cNvPr id="7" name="Picture 6">
            <a:extLst>
              <a:ext uri="{FF2B5EF4-FFF2-40B4-BE49-F238E27FC236}">
                <a16:creationId xmlns:a16="http://schemas.microsoft.com/office/drawing/2014/main" id="{80898C4B-BCFC-62EA-86DC-879AC1900E17}"/>
              </a:ext>
            </a:extLst>
          </p:cNvPr>
          <p:cNvPicPr>
            <a:picLocks noChangeAspect="1"/>
          </p:cNvPicPr>
          <p:nvPr/>
        </p:nvPicPr>
        <p:blipFill>
          <a:blip r:embed="rId4"/>
          <a:stretch>
            <a:fillRect/>
          </a:stretch>
        </p:blipFill>
        <p:spPr>
          <a:xfrm>
            <a:off x="162466" y="1769156"/>
            <a:ext cx="8878539" cy="2638793"/>
          </a:xfrm>
          <a:prstGeom prst="rect">
            <a:avLst/>
          </a:prstGeom>
        </p:spPr>
      </p:pic>
    </p:spTree>
    <p:extLst>
      <p:ext uri="{BB962C8B-B14F-4D97-AF65-F5344CB8AC3E}">
        <p14:creationId xmlns:p14="http://schemas.microsoft.com/office/powerpoint/2010/main" val="2410003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59473" y="317151"/>
            <a:ext cx="9084527" cy="857250"/>
          </a:xfrm>
        </p:spPr>
        <p:txBody>
          <a:bodyPr>
            <a:noAutofit/>
          </a:bodyPr>
          <a:lstStyle/>
          <a:p>
            <a:r>
              <a:rPr lang="en-US" sz="2800" dirty="0"/>
              <a:t>Table 3 - The Queuing Channel</a:t>
            </a:r>
            <a:br>
              <a:rPr lang="en-US" sz="2800" dirty="0"/>
            </a:br>
            <a:endParaRPr lang="en-US" sz="2800" dirty="0"/>
          </a:p>
        </p:txBody>
      </p:sp>
      <p:pic>
        <p:nvPicPr>
          <p:cNvPr id="4" name="Picture 3">
            <a:extLst>
              <a:ext uri="{FF2B5EF4-FFF2-40B4-BE49-F238E27FC236}">
                <a16:creationId xmlns:a16="http://schemas.microsoft.com/office/drawing/2014/main" id="{DEF3169A-9E7C-B798-8F9D-2E0F8E955258}"/>
              </a:ext>
            </a:extLst>
          </p:cNvPr>
          <p:cNvPicPr>
            <a:picLocks noChangeAspect="1"/>
          </p:cNvPicPr>
          <p:nvPr/>
        </p:nvPicPr>
        <p:blipFill>
          <a:blip r:embed="rId3"/>
          <a:stretch>
            <a:fillRect/>
          </a:stretch>
        </p:blipFill>
        <p:spPr>
          <a:xfrm>
            <a:off x="127967" y="997723"/>
            <a:ext cx="8888065" cy="2791215"/>
          </a:xfrm>
          <a:prstGeom prst="rect">
            <a:avLst/>
          </a:prstGeom>
        </p:spPr>
      </p:pic>
    </p:spTree>
    <p:extLst>
      <p:ext uri="{BB962C8B-B14F-4D97-AF65-F5344CB8AC3E}">
        <p14:creationId xmlns:p14="http://schemas.microsoft.com/office/powerpoint/2010/main" val="983924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59473" y="317151"/>
            <a:ext cx="9084527" cy="857250"/>
          </a:xfrm>
        </p:spPr>
        <p:txBody>
          <a:bodyPr>
            <a:noAutofit/>
          </a:bodyPr>
          <a:lstStyle/>
          <a:p>
            <a:r>
              <a:rPr lang="en-US" sz="2800" dirty="0"/>
              <a:t>Table 3 - The Queuing Channel</a:t>
            </a:r>
            <a:br>
              <a:rPr lang="en-US" sz="2800" dirty="0"/>
            </a:br>
            <a:endParaRPr lang="en-US" sz="2800" dirty="0"/>
          </a:p>
        </p:txBody>
      </p:sp>
      <p:pic>
        <p:nvPicPr>
          <p:cNvPr id="5" name="Picture 4">
            <a:extLst>
              <a:ext uri="{FF2B5EF4-FFF2-40B4-BE49-F238E27FC236}">
                <a16:creationId xmlns:a16="http://schemas.microsoft.com/office/drawing/2014/main" id="{6CF74C04-26E0-9F98-6985-74D3C368A741}"/>
              </a:ext>
            </a:extLst>
          </p:cNvPr>
          <p:cNvPicPr>
            <a:picLocks noChangeAspect="1"/>
          </p:cNvPicPr>
          <p:nvPr/>
        </p:nvPicPr>
        <p:blipFill>
          <a:blip r:embed="rId3"/>
          <a:stretch>
            <a:fillRect/>
          </a:stretch>
        </p:blipFill>
        <p:spPr>
          <a:xfrm>
            <a:off x="175599" y="842721"/>
            <a:ext cx="8792802" cy="3458058"/>
          </a:xfrm>
          <a:prstGeom prst="rect">
            <a:avLst/>
          </a:prstGeom>
        </p:spPr>
      </p:pic>
    </p:spTree>
    <p:extLst>
      <p:ext uri="{BB962C8B-B14F-4D97-AF65-F5344CB8AC3E}">
        <p14:creationId xmlns:p14="http://schemas.microsoft.com/office/powerpoint/2010/main" val="1321389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3600" dirty="0"/>
              <a:t>Table 3 Takeaways</a:t>
            </a:r>
          </a:p>
        </p:txBody>
      </p:sp>
      <p:sp>
        <p:nvSpPr>
          <p:cNvPr id="4" name="Content Placeholder 3">
            <a:extLst>
              <a:ext uri="{FF2B5EF4-FFF2-40B4-BE49-F238E27FC236}">
                <a16:creationId xmlns:a16="http://schemas.microsoft.com/office/drawing/2014/main" id="{22DDC56A-D7F3-FBC5-8D2F-DA585681679B}"/>
              </a:ext>
            </a:extLst>
          </p:cNvPr>
          <p:cNvSpPr>
            <a:spLocks noGrp="1"/>
          </p:cNvSpPr>
          <p:nvPr>
            <p:ph idx="1"/>
          </p:nvPr>
        </p:nvSpPr>
        <p:spPr/>
        <p:txBody>
          <a:bodyPr vert="horz" lIns="91440" tIns="45720" rIns="91440" bIns="45720" rtlCol="0" anchor="t">
            <a:normAutofit/>
          </a:bodyPr>
          <a:lstStyle/>
          <a:p>
            <a:r>
              <a:rPr lang="en-US" sz="2800" dirty="0">
                <a:ea typeface="Calibri"/>
                <a:cs typeface="Calibri"/>
              </a:rPr>
              <a:t>Tick constrained firms saw a decrease in repurchase payouts. 0.183 percentage points difference (45% change from 0.41)</a:t>
            </a:r>
          </a:p>
          <a:p>
            <a:r>
              <a:rPr lang="en-US" sz="2800" dirty="0">
                <a:ea typeface="Calibri"/>
                <a:cs typeface="Calibri"/>
              </a:rPr>
              <a:t>Firms in tick-unconstrained conditions did not show significant reductions, meaning the Pilot mainly impacted firms already facing tight trading constraints</a:t>
            </a:r>
          </a:p>
          <a:p>
            <a:endParaRPr lang="en-US" dirty="0">
              <a:ea typeface="Calibri"/>
              <a:cs typeface="Calibri"/>
            </a:endParaRPr>
          </a:p>
        </p:txBody>
      </p:sp>
    </p:spTree>
    <p:extLst>
      <p:ext uri="{BB962C8B-B14F-4D97-AF65-F5344CB8AC3E}">
        <p14:creationId xmlns:p14="http://schemas.microsoft.com/office/powerpoint/2010/main" val="3419803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4 - Dark Pool Channel</a:t>
            </a:r>
            <a:endParaRPr lang="en-US" sz="2800" dirty="0">
              <a:ea typeface="Calibri"/>
              <a:cs typeface="Calibri"/>
            </a:endParaRPr>
          </a:p>
        </p:txBody>
      </p:sp>
      <p:pic>
        <p:nvPicPr>
          <p:cNvPr id="4" name="Picture 3">
            <a:extLst>
              <a:ext uri="{FF2B5EF4-FFF2-40B4-BE49-F238E27FC236}">
                <a16:creationId xmlns:a16="http://schemas.microsoft.com/office/drawing/2014/main" id="{723B29CA-5A57-DE3C-8326-D7857425EB6A}"/>
              </a:ext>
            </a:extLst>
          </p:cNvPr>
          <p:cNvPicPr>
            <a:picLocks noChangeAspect="1"/>
          </p:cNvPicPr>
          <p:nvPr/>
        </p:nvPicPr>
        <p:blipFill>
          <a:blip r:embed="rId3"/>
          <a:stretch>
            <a:fillRect/>
          </a:stretch>
        </p:blipFill>
        <p:spPr>
          <a:xfrm>
            <a:off x="1655340" y="1063229"/>
            <a:ext cx="5506218" cy="3581900"/>
          </a:xfrm>
          <a:prstGeom prst="rect">
            <a:avLst/>
          </a:prstGeom>
        </p:spPr>
      </p:pic>
    </p:spTree>
    <p:extLst>
      <p:ext uri="{BB962C8B-B14F-4D97-AF65-F5344CB8AC3E}">
        <p14:creationId xmlns:p14="http://schemas.microsoft.com/office/powerpoint/2010/main" val="1873507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806F7-E015-3400-3C17-82867A787420}"/>
              </a:ext>
            </a:extLst>
          </p:cNvPr>
          <p:cNvSpPr>
            <a:spLocks noGrp="1"/>
          </p:cNvSpPr>
          <p:nvPr>
            <p:ph type="title"/>
          </p:nvPr>
        </p:nvSpPr>
        <p:spPr/>
        <p:txBody>
          <a:bodyPr/>
          <a:lstStyle/>
          <a:p>
            <a:r>
              <a:rPr lang="en-US" dirty="0">
                <a:ea typeface="Calibri"/>
                <a:cs typeface="Calibri"/>
              </a:rPr>
              <a:t>Table 4 Takeaways</a:t>
            </a:r>
          </a:p>
        </p:txBody>
      </p:sp>
      <p:sp>
        <p:nvSpPr>
          <p:cNvPr id="3" name="Content Placeholder 2">
            <a:extLst>
              <a:ext uri="{FF2B5EF4-FFF2-40B4-BE49-F238E27FC236}">
                <a16:creationId xmlns:a16="http://schemas.microsoft.com/office/drawing/2014/main" id="{FE278BFF-FA8B-34A3-C83B-1D0BFB2544CD}"/>
              </a:ext>
            </a:extLst>
          </p:cNvPr>
          <p:cNvSpPr>
            <a:spLocks noGrp="1"/>
          </p:cNvSpPr>
          <p:nvPr>
            <p:ph idx="1"/>
          </p:nvPr>
        </p:nvSpPr>
        <p:spPr>
          <a:xfrm>
            <a:off x="457200" y="1060939"/>
            <a:ext cx="8229600" cy="3394472"/>
          </a:xfrm>
        </p:spPr>
        <p:txBody>
          <a:bodyPr vert="horz" lIns="91440" tIns="45720" rIns="91440" bIns="45720" rtlCol="0" anchor="t">
            <a:normAutofit fontScale="92500" lnSpcReduction="10000"/>
          </a:bodyPr>
          <a:lstStyle/>
          <a:p>
            <a:r>
              <a:rPr lang="en-US" dirty="0">
                <a:ea typeface="Calibri"/>
                <a:cs typeface="Calibri"/>
              </a:rPr>
              <a:t>Test group 3 (with stricter trading rules) saw a significant reduction in repurchases</a:t>
            </a:r>
          </a:p>
          <a:p>
            <a:r>
              <a:rPr lang="en-US" dirty="0">
                <a:ea typeface="Calibri"/>
                <a:cs typeface="Calibri"/>
              </a:rPr>
              <a:t>Test groups 1+2 saw a smaller reduction in repurchases </a:t>
            </a:r>
          </a:p>
          <a:p>
            <a:r>
              <a:rPr lang="en-US" dirty="0">
                <a:ea typeface="Calibri"/>
                <a:cs typeface="Calibri"/>
              </a:rPr>
              <a:t>The difference suggests dark pools play a crucial role in allowing firms to repurchase shares effectively, with test group 3 suffering </a:t>
            </a:r>
            <a:r>
              <a:rPr lang="en-US">
                <a:ea typeface="Calibri"/>
                <a:cs typeface="Calibri"/>
              </a:rPr>
              <a:t>the most</a:t>
            </a:r>
            <a:endParaRPr lang="en-US" dirty="0">
              <a:ea typeface="Calibri"/>
              <a:cs typeface="Calibri"/>
            </a:endParaRPr>
          </a:p>
        </p:txBody>
      </p:sp>
    </p:spTree>
    <p:extLst>
      <p:ext uri="{BB962C8B-B14F-4D97-AF65-F5344CB8AC3E}">
        <p14:creationId xmlns:p14="http://schemas.microsoft.com/office/powerpoint/2010/main" val="686375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79912" y="0"/>
            <a:ext cx="8984176" cy="857250"/>
          </a:xfrm>
        </p:spPr>
        <p:txBody>
          <a:bodyPr>
            <a:noAutofit/>
          </a:bodyPr>
          <a:lstStyle/>
          <a:p>
            <a:r>
              <a:rPr lang="en-US" sz="2800" dirty="0"/>
              <a:t>Table 5 – Robustness Checks</a:t>
            </a:r>
            <a:endParaRPr lang="en-US" sz="2800" dirty="0">
              <a:ea typeface="Calibri"/>
              <a:cs typeface="Calibri"/>
            </a:endParaRPr>
          </a:p>
        </p:txBody>
      </p:sp>
      <p:pic>
        <p:nvPicPr>
          <p:cNvPr id="4" name="Picture 3">
            <a:extLst>
              <a:ext uri="{FF2B5EF4-FFF2-40B4-BE49-F238E27FC236}">
                <a16:creationId xmlns:a16="http://schemas.microsoft.com/office/drawing/2014/main" id="{57949463-4796-76B8-74BF-B27F6E6EE465}"/>
              </a:ext>
            </a:extLst>
          </p:cNvPr>
          <p:cNvPicPr>
            <a:picLocks noChangeAspect="1"/>
          </p:cNvPicPr>
          <p:nvPr/>
        </p:nvPicPr>
        <p:blipFill>
          <a:blip r:embed="rId3"/>
          <a:stretch>
            <a:fillRect/>
          </a:stretch>
        </p:blipFill>
        <p:spPr>
          <a:xfrm>
            <a:off x="56520" y="641192"/>
            <a:ext cx="9030960" cy="1705213"/>
          </a:xfrm>
          <a:prstGeom prst="rect">
            <a:avLst/>
          </a:prstGeom>
        </p:spPr>
      </p:pic>
      <p:pic>
        <p:nvPicPr>
          <p:cNvPr id="7" name="Picture 6">
            <a:extLst>
              <a:ext uri="{FF2B5EF4-FFF2-40B4-BE49-F238E27FC236}">
                <a16:creationId xmlns:a16="http://schemas.microsoft.com/office/drawing/2014/main" id="{5D71C205-AF89-2A37-224E-9FD2B0CD72CB}"/>
              </a:ext>
            </a:extLst>
          </p:cNvPr>
          <p:cNvPicPr>
            <a:picLocks noChangeAspect="1"/>
          </p:cNvPicPr>
          <p:nvPr/>
        </p:nvPicPr>
        <p:blipFill>
          <a:blip r:embed="rId4"/>
          <a:stretch>
            <a:fillRect/>
          </a:stretch>
        </p:blipFill>
        <p:spPr>
          <a:xfrm>
            <a:off x="61707" y="2241626"/>
            <a:ext cx="9002381" cy="1686160"/>
          </a:xfrm>
          <a:prstGeom prst="rect">
            <a:avLst/>
          </a:prstGeom>
        </p:spPr>
      </p:pic>
    </p:spTree>
    <p:extLst>
      <p:ext uri="{BB962C8B-B14F-4D97-AF65-F5344CB8AC3E}">
        <p14:creationId xmlns:p14="http://schemas.microsoft.com/office/powerpoint/2010/main" val="255185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251829" y="-170985"/>
            <a:ext cx="8640342" cy="915883"/>
          </a:xfrm>
        </p:spPr>
        <p:txBody>
          <a:bodyPr>
            <a:noAutofit/>
          </a:bodyPr>
          <a:lstStyle/>
          <a:p>
            <a:r>
              <a:rPr lang="en-US" sz="2800" dirty="0"/>
              <a:t>Table 5 – Panel B: Controlling for Alternative Explanations</a:t>
            </a:r>
            <a:endParaRPr lang="en-US" sz="2800" dirty="0">
              <a:ea typeface="Calibri"/>
              <a:cs typeface="Calibri"/>
            </a:endParaRPr>
          </a:p>
        </p:txBody>
      </p:sp>
      <p:pic>
        <p:nvPicPr>
          <p:cNvPr id="5" name="Picture 4">
            <a:extLst>
              <a:ext uri="{FF2B5EF4-FFF2-40B4-BE49-F238E27FC236}">
                <a16:creationId xmlns:a16="http://schemas.microsoft.com/office/drawing/2014/main" id="{4AE553C8-EC77-6E73-C9AD-19C9D47041EA}"/>
              </a:ext>
            </a:extLst>
          </p:cNvPr>
          <p:cNvPicPr>
            <a:picLocks noChangeAspect="1"/>
          </p:cNvPicPr>
          <p:nvPr/>
        </p:nvPicPr>
        <p:blipFill>
          <a:blip r:embed="rId3"/>
          <a:stretch>
            <a:fillRect/>
          </a:stretch>
        </p:blipFill>
        <p:spPr>
          <a:xfrm>
            <a:off x="2015975" y="490495"/>
            <a:ext cx="5112049" cy="3014516"/>
          </a:xfrm>
          <a:prstGeom prst="rect">
            <a:avLst/>
          </a:prstGeom>
        </p:spPr>
      </p:pic>
      <p:pic>
        <p:nvPicPr>
          <p:cNvPr id="7" name="Picture 6">
            <a:extLst>
              <a:ext uri="{FF2B5EF4-FFF2-40B4-BE49-F238E27FC236}">
                <a16:creationId xmlns:a16="http://schemas.microsoft.com/office/drawing/2014/main" id="{583EF443-E0EB-F53A-B207-39103D17B5D5}"/>
              </a:ext>
            </a:extLst>
          </p:cNvPr>
          <p:cNvPicPr>
            <a:picLocks noChangeAspect="1"/>
          </p:cNvPicPr>
          <p:nvPr/>
        </p:nvPicPr>
        <p:blipFill>
          <a:blip r:embed="rId4"/>
          <a:stretch>
            <a:fillRect/>
          </a:stretch>
        </p:blipFill>
        <p:spPr>
          <a:xfrm rot="10800000" flipH="1" flipV="1">
            <a:off x="2015975" y="3433307"/>
            <a:ext cx="5053898" cy="1283311"/>
          </a:xfrm>
          <a:prstGeom prst="rect">
            <a:avLst/>
          </a:prstGeom>
        </p:spPr>
      </p:pic>
    </p:spTree>
    <p:extLst>
      <p:ext uri="{BB962C8B-B14F-4D97-AF65-F5344CB8AC3E}">
        <p14:creationId xmlns:p14="http://schemas.microsoft.com/office/powerpoint/2010/main" val="2344250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251829" y="-170985"/>
            <a:ext cx="8640342" cy="915883"/>
          </a:xfrm>
        </p:spPr>
        <p:txBody>
          <a:bodyPr>
            <a:noAutofit/>
          </a:bodyPr>
          <a:lstStyle/>
          <a:p>
            <a:r>
              <a:rPr lang="en-US" sz="2800" dirty="0"/>
              <a:t>Table 5 – Panel C</a:t>
            </a:r>
            <a:endParaRPr lang="en-US" sz="2800" dirty="0">
              <a:ea typeface="Calibri"/>
              <a:cs typeface="Calibri"/>
            </a:endParaRPr>
          </a:p>
        </p:txBody>
      </p:sp>
      <p:pic>
        <p:nvPicPr>
          <p:cNvPr id="4" name="Picture 3">
            <a:extLst>
              <a:ext uri="{FF2B5EF4-FFF2-40B4-BE49-F238E27FC236}">
                <a16:creationId xmlns:a16="http://schemas.microsoft.com/office/drawing/2014/main" id="{1705FE75-E6EF-D28C-035E-65C1C316EAEF}"/>
              </a:ext>
            </a:extLst>
          </p:cNvPr>
          <p:cNvPicPr>
            <a:picLocks noChangeAspect="1"/>
          </p:cNvPicPr>
          <p:nvPr/>
        </p:nvPicPr>
        <p:blipFill>
          <a:blip r:embed="rId3"/>
          <a:stretch>
            <a:fillRect/>
          </a:stretch>
        </p:blipFill>
        <p:spPr>
          <a:xfrm>
            <a:off x="89862" y="883184"/>
            <a:ext cx="8964276" cy="2886478"/>
          </a:xfrm>
          <a:prstGeom prst="rect">
            <a:avLst/>
          </a:prstGeom>
        </p:spPr>
      </p:pic>
    </p:spTree>
    <p:extLst>
      <p:ext uri="{BB962C8B-B14F-4D97-AF65-F5344CB8AC3E}">
        <p14:creationId xmlns:p14="http://schemas.microsoft.com/office/powerpoint/2010/main" val="1519488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FB8F-C378-2A00-9A8F-9D534304B335}"/>
              </a:ext>
            </a:extLst>
          </p:cNvPr>
          <p:cNvSpPr>
            <a:spLocks noGrp="1"/>
          </p:cNvSpPr>
          <p:nvPr>
            <p:ph type="title"/>
          </p:nvPr>
        </p:nvSpPr>
        <p:spPr/>
        <p:txBody>
          <a:bodyPr/>
          <a:lstStyle/>
          <a:p>
            <a:r>
              <a:rPr lang="en-US" dirty="0"/>
              <a:t>Table 5 Takeaways</a:t>
            </a:r>
          </a:p>
        </p:txBody>
      </p:sp>
      <p:sp>
        <p:nvSpPr>
          <p:cNvPr id="3" name="Content Placeholder 2">
            <a:extLst>
              <a:ext uri="{FF2B5EF4-FFF2-40B4-BE49-F238E27FC236}">
                <a16:creationId xmlns:a16="http://schemas.microsoft.com/office/drawing/2014/main" id="{EC063DA3-8403-FE2E-5E6F-CC9F5134A831}"/>
              </a:ext>
            </a:extLst>
          </p:cNvPr>
          <p:cNvSpPr>
            <a:spLocks noGrp="1"/>
          </p:cNvSpPr>
          <p:nvPr>
            <p:ph idx="1"/>
          </p:nvPr>
        </p:nvSpPr>
        <p:spPr/>
        <p:txBody>
          <a:bodyPr/>
          <a:lstStyle/>
          <a:p>
            <a:r>
              <a:rPr lang="en-US" dirty="0"/>
              <a:t>The reversal test shows that firms return to their normal repurchase behavior after the Pilot ends</a:t>
            </a:r>
          </a:p>
          <a:p>
            <a:r>
              <a:rPr lang="en-US" dirty="0"/>
              <a:t>Short-term debt reduction is observed in treating firms, suggesting undistributed cash is used to reduce debt</a:t>
            </a:r>
          </a:p>
        </p:txBody>
      </p:sp>
    </p:spTree>
    <p:extLst>
      <p:ext uri="{BB962C8B-B14F-4D97-AF65-F5344CB8AC3E}">
        <p14:creationId xmlns:p14="http://schemas.microsoft.com/office/powerpoint/2010/main" val="4061636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74615-9BE8-371E-EBF9-71E8417E4A47}"/>
              </a:ext>
            </a:extLst>
          </p:cNvPr>
          <p:cNvSpPr>
            <a:spLocks noGrp="1"/>
          </p:cNvSpPr>
          <p:nvPr>
            <p:ph type="title"/>
          </p:nvPr>
        </p:nvSpPr>
        <p:spPr>
          <a:xfrm>
            <a:off x="0" y="-182610"/>
            <a:ext cx="9129183" cy="793750"/>
          </a:xfrm>
        </p:spPr>
        <p:txBody>
          <a:bodyPr vert="horz" lIns="91440" tIns="45720" rIns="91440" bIns="45720" rtlCol="0" anchor="ctr">
            <a:noAutofit/>
          </a:bodyPr>
          <a:lstStyle/>
          <a:p>
            <a:r>
              <a:rPr lang="en-US" sz="3200" dirty="0">
                <a:ea typeface="Calibri"/>
                <a:cs typeface="Calibri"/>
              </a:rPr>
              <a:t>Table 6 – Event Studies</a:t>
            </a:r>
          </a:p>
        </p:txBody>
      </p:sp>
      <p:pic>
        <p:nvPicPr>
          <p:cNvPr id="4" name="Picture 3">
            <a:extLst>
              <a:ext uri="{FF2B5EF4-FFF2-40B4-BE49-F238E27FC236}">
                <a16:creationId xmlns:a16="http://schemas.microsoft.com/office/drawing/2014/main" id="{34ADB166-D503-23E9-388C-173A09AD0303}"/>
              </a:ext>
            </a:extLst>
          </p:cNvPr>
          <p:cNvPicPr>
            <a:picLocks noChangeAspect="1"/>
          </p:cNvPicPr>
          <p:nvPr/>
        </p:nvPicPr>
        <p:blipFill>
          <a:blip r:embed="rId3"/>
          <a:stretch>
            <a:fillRect/>
          </a:stretch>
        </p:blipFill>
        <p:spPr>
          <a:xfrm>
            <a:off x="943216" y="431709"/>
            <a:ext cx="7242749" cy="1579246"/>
          </a:xfrm>
          <a:prstGeom prst="rect">
            <a:avLst/>
          </a:prstGeom>
        </p:spPr>
      </p:pic>
      <p:pic>
        <p:nvPicPr>
          <p:cNvPr id="7" name="Picture 6">
            <a:extLst>
              <a:ext uri="{FF2B5EF4-FFF2-40B4-BE49-F238E27FC236}">
                <a16:creationId xmlns:a16="http://schemas.microsoft.com/office/drawing/2014/main" id="{802A6117-35F1-DF88-7E3E-8AD7B1D21085}"/>
              </a:ext>
            </a:extLst>
          </p:cNvPr>
          <p:cNvPicPr>
            <a:picLocks noChangeAspect="1"/>
          </p:cNvPicPr>
          <p:nvPr/>
        </p:nvPicPr>
        <p:blipFill>
          <a:blip r:embed="rId4"/>
          <a:stretch>
            <a:fillRect/>
          </a:stretch>
        </p:blipFill>
        <p:spPr>
          <a:xfrm>
            <a:off x="943216" y="1947794"/>
            <a:ext cx="7242750" cy="2929393"/>
          </a:xfrm>
          <a:prstGeom prst="rect">
            <a:avLst/>
          </a:prstGeom>
        </p:spPr>
      </p:pic>
    </p:spTree>
    <p:extLst>
      <p:ext uri="{BB962C8B-B14F-4D97-AF65-F5344CB8AC3E}">
        <p14:creationId xmlns:p14="http://schemas.microsoft.com/office/powerpoint/2010/main" val="2060909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93BED-C20E-9153-E266-BBEC9090913A}"/>
              </a:ext>
            </a:extLst>
          </p:cNvPr>
          <p:cNvSpPr>
            <a:spLocks noGrp="1"/>
          </p:cNvSpPr>
          <p:nvPr>
            <p:ph type="title"/>
          </p:nvPr>
        </p:nvSpPr>
        <p:spPr/>
        <p:txBody>
          <a:bodyPr/>
          <a:lstStyle/>
          <a:p>
            <a:r>
              <a:rPr lang="en-US">
                <a:ea typeface="Calibri"/>
                <a:cs typeface="Calibri"/>
              </a:rPr>
              <a:t>Table 6 Takeaways</a:t>
            </a:r>
            <a:endParaRPr lang="en-US"/>
          </a:p>
        </p:txBody>
      </p:sp>
      <p:sp>
        <p:nvSpPr>
          <p:cNvPr id="3" name="Content Placeholder 2">
            <a:extLst>
              <a:ext uri="{FF2B5EF4-FFF2-40B4-BE49-F238E27FC236}">
                <a16:creationId xmlns:a16="http://schemas.microsoft.com/office/drawing/2014/main" id="{67AC8FC0-555E-A909-14FB-9A3F2D8B1D8B}"/>
              </a:ext>
            </a:extLst>
          </p:cNvPr>
          <p:cNvSpPr>
            <a:spLocks noGrp="1"/>
          </p:cNvSpPr>
          <p:nvPr>
            <p:ph idx="1"/>
          </p:nvPr>
        </p:nvSpPr>
        <p:spPr/>
        <p:txBody>
          <a:bodyPr vert="horz" lIns="91440" tIns="45720" rIns="91440" bIns="45720" rtlCol="0" anchor="t">
            <a:normAutofit/>
          </a:bodyPr>
          <a:lstStyle/>
          <a:p>
            <a:r>
              <a:rPr lang="en-US" dirty="0"/>
              <a:t>Different market reforms show similar results</a:t>
            </a:r>
          </a:p>
          <a:p>
            <a:r>
              <a:rPr lang="en-US" dirty="0"/>
              <a:t>The results suggest that market-structure changes, such as decimalization and order-handling reforms, had lasting impacts on firm’s repurchase behaviors</a:t>
            </a:r>
          </a:p>
        </p:txBody>
      </p:sp>
    </p:spTree>
    <p:extLst>
      <p:ext uri="{BB962C8B-B14F-4D97-AF65-F5344CB8AC3E}">
        <p14:creationId xmlns:p14="http://schemas.microsoft.com/office/powerpoint/2010/main" val="23758018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106D1-B197-02AD-F80F-526FD16568E8}"/>
              </a:ext>
            </a:extLst>
          </p:cNvPr>
          <p:cNvSpPr>
            <a:spLocks noGrp="1"/>
          </p:cNvSpPr>
          <p:nvPr>
            <p:ph type="title"/>
          </p:nvPr>
        </p:nvSpPr>
        <p:spPr>
          <a:xfrm>
            <a:off x="203200" y="161182"/>
            <a:ext cx="8928099" cy="910166"/>
          </a:xfrm>
        </p:spPr>
        <p:txBody>
          <a:bodyPr>
            <a:normAutofit/>
          </a:bodyPr>
          <a:lstStyle/>
          <a:p>
            <a:r>
              <a:rPr lang="en-US" dirty="0">
                <a:ea typeface="Calibri"/>
                <a:cs typeface="Calibri"/>
              </a:rPr>
              <a:t>Table 7 – Event Studies</a:t>
            </a:r>
          </a:p>
        </p:txBody>
      </p:sp>
      <p:sp>
        <p:nvSpPr>
          <p:cNvPr id="4" name="Content Placeholder 3">
            <a:extLst>
              <a:ext uri="{FF2B5EF4-FFF2-40B4-BE49-F238E27FC236}">
                <a16:creationId xmlns:a16="http://schemas.microsoft.com/office/drawing/2014/main" id="{E71E7FF2-977E-236D-6760-AC23ECB8706E}"/>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929092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EA8394-83D8-0C6C-6010-F0F39A032964}"/>
              </a:ext>
            </a:extLst>
          </p:cNvPr>
          <p:cNvPicPr>
            <a:picLocks noChangeAspect="1"/>
          </p:cNvPicPr>
          <p:nvPr/>
        </p:nvPicPr>
        <p:blipFill>
          <a:blip r:embed="rId2"/>
          <a:stretch>
            <a:fillRect/>
          </a:stretch>
        </p:blipFill>
        <p:spPr>
          <a:xfrm>
            <a:off x="1177013" y="0"/>
            <a:ext cx="6789974" cy="2079747"/>
          </a:xfrm>
          <a:prstGeom prst="rect">
            <a:avLst/>
          </a:prstGeom>
        </p:spPr>
      </p:pic>
      <p:pic>
        <p:nvPicPr>
          <p:cNvPr id="7" name="Picture 6">
            <a:extLst>
              <a:ext uri="{FF2B5EF4-FFF2-40B4-BE49-F238E27FC236}">
                <a16:creationId xmlns:a16="http://schemas.microsoft.com/office/drawing/2014/main" id="{9F522C42-A6CE-6763-5244-53E0A9EF03DD}"/>
              </a:ext>
            </a:extLst>
          </p:cNvPr>
          <p:cNvPicPr>
            <a:picLocks noChangeAspect="1"/>
          </p:cNvPicPr>
          <p:nvPr/>
        </p:nvPicPr>
        <p:blipFill>
          <a:blip r:embed="rId3"/>
          <a:stretch>
            <a:fillRect/>
          </a:stretch>
        </p:blipFill>
        <p:spPr>
          <a:xfrm>
            <a:off x="1123764" y="2079747"/>
            <a:ext cx="6789974" cy="2806134"/>
          </a:xfrm>
          <a:prstGeom prst="rect">
            <a:avLst/>
          </a:prstGeom>
        </p:spPr>
      </p:pic>
    </p:spTree>
    <p:extLst>
      <p:ext uri="{BB962C8B-B14F-4D97-AF65-F5344CB8AC3E}">
        <p14:creationId xmlns:p14="http://schemas.microsoft.com/office/powerpoint/2010/main" val="577463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FFD4FE-F8D8-8A9E-B3D3-DEDC13F15AA9}"/>
              </a:ext>
            </a:extLst>
          </p:cNvPr>
          <p:cNvPicPr>
            <a:picLocks noChangeAspect="1"/>
          </p:cNvPicPr>
          <p:nvPr/>
        </p:nvPicPr>
        <p:blipFill>
          <a:blip r:embed="rId2"/>
          <a:stretch>
            <a:fillRect/>
          </a:stretch>
        </p:blipFill>
        <p:spPr>
          <a:xfrm>
            <a:off x="1531826" y="0"/>
            <a:ext cx="6080347" cy="3093277"/>
          </a:xfrm>
          <a:prstGeom prst="rect">
            <a:avLst/>
          </a:prstGeom>
        </p:spPr>
      </p:pic>
      <p:pic>
        <p:nvPicPr>
          <p:cNvPr id="6" name="Picture 5">
            <a:extLst>
              <a:ext uri="{FF2B5EF4-FFF2-40B4-BE49-F238E27FC236}">
                <a16:creationId xmlns:a16="http://schemas.microsoft.com/office/drawing/2014/main" id="{6E097FFD-9F13-BFF4-8FE6-151AB4C88665}"/>
              </a:ext>
            </a:extLst>
          </p:cNvPr>
          <p:cNvPicPr>
            <a:picLocks noChangeAspect="1"/>
          </p:cNvPicPr>
          <p:nvPr/>
        </p:nvPicPr>
        <p:blipFill>
          <a:blip r:embed="rId3"/>
          <a:stretch>
            <a:fillRect/>
          </a:stretch>
        </p:blipFill>
        <p:spPr>
          <a:xfrm>
            <a:off x="1531826" y="3093277"/>
            <a:ext cx="6080346" cy="1273093"/>
          </a:xfrm>
          <a:prstGeom prst="rect">
            <a:avLst/>
          </a:prstGeom>
        </p:spPr>
      </p:pic>
    </p:spTree>
    <p:extLst>
      <p:ext uri="{BB962C8B-B14F-4D97-AF65-F5344CB8AC3E}">
        <p14:creationId xmlns:p14="http://schemas.microsoft.com/office/powerpoint/2010/main" val="2687423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581F00-70FE-0032-606C-4F65310E214E}"/>
              </a:ext>
            </a:extLst>
          </p:cNvPr>
          <p:cNvPicPr>
            <a:picLocks noChangeAspect="1"/>
          </p:cNvPicPr>
          <p:nvPr/>
        </p:nvPicPr>
        <p:blipFill>
          <a:blip r:embed="rId2"/>
          <a:stretch>
            <a:fillRect/>
          </a:stretch>
        </p:blipFill>
        <p:spPr>
          <a:xfrm>
            <a:off x="1390184" y="0"/>
            <a:ext cx="6149560" cy="1821366"/>
          </a:xfrm>
          <a:prstGeom prst="rect">
            <a:avLst/>
          </a:prstGeom>
        </p:spPr>
      </p:pic>
      <p:pic>
        <p:nvPicPr>
          <p:cNvPr id="7" name="Picture 6">
            <a:extLst>
              <a:ext uri="{FF2B5EF4-FFF2-40B4-BE49-F238E27FC236}">
                <a16:creationId xmlns:a16="http://schemas.microsoft.com/office/drawing/2014/main" id="{D00054C7-ED57-5158-A123-DAFE1B7A5F2C}"/>
              </a:ext>
            </a:extLst>
          </p:cNvPr>
          <p:cNvPicPr>
            <a:picLocks noChangeAspect="1"/>
          </p:cNvPicPr>
          <p:nvPr/>
        </p:nvPicPr>
        <p:blipFill>
          <a:blip r:embed="rId3"/>
          <a:stretch>
            <a:fillRect/>
          </a:stretch>
        </p:blipFill>
        <p:spPr>
          <a:xfrm>
            <a:off x="1390184" y="1769327"/>
            <a:ext cx="6182645" cy="3173451"/>
          </a:xfrm>
          <a:prstGeom prst="rect">
            <a:avLst/>
          </a:prstGeom>
        </p:spPr>
      </p:pic>
      <p:sp>
        <p:nvSpPr>
          <p:cNvPr id="8" name="Rectangle 7">
            <a:extLst>
              <a:ext uri="{FF2B5EF4-FFF2-40B4-BE49-F238E27FC236}">
                <a16:creationId xmlns:a16="http://schemas.microsoft.com/office/drawing/2014/main" id="{4474F8D0-1E06-55B0-B89E-BD2F3DA5CBD0}"/>
              </a:ext>
            </a:extLst>
          </p:cNvPr>
          <p:cNvSpPr/>
          <p:nvPr/>
        </p:nvSpPr>
        <p:spPr>
          <a:xfrm>
            <a:off x="1390184" y="4537168"/>
            <a:ext cx="3801248" cy="405610"/>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C38F374-637B-C8EE-8BB6-C401D2AF2A21}"/>
              </a:ext>
            </a:extLst>
          </p:cNvPr>
          <p:cNvSpPr/>
          <p:nvPr/>
        </p:nvSpPr>
        <p:spPr>
          <a:xfrm>
            <a:off x="6763513" y="132317"/>
            <a:ext cx="809316" cy="4491302"/>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59941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40659-B3D3-29DF-53EE-248C8EE577DA}"/>
              </a:ext>
            </a:extLst>
          </p:cNvPr>
          <p:cNvSpPr>
            <a:spLocks noGrp="1"/>
          </p:cNvSpPr>
          <p:nvPr>
            <p:ph type="title"/>
          </p:nvPr>
        </p:nvSpPr>
        <p:spPr/>
        <p:txBody>
          <a:bodyPr/>
          <a:lstStyle/>
          <a:p>
            <a:r>
              <a:rPr lang="en-US">
                <a:ea typeface="Calibri"/>
                <a:cs typeface="Calibri"/>
              </a:rPr>
              <a:t>Table 7 Takeaways</a:t>
            </a:r>
            <a:endParaRPr lang="en-US"/>
          </a:p>
        </p:txBody>
      </p:sp>
      <p:sp>
        <p:nvSpPr>
          <p:cNvPr id="3" name="Content Placeholder 2">
            <a:extLst>
              <a:ext uri="{FF2B5EF4-FFF2-40B4-BE49-F238E27FC236}">
                <a16:creationId xmlns:a16="http://schemas.microsoft.com/office/drawing/2014/main" id="{FBA70239-8221-57C6-1E2C-3DB3A8A7F17C}"/>
              </a:ext>
            </a:extLst>
          </p:cNvPr>
          <p:cNvSpPr>
            <a:spLocks noGrp="1"/>
          </p:cNvSpPr>
          <p:nvPr>
            <p:ph idx="1"/>
          </p:nvPr>
        </p:nvSpPr>
        <p:spPr/>
        <p:txBody>
          <a:bodyPr vert="horz" lIns="91440" tIns="45720" rIns="91440" bIns="45720" rtlCol="0" anchor="t">
            <a:normAutofit/>
          </a:bodyPr>
          <a:lstStyle/>
          <a:p>
            <a:r>
              <a:rPr lang="en-US" dirty="0">
                <a:ea typeface="Calibri"/>
                <a:cs typeface="Calibri"/>
              </a:rPr>
              <a:t>Market Structure reforms accounted for 18% of the overall rise in share repurchases from 1995 to 2021 </a:t>
            </a:r>
          </a:p>
          <a:p>
            <a:r>
              <a:rPr lang="en-US" dirty="0">
                <a:ea typeface="Calibri"/>
                <a:cs typeface="Calibri"/>
              </a:rPr>
              <a:t>NYSE </a:t>
            </a:r>
            <a:r>
              <a:rPr lang="en-US" dirty="0" err="1">
                <a:ea typeface="Calibri"/>
                <a:cs typeface="Calibri"/>
              </a:rPr>
              <a:t>Autoquote</a:t>
            </a:r>
            <a:r>
              <a:rPr lang="en-US" dirty="0">
                <a:ea typeface="Calibri"/>
                <a:cs typeface="Calibri"/>
              </a:rPr>
              <a:t> installation had the largest impact</a:t>
            </a:r>
          </a:p>
        </p:txBody>
      </p:sp>
    </p:spTree>
    <p:extLst>
      <p:ext uri="{BB962C8B-B14F-4D97-AF65-F5344CB8AC3E}">
        <p14:creationId xmlns:p14="http://schemas.microsoft.com/office/powerpoint/2010/main" val="1632687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2B3E3-A2BF-E7C3-A054-67EA46499E20}"/>
              </a:ext>
            </a:extLst>
          </p:cNvPr>
          <p:cNvSpPr>
            <a:spLocks noGrp="1"/>
          </p:cNvSpPr>
          <p:nvPr>
            <p:ph type="title"/>
          </p:nvPr>
        </p:nvSpPr>
        <p:spPr>
          <a:xfrm>
            <a:off x="457200" y="116769"/>
            <a:ext cx="8229600" cy="857250"/>
          </a:xfrm>
        </p:spPr>
        <p:txBody>
          <a:bodyPr/>
          <a:lstStyle/>
          <a:p>
            <a:r>
              <a:rPr lang="en-US" dirty="0">
                <a:ea typeface="Calibri"/>
                <a:cs typeface="Calibri"/>
              </a:rPr>
              <a:t>Conclusion</a:t>
            </a:r>
            <a:endParaRPr lang="en-US" dirty="0"/>
          </a:p>
        </p:txBody>
      </p:sp>
      <p:sp>
        <p:nvSpPr>
          <p:cNvPr id="3" name="Content Placeholder 2">
            <a:extLst>
              <a:ext uri="{FF2B5EF4-FFF2-40B4-BE49-F238E27FC236}">
                <a16:creationId xmlns:a16="http://schemas.microsoft.com/office/drawing/2014/main" id="{C70C4E4E-EFCF-33E0-033C-D4100F897E0C}"/>
              </a:ext>
            </a:extLst>
          </p:cNvPr>
          <p:cNvSpPr>
            <a:spLocks noGrp="1"/>
          </p:cNvSpPr>
          <p:nvPr>
            <p:ph idx="1"/>
          </p:nvPr>
        </p:nvSpPr>
        <p:spPr>
          <a:xfrm>
            <a:off x="457200" y="1063229"/>
            <a:ext cx="8229600" cy="3394472"/>
          </a:xfrm>
        </p:spPr>
        <p:txBody>
          <a:bodyPr vert="horz" lIns="91440" tIns="45720" rIns="91440" bIns="45720" rtlCol="0" anchor="t">
            <a:normAutofit fontScale="92500"/>
          </a:bodyPr>
          <a:lstStyle/>
          <a:p>
            <a:r>
              <a:rPr lang="en-US" sz="2400" dirty="0">
                <a:ea typeface="Calibri"/>
                <a:cs typeface="Calibri"/>
              </a:rPr>
              <a:t>Market-structure reforms have played a key role in boosting share repurchases by reducing trading frictions and improving issuers' ability to repurchase shares at price ceilings. </a:t>
            </a:r>
          </a:p>
          <a:p>
            <a:r>
              <a:rPr lang="en-US" sz="2400" dirty="0">
                <a:ea typeface="Calibri"/>
                <a:cs typeface="Calibri"/>
              </a:rPr>
              <a:t>Major reforms, like the Nasdaq Manning Rule and tick-size reductions, gave issuers better execution priority and relaxed price constraints, leading to a long-term increase in buybacks over dividends.</a:t>
            </a:r>
          </a:p>
          <a:p>
            <a:r>
              <a:rPr lang="en-US" sz="2400" dirty="0">
                <a:ea typeface="Calibri"/>
                <a:cs typeface="Calibri"/>
              </a:rPr>
              <a:t>The study finds that 18% of the secular rise in share repurchases from 1995 to 2021 can be attributed to these market reforms</a:t>
            </a:r>
          </a:p>
          <a:p>
            <a:endParaRPr lang="en-US" sz="2400" dirty="0">
              <a:ea typeface="Calibri"/>
              <a:cs typeface="Calibri"/>
            </a:endParaRPr>
          </a:p>
        </p:txBody>
      </p:sp>
    </p:spTree>
    <p:extLst>
      <p:ext uri="{BB962C8B-B14F-4D97-AF65-F5344CB8AC3E}">
        <p14:creationId xmlns:p14="http://schemas.microsoft.com/office/powerpoint/2010/main" val="20747643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1284</TotalTime>
  <Words>1578</Words>
  <Application>Microsoft Office PowerPoint</Application>
  <PresentationFormat>On-screen Show (16:9)</PresentationFormat>
  <Paragraphs>147</Paragraphs>
  <Slides>34</Slides>
  <Notes>26</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Times New Roman</vt:lpstr>
      <vt:lpstr>Office Theme</vt:lpstr>
      <vt:lpstr>Price Ceilings, Market Structure, and Payout Policies</vt:lpstr>
      <vt:lpstr>Research Question</vt:lpstr>
      <vt:lpstr>Prior Literature</vt:lpstr>
      <vt:lpstr>Prior Literature</vt:lpstr>
      <vt:lpstr>Prior Literature</vt:lpstr>
      <vt:lpstr>Institutional Background</vt:lpstr>
      <vt:lpstr>Key Findings</vt:lpstr>
      <vt:lpstr>Experiment Details</vt:lpstr>
      <vt:lpstr>Experiment Details</vt:lpstr>
      <vt:lpstr>Experiment Details</vt:lpstr>
      <vt:lpstr>Experiment Details</vt:lpstr>
      <vt:lpstr>Table 1 – Difference-in-Differences Results</vt:lpstr>
      <vt:lpstr>Table 1 Takeaways</vt:lpstr>
      <vt:lpstr>Table 2 -Extensive vs Intensive Margins </vt:lpstr>
      <vt:lpstr>Table 2 Takeaways</vt:lpstr>
      <vt:lpstr>Table 3 - The Queuing Channel </vt:lpstr>
      <vt:lpstr>Table 3 - The Queuing Channel </vt:lpstr>
      <vt:lpstr>Table 3 - The Queuing Channel </vt:lpstr>
      <vt:lpstr>Table 3 - The Queuing Channel </vt:lpstr>
      <vt:lpstr>Table 3 Takeaways</vt:lpstr>
      <vt:lpstr>Table 4 - Dark Pool Channel</vt:lpstr>
      <vt:lpstr>Table 4 Takeaways</vt:lpstr>
      <vt:lpstr>Table 5 – Robustness Checks</vt:lpstr>
      <vt:lpstr>Table 5 – Panel B: Controlling for Alternative Explanations</vt:lpstr>
      <vt:lpstr>Table 5 – Panel C</vt:lpstr>
      <vt:lpstr>Table 5 Takeaways</vt:lpstr>
      <vt:lpstr>Table 6 – Event Studies</vt:lpstr>
      <vt:lpstr>Table 6 Takeaways</vt:lpstr>
      <vt:lpstr>Table 7 – Event Studies</vt:lpstr>
      <vt:lpstr>PowerPoint Presentation</vt:lpstr>
      <vt:lpstr>PowerPoint Presentation</vt:lpstr>
      <vt:lpstr>PowerPoint Presentation</vt:lpstr>
      <vt:lpstr>Table 7 Takeaways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352</cp:revision>
  <dcterms:created xsi:type="dcterms:W3CDTF">2020-09-10T18:37:45Z</dcterms:created>
  <dcterms:modified xsi:type="dcterms:W3CDTF">2024-09-17T14:00:57Z</dcterms:modified>
</cp:coreProperties>
</file>