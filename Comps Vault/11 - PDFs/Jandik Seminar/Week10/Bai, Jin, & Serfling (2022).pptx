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60" r:id="rId3"/>
    <p:sldId id="257" r:id="rId4"/>
    <p:sldId id="258" r:id="rId5"/>
    <p:sldId id="277" r:id="rId6"/>
    <p:sldId id="261" r:id="rId7"/>
    <p:sldId id="262" r:id="rId8"/>
    <p:sldId id="263" r:id="rId9"/>
    <p:sldId id="264" r:id="rId10"/>
    <p:sldId id="266" r:id="rId11"/>
    <p:sldId id="265" r:id="rId12"/>
    <p:sldId id="267" r:id="rId13"/>
    <p:sldId id="268" r:id="rId14"/>
    <p:sldId id="269" r:id="rId15"/>
    <p:sldId id="270" r:id="rId16"/>
    <p:sldId id="272" r:id="rId17"/>
    <p:sldId id="273" r:id="rId18"/>
    <p:sldId id="274" r:id="rId19"/>
    <p:sldId id="276" r:id="rId20"/>
    <p:sldId id="271" r:id="rId21"/>
    <p:sldId id="25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20" d="100"/>
          <a:sy n="120" d="100"/>
        </p:scale>
        <p:origin x="120"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D2F72A-9698-45E0-9027-47ACE0D9E804}" type="datetimeFigureOut">
              <a:rPr lang="en-US" smtClean="0"/>
              <a:t>10/29/2024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9FB176-A45C-4C77-BD10-BDB972DAF6EE}" type="slidenum">
              <a:rPr lang="en-US" smtClean="0"/>
              <a:t>‹#›</a:t>
            </a:fld>
            <a:endParaRPr lang="en-US"/>
          </a:p>
        </p:txBody>
      </p:sp>
    </p:spTree>
    <p:extLst>
      <p:ext uri="{BB962C8B-B14F-4D97-AF65-F5344CB8AC3E}">
        <p14:creationId xmlns:p14="http://schemas.microsoft.com/office/powerpoint/2010/main" val="4147638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Structured management practices are those that are more specific, formal, frequent, or explicit (e.g., having more key performance indicators, clearly displayed production targets, and compensation more explicitly tied to a worker’s performance).</a:t>
            </a:r>
          </a:p>
        </p:txBody>
      </p:sp>
      <p:sp>
        <p:nvSpPr>
          <p:cNvPr id="4" name="Slide Number Placeholder 3"/>
          <p:cNvSpPr>
            <a:spLocks noGrp="1"/>
          </p:cNvSpPr>
          <p:nvPr>
            <p:ph type="sldNum" sz="quarter" idx="5"/>
          </p:nvPr>
        </p:nvSpPr>
        <p:spPr/>
        <p:txBody>
          <a:bodyPr/>
          <a:lstStyle/>
          <a:p>
            <a:fld id="{269FB176-A45C-4C77-BD10-BDB972DAF6EE}" type="slidenum">
              <a:rPr lang="en-US" smtClean="0"/>
              <a:t>3</a:t>
            </a:fld>
            <a:endParaRPr lang="en-US"/>
          </a:p>
        </p:txBody>
      </p:sp>
    </p:spTree>
    <p:extLst>
      <p:ext uri="{BB962C8B-B14F-4D97-AF65-F5344CB8AC3E}">
        <p14:creationId xmlns:p14="http://schemas.microsoft.com/office/powerpoint/2010/main" val="661660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9FB176-A45C-4C77-BD10-BDB972DAF6EE}" type="slidenum">
              <a:rPr lang="en-US" smtClean="0"/>
              <a:t>4</a:t>
            </a:fld>
            <a:endParaRPr lang="en-US"/>
          </a:p>
        </p:txBody>
      </p:sp>
    </p:spTree>
    <p:extLst>
      <p:ext uri="{BB962C8B-B14F-4D97-AF65-F5344CB8AC3E}">
        <p14:creationId xmlns:p14="http://schemas.microsoft.com/office/powerpoint/2010/main" val="3766011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Three example questions out of 16 from “Appendix A. MOPS Questions”</a:t>
            </a:r>
          </a:p>
          <a:p>
            <a:pPr marL="171450" indent="-171450">
              <a:buFont typeface="Arial" panose="020B0604020202020204" pitchFamily="34" charset="0"/>
              <a:buChar char="•"/>
            </a:pPr>
            <a:r>
              <a:rPr lang="en-US" dirty="0"/>
              <a:t>Three categories of questions scored from 0 (least structured) to 1 (most structured): Targets, Monitoring, and Incentives</a:t>
            </a:r>
          </a:p>
        </p:txBody>
      </p:sp>
      <p:sp>
        <p:nvSpPr>
          <p:cNvPr id="4" name="Slide Number Placeholder 3"/>
          <p:cNvSpPr>
            <a:spLocks noGrp="1"/>
          </p:cNvSpPr>
          <p:nvPr>
            <p:ph type="sldNum" sz="quarter" idx="5"/>
          </p:nvPr>
        </p:nvSpPr>
        <p:spPr/>
        <p:txBody>
          <a:bodyPr/>
          <a:lstStyle/>
          <a:p>
            <a:fld id="{269FB176-A45C-4C77-BD10-BDB972DAF6EE}" type="slidenum">
              <a:rPr lang="en-US" smtClean="0"/>
              <a:t>5</a:t>
            </a:fld>
            <a:endParaRPr lang="en-US"/>
          </a:p>
        </p:txBody>
      </p:sp>
    </p:spTree>
    <p:extLst>
      <p:ext uri="{BB962C8B-B14F-4D97-AF65-F5344CB8AC3E}">
        <p14:creationId xmlns:p14="http://schemas.microsoft.com/office/powerpoint/2010/main" val="1969432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a:buFont typeface="Arial" panose="020B0604020202020204" pitchFamily="34" charset="0"/>
              <a:buChar char="•"/>
            </a:pPr>
            <a:r>
              <a:rPr lang="en-US" sz="1800" b="0" i="0" u="none" strike="noStrike" baseline="0" dirty="0">
                <a:latin typeface="AdvTT3258b86f"/>
              </a:rPr>
              <a:t>The overall management practices score in 2005 was 0.59 on average.</a:t>
            </a:r>
          </a:p>
          <a:p>
            <a:pPr marL="285750" indent="-285750" algn="l">
              <a:buFont typeface="Arial" panose="020B0604020202020204" pitchFamily="34" charset="0"/>
              <a:buChar char="•"/>
            </a:pPr>
            <a:r>
              <a:rPr lang="en-US" sz="1800" b="0" i="0" u="none" strike="noStrike" baseline="0" dirty="0">
                <a:latin typeface="AdvTT3258b86f"/>
              </a:rPr>
              <a:t>Establishments had the most structured management practices related to targets with a value of 0.67 and the least structured management practices related to monitoring with a value of 0.56.</a:t>
            </a:r>
          </a:p>
          <a:p>
            <a:pPr marL="285750" indent="-285750" algn="l">
              <a:buFont typeface="Arial" panose="020B0604020202020204" pitchFamily="34" charset="0"/>
              <a:buChar char="•"/>
            </a:pPr>
            <a:r>
              <a:rPr lang="en-US" sz="1800" b="0" i="0" u="none" strike="noStrike" baseline="0" dirty="0">
                <a:latin typeface="AdvTT3258b86f"/>
              </a:rPr>
              <a:t>On average, management practices became more structured between 2005 and 2010, with an increase of 16.7% (= 0.0986/ 0.5914) in the overall management practices score.</a:t>
            </a:r>
          </a:p>
          <a:p>
            <a:pPr marL="285750" indent="-285750" algn="l">
              <a:buFont typeface="Arial" panose="020B0604020202020204" pitchFamily="34" charset="0"/>
              <a:buChar char="•"/>
            </a:pPr>
            <a:r>
              <a:rPr lang="en-US" dirty="0"/>
              <a:t>14.0% experienced an ownership change.</a:t>
            </a:r>
          </a:p>
          <a:p>
            <a:pPr marL="285750" indent="-285750" algn="l">
              <a:buFont typeface="Arial" panose="020B0604020202020204" pitchFamily="34" charset="0"/>
              <a:buChar char="•"/>
            </a:pPr>
            <a:r>
              <a:rPr lang="en-US" sz="1800" b="0" i="0" u="none" strike="noStrike" baseline="0" dirty="0">
                <a:latin typeface="AdvTT3258b86f"/>
              </a:rPr>
              <a:t>Employees shrunk by 16.4% and capital stock shrunk by less than 1%.</a:t>
            </a:r>
            <a:endParaRPr lang="en-US" dirty="0"/>
          </a:p>
        </p:txBody>
      </p:sp>
      <p:sp>
        <p:nvSpPr>
          <p:cNvPr id="4" name="Slide Number Placeholder 3"/>
          <p:cNvSpPr>
            <a:spLocks noGrp="1"/>
          </p:cNvSpPr>
          <p:nvPr>
            <p:ph type="sldNum" sz="quarter" idx="5"/>
          </p:nvPr>
        </p:nvSpPr>
        <p:spPr/>
        <p:txBody>
          <a:bodyPr/>
          <a:lstStyle/>
          <a:p>
            <a:fld id="{269FB176-A45C-4C77-BD10-BDB972DAF6EE}" type="slidenum">
              <a:rPr lang="en-US" smtClean="0"/>
              <a:t>6</a:t>
            </a:fld>
            <a:endParaRPr lang="en-US"/>
          </a:p>
        </p:txBody>
      </p:sp>
    </p:spTree>
    <p:extLst>
      <p:ext uri="{BB962C8B-B14F-4D97-AF65-F5344CB8AC3E}">
        <p14:creationId xmlns:p14="http://schemas.microsoft.com/office/powerpoint/2010/main" val="2327074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a:buFont typeface="Arial" panose="020B0604020202020204" pitchFamily="34" charset="0"/>
              <a:buChar char="•"/>
            </a:pPr>
            <a:r>
              <a:rPr lang="en-US" sz="1800" b="1" i="0" u="none" strike="noStrike" baseline="0" dirty="0">
                <a:latin typeface="AdvTT3258b86f"/>
              </a:rPr>
              <a:t>Differences in columns 1 and 2</a:t>
            </a:r>
            <a:r>
              <a:rPr lang="en-US" sz="1800" b="0" i="0" u="none" strike="noStrike" baseline="0" dirty="0">
                <a:latin typeface="AdvTT3258b86f"/>
              </a:rPr>
              <a:t>: Acquired establishments have lower management scores, fewer employees and physical assets, less-educated managers, and lower union membership rates. They are also younger and less productive.</a:t>
            </a:r>
          </a:p>
          <a:p>
            <a:pPr marL="285750" indent="-285750" algn="l">
              <a:buFont typeface="Arial" panose="020B0604020202020204" pitchFamily="34" charset="0"/>
              <a:buChar char="•"/>
            </a:pPr>
            <a:r>
              <a:rPr lang="en-US" sz="1800" b="1" i="0" u="none" strike="noStrike" baseline="0" dirty="0">
                <a:latin typeface="AdvTT3258b86f"/>
              </a:rPr>
              <a:t>Differences in columns 1 and 3</a:t>
            </a:r>
            <a:r>
              <a:rPr lang="en-US" sz="1800" b="0" i="0" u="none" strike="noStrike" baseline="0" dirty="0">
                <a:latin typeface="AdvTT3258b86f"/>
              </a:rPr>
              <a:t>: Acquiring-</a:t>
            </a:r>
            <a:r>
              <a:rPr lang="en-US" sz="1800" b="0" i="0" u="none" strike="noStrike" baseline="0" dirty="0">
                <a:latin typeface="AdvTT3258b86f+fb"/>
              </a:rPr>
              <a:t>fi</a:t>
            </a:r>
            <a:r>
              <a:rPr lang="en-US" sz="1800" b="0" i="0" u="none" strike="noStrike" baseline="0" dirty="0">
                <a:latin typeface="AdvTT3258b86f"/>
              </a:rPr>
              <a:t>rm establishments have higher management scores, more physical assets, and more educated managers. They are also older and more productive.</a:t>
            </a:r>
            <a:endParaRPr lang="en-US" dirty="0"/>
          </a:p>
        </p:txBody>
      </p:sp>
      <p:sp>
        <p:nvSpPr>
          <p:cNvPr id="4" name="Slide Number Placeholder 3"/>
          <p:cNvSpPr>
            <a:spLocks noGrp="1"/>
          </p:cNvSpPr>
          <p:nvPr>
            <p:ph type="sldNum" sz="quarter" idx="5"/>
          </p:nvPr>
        </p:nvSpPr>
        <p:spPr/>
        <p:txBody>
          <a:bodyPr/>
          <a:lstStyle/>
          <a:p>
            <a:fld id="{269FB176-A45C-4C77-BD10-BDB972DAF6EE}" type="slidenum">
              <a:rPr lang="en-US" smtClean="0"/>
              <a:t>7</a:t>
            </a:fld>
            <a:endParaRPr lang="en-US"/>
          </a:p>
        </p:txBody>
      </p:sp>
    </p:spTree>
    <p:extLst>
      <p:ext uri="{BB962C8B-B14F-4D97-AF65-F5344CB8AC3E}">
        <p14:creationId xmlns:p14="http://schemas.microsoft.com/office/powerpoint/2010/main" val="52055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a:buFont typeface="Arial" panose="020B0604020202020204" pitchFamily="34" charset="0"/>
              <a:buChar char="•"/>
            </a:pPr>
            <a:r>
              <a:rPr lang="en-US" sz="1800" b="0" i="0" u="none" strike="noStrike" baseline="0" dirty="0">
                <a:latin typeface="AdvTT3258b86f"/>
              </a:rPr>
              <a:t>There are </a:t>
            </a:r>
            <a:r>
              <a:rPr lang="en-US" sz="1800" b="1" i="0" u="none" strike="noStrike" baseline="0" dirty="0">
                <a:latin typeface="AdvTT3258b86f"/>
              </a:rPr>
              <a:t>not</a:t>
            </a:r>
            <a:r>
              <a:rPr lang="en-US" sz="1800" b="0" i="0" u="none" strike="noStrike" baseline="0" dirty="0">
                <a:latin typeface="AdvTT3258b86f"/>
              </a:rPr>
              <a:t> substantial differences in the management practices of establishments in different industries.</a:t>
            </a:r>
          </a:p>
          <a:p>
            <a:pPr marL="285750" indent="-285750" algn="l">
              <a:buFont typeface="Arial" panose="020B0604020202020204" pitchFamily="34" charset="0"/>
              <a:buChar char="•"/>
            </a:pPr>
            <a:r>
              <a:rPr lang="en-US" sz="1800" b="1" i="0" u="none" strike="noStrike" baseline="0" dirty="0">
                <a:latin typeface="AdvTT3258b86f"/>
              </a:rPr>
              <a:t>Most structured</a:t>
            </a:r>
            <a:r>
              <a:rPr lang="en-US" sz="1800" b="0" i="0" u="none" strike="noStrike" baseline="0" dirty="0">
                <a:latin typeface="AdvTT3258b86f"/>
              </a:rPr>
              <a:t>: </a:t>
            </a:r>
            <a:r>
              <a:rPr lang="en-US" sz="1800" b="0" i="0" u="none" strike="noStrike" baseline="0" dirty="0">
                <a:latin typeface="AdvTT3258b86f+20"/>
              </a:rPr>
              <a:t>“</a:t>
            </a:r>
            <a:r>
              <a:rPr lang="en-US" sz="1800" b="0" i="0" u="none" strike="noStrike" baseline="0" dirty="0">
                <a:latin typeface="AdvTT3258b86f"/>
              </a:rPr>
              <a:t>Transportation Equipment Manufacturing,</a:t>
            </a:r>
            <a:r>
              <a:rPr lang="en-US" sz="1800" b="0" i="0" u="none" strike="noStrike" baseline="0" dirty="0">
                <a:latin typeface="AdvTT3258b86f+20"/>
              </a:rPr>
              <a:t>” </a:t>
            </a:r>
            <a:r>
              <a:rPr lang="en-US" sz="1800" b="0" i="0" u="none" strike="noStrike" baseline="0" dirty="0">
                <a:latin typeface="AdvTT3258b86f"/>
              </a:rPr>
              <a:t>with an average management score of 0.624.</a:t>
            </a:r>
          </a:p>
          <a:p>
            <a:pPr marL="285750" indent="-285750" algn="l">
              <a:buFont typeface="Arial" panose="020B0604020202020204" pitchFamily="34" charset="0"/>
              <a:buChar char="•"/>
            </a:pPr>
            <a:r>
              <a:rPr lang="en-US" sz="1800" b="1" i="0" u="none" strike="noStrike" baseline="0" dirty="0">
                <a:latin typeface="AdvTT3258b86f"/>
              </a:rPr>
              <a:t>Least structured</a:t>
            </a:r>
            <a:r>
              <a:rPr lang="en-US" sz="1800" b="0" i="0" u="none" strike="noStrike" baseline="0" dirty="0">
                <a:latin typeface="AdvTT3258b86f"/>
              </a:rPr>
              <a:t>: </a:t>
            </a:r>
            <a:r>
              <a:rPr lang="en-US" sz="1800" b="0" i="0" u="none" strike="noStrike" baseline="0" dirty="0">
                <a:latin typeface="AdvTT3258b86f+20"/>
              </a:rPr>
              <a:t>“</a:t>
            </a:r>
            <a:r>
              <a:rPr lang="en-US" sz="1800" b="0" i="0" u="none" strike="noStrike" baseline="0" dirty="0">
                <a:latin typeface="AdvTT3258b86f"/>
              </a:rPr>
              <a:t>Leather and Allied Product Manufacturing,</a:t>
            </a:r>
            <a:r>
              <a:rPr lang="en-US" sz="1800" b="0" i="0" u="none" strike="noStrike" baseline="0" dirty="0">
                <a:latin typeface="AdvTT3258b86f+20"/>
              </a:rPr>
              <a:t>” </a:t>
            </a:r>
            <a:r>
              <a:rPr lang="en-US" sz="1800" b="0" i="0" u="none" strike="noStrike" baseline="0" dirty="0">
                <a:latin typeface="AdvTT3258b86f"/>
              </a:rPr>
              <a:t>with an average management score of 0.541.</a:t>
            </a:r>
          </a:p>
          <a:p>
            <a:pPr marL="285750" indent="-285750" algn="l">
              <a:buFont typeface="Arial" panose="020B0604020202020204" pitchFamily="34" charset="0"/>
              <a:buChar char="•"/>
            </a:pPr>
            <a:r>
              <a:rPr lang="en-US" sz="1800" b="0" i="0" u="none" strike="noStrike" baseline="0" dirty="0">
                <a:latin typeface="AdvTT3258b86f"/>
              </a:rPr>
              <a:t>For context, the standard deviation of management scores across all establishments is 0.148.</a:t>
            </a:r>
            <a:endParaRPr lang="en-US" dirty="0"/>
          </a:p>
        </p:txBody>
      </p:sp>
      <p:sp>
        <p:nvSpPr>
          <p:cNvPr id="4" name="Slide Number Placeholder 3"/>
          <p:cNvSpPr>
            <a:spLocks noGrp="1"/>
          </p:cNvSpPr>
          <p:nvPr>
            <p:ph type="sldNum" sz="quarter" idx="5"/>
          </p:nvPr>
        </p:nvSpPr>
        <p:spPr/>
        <p:txBody>
          <a:bodyPr/>
          <a:lstStyle/>
          <a:p>
            <a:fld id="{269FB176-A45C-4C77-BD10-BDB972DAF6EE}" type="slidenum">
              <a:rPr lang="en-US" smtClean="0"/>
              <a:t>8</a:t>
            </a:fld>
            <a:endParaRPr lang="en-US"/>
          </a:p>
        </p:txBody>
      </p:sp>
    </p:spTree>
    <p:extLst>
      <p:ext uri="{BB962C8B-B14F-4D97-AF65-F5344CB8AC3E}">
        <p14:creationId xmlns:p14="http://schemas.microsoft.com/office/powerpoint/2010/main" val="2737288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800" b="0" i="0" u="none" strike="noStrike" baseline="0" dirty="0">
                <a:latin typeface="AdvTT3258b86f"/>
              </a:rPr>
              <a:t>This table reports the results from OLS regressions examining the relation between management scores and the likelihood that a firm becomes an acquirer or that an establishment is acquired.</a:t>
            </a:r>
          </a:p>
          <a:p>
            <a:pPr marL="171450" indent="-171450">
              <a:buFont typeface="Arial" panose="020B0604020202020204" pitchFamily="34" charset="0"/>
              <a:buChar char="•"/>
            </a:pPr>
            <a:r>
              <a:rPr lang="en-US" sz="1800" b="0" i="0" u="none" strike="noStrike" baseline="0" dirty="0">
                <a:latin typeface="AdvTT3258b86f"/>
              </a:rPr>
              <a:t>Columns 1 and 2 show a show a positive and statistically signi</a:t>
            </a:r>
            <a:r>
              <a:rPr lang="en-US" sz="1800" b="0" i="0" u="none" strike="noStrike" baseline="0" dirty="0">
                <a:latin typeface="AdvTT3258b86f+fb"/>
              </a:rPr>
              <a:t>fi</a:t>
            </a:r>
            <a:r>
              <a:rPr lang="en-US" sz="1800" b="0" i="0" u="none" strike="noStrike" baseline="0" dirty="0">
                <a:latin typeface="AdvTT3258b86f"/>
              </a:rPr>
              <a:t>cant relation between a </a:t>
            </a:r>
            <a:r>
              <a:rPr lang="en-US" sz="1800" b="0" i="0" u="none" strike="noStrike" baseline="0" dirty="0">
                <a:latin typeface="AdvTT3258b86f+fb"/>
              </a:rPr>
              <a:t>fi</a:t>
            </a:r>
            <a:r>
              <a:rPr lang="en-US" sz="1800" b="0" i="0" u="none" strike="noStrike" baseline="0" dirty="0">
                <a:latin typeface="AdvTT3258b86f"/>
              </a:rPr>
              <a:t>rm</a:t>
            </a:r>
            <a:r>
              <a:rPr lang="en-US" sz="1800" b="0" i="0" u="none" strike="noStrike" baseline="0" dirty="0">
                <a:latin typeface="AdvTT3258b86f+20"/>
              </a:rPr>
              <a:t>’</a:t>
            </a:r>
            <a:r>
              <a:rPr lang="en-US" sz="1800" b="0" i="0" u="none" strike="noStrike" baseline="0" dirty="0">
                <a:latin typeface="AdvTT3258b86f"/>
              </a:rPr>
              <a:t>s management score and the likelihood that it becomes an acquirer, as well as the number of acquisitions it makes.</a:t>
            </a:r>
          </a:p>
          <a:p>
            <a:pPr marL="171450" indent="-171450">
              <a:buFont typeface="Arial" panose="020B0604020202020204" pitchFamily="34" charset="0"/>
              <a:buChar char="•"/>
            </a:pPr>
            <a:r>
              <a:rPr lang="en-US" sz="1800" b="0" i="0" u="none" strike="noStrike" baseline="0" dirty="0">
                <a:latin typeface="AdvTT3258b86f"/>
              </a:rPr>
              <a:t>Column 3 repeats the analysis in column 1 but restricts the sample to firms that have at least 75% of their employees working for establishments in the manufacturing sector.</a:t>
            </a:r>
          </a:p>
          <a:p>
            <a:pPr marL="171450" indent="-171450">
              <a:buFont typeface="Arial" panose="020B0604020202020204" pitchFamily="34" charset="0"/>
              <a:buChar char="•"/>
            </a:pPr>
            <a:r>
              <a:rPr lang="en-US" sz="1800" b="0" i="0" u="none" strike="noStrike" baseline="0" dirty="0">
                <a:latin typeface="AdvTT3258b86f"/>
              </a:rPr>
              <a:t>Column 4 repeats the analysis in column 1 but uses the characteristics of a firm’s largest establishment instead of an average across all establishments.</a:t>
            </a:r>
          </a:p>
          <a:p>
            <a:pPr marL="171450" indent="-171450">
              <a:buFont typeface="Arial" panose="020B0604020202020204" pitchFamily="34" charset="0"/>
              <a:buChar char="•"/>
            </a:pPr>
            <a:r>
              <a:rPr lang="en-US" sz="1800" b="0" i="0" u="none" strike="noStrike" baseline="0" dirty="0">
                <a:latin typeface="AdvTT3258b86f"/>
              </a:rPr>
              <a:t>Columns 5 and 6 show a negative and statistically signi</a:t>
            </a:r>
            <a:r>
              <a:rPr lang="en-US" sz="1800" b="0" i="0" u="none" strike="noStrike" baseline="0" dirty="0">
                <a:latin typeface="AdvTT3258b86f+fb"/>
              </a:rPr>
              <a:t>fi</a:t>
            </a:r>
            <a:r>
              <a:rPr lang="en-US" sz="1800" b="0" i="0" u="none" strike="noStrike" baseline="0" dirty="0">
                <a:latin typeface="AdvTT3258b86f"/>
              </a:rPr>
              <a:t>cant relation between an establishment</a:t>
            </a:r>
            <a:r>
              <a:rPr lang="en-US" sz="1800" b="0" i="0" u="none" strike="noStrike" baseline="0" dirty="0">
                <a:latin typeface="AdvTT3258b86f+20"/>
              </a:rPr>
              <a:t>’</a:t>
            </a:r>
            <a:r>
              <a:rPr lang="en-US" sz="1800" b="0" i="0" u="none" strike="noStrike" baseline="0" dirty="0">
                <a:latin typeface="AdvTT3258b86f"/>
              </a:rPr>
              <a:t>s management score and the likelihood that it is acquired.</a:t>
            </a:r>
          </a:p>
        </p:txBody>
      </p:sp>
      <p:sp>
        <p:nvSpPr>
          <p:cNvPr id="4" name="Slide Number Placeholder 3"/>
          <p:cNvSpPr>
            <a:spLocks noGrp="1"/>
          </p:cNvSpPr>
          <p:nvPr>
            <p:ph type="sldNum" sz="quarter" idx="5"/>
          </p:nvPr>
        </p:nvSpPr>
        <p:spPr/>
        <p:txBody>
          <a:bodyPr/>
          <a:lstStyle/>
          <a:p>
            <a:fld id="{269FB176-A45C-4C77-BD10-BDB972DAF6EE}" type="slidenum">
              <a:rPr lang="en-US" smtClean="0"/>
              <a:t>9</a:t>
            </a:fld>
            <a:endParaRPr lang="en-US"/>
          </a:p>
        </p:txBody>
      </p:sp>
    </p:spTree>
    <p:extLst>
      <p:ext uri="{BB962C8B-B14F-4D97-AF65-F5344CB8AC3E}">
        <p14:creationId xmlns:p14="http://schemas.microsoft.com/office/powerpoint/2010/main" val="2880012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9FB176-A45C-4C77-BD10-BDB972DAF6EE}" type="slidenum">
              <a:rPr lang="en-US" smtClean="0"/>
              <a:t>10</a:t>
            </a:fld>
            <a:endParaRPr lang="en-US"/>
          </a:p>
        </p:txBody>
      </p:sp>
    </p:spTree>
    <p:extLst>
      <p:ext uri="{BB962C8B-B14F-4D97-AF65-F5344CB8AC3E}">
        <p14:creationId xmlns:p14="http://schemas.microsoft.com/office/powerpoint/2010/main" val="18877930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a:buFont typeface="Arial" panose="020B0604020202020204" pitchFamily="34" charset="0"/>
              <a:buChar char="•"/>
            </a:pPr>
            <a:r>
              <a:rPr lang="en-US" sz="1800" b="0" i="0" u="none" strike="noStrike" baseline="0" dirty="0">
                <a:solidFill>
                  <a:srgbClr val="000000"/>
                </a:solidFill>
                <a:latin typeface="AdvTT3258b86f"/>
              </a:rPr>
              <a:t>The dependent variable </a:t>
            </a:r>
            <a:r>
              <a:rPr lang="en-US" sz="1800" b="0" i="1" u="none" strike="noStrike" baseline="0" dirty="0">
                <a:solidFill>
                  <a:srgbClr val="000000"/>
                </a:solidFill>
                <a:latin typeface="AdvTT3258b86f"/>
              </a:rPr>
              <a:t>Became Target</a:t>
            </a:r>
            <a:r>
              <a:rPr lang="en-US" sz="1800" b="0" i="0" u="none" strike="noStrike" baseline="0" dirty="0">
                <a:solidFill>
                  <a:srgbClr val="000000"/>
                </a:solidFill>
                <a:latin typeface="AdvTT3258b86f"/>
              </a:rPr>
              <a:t> is an indicator variable that is set to one if a firm acquires the establishment.</a:t>
            </a:r>
          </a:p>
          <a:p>
            <a:pPr marL="285750" indent="-285750" algn="l">
              <a:buFont typeface="Arial" panose="020B0604020202020204" pitchFamily="34" charset="0"/>
              <a:buChar char="•"/>
            </a:pPr>
            <a:r>
              <a:rPr lang="en-US" sz="1800" b="0" i="0" u="none" strike="noStrike" baseline="0" dirty="0">
                <a:solidFill>
                  <a:srgbClr val="000000"/>
                </a:solidFill>
                <a:latin typeface="AdvTT3258b86f"/>
              </a:rPr>
              <a:t>Consistent with the results in Table </a:t>
            </a:r>
            <a:r>
              <a:rPr lang="en-US" sz="1800" b="0" i="0" u="none" strike="noStrike" baseline="0" dirty="0">
                <a:solidFill>
                  <a:srgbClr val="000DBD"/>
                </a:solidFill>
                <a:latin typeface="AdvTT3258b86f"/>
              </a:rPr>
              <a:t>4</a:t>
            </a:r>
            <a:r>
              <a:rPr lang="en-US" sz="1800" b="0" i="0" u="none" strike="noStrike" baseline="0" dirty="0">
                <a:solidFill>
                  <a:srgbClr val="000000"/>
                </a:solidFill>
                <a:latin typeface="AdvTT3258b86f"/>
              </a:rPr>
              <a:t>, the authors </a:t>
            </a:r>
            <a:r>
              <a:rPr lang="en-US" sz="1800" b="0" i="0" u="none" strike="noStrike" baseline="0" dirty="0">
                <a:solidFill>
                  <a:srgbClr val="000000"/>
                </a:solidFill>
                <a:latin typeface="AdvTT3258b86f+fb"/>
              </a:rPr>
              <a:t>fi</a:t>
            </a:r>
            <a:r>
              <a:rPr lang="en-US" sz="1800" b="0" i="0" u="none" strike="noStrike" baseline="0" dirty="0">
                <a:solidFill>
                  <a:srgbClr val="000000"/>
                </a:solidFill>
                <a:latin typeface="AdvTT3258b86f"/>
              </a:rPr>
              <a:t>nd that </a:t>
            </a:r>
            <a:r>
              <a:rPr lang="en-US" sz="1800" b="0" i="0" u="none" strike="noStrike" baseline="0" dirty="0">
                <a:solidFill>
                  <a:srgbClr val="000000"/>
                </a:solidFill>
                <a:latin typeface="AdvTT3258b86f+fb"/>
              </a:rPr>
              <a:t>fi</a:t>
            </a:r>
            <a:r>
              <a:rPr lang="en-US" sz="1800" b="0" i="0" u="none" strike="noStrike" baseline="0" dirty="0">
                <a:solidFill>
                  <a:srgbClr val="000000"/>
                </a:solidFill>
                <a:latin typeface="AdvTT3258b86f"/>
              </a:rPr>
              <a:t>rms with higher management scores tend to acquire establishments with lower management scores.</a:t>
            </a:r>
            <a:endParaRPr lang="en-US" dirty="0"/>
          </a:p>
        </p:txBody>
      </p:sp>
      <p:sp>
        <p:nvSpPr>
          <p:cNvPr id="4" name="Slide Number Placeholder 3"/>
          <p:cNvSpPr>
            <a:spLocks noGrp="1"/>
          </p:cNvSpPr>
          <p:nvPr>
            <p:ph type="sldNum" sz="quarter" idx="5"/>
          </p:nvPr>
        </p:nvSpPr>
        <p:spPr/>
        <p:txBody>
          <a:bodyPr/>
          <a:lstStyle/>
          <a:p>
            <a:fld id="{269FB176-A45C-4C77-BD10-BDB972DAF6EE}" type="slidenum">
              <a:rPr lang="en-US" smtClean="0"/>
              <a:t>11</a:t>
            </a:fld>
            <a:endParaRPr lang="en-US"/>
          </a:p>
        </p:txBody>
      </p:sp>
    </p:spTree>
    <p:extLst>
      <p:ext uri="{BB962C8B-B14F-4D97-AF65-F5344CB8AC3E}">
        <p14:creationId xmlns:p14="http://schemas.microsoft.com/office/powerpoint/2010/main" val="62501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a:buFont typeface="Arial" panose="020B0604020202020204" pitchFamily="34" charset="0"/>
              <a:buChar char="•"/>
            </a:pPr>
            <a:r>
              <a:rPr lang="en-US" sz="1800" b="0" i="0" u="none" strike="noStrike" baseline="0" dirty="0">
                <a:latin typeface="AdvTT3258b86f"/>
              </a:rPr>
              <a:t>The dependent variable </a:t>
            </a:r>
            <a:r>
              <a:rPr lang="en-US" sz="1800" b="0" i="1" u="none" strike="noStrike" baseline="0" dirty="0">
                <a:latin typeface="AdvTT3258b86f"/>
              </a:rPr>
              <a:t>Δ MP Score</a:t>
            </a:r>
            <a:r>
              <a:rPr lang="en-US" sz="1800" b="0" i="0" u="none" strike="noStrike" baseline="0" dirty="0">
                <a:latin typeface="AdvTT3258b86f"/>
              </a:rPr>
              <a:t> is the change in an establishment’s management score from 2005 to 2010.</a:t>
            </a:r>
          </a:p>
          <a:p>
            <a:pPr marL="285750" indent="-285750" algn="l">
              <a:buFont typeface="Arial" panose="020B0604020202020204" pitchFamily="34" charset="0"/>
              <a:buChar char="•"/>
            </a:pPr>
            <a:r>
              <a:rPr lang="en-US" sz="1800" b="0" i="0" u="none" strike="noStrike" baseline="0" dirty="0">
                <a:latin typeface="AdvTT3258b86f"/>
              </a:rPr>
              <a:t>Column 1 presents the results from a regression with state </a:t>
            </a:r>
            <a:r>
              <a:rPr lang="en-US" sz="1800" b="0" i="0" u="none" strike="noStrike" baseline="0" dirty="0">
                <a:latin typeface="AdvTT3258b86f+fb"/>
              </a:rPr>
              <a:t>fi</a:t>
            </a:r>
            <a:r>
              <a:rPr lang="en-US" sz="1800" b="0" i="0" u="none" strike="noStrike" baseline="0" dirty="0">
                <a:latin typeface="AdvTT3258b86f"/>
              </a:rPr>
              <a:t>xed effects but no other control variables. The regressions in columns 2</a:t>
            </a:r>
            <a:r>
              <a:rPr lang="en-US" sz="1800" b="0" i="0" u="none" strike="noStrike" baseline="0" dirty="0">
                <a:latin typeface="AdvTT3258b86f+20"/>
              </a:rPr>
              <a:t>–</a:t>
            </a:r>
            <a:r>
              <a:rPr lang="en-US" sz="1800" b="0" i="0" u="none" strike="noStrike" baseline="0" dirty="0">
                <a:latin typeface="AdvTT3258b86f"/>
              </a:rPr>
              <a:t>4 sequentially add control variables, with column 2 adding industry </a:t>
            </a:r>
            <a:r>
              <a:rPr lang="en-US" sz="1800" b="0" i="0" u="none" strike="noStrike" baseline="0" dirty="0">
                <a:latin typeface="AdvTT3258b86f+fb"/>
              </a:rPr>
              <a:t>fi</a:t>
            </a:r>
            <a:r>
              <a:rPr lang="en-US" sz="1800" b="0" i="0" u="none" strike="noStrike" baseline="0" dirty="0">
                <a:latin typeface="AdvTT3258b86f"/>
              </a:rPr>
              <a:t>xed effects, column 3 adding establishment-level control variables in changes and establishment age, and column 4 adding the other initial establishment conditions.</a:t>
            </a:r>
          </a:p>
          <a:p>
            <a:pPr marL="285750" indent="-285750" algn="l">
              <a:buFont typeface="Arial" panose="020B0604020202020204" pitchFamily="34" charset="0"/>
              <a:buChar char="•"/>
            </a:pPr>
            <a:r>
              <a:rPr lang="en-US" sz="1800" b="0" i="0" u="none" strike="noStrike" baseline="0" dirty="0">
                <a:latin typeface="AdvTT3258b86f"/>
              </a:rPr>
              <a:t>Across all these models, the results show that acquired establishments adopt more structured management practices.</a:t>
            </a:r>
            <a:endParaRPr lang="en-US" dirty="0"/>
          </a:p>
        </p:txBody>
      </p:sp>
      <p:sp>
        <p:nvSpPr>
          <p:cNvPr id="4" name="Slide Number Placeholder 3"/>
          <p:cNvSpPr>
            <a:spLocks noGrp="1"/>
          </p:cNvSpPr>
          <p:nvPr>
            <p:ph type="sldNum" sz="quarter" idx="5"/>
          </p:nvPr>
        </p:nvSpPr>
        <p:spPr/>
        <p:txBody>
          <a:bodyPr/>
          <a:lstStyle/>
          <a:p>
            <a:fld id="{269FB176-A45C-4C77-BD10-BDB972DAF6EE}" type="slidenum">
              <a:rPr lang="en-US" smtClean="0"/>
              <a:t>13</a:t>
            </a:fld>
            <a:endParaRPr lang="en-US"/>
          </a:p>
        </p:txBody>
      </p:sp>
    </p:spTree>
    <p:extLst>
      <p:ext uri="{BB962C8B-B14F-4D97-AF65-F5344CB8AC3E}">
        <p14:creationId xmlns:p14="http://schemas.microsoft.com/office/powerpoint/2010/main" val="3920052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Table 7 examines the effect of M&amp;A on each of the three categories of management practices separately.</a:t>
            </a:r>
          </a:p>
          <a:p>
            <a:pPr marL="171450" indent="-171450">
              <a:buFont typeface="Arial" panose="020B0604020202020204" pitchFamily="34" charset="0"/>
              <a:buChar char="•"/>
            </a:pPr>
            <a:r>
              <a:rPr lang="en-US" dirty="0"/>
              <a:t>Like the last table, </a:t>
            </a:r>
            <a:r>
              <a:rPr lang="el-GR" sz="1800" b="0" i="1" u="none" strike="noStrike" baseline="0" dirty="0">
                <a:latin typeface="AdvOT08eca702+22"/>
              </a:rPr>
              <a:t>Δ </a:t>
            </a:r>
            <a:r>
              <a:rPr lang="en-US" sz="1800" b="0" i="1" u="none" strike="noStrike" baseline="0" dirty="0">
                <a:latin typeface="AdvTTd8ef4e6f.I"/>
              </a:rPr>
              <a:t>MP</a:t>
            </a:r>
            <a:r>
              <a:rPr lang="en-US" sz="1800" b="0" i="0" u="none" strike="noStrike" baseline="0" dirty="0">
                <a:latin typeface="AdvTTd8ef4e6f.I"/>
              </a:rPr>
              <a:t> is the change in an establishment’s management score from 2005 to 2010.</a:t>
            </a:r>
          </a:p>
          <a:p>
            <a:pPr marL="171450" indent="-171450">
              <a:buFont typeface="Arial" panose="020B0604020202020204" pitchFamily="34" charset="0"/>
              <a:buChar char="•"/>
            </a:pPr>
            <a:r>
              <a:rPr lang="en-US" sz="1800" b="0" i="0" u="none" strike="noStrike" baseline="0" dirty="0">
                <a:latin typeface="AdvTT3258b86f"/>
              </a:rPr>
              <a:t>The authors </a:t>
            </a:r>
            <a:r>
              <a:rPr lang="en-US" sz="1800" b="0" i="0" u="none" strike="noStrike" baseline="0" dirty="0">
                <a:latin typeface="AdvTT3258b86f+fb"/>
              </a:rPr>
              <a:t>fi</a:t>
            </a:r>
            <a:r>
              <a:rPr lang="en-US" sz="1800" b="0" i="0" u="none" strike="noStrike" baseline="0" dirty="0">
                <a:latin typeface="AdvTT3258b86f"/>
              </a:rPr>
              <a:t>nd signi</a:t>
            </a:r>
            <a:r>
              <a:rPr lang="en-US" sz="1800" b="0" i="0" u="none" strike="noStrike" baseline="0" dirty="0">
                <a:latin typeface="AdvTT3258b86f+fb"/>
              </a:rPr>
              <a:t>fi</a:t>
            </a:r>
            <a:r>
              <a:rPr lang="en-US" sz="1800" b="0" i="0" u="none" strike="noStrike" baseline="0" dirty="0">
                <a:latin typeface="AdvTT3258b86f"/>
              </a:rPr>
              <a:t>cant increases in the management scores in each of the three categories of management practices after an acquisition.</a:t>
            </a:r>
          </a:p>
        </p:txBody>
      </p:sp>
      <p:sp>
        <p:nvSpPr>
          <p:cNvPr id="4" name="Slide Number Placeholder 3"/>
          <p:cNvSpPr>
            <a:spLocks noGrp="1"/>
          </p:cNvSpPr>
          <p:nvPr>
            <p:ph type="sldNum" sz="quarter" idx="5"/>
          </p:nvPr>
        </p:nvSpPr>
        <p:spPr/>
        <p:txBody>
          <a:bodyPr/>
          <a:lstStyle/>
          <a:p>
            <a:fld id="{269FB176-A45C-4C77-BD10-BDB972DAF6EE}" type="slidenum">
              <a:rPr lang="en-US" smtClean="0"/>
              <a:t>14</a:t>
            </a:fld>
            <a:endParaRPr lang="en-US"/>
          </a:p>
        </p:txBody>
      </p:sp>
    </p:spTree>
    <p:extLst>
      <p:ext uri="{BB962C8B-B14F-4D97-AF65-F5344CB8AC3E}">
        <p14:creationId xmlns:p14="http://schemas.microsoft.com/office/powerpoint/2010/main" val="2727463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i="1" dirty="0"/>
              <a:t>Difference MP Score</a:t>
            </a:r>
            <a:r>
              <a:rPr lang="en-US" dirty="0"/>
              <a:t> in columns 1 and 2 is the difference between the acquiring firm’s management score and the acquired establishment’s management score in year </a:t>
            </a:r>
            <a:r>
              <a:rPr lang="en-US" i="1" dirty="0"/>
              <a:t>t</a:t>
            </a:r>
            <a:r>
              <a:rPr lang="en-US" dirty="0"/>
              <a:t>.</a:t>
            </a:r>
          </a:p>
          <a:p>
            <a:pPr marL="171450" indent="-171450">
              <a:buFont typeface="Arial" panose="020B0604020202020204" pitchFamily="34" charset="0"/>
              <a:buChar char="•"/>
            </a:pPr>
            <a:r>
              <a:rPr lang="en-US" dirty="0"/>
              <a:t>The dependent variable </a:t>
            </a:r>
            <a:r>
              <a:rPr lang="en-US" i="1" dirty="0"/>
              <a:t>Cosine Similarity MP Score</a:t>
            </a:r>
            <a:r>
              <a:rPr lang="en-US" dirty="0"/>
              <a:t> in columns 3 and 4 is the distance between the acquiring firm’s management score and the acquired establishment’s management score in year </a:t>
            </a:r>
            <a:r>
              <a:rPr lang="en-US" i="1" dirty="0"/>
              <a:t>t</a:t>
            </a:r>
            <a:r>
              <a:rPr lang="en-US" dirty="0"/>
              <a:t>.</a:t>
            </a:r>
          </a:p>
          <a:p>
            <a:pPr marL="171450" indent="-171450">
              <a:buFont typeface="Arial" panose="020B0604020202020204" pitchFamily="34" charset="0"/>
              <a:buChar char="•"/>
            </a:pPr>
            <a:r>
              <a:rPr lang="en-US" sz="1800" b="0" i="0" u="none" strike="noStrike" baseline="0" dirty="0">
                <a:latin typeface="AdvTT3258b86f"/>
              </a:rPr>
              <a:t>The results show that the target</a:t>
            </a:r>
            <a:r>
              <a:rPr lang="en-US" sz="1800" b="0" i="0" u="none" strike="noStrike" baseline="0" dirty="0">
                <a:latin typeface="AdvTT3258b86f+20"/>
              </a:rPr>
              <a:t>’</a:t>
            </a:r>
            <a:r>
              <a:rPr lang="en-US" sz="1800" b="0" i="0" u="none" strike="noStrike" baseline="0" dirty="0">
                <a:latin typeface="AdvTT3258b86f"/>
              </a:rPr>
              <a:t>s management practices converge to those of the acquirer</a:t>
            </a:r>
            <a:r>
              <a:rPr lang="en-US" sz="1800" b="0" i="0" u="none" strike="noStrike" baseline="0" dirty="0">
                <a:latin typeface="AdvTT3258b86f+20"/>
              </a:rPr>
              <a:t>’</a:t>
            </a:r>
            <a:r>
              <a:rPr lang="en-US" sz="1800" b="0" i="0" u="none" strike="noStrike" baseline="0" dirty="0">
                <a:latin typeface="AdvTT3258b86f"/>
              </a:rPr>
              <a:t>s incumbent establishments.</a:t>
            </a:r>
            <a:endParaRPr lang="en-US" dirty="0"/>
          </a:p>
        </p:txBody>
      </p:sp>
      <p:sp>
        <p:nvSpPr>
          <p:cNvPr id="4" name="Slide Number Placeholder 3"/>
          <p:cNvSpPr>
            <a:spLocks noGrp="1"/>
          </p:cNvSpPr>
          <p:nvPr>
            <p:ph type="sldNum" sz="quarter" idx="5"/>
          </p:nvPr>
        </p:nvSpPr>
        <p:spPr/>
        <p:txBody>
          <a:bodyPr/>
          <a:lstStyle/>
          <a:p>
            <a:fld id="{269FB176-A45C-4C77-BD10-BDB972DAF6EE}" type="slidenum">
              <a:rPr lang="en-US" smtClean="0"/>
              <a:t>15</a:t>
            </a:fld>
            <a:endParaRPr lang="en-US"/>
          </a:p>
        </p:txBody>
      </p:sp>
    </p:spTree>
    <p:extLst>
      <p:ext uri="{BB962C8B-B14F-4D97-AF65-F5344CB8AC3E}">
        <p14:creationId xmlns:p14="http://schemas.microsoft.com/office/powerpoint/2010/main" val="1271192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primary identification threat is if these changes are a continuation of a pre-existing trend where acquirers tend to purchase establishments that are already adopting more structured management practices.</a:t>
            </a:r>
          </a:p>
          <a:p>
            <a:pPr marL="171450" indent="-171450">
              <a:buFont typeface="Arial" panose="020B0604020202020204" pitchFamily="34" charset="0"/>
              <a:buChar char="•"/>
            </a:pPr>
            <a:r>
              <a:rPr lang="en-US" dirty="0"/>
              <a:t>The authors conduct an out-of-sample test.</a:t>
            </a:r>
          </a:p>
          <a:p>
            <a:pPr marL="171450" indent="-171450">
              <a:buFont typeface="Arial" panose="020B0604020202020204" pitchFamily="34" charset="0"/>
              <a:buChar char="•"/>
            </a:pPr>
            <a:r>
              <a:rPr lang="en-US" dirty="0"/>
              <a:t>Specifically, the authors examine whether changes in the management scores of establishments between 2005 and 2010 predict whether the establishments are acquired between 2011 and 2014.</a:t>
            </a:r>
          </a:p>
          <a:p>
            <a:pPr marL="171450" indent="-171450">
              <a:buFont typeface="Arial" panose="020B0604020202020204" pitchFamily="34" charset="0"/>
              <a:buChar char="•"/>
            </a:pPr>
            <a:r>
              <a:rPr lang="en-US" dirty="0"/>
              <a:t>Overall, the results in all three columns show a statistically insignificant relation.</a:t>
            </a:r>
          </a:p>
        </p:txBody>
      </p:sp>
      <p:sp>
        <p:nvSpPr>
          <p:cNvPr id="4" name="Slide Number Placeholder 3"/>
          <p:cNvSpPr>
            <a:spLocks noGrp="1"/>
          </p:cNvSpPr>
          <p:nvPr>
            <p:ph type="sldNum" sz="quarter" idx="5"/>
          </p:nvPr>
        </p:nvSpPr>
        <p:spPr/>
        <p:txBody>
          <a:bodyPr/>
          <a:lstStyle/>
          <a:p>
            <a:fld id="{269FB176-A45C-4C77-BD10-BDB972DAF6EE}" type="slidenum">
              <a:rPr lang="en-US" smtClean="0"/>
              <a:t>16</a:t>
            </a:fld>
            <a:endParaRPr lang="en-US"/>
          </a:p>
        </p:txBody>
      </p:sp>
    </p:spTree>
    <p:extLst>
      <p:ext uri="{BB962C8B-B14F-4D97-AF65-F5344CB8AC3E}">
        <p14:creationId xmlns:p14="http://schemas.microsoft.com/office/powerpoint/2010/main" val="3617074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Focusing on only targeted establishments helps alleviate the concern that the observed changes in management practices following an acquisition are due to selection effects and differences between targeted and nontargeted establishments.</a:t>
            </a:r>
          </a:p>
          <a:p>
            <a:pPr marL="171450" indent="-171450">
              <a:buFont typeface="Arial" panose="020B0604020202020204" pitchFamily="34" charset="0"/>
              <a:buChar char="•"/>
            </a:pPr>
            <a:r>
              <a:rPr lang="en-US" dirty="0"/>
              <a:t>The coefficient estimate on </a:t>
            </a:r>
            <a:r>
              <a:rPr lang="en-US" i="1" dirty="0"/>
              <a:t>Ownership Change</a:t>
            </a:r>
            <a:r>
              <a:rPr lang="en-US" dirty="0"/>
              <a:t> represents how much management scores change in establishments that are acquired relative to the change in management scores of targeted establishments that are not subsequently acquired.</a:t>
            </a:r>
          </a:p>
          <a:p>
            <a:pPr marL="171450" indent="-171450">
              <a:buFont typeface="Arial" panose="020B0604020202020204" pitchFamily="34" charset="0"/>
              <a:buChar char="•"/>
            </a:pPr>
            <a:r>
              <a:rPr lang="en-US" dirty="0"/>
              <a:t>The results are consistent with the authors’ full sample results.</a:t>
            </a:r>
          </a:p>
        </p:txBody>
      </p:sp>
      <p:sp>
        <p:nvSpPr>
          <p:cNvPr id="4" name="Slide Number Placeholder 3"/>
          <p:cNvSpPr>
            <a:spLocks noGrp="1"/>
          </p:cNvSpPr>
          <p:nvPr>
            <p:ph type="sldNum" sz="quarter" idx="5"/>
          </p:nvPr>
        </p:nvSpPr>
        <p:spPr/>
        <p:txBody>
          <a:bodyPr/>
          <a:lstStyle/>
          <a:p>
            <a:fld id="{269FB176-A45C-4C77-BD10-BDB972DAF6EE}" type="slidenum">
              <a:rPr lang="en-US" smtClean="0"/>
              <a:t>17</a:t>
            </a:fld>
            <a:endParaRPr lang="en-US"/>
          </a:p>
        </p:txBody>
      </p:sp>
    </p:spTree>
    <p:extLst>
      <p:ext uri="{BB962C8B-B14F-4D97-AF65-F5344CB8AC3E}">
        <p14:creationId xmlns:p14="http://schemas.microsoft.com/office/powerpoint/2010/main" val="20168001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Column 1</a:t>
            </a:r>
            <a:r>
              <a:rPr lang="en-US" dirty="0"/>
              <a:t>: Relative to acquirers with lower management scores, acquirers with higher management scores adopt even more structured management practices at target establishments.</a:t>
            </a:r>
          </a:p>
          <a:p>
            <a:pPr marL="171450" indent="-171450">
              <a:buFont typeface="Arial" panose="020B0604020202020204" pitchFamily="34" charset="0"/>
              <a:buChar char="•"/>
            </a:pPr>
            <a:r>
              <a:rPr lang="en-US" b="1" dirty="0"/>
              <a:t>Columns 2 and 3</a:t>
            </a:r>
            <a:r>
              <a:rPr lang="en-US" dirty="0"/>
              <a:t>: Acquired establishments adopt even more structured management practices when managers have a greater ability to make decisions and influence organizational change.</a:t>
            </a:r>
          </a:p>
          <a:p>
            <a:pPr marL="171450" indent="-171450">
              <a:buFont typeface="Arial" panose="020B0604020202020204" pitchFamily="34" charset="0"/>
              <a:buChar char="•"/>
            </a:pPr>
            <a:r>
              <a:rPr lang="en-US" b="1" dirty="0"/>
              <a:t>Column 4</a:t>
            </a:r>
            <a:r>
              <a:rPr lang="en-US" b="0" dirty="0"/>
              <a:t> shows a</a:t>
            </a:r>
            <a:r>
              <a:rPr lang="en-US" dirty="0"/>
              <a:t> </a:t>
            </a:r>
            <a:r>
              <a:rPr lang="en-US" sz="1800" b="0" i="0" u="none" strike="noStrike" baseline="0" dirty="0">
                <a:latin typeface="AdvTT3258b86f"/>
              </a:rPr>
              <a:t>larger increase in the management scores of acquired establishments that are in more competitive industries.</a:t>
            </a:r>
          </a:p>
          <a:p>
            <a:pPr marL="171450" indent="-171450">
              <a:buFont typeface="Arial" panose="020B0604020202020204" pitchFamily="34" charset="0"/>
              <a:buChar char="•"/>
            </a:pPr>
            <a:r>
              <a:rPr lang="en-US" sz="1800" b="1" i="0" u="none" strike="noStrike" baseline="0" dirty="0">
                <a:latin typeface="AdvTT3258b86f"/>
              </a:rPr>
              <a:t>Column 5</a:t>
            </a:r>
            <a:r>
              <a:rPr lang="en-US" sz="1800" b="0" i="0" u="none" strike="noStrike" baseline="0" dirty="0">
                <a:latin typeface="AdvTT3258b86f"/>
              </a:rPr>
              <a:t>: Acquired establishments adopt even more structured management practices when an acquirer and a target have complementary operations.</a:t>
            </a:r>
            <a:endParaRPr lang="en-US" dirty="0"/>
          </a:p>
        </p:txBody>
      </p:sp>
      <p:sp>
        <p:nvSpPr>
          <p:cNvPr id="4" name="Slide Number Placeholder 3"/>
          <p:cNvSpPr>
            <a:spLocks noGrp="1"/>
          </p:cNvSpPr>
          <p:nvPr>
            <p:ph type="sldNum" sz="quarter" idx="5"/>
          </p:nvPr>
        </p:nvSpPr>
        <p:spPr/>
        <p:txBody>
          <a:bodyPr/>
          <a:lstStyle/>
          <a:p>
            <a:fld id="{269FB176-A45C-4C77-BD10-BDB972DAF6EE}" type="slidenum">
              <a:rPr lang="en-US" smtClean="0"/>
              <a:t>18</a:t>
            </a:fld>
            <a:endParaRPr lang="en-US"/>
          </a:p>
        </p:txBody>
      </p:sp>
    </p:spTree>
    <p:extLst>
      <p:ext uri="{BB962C8B-B14F-4D97-AF65-F5344CB8AC3E}">
        <p14:creationId xmlns:p14="http://schemas.microsoft.com/office/powerpoint/2010/main" val="176265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69FB176-A45C-4C77-BD10-BDB972DAF6EE}" type="slidenum">
              <a:rPr lang="en-US" smtClean="0"/>
              <a:t>19</a:t>
            </a:fld>
            <a:endParaRPr lang="en-US"/>
          </a:p>
        </p:txBody>
      </p:sp>
    </p:spTree>
    <p:extLst>
      <p:ext uri="{BB962C8B-B14F-4D97-AF65-F5344CB8AC3E}">
        <p14:creationId xmlns:p14="http://schemas.microsoft.com/office/powerpoint/2010/main" val="15002190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AdvTT3258b86f"/>
              </a:rPr>
              <a:t>In four out of five measures, adoption of more structured management practices following an acquisition is associated with improvements in performance.</a:t>
            </a:r>
            <a:endParaRPr lang="en-US" dirty="0"/>
          </a:p>
        </p:txBody>
      </p:sp>
      <p:sp>
        <p:nvSpPr>
          <p:cNvPr id="4" name="Slide Number Placeholder 3"/>
          <p:cNvSpPr>
            <a:spLocks noGrp="1"/>
          </p:cNvSpPr>
          <p:nvPr>
            <p:ph type="sldNum" sz="quarter" idx="5"/>
          </p:nvPr>
        </p:nvSpPr>
        <p:spPr/>
        <p:txBody>
          <a:bodyPr/>
          <a:lstStyle/>
          <a:p>
            <a:fld id="{269FB176-A45C-4C77-BD10-BDB972DAF6EE}" type="slidenum">
              <a:rPr lang="en-US" smtClean="0"/>
              <a:t>20</a:t>
            </a:fld>
            <a:endParaRPr lang="en-US"/>
          </a:p>
        </p:txBody>
      </p:sp>
    </p:spTree>
    <p:extLst>
      <p:ext uri="{BB962C8B-B14F-4D97-AF65-F5344CB8AC3E}">
        <p14:creationId xmlns:p14="http://schemas.microsoft.com/office/powerpoint/2010/main" val="1181153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5A25DC-01CC-414A-A394-D35A0592A347}"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661605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A25DC-01CC-414A-A394-D35A0592A347}"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1270252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5A25DC-01CC-414A-A394-D35A0592A347}"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367594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5A25DC-01CC-414A-A394-D35A0592A347}"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1853664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C5A25DC-01CC-414A-A394-D35A0592A347}" type="datetimeFigureOut">
              <a:rPr lang="en-US" smtClean="0"/>
              <a:t>10/29/2024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2668130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5A25DC-01CC-414A-A394-D35A0592A347}" type="datetimeFigureOut">
              <a:rPr lang="en-US" smtClean="0"/>
              <a:t>10/29/2024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1177446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5A25DC-01CC-414A-A394-D35A0592A347}" type="datetimeFigureOut">
              <a:rPr lang="en-US" smtClean="0"/>
              <a:t>10/29/2024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1768096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0C5A25DC-01CC-414A-A394-D35A0592A347}"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2911740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0C5A25DC-01CC-414A-A394-D35A0592A347}"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2352588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A25DC-01CC-414A-A394-D35A0592A347}"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2625275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5A25DC-01CC-414A-A394-D35A0592A347}"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6C5112-463C-4814-9119-B25AAF4D4987}" type="slidenum">
              <a:rPr lang="en-US" smtClean="0"/>
              <a:t>‹#›</a:t>
            </a:fld>
            <a:endParaRPr lang="en-US"/>
          </a:p>
        </p:txBody>
      </p:sp>
    </p:spTree>
    <p:extLst>
      <p:ext uri="{BB962C8B-B14F-4D97-AF65-F5344CB8AC3E}">
        <p14:creationId xmlns:p14="http://schemas.microsoft.com/office/powerpoint/2010/main" val="3098789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5863649"/>
            <a:ext cx="12204192" cy="1009897"/>
          </a:xfrm>
          <a:prstGeom prst="rect">
            <a:avLst/>
          </a:prstGeom>
        </p:spPr>
      </p:pic>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2"/>
            <a:ext cx="10972800" cy="42634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0C5A25DC-01CC-414A-A394-D35A0592A347}" type="datetimeFigureOut">
              <a:rPr lang="en-US" smtClean="0"/>
              <a:t>10/29/2024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FE6C5112-463C-4814-9119-B25AAF4D4987}" type="slidenum">
              <a:rPr lang="en-US" smtClean="0"/>
              <a:t>‹#›</a:t>
            </a:fld>
            <a:endParaRPr lang="en-US"/>
          </a:p>
        </p:txBody>
      </p:sp>
    </p:spTree>
    <p:extLst>
      <p:ext uri="{BB962C8B-B14F-4D97-AF65-F5344CB8AC3E}">
        <p14:creationId xmlns:p14="http://schemas.microsoft.com/office/powerpoint/2010/main" val="3668029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BDA2A-F620-F7C0-B394-3CF55881D77E}"/>
              </a:ext>
            </a:extLst>
          </p:cNvPr>
          <p:cNvSpPr>
            <a:spLocks noGrp="1"/>
          </p:cNvSpPr>
          <p:nvPr>
            <p:ph type="ctrTitle"/>
          </p:nvPr>
        </p:nvSpPr>
        <p:spPr>
          <a:xfrm>
            <a:off x="914400" y="1958975"/>
            <a:ext cx="10363200" cy="1470025"/>
          </a:xfrm>
        </p:spPr>
        <p:txBody>
          <a:bodyPr>
            <a:normAutofit fontScale="90000"/>
          </a:bodyPr>
          <a:lstStyle/>
          <a:p>
            <a:r>
              <a:rPr lang="en-US" dirty="0"/>
              <a:t>Management Practices and Mergers and Acquisitions</a:t>
            </a:r>
          </a:p>
        </p:txBody>
      </p:sp>
      <p:sp>
        <p:nvSpPr>
          <p:cNvPr id="3" name="Subtitle 2">
            <a:extLst>
              <a:ext uri="{FF2B5EF4-FFF2-40B4-BE49-F238E27FC236}">
                <a16:creationId xmlns:a16="http://schemas.microsoft.com/office/drawing/2014/main" id="{ADAA4B41-7035-8BCE-4870-52321BDBD3F1}"/>
              </a:ext>
            </a:extLst>
          </p:cNvPr>
          <p:cNvSpPr>
            <a:spLocks noGrp="1"/>
          </p:cNvSpPr>
          <p:nvPr>
            <p:ph type="subTitle" idx="1"/>
          </p:nvPr>
        </p:nvSpPr>
        <p:spPr/>
        <p:txBody>
          <a:bodyPr>
            <a:normAutofit fontScale="92500" lnSpcReduction="20000"/>
          </a:bodyPr>
          <a:lstStyle/>
          <a:p>
            <a:r>
              <a:rPr lang="en-US" dirty="0"/>
              <a:t>John (</a:t>
            </a:r>
            <a:r>
              <a:rPr lang="en-US" dirty="0" err="1"/>
              <a:t>Jianqiu</a:t>
            </a:r>
            <a:r>
              <a:rPr lang="en-US" dirty="0"/>
              <a:t>) Bai, Wang Jin, Matthew </a:t>
            </a:r>
            <a:r>
              <a:rPr lang="en-US" dirty="0" err="1"/>
              <a:t>Serfling</a:t>
            </a:r>
            <a:r>
              <a:rPr lang="en-US" dirty="0"/>
              <a:t> (2022)</a:t>
            </a:r>
          </a:p>
          <a:p>
            <a:r>
              <a:rPr lang="en-US" dirty="0"/>
              <a:t>Presented by Nicholas Thompson</a:t>
            </a:r>
          </a:p>
        </p:txBody>
      </p:sp>
    </p:spTree>
    <p:extLst>
      <p:ext uri="{BB962C8B-B14F-4D97-AF65-F5344CB8AC3E}">
        <p14:creationId xmlns:p14="http://schemas.microsoft.com/office/powerpoint/2010/main" val="292561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3F83F-ED44-14C2-4EFB-5FE491196AE4}"/>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ECCF9893-4D0F-B841-5D4E-414C054E27A7}"/>
              </a:ext>
            </a:extLst>
          </p:cNvPr>
          <p:cNvSpPr>
            <a:spLocks noGrp="1"/>
          </p:cNvSpPr>
          <p:nvPr>
            <p:ph idx="1"/>
          </p:nvPr>
        </p:nvSpPr>
        <p:spPr/>
        <p:txBody>
          <a:bodyPr/>
          <a:lstStyle/>
          <a:p>
            <a:r>
              <a:rPr lang="en-US" dirty="0"/>
              <a:t>How do management practices contribute to value creation in mergers and acquisitions?</a:t>
            </a:r>
          </a:p>
        </p:txBody>
      </p:sp>
    </p:spTree>
    <p:extLst>
      <p:ext uri="{BB962C8B-B14F-4D97-AF65-F5344CB8AC3E}">
        <p14:creationId xmlns:p14="http://schemas.microsoft.com/office/powerpoint/2010/main" val="60302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F6F4E-BA5C-3940-40D6-065AB2ACA584}"/>
              </a:ext>
            </a:extLst>
          </p:cNvPr>
          <p:cNvSpPr>
            <a:spLocks noGrp="1"/>
          </p:cNvSpPr>
          <p:nvPr>
            <p:ph type="title"/>
          </p:nvPr>
        </p:nvSpPr>
        <p:spPr/>
        <p:txBody>
          <a:bodyPr/>
          <a:lstStyle/>
          <a:p>
            <a:r>
              <a:rPr lang="en-US" dirty="0"/>
              <a:t>Prior Literature</a:t>
            </a:r>
          </a:p>
        </p:txBody>
      </p:sp>
      <p:sp>
        <p:nvSpPr>
          <p:cNvPr id="3" name="Content Placeholder 2">
            <a:extLst>
              <a:ext uri="{FF2B5EF4-FFF2-40B4-BE49-F238E27FC236}">
                <a16:creationId xmlns:a16="http://schemas.microsoft.com/office/drawing/2014/main" id="{19B0C6AC-A9BF-6AC4-07F5-F7AF34E0F487}"/>
              </a:ext>
            </a:extLst>
          </p:cNvPr>
          <p:cNvSpPr>
            <a:spLocks noGrp="1"/>
          </p:cNvSpPr>
          <p:nvPr>
            <p:ph idx="1"/>
          </p:nvPr>
        </p:nvSpPr>
        <p:spPr/>
        <p:txBody>
          <a:bodyPr>
            <a:normAutofit fontScale="62500" lnSpcReduction="20000"/>
          </a:bodyPr>
          <a:lstStyle/>
          <a:p>
            <a:r>
              <a:rPr lang="en-US" dirty="0"/>
              <a:t>Firms and establishments with more structured management practices perform better on metrics such as productivity, profitability, growth, and longevity (e.g., Bloom and Van Reenen 2007, Bloom et al. 2013a, </a:t>
            </a:r>
            <a:r>
              <a:rPr lang="en-US" dirty="0" err="1"/>
              <a:t>Sadun</a:t>
            </a:r>
            <a:r>
              <a:rPr lang="en-US" dirty="0"/>
              <a:t> et al. 2017).</a:t>
            </a:r>
          </a:p>
          <a:p>
            <a:r>
              <a:rPr lang="en-US" dirty="0"/>
              <a:t>Firms and establishments with higher management scores have higher market valuations, profitability, productivity, value added, growth, survival rates, and innovation (Bloom et al. 2013b, Bloom et al. 2019).</a:t>
            </a:r>
          </a:p>
          <a:p>
            <a:r>
              <a:rPr lang="en-US" dirty="0"/>
              <a:t>Work on the role of managers and M&amp;A deal success:</a:t>
            </a:r>
          </a:p>
          <a:p>
            <a:pPr lvl="1"/>
            <a:r>
              <a:rPr lang="en-US" dirty="0"/>
              <a:t>Gains from M&amp;A are largest when high-Q firms acquire low-Q firms (Lang et al. 1989, </a:t>
            </a:r>
            <a:r>
              <a:rPr lang="en-US" dirty="0" err="1"/>
              <a:t>Servaes</a:t>
            </a:r>
            <a:r>
              <a:rPr lang="en-US" dirty="0"/>
              <a:t> 1991).</a:t>
            </a:r>
          </a:p>
          <a:p>
            <a:pPr lvl="1"/>
            <a:r>
              <a:rPr lang="en-US" dirty="0"/>
              <a:t>Wang and Xie (2009) and </a:t>
            </a:r>
            <a:r>
              <a:rPr lang="en-US" dirty="0" err="1"/>
              <a:t>Masulis</a:t>
            </a:r>
            <a:r>
              <a:rPr lang="en-US" dirty="0"/>
              <a:t> et al. (2007) find larger M&amp;A gains when firms with stronger shareholder rights acquire firms with weaker shareholder rights.</a:t>
            </a:r>
          </a:p>
        </p:txBody>
      </p:sp>
    </p:spTree>
    <p:extLst>
      <p:ext uri="{BB962C8B-B14F-4D97-AF65-F5344CB8AC3E}">
        <p14:creationId xmlns:p14="http://schemas.microsoft.com/office/powerpoint/2010/main" val="1070933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9F172-72A4-7605-9F0F-F47E04B8F21A}"/>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A3E5A10C-278F-0374-3006-A6CE8A9EA55C}"/>
              </a:ext>
            </a:extLst>
          </p:cNvPr>
          <p:cNvSpPr>
            <a:spLocks noGrp="1"/>
          </p:cNvSpPr>
          <p:nvPr>
            <p:ph idx="1"/>
          </p:nvPr>
        </p:nvSpPr>
        <p:spPr/>
        <p:txBody>
          <a:bodyPr>
            <a:normAutofit fontScale="85000" lnSpcReduction="20000"/>
          </a:bodyPr>
          <a:lstStyle/>
          <a:p>
            <a:r>
              <a:rPr lang="en-US" dirty="0"/>
              <a:t>U.S. Census Bureau’s 2010 Management and Organizational Practices Survey (MOPS)</a:t>
            </a:r>
          </a:p>
          <a:p>
            <a:pPr lvl="1"/>
            <a:r>
              <a:rPr lang="en-US" dirty="0"/>
              <a:t>Questions about management practices in 2010 and 2005</a:t>
            </a:r>
          </a:p>
          <a:p>
            <a:r>
              <a:rPr lang="en-US" dirty="0"/>
              <a:t>Census Bureau’s Longitudinal Business Database (LBD)</a:t>
            </a:r>
          </a:p>
          <a:p>
            <a:pPr lvl="1"/>
            <a:r>
              <a:rPr lang="en-US" dirty="0"/>
              <a:t>Annual coverage for all business establishments in the U.S. with at least one paid employee</a:t>
            </a:r>
          </a:p>
          <a:p>
            <a:r>
              <a:rPr lang="en-US" dirty="0"/>
              <a:t>Final sample: 14,000 establishment-level observations in 2010</a:t>
            </a:r>
          </a:p>
        </p:txBody>
      </p:sp>
    </p:spTree>
    <p:extLst>
      <p:ext uri="{BB962C8B-B14F-4D97-AF65-F5344CB8AC3E}">
        <p14:creationId xmlns:p14="http://schemas.microsoft.com/office/powerpoint/2010/main" val="3645916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70BA1-B8AC-EF18-CDDA-859EBF3415F7}"/>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411106AD-C941-CD3B-53A0-75FFBD741492}"/>
              </a:ext>
            </a:extLst>
          </p:cNvPr>
          <p:cNvPicPr>
            <a:picLocks noChangeAspect="1"/>
          </p:cNvPicPr>
          <p:nvPr/>
        </p:nvPicPr>
        <p:blipFill>
          <a:blip r:embed="rId3"/>
          <a:srcRect t="63768" b="606"/>
          <a:stretch/>
        </p:blipFill>
        <p:spPr>
          <a:xfrm>
            <a:off x="580955" y="2018154"/>
            <a:ext cx="10783076" cy="3486175"/>
          </a:xfrm>
          <a:prstGeom prst="rect">
            <a:avLst/>
          </a:prstGeom>
        </p:spPr>
      </p:pic>
      <p:pic>
        <p:nvPicPr>
          <p:cNvPr id="15" name="Picture 14">
            <a:extLst>
              <a:ext uri="{FF2B5EF4-FFF2-40B4-BE49-F238E27FC236}">
                <a16:creationId xmlns:a16="http://schemas.microsoft.com/office/drawing/2014/main" id="{A31DBE7B-5CFF-FE22-BC96-1871B447A199}"/>
              </a:ext>
            </a:extLst>
          </p:cNvPr>
          <p:cNvPicPr>
            <a:picLocks noChangeAspect="1"/>
          </p:cNvPicPr>
          <p:nvPr/>
        </p:nvPicPr>
        <p:blipFill>
          <a:blip r:embed="rId3"/>
          <a:srcRect b="80174"/>
          <a:stretch/>
        </p:blipFill>
        <p:spPr>
          <a:xfrm>
            <a:off x="580956" y="237061"/>
            <a:ext cx="10783075" cy="1940119"/>
          </a:xfrm>
          <a:prstGeom prst="rect">
            <a:avLst/>
          </a:prstGeom>
        </p:spPr>
      </p:pic>
    </p:spTree>
    <p:extLst>
      <p:ext uri="{BB962C8B-B14F-4D97-AF65-F5344CB8AC3E}">
        <p14:creationId xmlns:p14="http://schemas.microsoft.com/office/powerpoint/2010/main" val="1498546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6A755-140B-DDEF-90C5-EEE0975C9ED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C640FF9-9154-A24E-8281-F290E5885A18}"/>
              </a:ext>
            </a:extLst>
          </p:cNvPr>
          <p:cNvPicPr>
            <a:picLocks noChangeAspect="1"/>
          </p:cNvPicPr>
          <p:nvPr/>
        </p:nvPicPr>
        <p:blipFill>
          <a:blip r:embed="rId3"/>
          <a:stretch>
            <a:fillRect/>
          </a:stretch>
        </p:blipFill>
        <p:spPr>
          <a:xfrm>
            <a:off x="3513205" y="0"/>
            <a:ext cx="5165590" cy="6858000"/>
          </a:xfrm>
          <a:prstGeom prst="rect">
            <a:avLst/>
          </a:prstGeom>
        </p:spPr>
      </p:pic>
      <p:pic>
        <p:nvPicPr>
          <p:cNvPr id="10" name="Picture 9">
            <a:extLst>
              <a:ext uri="{FF2B5EF4-FFF2-40B4-BE49-F238E27FC236}">
                <a16:creationId xmlns:a16="http://schemas.microsoft.com/office/drawing/2014/main" id="{5F54D585-30C2-753E-1CB5-7C7E15A0A49E}"/>
              </a:ext>
            </a:extLst>
          </p:cNvPr>
          <p:cNvPicPr>
            <a:picLocks noChangeAspect="1"/>
          </p:cNvPicPr>
          <p:nvPr/>
        </p:nvPicPr>
        <p:blipFill>
          <a:blip r:embed="rId4"/>
          <a:stretch>
            <a:fillRect/>
          </a:stretch>
        </p:blipFill>
        <p:spPr>
          <a:xfrm>
            <a:off x="8678795" y="3496646"/>
            <a:ext cx="3513205" cy="2329612"/>
          </a:xfrm>
          <a:prstGeom prst="rect">
            <a:avLst/>
          </a:prstGeom>
        </p:spPr>
      </p:pic>
    </p:spTree>
    <p:extLst>
      <p:ext uri="{BB962C8B-B14F-4D97-AF65-F5344CB8AC3E}">
        <p14:creationId xmlns:p14="http://schemas.microsoft.com/office/powerpoint/2010/main" val="3819473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FF6BF-662A-9CA9-878D-BC932485F9B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49AD2DD-83CD-9394-8140-82B7AB52F353}"/>
              </a:ext>
            </a:extLst>
          </p:cNvPr>
          <p:cNvPicPr>
            <a:picLocks noChangeAspect="1"/>
          </p:cNvPicPr>
          <p:nvPr/>
        </p:nvPicPr>
        <p:blipFill>
          <a:blip r:embed="rId3"/>
          <a:stretch>
            <a:fillRect/>
          </a:stretch>
        </p:blipFill>
        <p:spPr>
          <a:xfrm>
            <a:off x="0" y="158647"/>
            <a:ext cx="12192000" cy="6540705"/>
          </a:xfrm>
          <a:prstGeom prst="rect">
            <a:avLst/>
          </a:prstGeom>
        </p:spPr>
      </p:pic>
    </p:spTree>
    <p:extLst>
      <p:ext uri="{BB962C8B-B14F-4D97-AF65-F5344CB8AC3E}">
        <p14:creationId xmlns:p14="http://schemas.microsoft.com/office/powerpoint/2010/main" val="2696689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C33B4-C232-CA36-6C5A-8F58A2A5563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B95A80A-ACE6-9C06-65A4-93D0841E5CC5}"/>
              </a:ext>
            </a:extLst>
          </p:cNvPr>
          <p:cNvPicPr>
            <a:picLocks noChangeAspect="1"/>
          </p:cNvPicPr>
          <p:nvPr/>
        </p:nvPicPr>
        <p:blipFill>
          <a:blip r:embed="rId3"/>
          <a:stretch>
            <a:fillRect/>
          </a:stretch>
        </p:blipFill>
        <p:spPr>
          <a:xfrm>
            <a:off x="2302565" y="0"/>
            <a:ext cx="7586869" cy="5804452"/>
          </a:xfrm>
          <a:prstGeom prst="rect">
            <a:avLst/>
          </a:prstGeom>
        </p:spPr>
      </p:pic>
    </p:spTree>
    <p:extLst>
      <p:ext uri="{BB962C8B-B14F-4D97-AF65-F5344CB8AC3E}">
        <p14:creationId xmlns:p14="http://schemas.microsoft.com/office/powerpoint/2010/main" val="3260209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6BAB8-4985-E2F4-969A-B8FE63BD7C4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1EF65B7-73A3-3AA7-A78D-06E39E40A96E}"/>
              </a:ext>
            </a:extLst>
          </p:cNvPr>
          <p:cNvPicPr>
            <a:picLocks noChangeAspect="1"/>
          </p:cNvPicPr>
          <p:nvPr/>
        </p:nvPicPr>
        <p:blipFill>
          <a:blip r:embed="rId3"/>
          <a:stretch>
            <a:fillRect/>
          </a:stretch>
        </p:blipFill>
        <p:spPr>
          <a:xfrm>
            <a:off x="2439159" y="0"/>
            <a:ext cx="7313681" cy="6858000"/>
          </a:xfrm>
          <a:prstGeom prst="rect">
            <a:avLst/>
          </a:prstGeom>
        </p:spPr>
      </p:pic>
      <p:sp>
        <p:nvSpPr>
          <p:cNvPr id="4" name="Rectangle 3">
            <a:extLst>
              <a:ext uri="{FF2B5EF4-FFF2-40B4-BE49-F238E27FC236}">
                <a16:creationId xmlns:a16="http://schemas.microsoft.com/office/drawing/2014/main" id="{53C9B069-8C6A-D47A-24AD-3BCD8354D501}"/>
              </a:ext>
            </a:extLst>
          </p:cNvPr>
          <p:cNvSpPr/>
          <p:nvPr/>
        </p:nvSpPr>
        <p:spPr>
          <a:xfrm>
            <a:off x="2439159" y="802342"/>
            <a:ext cx="7313681" cy="3361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4032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6E3FF-6089-7A53-2867-C56AE80B68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852BA9-22C1-8CA8-2A44-05D36140F56D}"/>
              </a:ext>
            </a:extLst>
          </p:cNvPr>
          <p:cNvPicPr>
            <a:picLocks noChangeAspect="1"/>
          </p:cNvPicPr>
          <p:nvPr/>
        </p:nvPicPr>
        <p:blipFill>
          <a:blip r:embed="rId3"/>
          <a:stretch>
            <a:fillRect/>
          </a:stretch>
        </p:blipFill>
        <p:spPr>
          <a:xfrm>
            <a:off x="3207419" y="0"/>
            <a:ext cx="5777161" cy="685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68502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6C7C7-58E5-C5A7-5ECE-F8D2616AF6A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78820CE-BAEA-44E2-45EA-EB3627FEA7E6}"/>
              </a:ext>
            </a:extLst>
          </p:cNvPr>
          <p:cNvPicPr>
            <a:picLocks noChangeAspect="1"/>
          </p:cNvPicPr>
          <p:nvPr/>
        </p:nvPicPr>
        <p:blipFill>
          <a:blip r:embed="rId3"/>
          <a:stretch>
            <a:fillRect/>
          </a:stretch>
        </p:blipFill>
        <p:spPr>
          <a:xfrm>
            <a:off x="2923021" y="0"/>
            <a:ext cx="6345958" cy="6858000"/>
          </a:xfrm>
          <a:prstGeom prst="rect">
            <a:avLst/>
          </a:prstGeom>
        </p:spPr>
      </p:pic>
      <p:pic>
        <p:nvPicPr>
          <p:cNvPr id="5" name="Picture 4">
            <a:extLst>
              <a:ext uri="{FF2B5EF4-FFF2-40B4-BE49-F238E27FC236}">
                <a16:creationId xmlns:a16="http://schemas.microsoft.com/office/drawing/2014/main" id="{7A14E3DA-2BDC-0592-4E0D-93FB1234FE03}"/>
              </a:ext>
            </a:extLst>
          </p:cNvPr>
          <p:cNvPicPr>
            <a:picLocks noChangeAspect="1"/>
          </p:cNvPicPr>
          <p:nvPr/>
        </p:nvPicPr>
        <p:blipFill>
          <a:blip r:embed="rId4"/>
          <a:stretch>
            <a:fillRect/>
          </a:stretch>
        </p:blipFill>
        <p:spPr>
          <a:xfrm>
            <a:off x="9268979" y="3694067"/>
            <a:ext cx="2923021" cy="2141505"/>
          </a:xfrm>
          <a:prstGeom prst="rect">
            <a:avLst/>
          </a:prstGeom>
        </p:spPr>
      </p:pic>
      <p:sp>
        <p:nvSpPr>
          <p:cNvPr id="6" name="Rectangle 5">
            <a:extLst>
              <a:ext uri="{FF2B5EF4-FFF2-40B4-BE49-F238E27FC236}">
                <a16:creationId xmlns:a16="http://schemas.microsoft.com/office/drawing/2014/main" id="{0831CC9F-36B4-963C-CF9B-97F7B124FA8B}"/>
              </a:ext>
            </a:extLst>
          </p:cNvPr>
          <p:cNvSpPr/>
          <p:nvPr/>
        </p:nvSpPr>
        <p:spPr>
          <a:xfrm>
            <a:off x="2923022" y="1741699"/>
            <a:ext cx="6345958" cy="54430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9876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13B08-AF9F-B2DA-CC00-C98FA1BAB8E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75AF275-F8F5-33E6-69F3-1AA83404976C}"/>
              </a:ext>
            </a:extLst>
          </p:cNvPr>
          <p:cNvPicPr>
            <a:picLocks noChangeAspect="1"/>
          </p:cNvPicPr>
          <p:nvPr/>
        </p:nvPicPr>
        <p:blipFill>
          <a:blip r:embed="rId2"/>
          <a:stretch>
            <a:fillRect/>
          </a:stretch>
        </p:blipFill>
        <p:spPr>
          <a:xfrm>
            <a:off x="3642547" y="0"/>
            <a:ext cx="4906905" cy="685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82596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6BDEE-B015-8911-8FF8-AD062DBC75A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542E1E6-7842-A050-5AEE-888F314ACAD3}"/>
              </a:ext>
            </a:extLst>
          </p:cNvPr>
          <p:cNvPicPr>
            <a:picLocks noChangeAspect="1"/>
          </p:cNvPicPr>
          <p:nvPr/>
        </p:nvPicPr>
        <p:blipFill>
          <a:blip r:embed="rId3"/>
          <a:stretch>
            <a:fillRect/>
          </a:stretch>
        </p:blipFill>
        <p:spPr>
          <a:xfrm>
            <a:off x="2141866" y="0"/>
            <a:ext cx="5856832" cy="6858000"/>
          </a:xfrm>
          <a:prstGeom prst="rect">
            <a:avLst/>
          </a:prstGeom>
        </p:spPr>
      </p:pic>
      <p:pic>
        <p:nvPicPr>
          <p:cNvPr id="5" name="Picture 4">
            <a:extLst>
              <a:ext uri="{FF2B5EF4-FFF2-40B4-BE49-F238E27FC236}">
                <a16:creationId xmlns:a16="http://schemas.microsoft.com/office/drawing/2014/main" id="{35F6C49E-E431-FB28-E32D-1535EA044740}"/>
              </a:ext>
            </a:extLst>
          </p:cNvPr>
          <p:cNvPicPr>
            <a:picLocks noChangeAspect="1"/>
          </p:cNvPicPr>
          <p:nvPr/>
        </p:nvPicPr>
        <p:blipFill>
          <a:blip r:embed="rId4"/>
          <a:stretch>
            <a:fillRect/>
          </a:stretch>
        </p:blipFill>
        <p:spPr>
          <a:xfrm>
            <a:off x="7999985" y="4587903"/>
            <a:ext cx="4192015" cy="1250356"/>
          </a:xfrm>
          <a:prstGeom prst="rect">
            <a:avLst/>
          </a:prstGeom>
        </p:spPr>
      </p:pic>
      <p:sp>
        <p:nvSpPr>
          <p:cNvPr id="6" name="Rectangle 5">
            <a:extLst>
              <a:ext uri="{FF2B5EF4-FFF2-40B4-BE49-F238E27FC236}">
                <a16:creationId xmlns:a16="http://schemas.microsoft.com/office/drawing/2014/main" id="{E2286FE3-1372-C8CD-5798-A92D6A7963E6}"/>
              </a:ext>
            </a:extLst>
          </p:cNvPr>
          <p:cNvSpPr/>
          <p:nvPr/>
        </p:nvSpPr>
        <p:spPr>
          <a:xfrm>
            <a:off x="2141866" y="872123"/>
            <a:ext cx="5029899" cy="3739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928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33890-35CE-D4DC-386A-B36C99A6EB5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46A09BB-3B23-10D0-DD17-FEBE14D1DA85}"/>
              </a:ext>
            </a:extLst>
          </p:cNvPr>
          <p:cNvPicPr>
            <a:picLocks noChangeAspect="1"/>
          </p:cNvPicPr>
          <p:nvPr/>
        </p:nvPicPr>
        <p:blipFill>
          <a:blip r:embed="rId3"/>
          <a:stretch>
            <a:fillRect/>
          </a:stretch>
        </p:blipFill>
        <p:spPr>
          <a:xfrm>
            <a:off x="1805214" y="0"/>
            <a:ext cx="8581572" cy="5820355"/>
          </a:xfrm>
          <a:prstGeom prst="rect">
            <a:avLst/>
          </a:prstGeom>
        </p:spPr>
      </p:pic>
      <p:sp>
        <p:nvSpPr>
          <p:cNvPr id="4" name="Rectangle 3">
            <a:extLst>
              <a:ext uri="{FF2B5EF4-FFF2-40B4-BE49-F238E27FC236}">
                <a16:creationId xmlns:a16="http://schemas.microsoft.com/office/drawing/2014/main" id="{4DFD92BE-3489-8B0A-C6F2-C99885B174AC}"/>
              </a:ext>
            </a:extLst>
          </p:cNvPr>
          <p:cNvSpPr/>
          <p:nvPr/>
        </p:nvSpPr>
        <p:spPr>
          <a:xfrm>
            <a:off x="1805214" y="1275535"/>
            <a:ext cx="8581572" cy="5263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9364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BBCCA-EDDB-9AA0-4361-8B27672DBCA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BC3587C-743B-662A-7338-18F7D830F415}"/>
              </a:ext>
            </a:extLst>
          </p:cNvPr>
          <p:cNvPicPr>
            <a:picLocks noChangeAspect="1"/>
          </p:cNvPicPr>
          <p:nvPr/>
        </p:nvPicPr>
        <p:blipFill>
          <a:blip r:embed="rId3"/>
          <a:stretch>
            <a:fillRect/>
          </a:stretch>
        </p:blipFill>
        <p:spPr>
          <a:xfrm>
            <a:off x="2851313" y="0"/>
            <a:ext cx="6489373" cy="6858000"/>
          </a:xfrm>
          <a:prstGeom prst="rect">
            <a:avLst/>
          </a:prstGeom>
        </p:spPr>
      </p:pic>
      <p:sp>
        <p:nvSpPr>
          <p:cNvPr id="4" name="Rectangle 3">
            <a:extLst>
              <a:ext uri="{FF2B5EF4-FFF2-40B4-BE49-F238E27FC236}">
                <a16:creationId xmlns:a16="http://schemas.microsoft.com/office/drawing/2014/main" id="{86473523-3E06-C897-674E-E7815EAA2A25}"/>
              </a:ext>
            </a:extLst>
          </p:cNvPr>
          <p:cNvSpPr/>
          <p:nvPr/>
        </p:nvSpPr>
        <p:spPr>
          <a:xfrm>
            <a:off x="2851313" y="997629"/>
            <a:ext cx="6489373" cy="3739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2737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2D7B4-EDB8-24C5-701C-E0721ADDE81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F41BE38-FE99-538A-ED45-5FB47FE730BD}"/>
              </a:ext>
            </a:extLst>
          </p:cNvPr>
          <p:cNvPicPr>
            <a:picLocks noChangeAspect="1"/>
          </p:cNvPicPr>
          <p:nvPr/>
        </p:nvPicPr>
        <p:blipFill>
          <a:blip r:embed="rId3"/>
          <a:stretch>
            <a:fillRect/>
          </a:stretch>
        </p:blipFill>
        <p:spPr>
          <a:xfrm>
            <a:off x="3639742" y="0"/>
            <a:ext cx="4912515" cy="6858000"/>
          </a:xfrm>
          <a:prstGeom prst="rect">
            <a:avLst/>
          </a:prstGeom>
        </p:spPr>
      </p:pic>
      <p:sp>
        <p:nvSpPr>
          <p:cNvPr id="4" name="Rectangle 3">
            <a:extLst>
              <a:ext uri="{FF2B5EF4-FFF2-40B4-BE49-F238E27FC236}">
                <a16:creationId xmlns:a16="http://schemas.microsoft.com/office/drawing/2014/main" id="{1671688B-D3BD-E649-03A2-53C4C7D99B12}"/>
              </a:ext>
            </a:extLst>
          </p:cNvPr>
          <p:cNvSpPr/>
          <p:nvPr/>
        </p:nvSpPr>
        <p:spPr>
          <a:xfrm>
            <a:off x="3639742" y="1293465"/>
            <a:ext cx="4912515" cy="44568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9747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CAD81-4E01-DB64-7D48-D5B4F2D185E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10B8D8D-E2EB-C93F-FD81-F4F39A33AA76}"/>
              </a:ext>
            </a:extLst>
          </p:cNvPr>
          <p:cNvPicPr>
            <a:picLocks noChangeAspect="1"/>
          </p:cNvPicPr>
          <p:nvPr/>
        </p:nvPicPr>
        <p:blipFill>
          <a:blip r:embed="rId3"/>
          <a:stretch>
            <a:fillRect/>
          </a:stretch>
        </p:blipFill>
        <p:spPr>
          <a:xfrm>
            <a:off x="2161850" y="0"/>
            <a:ext cx="7868299" cy="5837997"/>
          </a:xfrm>
          <a:prstGeom prst="rect">
            <a:avLst/>
          </a:prstGeom>
        </p:spPr>
      </p:pic>
      <p:sp>
        <p:nvSpPr>
          <p:cNvPr id="4" name="Rectangle 3">
            <a:extLst>
              <a:ext uri="{FF2B5EF4-FFF2-40B4-BE49-F238E27FC236}">
                <a16:creationId xmlns:a16="http://schemas.microsoft.com/office/drawing/2014/main" id="{E0C55B39-090F-A1D6-0FC0-5809CA39F106}"/>
              </a:ext>
            </a:extLst>
          </p:cNvPr>
          <p:cNvSpPr/>
          <p:nvPr/>
        </p:nvSpPr>
        <p:spPr>
          <a:xfrm>
            <a:off x="2161850" y="1427934"/>
            <a:ext cx="7868299" cy="47258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6399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46752-7D28-46D7-3EB8-3C6BFEF0164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23E839D-1266-3FAC-A01C-0186F5BF8582}"/>
              </a:ext>
            </a:extLst>
          </p:cNvPr>
          <p:cNvPicPr>
            <a:picLocks noChangeAspect="1"/>
          </p:cNvPicPr>
          <p:nvPr/>
        </p:nvPicPr>
        <p:blipFill>
          <a:blip r:embed="rId3"/>
          <a:stretch>
            <a:fillRect/>
          </a:stretch>
        </p:blipFill>
        <p:spPr>
          <a:xfrm>
            <a:off x="3381511" y="0"/>
            <a:ext cx="5428978" cy="6858000"/>
          </a:xfrm>
          <a:prstGeom prst="rect">
            <a:avLst/>
          </a:prstGeom>
        </p:spPr>
      </p:pic>
    </p:spTree>
    <p:extLst>
      <p:ext uri="{BB962C8B-B14F-4D97-AF65-F5344CB8AC3E}">
        <p14:creationId xmlns:p14="http://schemas.microsoft.com/office/powerpoint/2010/main" val="3698132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A8122-F350-D46E-610B-DD1FAD21C62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1FBC4AE-C50D-FDBD-9A5E-82EF1C563980}"/>
              </a:ext>
            </a:extLst>
          </p:cNvPr>
          <p:cNvPicPr>
            <a:picLocks noChangeAspect="1"/>
          </p:cNvPicPr>
          <p:nvPr/>
        </p:nvPicPr>
        <p:blipFill>
          <a:blip r:embed="rId3"/>
          <a:stretch>
            <a:fillRect/>
          </a:stretch>
        </p:blipFill>
        <p:spPr>
          <a:xfrm>
            <a:off x="2110117" y="0"/>
            <a:ext cx="4495624" cy="6858000"/>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4D0E62CA-585B-20BE-9A67-1F7B913AC5D2}"/>
              </a:ext>
            </a:extLst>
          </p:cNvPr>
          <p:cNvPicPr>
            <a:picLocks noChangeAspect="1"/>
          </p:cNvPicPr>
          <p:nvPr/>
        </p:nvPicPr>
        <p:blipFill>
          <a:blip r:embed="rId4"/>
          <a:stretch>
            <a:fillRect/>
          </a:stretch>
        </p:blipFill>
        <p:spPr>
          <a:xfrm>
            <a:off x="6677457" y="0"/>
            <a:ext cx="4464075" cy="30390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82846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638B7-3294-9C0D-2E3C-BD470031D5F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C6988FE-AAC6-6DFA-AF0F-595B6C3BB29E}"/>
              </a:ext>
            </a:extLst>
          </p:cNvPr>
          <p:cNvPicPr>
            <a:picLocks noChangeAspect="1"/>
          </p:cNvPicPr>
          <p:nvPr/>
        </p:nvPicPr>
        <p:blipFill>
          <a:blip r:embed="rId3"/>
          <a:stretch>
            <a:fillRect/>
          </a:stretch>
        </p:blipFill>
        <p:spPr>
          <a:xfrm>
            <a:off x="0" y="109433"/>
            <a:ext cx="12192000" cy="6639133"/>
          </a:xfrm>
          <a:prstGeom prst="rect">
            <a:avLst/>
          </a:prstGeom>
        </p:spPr>
      </p:pic>
      <p:sp>
        <p:nvSpPr>
          <p:cNvPr id="4" name="Rectangle 3">
            <a:extLst>
              <a:ext uri="{FF2B5EF4-FFF2-40B4-BE49-F238E27FC236}">
                <a16:creationId xmlns:a16="http://schemas.microsoft.com/office/drawing/2014/main" id="{B3E82AE5-DC08-81BC-F285-F79F92BD783F}"/>
              </a:ext>
            </a:extLst>
          </p:cNvPr>
          <p:cNvSpPr/>
          <p:nvPr/>
        </p:nvSpPr>
        <p:spPr>
          <a:xfrm>
            <a:off x="91003" y="1965816"/>
            <a:ext cx="11984456" cy="53533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257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28A45-0979-A6D0-3453-519633491FF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249C414-D1FB-ACC3-FD6C-7953EA70817F}"/>
              </a:ext>
            </a:extLst>
          </p:cNvPr>
          <p:cNvSpPr>
            <a:spLocks noGrp="1"/>
          </p:cNvSpPr>
          <p:nvPr>
            <p:ph idx="1"/>
          </p:nvPr>
        </p:nvSpPr>
        <p:spPr/>
        <p:txBody>
          <a:bodyPr>
            <a:normAutofit fontScale="70000" lnSpcReduction="20000"/>
          </a:bodyPr>
          <a:lstStyle/>
          <a:p>
            <a:r>
              <a:rPr lang="en-US" dirty="0"/>
              <a:t>Firms with more structured management practices tend to acquire establishments with relatively less structured management practices.</a:t>
            </a:r>
          </a:p>
          <a:p>
            <a:r>
              <a:rPr lang="en-US" dirty="0"/>
              <a:t>The target’s management practices converge to those of the acquirer’s incumbent establishments.</a:t>
            </a:r>
          </a:p>
          <a:p>
            <a:r>
              <a:rPr lang="en-US" dirty="0"/>
              <a:t>Changes are greater when acquirers have a greater incentive and ability to make changes.</a:t>
            </a:r>
          </a:p>
          <a:p>
            <a:r>
              <a:rPr lang="en-US" dirty="0"/>
              <a:t>Post-acquisition improvements in performance are larger when acquired establishments adopt more structured management practices.</a:t>
            </a:r>
          </a:p>
        </p:txBody>
      </p:sp>
    </p:spTree>
    <p:extLst>
      <p:ext uri="{BB962C8B-B14F-4D97-AF65-F5344CB8AC3E}">
        <p14:creationId xmlns:p14="http://schemas.microsoft.com/office/powerpoint/2010/main" val="3144905138"/>
      </p:ext>
    </p:extLst>
  </p:cSld>
  <p:clrMapOvr>
    <a:masterClrMapping/>
  </p:clrMapOvr>
</p:sld>
</file>

<file path=ppt/theme/theme1.xml><?xml version="1.0" encoding="utf-8"?>
<a:theme xmlns:a="http://schemas.openxmlformats.org/drawingml/2006/main" name="WCOB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COB Theme" id="{DF967ADD-BC05-483B-AB52-67CF82BC061D}" vid="{FC698281-B06B-48E0-B35B-6E92E503CB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WCOB Theme</Template>
  <TotalTime>919</TotalTime>
  <Words>1333</Words>
  <Application>Microsoft Office PowerPoint</Application>
  <PresentationFormat>Widescreen</PresentationFormat>
  <Paragraphs>81</Paragraphs>
  <Slides>21</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AdvOT08eca702+22</vt:lpstr>
      <vt:lpstr>AdvTT3258b86f</vt:lpstr>
      <vt:lpstr>AdvTT3258b86f+20</vt:lpstr>
      <vt:lpstr>AdvTT3258b86f+fb</vt:lpstr>
      <vt:lpstr>AdvTTd8ef4e6f.I</vt:lpstr>
      <vt:lpstr>Aptos</vt:lpstr>
      <vt:lpstr>Arial</vt:lpstr>
      <vt:lpstr>Calibri</vt:lpstr>
      <vt:lpstr>WCOB Theme</vt:lpstr>
      <vt:lpstr>Management Practices and Mergers and Acquisitions</vt:lpstr>
      <vt:lpstr>Research Question</vt:lpstr>
      <vt:lpstr>Prior Literature</vt:lpstr>
      <vt:lpstr>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Thompson</dc:creator>
  <cp:lastModifiedBy>Nicholas Thompson</cp:lastModifiedBy>
  <cp:revision>29</cp:revision>
  <dcterms:created xsi:type="dcterms:W3CDTF">2024-10-18T16:03:29Z</dcterms:created>
  <dcterms:modified xsi:type="dcterms:W3CDTF">2024-10-29T13:43:16Z</dcterms:modified>
</cp:coreProperties>
</file>