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sldIdLst>
    <p:sldId id="256" r:id="rId5"/>
    <p:sldId id="315" r:id="rId6"/>
    <p:sldId id="346" r:id="rId7"/>
    <p:sldId id="530" r:id="rId8"/>
    <p:sldId id="531" r:id="rId9"/>
    <p:sldId id="533" r:id="rId10"/>
    <p:sldId id="534" r:id="rId11"/>
    <p:sldId id="535" r:id="rId12"/>
    <p:sldId id="536" r:id="rId13"/>
    <p:sldId id="537" r:id="rId14"/>
    <p:sldId id="538" r:id="rId15"/>
    <p:sldId id="539" r:id="rId16"/>
    <p:sldId id="540" r:id="rId17"/>
    <p:sldId id="542" r:id="rId18"/>
    <p:sldId id="543" r:id="rId19"/>
    <p:sldId id="544" r:id="rId20"/>
    <p:sldId id="545" r:id="rId21"/>
    <p:sldId id="546" r:id="rId22"/>
    <p:sldId id="547" r:id="rId23"/>
    <p:sldId id="548" r:id="rId24"/>
    <p:sldId id="549" r:id="rId25"/>
    <p:sldId id="515" r:id="rId26"/>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530"/>
            <p14:sldId id="531"/>
            <p14:sldId id="533"/>
            <p14:sldId id="534"/>
            <p14:sldId id="535"/>
            <p14:sldId id="536"/>
            <p14:sldId id="537"/>
            <p14:sldId id="538"/>
            <p14:sldId id="539"/>
            <p14:sldId id="540"/>
            <p14:sldId id="542"/>
            <p14:sldId id="543"/>
            <p14:sldId id="544"/>
            <p14:sldId id="545"/>
            <p14:sldId id="546"/>
            <p14:sldId id="547"/>
            <p14:sldId id="548"/>
            <p14:sldId id="549"/>
            <p14:sldId id="515"/>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F67DDB-6E7D-4F92-A512-324E99DCF1EE}" v="7" dt="2024-10-29T13:28:18.0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40" autoAdjust="0"/>
    <p:restoredTop sz="65098" autoAdjust="0"/>
  </p:normalViewPr>
  <p:slideViewPr>
    <p:cSldViewPr snapToGrid="0">
      <p:cViewPr>
        <p:scale>
          <a:sx n="90" d="100"/>
          <a:sy n="90" d="100"/>
        </p:scale>
        <p:origin x="1056" y="-13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Francis" userId="d9206161-76a2-4d0d-bb71-2bac416203d9" providerId="ADAL" clId="{C9F67DDB-6E7D-4F92-A512-324E99DCF1EE}"/>
    <pc:docChg chg="undo custSel addSld delSld modSld modSection">
      <pc:chgData name="Austin Francis" userId="d9206161-76a2-4d0d-bb71-2bac416203d9" providerId="ADAL" clId="{C9F67DDB-6E7D-4F92-A512-324E99DCF1EE}" dt="2024-10-29T13:30:42.166" v="589"/>
      <pc:docMkLst>
        <pc:docMk/>
      </pc:docMkLst>
      <pc:sldChg chg="modSp mod">
        <pc:chgData name="Austin Francis" userId="d9206161-76a2-4d0d-bb71-2bac416203d9" providerId="ADAL" clId="{C9F67DDB-6E7D-4F92-A512-324E99DCF1EE}" dt="2024-10-29T02:30:33.999" v="134" actId="20577"/>
        <pc:sldMkLst>
          <pc:docMk/>
          <pc:sldMk cId="875954484" sldId="256"/>
        </pc:sldMkLst>
        <pc:spChg chg="mod">
          <ac:chgData name="Austin Francis" userId="d9206161-76a2-4d0d-bb71-2bac416203d9" providerId="ADAL" clId="{C9F67DDB-6E7D-4F92-A512-324E99DCF1EE}" dt="2024-10-29T02:29:26.149" v="69" actId="20577"/>
          <ac:spMkLst>
            <pc:docMk/>
            <pc:sldMk cId="875954484" sldId="256"/>
            <ac:spMk id="2" creationId="{00000000-0000-0000-0000-000000000000}"/>
          </ac:spMkLst>
        </pc:spChg>
        <pc:spChg chg="mod">
          <ac:chgData name="Austin Francis" userId="d9206161-76a2-4d0d-bb71-2bac416203d9" providerId="ADAL" clId="{C9F67DDB-6E7D-4F92-A512-324E99DCF1EE}" dt="2024-10-29T02:30:33.999" v="134" actId="20577"/>
          <ac:spMkLst>
            <pc:docMk/>
            <pc:sldMk cId="875954484" sldId="256"/>
            <ac:spMk id="3" creationId="{00000000-0000-0000-0000-000000000000}"/>
          </ac:spMkLst>
        </pc:spChg>
      </pc:sldChg>
      <pc:sldChg chg="modSp mod modNotesTx">
        <pc:chgData name="Austin Francis" userId="d9206161-76a2-4d0d-bb71-2bac416203d9" providerId="ADAL" clId="{C9F67DDB-6E7D-4F92-A512-324E99DCF1EE}" dt="2024-10-29T05:38:47.962" v="402"/>
        <pc:sldMkLst>
          <pc:docMk/>
          <pc:sldMk cId="718245954" sldId="315"/>
        </pc:sldMkLst>
        <pc:spChg chg="mod">
          <ac:chgData name="Austin Francis" userId="d9206161-76a2-4d0d-bb71-2bac416203d9" providerId="ADAL" clId="{C9F67DDB-6E7D-4F92-A512-324E99DCF1EE}" dt="2024-10-29T02:51:14.890" v="174"/>
          <ac:spMkLst>
            <pc:docMk/>
            <pc:sldMk cId="718245954" sldId="315"/>
            <ac:spMk id="3" creationId="{EC44ADDE-7BAE-4D27-8839-0025B3A2D42C}"/>
          </ac:spMkLst>
        </pc:spChg>
      </pc:sldChg>
      <pc:sldChg chg="modSp mod">
        <pc:chgData name="Austin Francis" userId="d9206161-76a2-4d0d-bb71-2bac416203d9" providerId="ADAL" clId="{C9F67DDB-6E7D-4F92-A512-324E99DCF1EE}" dt="2024-10-29T02:51:54.149" v="180" actId="20577"/>
        <pc:sldMkLst>
          <pc:docMk/>
          <pc:sldMk cId="869680711" sldId="346"/>
        </pc:sldMkLst>
        <pc:spChg chg="mod">
          <ac:chgData name="Austin Francis" userId="d9206161-76a2-4d0d-bb71-2bac416203d9" providerId="ADAL" clId="{C9F67DDB-6E7D-4F92-A512-324E99DCF1EE}" dt="2024-10-29T02:51:54.149" v="180" actId="20577"/>
          <ac:spMkLst>
            <pc:docMk/>
            <pc:sldMk cId="869680711" sldId="346"/>
            <ac:spMk id="3" creationId="{EC44ADDE-7BAE-4D27-8839-0025B3A2D42C}"/>
          </ac:spMkLst>
        </pc:spChg>
      </pc:sldChg>
      <pc:sldChg chg="addSp delSp modSp mod modNotesTx">
        <pc:chgData name="Austin Francis" userId="d9206161-76a2-4d0d-bb71-2bac416203d9" providerId="ADAL" clId="{C9F67DDB-6E7D-4F92-A512-324E99DCF1EE}" dt="2024-10-29T13:29:12.117" v="588" actId="113"/>
        <pc:sldMkLst>
          <pc:docMk/>
          <pc:sldMk cId="3235664569" sldId="515"/>
        </pc:sldMkLst>
        <pc:spChg chg="add del mod">
          <ac:chgData name="Austin Francis" userId="d9206161-76a2-4d0d-bb71-2bac416203d9" providerId="ADAL" clId="{C9F67DDB-6E7D-4F92-A512-324E99DCF1EE}" dt="2024-10-29T13:29:12.117" v="588" actId="113"/>
          <ac:spMkLst>
            <pc:docMk/>
            <pc:sldMk cId="3235664569" sldId="515"/>
            <ac:spMk id="3" creationId="{8809D06F-99B2-9518-6B5C-65EF09135218}"/>
          </ac:spMkLst>
        </pc:spChg>
        <pc:spChg chg="add mod">
          <ac:chgData name="Austin Francis" userId="d9206161-76a2-4d0d-bb71-2bac416203d9" providerId="ADAL" clId="{C9F67DDB-6E7D-4F92-A512-324E99DCF1EE}" dt="2024-10-29T13:28:18.004" v="569"/>
          <ac:spMkLst>
            <pc:docMk/>
            <pc:sldMk cId="3235664569" sldId="515"/>
            <ac:spMk id="4" creationId="{5C019D06-EEA1-6D2B-9728-EA3FC70B3B15}"/>
          </ac:spMkLst>
        </pc:spChg>
      </pc:sldChg>
      <pc:sldChg chg="modSp mod modNotesTx">
        <pc:chgData name="Austin Francis" userId="d9206161-76a2-4d0d-bb71-2bac416203d9" providerId="ADAL" clId="{C9F67DDB-6E7D-4F92-A512-324E99DCF1EE}" dt="2024-10-29T05:39:06.576" v="405" actId="20577"/>
        <pc:sldMkLst>
          <pc:docMk/>
          <pc:sldMk cId="3996482289" sldId="530"/>
        </pc:sldMkLst>
        <pc:spChg chg="mod">
          <ac:chgData name="Austin Francis" userId="d9206161-76a2-4d0d-bb71-2bac416203d9" providerId="ADAL" clId="{C9F67DDB-6E7D-4F92-A512-324E99DCF1EE}" dt="2024-10-29T02:53:28.230" v="186" actId="20577"/>
          <ac:spMkLst>
            <pc:docMk/>
            <pc:sldMk cId="3996482289" sldId="530"/>
            <ac:spMk id="3" creationId="{77B4ECBA-3526-6C84-D51B-7013452FF46B}"/>
          </ac:spMkLst>
        </pc:spChg>
      </pc:sldChg>
      <pc:sldChg chg="modSp mod modNotesTx">
        <pc:chgData name="Austin Francis" userId="d9206161-76a2-4d0d-bb71-2bac416203d9" providerId="ADAL" clId="{C9F67DDB-6E7D-4F92-A512-324E99DCF1EE}" dt="2024-10-29T05:50:28.424" v="434" actId="20577"/>
        <pc:sldMkLst>
          <pc:docMk/>
          <pc:sldMk cId="144076704" sldId="531"/>
        </pc:sldMkLst>
        <pc:spChg chg="mod">
          <ac:chgData name="Austin Francis" userId="d9206161-76a2-4d0d-bb71-2bac416203d9" providerId="ADAL" clId="{C9F67DDB-6E7D-4F92-A512-324E99DCF1EE}" dt="2024-10-29T05:50:28.424" v="434" actId="20577"/>
          <ac:spMkLst>
            <pc:docMk/>
            <pc:sldMk cId="144076704" sldId="531"/>
            <ac:spMk id="3" creationId="{EAB73B4E-31D4-F34C-B410-EB6A2B8EEEC3}"/>
          </ac:spMkLst>
        </pc:spChg>
      </pc:sldChg>
      <pc:sldChg chg="modSp mod">
        <pc:chgData name="Austin Francis" userId="d9206161-76a2-4d0d-bb71-2bac416203d9" providerId="ADAL" clId="{C9F67DDB-6E7D-4F92-A512-324E99DCF1EE}" dt="2024-10-29T02:55:46.923" v="208" actId="27636"/>
        <pc:sldMkLst>
          <pc:docMk/>
          <pc:sldMk cId="2280721630" sldId="533"/>
        </pc:sldMkLst>
        <pc:spChg chg="mod">
          <ac:chgData name="Austin Francis" userId="d9206161-76a2-4d0d-bb71-2bac416203d9" providerId="ADAL" clId="{C9F67DDB-6E7D-4F92-A512-324E99DCF1EE}" dt="2024-10-29T02:55:46.923" v="208" actId="27636"/>
          <ac:spMkLst>
            <pc:docMk/>
            <pc:sldMk cId="2280721630" sldId="533"/>
            <ac:spMk id="3" creationId="{AFB31E7E-BB03-7F85-9FA9-B35E5C0A08A1}"/>
          </ac:spMkLst>
        </pc:spChg>
      </pc:sldChg>
      <pc:sldChg chg="modSp mod">
        <pc:chgData name="Austin Francis" userId="d9206161-76a2-4d0d-bb71-2bac416203d9" providerId="ADAL" clId="{C9F67DDB-6E7D-4F92-A512-324E99DCF1EE}" dt="2024-10-29T02:56:10.620" v="217" actId="27636"/>
        <pc:sldMkLst>
          <pc:docMk/>
          <pc:sldMk cId="102931800" sldId="534"/>
        </pc:sldMkLst>
        <pc:spChg chg="mod">
          <ac:chgData name="Austin Francis" userId="d9206161-76a2-4d0d-bb71-2bac416203d9" providerId="ADAL" clId="{C9F67DDB-6E7D-4F92-A512-324E99DCF1EE}" dt="2024-10-29T02:56:10.620" v="217" actId="27636"/>
          <ac:spMkLst>
            <pc:docMk/>
            <pc:sldMk cId="102931800" sldId="534"/>
            <ac:spMk id="3" creationId="{15D56D45-BDC3-3D0B-671F-78DDB007EF2F}"/>
          </ac:spMkLst>
        </pc:spChg>
      </pc:sldChg>
      <pc:sldChg chg="addSp modSp new mod">
        <pc:chgData name="Austin Francis" userId="d9206161-76a2-4d0d-bb71-2bac416203d9" providerId="ADAL" clId="{C9F67DDB-6E7D-4F92-A512-324E99DCF1EE}" dt="2024-10-29T03:01:12.520" v="244" actId="1076"/>
        <pc:sldMkLst>
          <pc:docMk/>
          <pc:sldMk cId="1343846881" sldId="535"/>
        </pc:sldMkLst>
        <pc:picChg chg="add mod">
          <ac:chgData name="Austin Francis" userId="d9206161-76a2-4d0d-bb71-2bac416203d9" providerId="ADAL" clId="{C9F67DDB-6E7D-4F92-A512-324E99DCF1EE}" dt="2024-10-29T03:01:12.520" v="244" actId="1076"/>
          <ac:picMkLst>
            <pc:docMk/>
            <pc:sldMk cId="1343846881" sldId="535"/>
            <ac:picMk id="5" creationId="{5E92B5AA-9983-4D1B-48F1-9A517AC8C34D}"/>
          </ac:picMkLst>
        </pc:picChg>
      </pc:sldChg>
      <pc:sldChg chg="del">
        <pc:chgData name="Austin Francis" userId="d9206161-76a2-4d0d-bb71-2bac416203d9" providerId="ADAL" clId="{C9F67DDB-6E7D-4F92-A512-324E99DCF1EE}" dt="2024-10-29T02:56:22.025" v="218" actId="2696"/>
        <pc:sldMkLst>
          <pc:docMk/>
          <pc:sldMk cId="3239777560" sldId="535"/>
        </pc:sldMkLst>
      </pc:sldChg>
      <pc:sldChg chg="addSp modSp new mod">
        <pc:chgData name="Austin Francis" userId="d9206161-76a2-4d0d-bb71-2bac416203d9" providerId="ADAL" clId="{C9F67DDB-6E7D-4F92-A512-324E99DCF1EE}" dt="2024-10-29T05:53:57.073" v="435"/>
        <pc:sldMkLst>
          <pc:docMk/>
          <pc:sldMk cId="2293964240" sldId="536"/>
        </pc:sldMkLst>
        <pc:spChg chg="add">
          <ac:chgData name="Austin Francis" userId="d9206161-76a2-4d0d-bb71-2bac416203d9" providerId="ADAL" clId="{C9F67DDB-6E7D-4F92-A512-324E99DCF1EE}" dt="2024-10-29T05:53:57.073" v="435"/>
          <ac:spMkLst>
            <pc:docMk/>
            <pc:sldMk cId="2293964240" sldId="536"/>
            <ac:spMk id="6" creationId="{CDFAFBCC-7963-0EFE-24BA-416E2CCCFEB3}"/>
          </ac:spMkLst>
        </pc:spChg>
        <pc:picChg chg="add mod">
          <ac:chgData name="Austin Francis" userId="d9206161-76a2-4d0d-bb71-2bac416203d9" providerId="ADAL" clId="{C9F67DDB-6E7D-4F92-A512-324E99DCF1EE}" dt="2024-10-29T03:01:43.842" v="248" actId="1076"/>
          <ac:picMkLst>
            <pc:docMk/>
            <pc:sldMk cId="2293964240" sldId="536"/>
            <ac:picMk id="5" creationId="{F15BF9E3-3854-0202-32D0-4A3EFCB7FB3F}"/>
          </ac:picMkLst>
        </pc:picChg>
      </pc:sldChg>
      <pc:sldChg chg="del">
        <pc:chgData name="Austin Francis" userId="d9206161-76a2-4d0d-bb71-2bac416203d9" providerId="ADAL" clId="{C9F67DDB-6E7D-4F92-A512-324E99DCF1EE}" dt="2024-10-29T02:56:24.113" v="219" actId="2696"/>
        <pc:sldMkLst>
          <pc:docMk/>
          <pc:sldMk cId="2857431175" sldId="536"/>
        </pc:sldMkLst>
      </pc:sldChg>
      <pc:sldChg chg="del">
        <pc:chgData name="Austin Francis" userId="d9206161-76a2-4d0d-bb71-2bac416203d9" providerId="ADAL" clId="{C9F67DDB-6E7D-4F92-A512-324E99DCF1EE}" dt="2024-10-29T02:56:30.130" v="222" actId="2696"/>
        <pc:sldMkLst>
          <pc:docMk/>
          <pc:sldMk cId="3179733428" sldId="537"/>
        </pc:sldMkLst>
      </pc:sldChg>
      <pc:sldChg chg="addSp modSp new mod">
        <pc:chgData name="Austin Francis" userId="d9206161-76a2-4d0d-bb71-2bac416203d9" providerId="ADAL" clId="{C9F67DDB-6E7D-4F92-A512-324E99DCF1EE}" dt="2024-10-29T03:02:15.850" v="252" actId="1076"/>
        <pc:sldMkLst>
          <pc:docMk/>
          <pc:sldMk cId="3905501750" sldId="537"/>
        </pc:sldMkLst>
        <pc:picChg chg="add mod">
          <ac:chgData name="Austin Francis" userId="d9206161-76a2-4d0d-bb71-2bac416203d9" providerId="ADAL" clId="{C9F67DDB-6E7D-4F92-A512-324E99DCF1EE}" dt="2024-10-29T03:02:15.850" v="252" actId="1076"/>
          <ac:picMkLst>
            <pc:docMk/>
            <pc:sldMk cId="3905501750" sldId="537"/>
            <ac:picMk id="5" creationId="{1F6FCFBA-6E30-1888-2DA9-CAECF8B3CFA7}"/>
          </ac:picMkLst>
        </pc:picChg>
      </pc:sldChg>
      <pc:sldChg chg="del">
        <pc:chgData name="Austin Francis" userId="d9206161-76a2-4d0d-bb71-2bac416203d9" providerId="ADAL" clId="{C9F67DDB-6E7D-4F92-A512-324E99DCF1EE}" dt="2024-10-29T02:56:25.910" v="220" actId="2696"/>
        <pc:sldMkLst>
          <pc:docMk/>
          <pc:sldMk cId="306782645" sldId="538"/>
        </pc:sldMkLst>
      </pc:sldChg>
      <pc:sldChg chg="addSp delSp modSp new mod modNotesTx">
        <pc:chgData name="Austin Francis" userId="d9206161-76a2-4d0d-bb71-2bac416203d9" providerId="ADAL" clId="{C9F67DDB-6E7D-4F92-A512-324E99DCF1EE}" dt="2024-10-29T13:30:42.166" v="589"/>
        <pc:sldMkLst>
          <pc:docMk/>
          <pc:sldMk cId="1866333039" sldId="538"/>
        </pc:sldMkLst>
        <pc:spChg chg="del">
          <ac:chgData name="Austin Francis" userId="d9206161-76a2-4d0d-bb71-2bac416203d9" providerId="ADAL" clId="{C9F67DDB-6E7D-4F92-A512-324E99DCF1EE}" dt="2024-10-29T03:02:32.080" v="254" actId="22"/>
          <ac:spMkLst>
            <pc:docMk/>
            <pc:sldMk cId="1866333039" sldId="538"/>
            <ac:spMk id="3" creationId="{7103E9A5-05B0-E045-A692-9FD870275D95}"/>
          </ac:spMkLst>
        </pc:spChg>
        <pc:picChg chg="add mod ord">
          <ac:chgData name="Austin Francis" userId="d9206161-76a2-4d0d-bb71-2bac416203d9" providerId="ADAL" clId="{C9F67DDB-6E7D-4F92-A512-324E99DCF1EE}" dt="2024-10-29T03:02:51.733" v="260" actId="1076"/>
          <ac:picMkLst>
            <pc:docMk/>
            <pc:sldMk cId="1866333039" sldId="538"/>
            <ac:picMk id="5" creationId="{407BCEBF-C63F-1365-A8C1-38CA1B10862F}"/>
          </ac:picMkLst>
        </pc:picChg>
      </pc:sldChg>
      <pc:sldChg chg="del">
        <pc:chgData name="Austin Francis" userId="d9206161-76a2-4d0d-bb71-2bac416203d9" providerId="ADAL" clId="{C9F67DDB-6E7D-4F92-A512-324E99DCF1EE}" dt="2024-10-29T02:56:28.040" v="221" actId="2696"/>
        <pc:sldMkLst>
          <pc:docMk/>
          <pc:sldMk cId="2663919420" sldId="539"/>
        </pc:sldMkLst>
      </pc:sldChg>
      <pc:sldChg chg="addSp modSp new mod">
        <pc:chgData name="Austin Francis" userId="d9206161-76a2-4d0d-bb71-2bac416203d9" providerId="ADAL" clId="{C9F67DDB-6E7D-4F92-A512-324E99DCF1EE}" dt="2024-10-29T03:03:12.580" v="264" actId="1076"/>
        <pc:sldMkLst>
          <pc:docMk/>
          <pc:sldMk cId="2803546862" sldId="539"/>
        </pc:sldMkLst>
        <pc:picChg chg="add mod">
          <ac:chgData name="Austin Francis" userId="d9206161-76a2-4d0d-bb71-2bac416203d9" providerId="ADAL" clId="{C9F67DDB-6E7D-4F92-A512-324E99DCF1EE}" dt="2024-10-29T03:03:12.580" v="264" actId="1076"/>
          <ac:picMkLst>
            <pc:docMk/>
            <pc:sldMk cId="2803546862" sldId="539"/>
            <ac:picMk id="5" creationId="{044216FB-4356-7B80-C126-0CFCE850BFD4}"/>
          </ac:picMkLst>
        </pc:picChg>
      </pc:sldChg>
      <pc:sldChg chg="del">
        <pc:chgData name="Austin Francis" userId="d9206161-76a2-4d0d-bb71-2bac416203d9" providerId="ADAL" clId="{C9F67DDB-6E7D-4F92-A512-324E99DCF1EE}" dt="2024-10-29T02:56:33.010" v="223" actId="2696"/>
        <pc:sldMkLst>
          <pc:docMk/>
          <pc:sldMk cId="1126555879" sldId="540"/>
        </pc:sldMkLst>
      </pc:sldChg>
      <pc:sldChg chg="addSp delSp modSp new mod modNotesTx">
        <pc:chgData name="Austin Francis" userId="d9206161-76a2-4d0d-bb71-2bac416203d9" providerId="ADAL" clId="{C9F67DDB-6E7D-4F92-A512-324E99DCF1EE}" dt="2024-10-29T05:43:52.195" v="431" actId="20577"/>
        <pc:sldMkLst>
          <pc:docMk/>
          <pc:sldMk cId="4094571737" sldId="540"/>
        </pc:sldMkLst>
        <pc:spChg chg="del">
          <ac:chgData name="Austin Francis" userId="d9206161-76a2-4d0d-bb71-2bac416203d9" providerId="ADAL" clId="{C9F67DDB-6E7D-4F92-A512-324E99DCF1EE}" dt="2024-10-29T03:03:37.420" v="266" actId="22"/>
          <ac:spMkLst>
            <pc:docMk/>
            <pc:sldMk cId="4094571737" sldId="540"/>
            <ac:spMk id="3" creationId="{233E9C37-6EE6-6126-7DD9-A24CB6A19980}"/>
          </ac:spMkLst>
        </pc:spChg>
        <pc:picChg chg="add mod ord">
          <ac:chgData name="Austin Francis" userId="d9206161-76a2-4d0d-bb71-2bac416203d9" providerId="ADAL" clId="{C9F67DDB-6E7D-4F92-A512-324E99DCF1EE}" dt="2024-10-29T03:03:44.740" v="269" actId="1076"/>
          <ac:picMkLst>
            <pc:docMk/>
            <pc:sldMk cId="4094571737" sldId="540"/>
            <ac:picMk id="5" creationId="{49CE6CCA-CB44-6792-7775-DB96836BE4E9}"/>
          </ac:picMkLst>
        </pc:picChg>
      </pc:sldChg>
      <pc:sldChg chg="add del">
        <pc:chgData name="Austin Francis" userId="d9206161-76a2-4d0d-bb71-2bac416203d9" providerId="ADAL" clId="{C9F67DDB-6E7D-4F92-A512-324E99DCF1EE}" dt="2024-10-29T04:56:07.011" v="321" actId="2696"/>
        <pc:sldMkLst>
          <pc:docMk/>
          <pc:sldMk cId="1543986664" sldId="541"/>
        </pc:sldMkLst>
      </pc:sldChg>
      <pc:sldChg chg="del">
        <pc:chgData name="Austin Francis" userId="d9206161-76a2-4d0d-bb71-2bac416203d9" providerId="ADAL" clId="{C9F67DDB-6E7D-4F92-A512-324E99DCF1EE}" dt="2024-10-29T02:56:35.355" v="224" actId="2696"/>
        <pc:sldMkLst>
          <pc:docMk/>
          <pc:sldMk cId="2964589717" sldId="541"/>
        </pc:sldMkLst>
      </pc:sldChg>
      <pc:sldChg chg="addSp delSp modSp new mod modNotesTx">
        <pc:chgData name="Austin Francis" userId="d9206161-76a2-4d0d-bb71-2bac416203d9" providerId="ADAL" clId="{C9F67DDB-6E7D-4F92-A512-324E99DCF1EE}" dt="2024-10-29T12:58:54.997" v="457" actId="20577"/>
        <pc:sldMkLst>
          <pc:docMk/>
          <pc:sldMk cId="2507283068" sldId="542"/>
        </pc:sldMkLst>
        <pc:spChg chg="del">
          <ac:chgData name="Austin Francis" userId="d9206161-76a2-4d0d-bb71-2bac416203d9" providerId="ADAL" clId="{C9F67DDB-6E7D-4F92-A512-324E99DCF1EE}" dt="2024-10-29T03:04:18.575" v="272" actId="22"/>
          <ac:spMkLst>
            <pc:docMk/>
            <pc:sldMk cId="2507283068" sldId="542"/>
            <ac:spMk id="3" creationId="{D7DACF2C-DD21-D339-F3A3-99FECC3102C4}"/>
          </ac:spMkLst>
        </pc:spChg>
        <pc:picChg chg="add mod ord">
          <ac:chgData name="Austin Francis" userId="d9206161-76a2-4d0d-bb71-2bac416203d9" providerId="ADAL" clId="{C9F67DDB-6E7D-4F92-A512-324E99DCF1EE}" dt="2024-10-29T03:04:24.882" v="275" actId="1076"/>
          <ac:picMkLst>
            <pc:docMk/>
            <pc:sldMk cId="2507283068" sldId="542"/>
            <ac:picMk id="5" creationId="{193D5371-76FB-3721-E3A0-2D3F86CBBE37}"/>
          </ac:picMkLst>
        </pc:picChg>
      </pc:sldChg>
      <pc:sldChg chg="del">
        <pc:chgData name="Austin Francis" userId="d9206161-76a2-4d0d-bb71-2bac416203d9" providerId="ADAL" clId="{C9F67DDB-6E7D-4F92-A512-324E99DCF1EE}" dt="2024-10-29T02:56:38.275" v="225" actId="2696"/>
        <pc:sldMkLst>
          <pc:docMk/>
          <pc:sldMk cId="3804190404" sldId="542"/>
        </pc:sldMkLst>
      </pc:sldChg>
      <pc:sldChg chg="addSp delSp modSp new mod modNotesTx">
        <pc:chgData name="Austin Francis" userId="d9206161-76a2-4d0d-bb71-2bac416203d9" providerId="ADAL" clId="{C9F67DDB-6E7D-4F92-A512-324E99DCF1EE}" dt="2024-10-29T04:58:58.546" v="347"/>
        <pc:sldMkLst>
          <pc:docMk/>
          <pc:sldMk cId="2645720968" sldId="543"/>
        </pc:sldMkLst>
        <pc:spChg chg="del">
          <ac:chgData name="Austin Francis" userId="d9206161-76a2-4d0d-bb71-2bac416203d9" providerId="ADAL" clId="{C9F67DDB-6E7D-4F92-A512-324E99DCF1EE}" dt="2024-10-29T03:04:43.130" v="277" actId="22"/>
          <ac:spMkLst>
            <pc:docMk/>
            <pc:sldMk cId="2645720968" sldId="543"/>
            <ac:spMk id="3" creationId="{708DF495-5E0F-18EF-2448-1ED3E23854D1}"/>
          </ac:spMkLst>
        </pc:spChg>
        <pc:picChg chg="add mod ord">
          <ac:chgData name="Austin Francis" userId="d9206161-76a2-4d0d-bb71-2bac416203d9" providerId="ADAL" clId="{C9F67DDB-6E7D-4F92-A512-324E99DCF1EE}" dt="2024-10-29T03:04:59.305" v="282" actId="1076"/>
          <ac:picMkLst>
            <pc:docMk/>
            <pc:sldMk cId="2645720968" sldId="543"/>
            <ac:picMk id="5" creationId="{2DA3C072-6A93-8595-651A-15688DCC4A25}"/>
          </ac:picMkLst>
        </pc:picChg>
      </pc:sldChg>
      <pc:sldChg chg="del">
        <pc:chgData name="Austin Francis" userId="d9206161-76a2-4d0d-bb71-2bac416203d9" providerId="ADAL" clId="{C9F67DDB-6E7D-4F92-A512-324E99DCF1EE}" dt="2024-10-29T02:56:40.505" v="226" actId="2696"/>
        <pc:sldMkLst>
          <pc:docMk/>
          <pc:sldMk cId="2964866217" sldId="543"/>
        </pc:sldMkLst>
      </pc:sldChg>
      <pc:sldChg chg="del">
        <pc:chgData name="Austin Francis" userId="d9206161-76a2-4d0d-bb71-2bac416203d9" providerId="ADAL" clId="{C9F67DDB-6E7D-4F92-A512-324E99DCF1EE}" dt="2024-10-29T02:56:43.106" v="227" actId="2696"/>
        <pc:sldMkLst>
          <pc:docMk/>
          <pc:sldMk cId="3618844311" sldId="544"/>
        </pc:sldMkLst>
      </pc:sldChg>
      <pc:sldChg chg="addSp delSp modSp new mod modNotesTx">
        <pc:chgData name="Austin Francis" userId="d9206161-76a2-4d0d-bb71-2bac416203d9" providerId="ADAL" clId="{C9F67DDB-6E7D-4F92-A512-324E99DCF1EE}" dt="2024-10-29T13:04:33.189" v="480" actId="20577"/>
        <pc:sldMkLst>
          <pc:docMk/>
          <pc:sldMk cId="3743595202" sldId="544"/>
        </pc:sldMkLst>
        <pc:spChg chg="del">
          <ac:chgData name="Austin Francis" userId="d9206161-76a2-4d0d-bb71-2bac416203d9" providerId="ADAL" clId="{C9F67DDB-6E7D-4F92-A512-324E99DCF1EE}" dt="2024-10-29T03:05:22.665" v="284" actId="22"/>
          <ac:spMkLst>
            <pc:docMk/>
            <pc:sldMk cId="3743595202" sldId="544"/>
            <ac:spMk id="3" creationId="{F7DB6A91-6165-F92E-F0D3-B3177125B793}"/>
          </ac:spMkLst>
        </pc:spChg>
        <pc:picChg chg="add mod ord">
          <ac:chgData name="Austin Francis" userId="d9206161-76a2-4d0d-bb71-2bac416203d9" providerId="ADAL" clId="{C9F67DDB-6E7D-4F92-A512-324E99DCF1EE}" dt="2024-10-29T03:05:30.980" v="287" actId="1076"/>
          <ac:picMkLst>
            <pc:docMk/>
            <pc:sldMk cId="3743595202" sldId="544"/>
            <ac:picMk id="5" creationId="{D1EE7417-C31D-6427-4353-397D4449D6E1}"/>
          </ac:picMkLst>
        </pc:picChg>
      </pc:sldChg>
      <pc:sldChg chg="del">
        <pc:chgData name="Austin Francis" userId="d9206161-76a2-4d0d-bb71-2bac416203d9" providerId="ADAL" clId="{C9F67DDB-6E7D-4F92-A512-324E99DCF1EE}" dt="2024-10-29T02:56:45.750" v="228" actId="2696"/>
        <pc:sldMkLst>
          <pc:docMk/>
          <pc:sldMk cId="2996994822" sldId="545"/>
        </pc:sldMkLst>
      </pc:sldChg>
      <pc:sldChg chg="addSp delSp modSp new mod modNotesTx">
        <pc:chgData name="Austin Francis" userId="d9206161-76a2-4d0d-bb71-2bac416203d9" providerId="ADAL" clId="{C9F67DDB-6E7D-4F92-A512-324E99DCF1EE}" dt="2024-10-29T13:08:52.875" v="491"/>
        <pc:sldMkLst>
          <pc:docMk/>
          <pc:sldMk cId="3138288309" sldId="545"/>
        </pc:sldMkLst>
        <pc:spChg chg="del">
          <ac:chgData name="Austin Francis" userId="d9206161-76a2-4d0d-bb71-2bac416203d9" providerId="ADAL" clId="{C9F67DDB-6E7D-4F92-A512-324E99DCF1EE}" dt="2024-10-29T03:05:52" v="289" actId="22"/>
          <ac:spMkLst>
            <pc:docMk/>
            <pc:sldMk cId="3138288309" sldId="545"/>
            <ac:spMk id="3" creationId="{E35D89CA-8757-A44B-0DB9-E017EA75C2C0}"/>
          </ac:spMkLst>
        </pc:spChg>
        <pc:picChg chg="add mod ord">
          <ac:chgData name="Austin Francis" userId="d9206161-76a2-4d0d-bb71-2bac416203d9" providerId="ADAL" clId="{C9F67DDB-6E7D-4F92-A512-324E99DCF1EE}" dt="2024-10-29T03:06:04.820" v="292" actId="1076"/>
          <ac:picMkLst>
            <pc:docMk/>
            <pc:sldMk cId="3138288309" sldId="545"/>
            <ac:picMk id="5" creationId="{AECE5564-DD8D-6F61-7724-D9E38310A252}"/>
          </ac:picMkLst>
        </pc:picChg>
      </pc:sldChg>
      <pc:sldChg chg="del">
        <pc:chgData name="Austin Francis" userId="d9206161-76a2-4d0d-bb71-2bac416203d9" providerId="ADAL" clId="{C9F67DDB-6E7D-4F92-A512-324E99DCF1EE}" dt="2024-10-29T02:56:49.190" v="229" actId="2696"/>
        <pc:sldMkLst>
          <pc:docMk/>
          <pc:sldMk cId="1016115069" sldId="546"/>
        </pc:sldMkLst>
      </pc:sldChg>
      <pc:sldChg chg="addSp modSp new mod modNotesTx">
        <pc:chgData name="Austin Francis" userId="d9206161-76a2-4d0d-bb71-2bac416203d9" providerId="ADAL" clId="{C9F67DDB-6E7D-4F92-A512-324E99DCF1EE}" dt="2024-10-29T13:11:54.425" v="510"/>
        <pc:sldMkLst>
          <pc:docMk/>
          <pc:sldMk cId="1393657090" sldId="546"/>
        </pc:sldMkLst>
        <pc:picChg chg="add mod">
          <ac:chgData name="Austin Francis" userId="d9206161-76a2-4d0d-bb71-2bac416203d9" providerId="ADAL" clId="{C9F67DDB-6E7D-4F92-A512-324E99DCF1EE}" dt="2024-10-29T03:06:32.850" v="297" actId="1076"/>
          <ac:picMkLst>
            <pc:docMk/>
            <pc:sldMk cId="1393657090" sldId="546"/>
            <ac:picMk id="5" creationId="{7C532041-3843-A059-B571-5F77960B853A}"/>
          </ac:picMkLst>
        </pc:picChg>
      </pc:sldChg>
      <pc:sldChg chg="del">
        <pc:chgData name="Austin Francis" userId="d9206161-76a2-4d0d-bb71-2bac416203d9" providerId="ADAL" clId="{C9F67DDB-6E7D-4F92-A512-324E99DCF1EE}" dt="2024-10-29T02:56:51.398" v="230" actId="2696"/>
        <pc:sldMkLst>
          <pc:docMk/>
          <pc:sldMk cId="630074251" sldId="547"/>
        </pc:sldMkLst>
      </pc:sldChg>
      <pc:sldChg chg="addSp modSp new mod modNotesTx">
        <pc:chgData name="Austin Francis" userId="d9206161-76a2-4d0d-bb71-2bac416203d9" providerId="ADAL" clId="{C9F67DDB-6E7D-4F92-A512-324E99DCF1EE}" dt="2024-10-29T13:22:18.550" v="528" actId="20577"/>
        <pc:sldMkLst>
          <pc:docMk/>
          <pc:sldMk cId="3296791921" sldId="547"/>
        </pc:sldMkLst>
        <pc:picChg chg="add mod">
          <ac:chgData name="Austin Francis" userId="d9206161-76a2-4d0d-bb71-2bac416203d9" providerId="ADAL" clId="{C9F67DDB-6E7D-4F92-A512-324E99DCF1EE}" dt="2024-10-29T03:07:05.170" v="302" actId="1076"/>
          <ac:picMkLst>
            <pc:docMk/>
            <pc:sldMk cId="3296791921" sldId="547"/>
            <ac:picMk id="5" creationId="{B468F189-E398-255F-FDB7-4DC8B2D50899}"/>
          </ac:picMkLst>
        </pc:picChg>
      </pc:sldChg>
      <pc:sldChg chg="addSp modSp new mod modNotesTx">
        <pc:chgData name="Austin Francis" userId="d9206161-76a2-4d0d-bb71-2bac416203d9" providerId="ADAL" clId="{C9F67DDB-6E7D-4F92-A512-324E99DCF1EE}" dt="2024-10-29T13:24:38.486" v="550" actId="20577"/>
        <pc:sldMkLst>
          <pc:docMk/>
          <pc:sldMk cId="1357993590" sldId="548"/>
        </pc:sldMkLst>
        <pc:picChg chg="add mod">
          <ac:chgData name="Austin Francis" userId="d9206161-76a2-4d0d-bb71-2bac416203d9" providerId="ADAL" clId="{C9F67DDB-6E7D-4F92-A512-324E99DCF1EE}" dt="2024-10-29T03:07:35.019" v="307" actId="1076"/>
          <ac:picMkLst>
            <pc:docMk/>
            <pc:sldMk cId="1357993590" sldId="548"/>
            <ac:picMk id="5" creationId="{E7B35DA6-6A21-D877-87A1-E82FF39C5B60}"/>
          </ac:picMkLst>
        </pc:picChg>
      </pc:sldChg>
      <pc:sldChg chg="del">
        <pc:chgData name="Austin Francis" userId="d9206161-76a2-4d0d-bb71-2bac416203d9" providerId="ADAL" clId="{C9F67DDB-6E7D-4F92-A512-324E99DCF1EE}" dt="2024-10-29T02:56:53.720" v="231" actId="2696"/>
        <pc:sldMkLst>
          <pc:docMk/>
          <pc:sldMk cId="3594972290" sldId="548"/>
        </pc:sldMkLst>
      </pc:sldChg>
      <pc:sldChg chg="del">
        <pc:chgData name="Austin Francis" userId="d9206161-76a2-4d0d-bb71-2bac416203d9" providerId="ADAL" clId="{C9F67DDB-6E7D-4F92-A512-324E99DCF1EE}" dt="2024-10-29T02:56:56.330" v="232" actId="2696"/>
        <pc:sldMkLst>
          <pc:docMk/>
          <pc:sldMk cId="112088277" sldId="549"/>
        </pc:sldMkLst>
      </pc:sldChg>
      <pc:sldChg chg="addSp delSp modSp new mod modNotesTx">
        <pc:chgData name="Austin Francis" userId="d9206161-76a2-4d0d-bb71-2bac416203d9" providerId="ADAL" clId="{C9F67DDB-6E7D-4F92-A512-324E99DCF1EE}" dt="2024-10-29T13:26:51.019" v="567" actId="20577"/>
        <pc:sldMkLst>
          <pc:docMk/>
          <pc:sldMk cId="3393607739" sldId="549"/>
        </pc:sldMkLst>
        <pc:spChg chg="del">
          <ac:chgData name="Austin Francis" userId="d9206161-76a2-4d0d-bb71-2bac416203d9" providerId="ADAL" clId="{C9F67DDB-6E7D-4F92-A512-324E99DCF1EE}" dt="2024-10-29T03:09:13.735" v="309" actId="22"/>
          <ac:spMkLst>
            <pc:docMk/>
            <pc:sldMk cId="3393607739" sldId="549"/>
            <ac:spMk id="3" creationId="{75CF063A-47C7-ED38-686B-67B9D8ED8B20}"/>
          </ac:spMkLst>
        </pc:spChg>
        <pc:picChg chg="add mod ord">
          <ac:chgData name="Austin Francis" userId="d9206161-76a2-4d0d-bb71-2bac416203d9" providerId="ADAL" clId="{C9F67DDB-6E7D-4F92-A512-324E99DCF1EE}" dt="2024-10-29T03:09:23.426" v="312" actId="1076"/>
          <ac:picMkLst>
            <pc:docMk/>
            <pc:sldMk cId="3393607739" sldId="549"/>
            <ac:picMk id="5" creationId="{A4C09BE5-C308-9A56-228E-9504F99AAA70}"/>
          </ac:picMkLst>
        </pc:picChg>
      </pc:sldChg>
      <pc:sldChg chg="new del">
        <pc:chgData name="Austin Francis" userId="d9206161-76a2-4d0d-bb71-2bac416203d9" providerId="ADAL" clId="{C9F67DDB-6E7D-4F92-A512-324E99DCF1EE}" dt="2024-10-29T05:40:38.811" v="419" actId="2696"/>
        <pc:sldMkLst>
          <pc:docMk/>
          <pc:sldMk cId="497836087" sldId="550"/>
        </pc:sldMkLst>
      </pc:sldChg>
      <pc:sldChg chg="del">
        <pc:chgData name="Austin Francis" userId="d9206161-76a2-4d0d-bb71-2bac416203d9" providerId="ADAL" clId="{C9F67DDB-6E7D-4F92-A512-324E99DCF1EE}" dt="2024-10-29T02:56:59.450" v="233" actId="2696"/>
        <pc:sldMkLst>
          <pc:docMk/>
          <pc:sldMk cId="4081722280" sldId="550"/>
        </pc:sldMkLst>
      </pc:sldChg>
      <pc:sldChg chg="del">
        <pc:chgData name="Austin Francis" userId="d9206161-76a2-4d0d-bb71-2bac416203d9" providerId="ADAL" clId="{C9F67DDB-6E7D-4F92-A512-324E99DCF1EE}" dt="2024-10-29T02:54:26.616" v="198" actId="2696"/>
        <pc:sldMkLst>
          <pc:docMk/>
          <pc:sldMk cId="2963026560" sldId="551"/>
        </pc:sldMkLst>
      </pc:sldChg>
      <pc:sldChg chg="del">
        <pc:chgData name="Austin Francis" userId="d9206161-76a2-4d0d-bb71-2bac416203d9" providerId="ADAL" clId="{C9F67DDB-6E7D-4F92-A512-324E99DCF1EE}" dt="2024-10-29T02:57:03.220" v="234" actId="2696"/>
        <pc:sldMkLst>
          <pc:docMk/>
          <pc:sldMk cId="330852319" sldId="552"/>
        </pc:sldMkLst>
      </pc:sldChg>
      <pc:sldChg chg="del">
        <pc:chgData name="Austin Francis" userId="d9206161-76a2-4d0d-bb71-2bac416203d9" providerId="ADAL" clId="{C9F67DDB-6E7D-4F92-A512-324E99DCF1EE}" dt="2024-10-29T02:51:32.469" v="175" actId="47"/>
        <pc:sldMkLst>
          <pc:docMk/>
          <pc:sldMk cId="2394893422" sldId="5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10/28/2024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authors aim to answer a central question: </a:t>
            </a:r>
            <a:r>
              <a:rPr lang="en-US" b="1" dirty="0"/>
              <a:t>When are companies likely to acquire other companies that are in the same production chain, and how does the stage of innovation influence this?</a:t>
            </a:r>
          </a:p>
          <a:p>
            <a:pPr marL="171450" indent="-171450">
              <a:buFont typeface="Arial" panose="020B0604020202020204" pitchFamily="34" charset="0"/>
              <a:buChar char="•"/>
            </a:pPr>
            <a:endParaRPr lang="en-US" b="1" dirty="0"/>
          </a:p>
          <a:p>
            <a:r>
              <a:rPr lang="en-US" dirty="0"/>
              <a:t>The main question is: "Does the stage of a company’s innovation (early vs. fully developed) affect its likelihood of being vertically acquired by another company?“</a:t>
            </a:r>
          </a:p>
          <a:p>
            <a:endParaRPr lang="en-US" dirty="0"/>
          </a:p>
          <a:p>
            <a:pPr>
              <a:buFont typeface="Arial" panose="020B0604020202020204" pitchFamily="34" charset="0"/>
              <a:buChar char="•"/>
            </a:pPr>
            <a:r>
              <a:rPr lang="en-US" b="1" dirty="0"/>
              <a:t>Why it matters</a:t>
            </a:r>
            <a:r>
              <a:rPr lang="en-US" dirty="0"/>
              <a:t>: Companies often want to control their supply chains or distribution channels, but they also want to make sure that acquisition won’t mess up the target company’s innovation process or make it hard to keep creative people around.</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Companies with early-stage (unrealized) innovation are </a:t>
            </a:r>
            <a:r>
              <a:rPr lang="en-US" b="1" dirty="0"/>
              <a:t>less likely</a:t>
            </a:r>
            <a:r>
              <a:rPr lang="en-US" dirty="0"/>
              <a:t> to be acquired. This is because early innovation depends heavily on the people working on it, and if these people leave or their work is disrupted by an acquisition, the innovation could stall.</a:t>
            </a:r>
          </a:p>
          <a:p>
            <a:endParaRPr lang="en-US" dirty="0"/>
          </a:p>
          <a:p>
            <a:r>
              <a:rPr lang="en-US" dirty="0"/>
              <a:t>Companies with mature, patented (realized) innovation are </a:t>
            </a:r>
            <a:r>
              <a:rPr lang="en-US" b="1" dirty="0"/>
              <a:t>more likely</a:t>
            </a:r>
            <a:r>
              <a:rPr lang="en-US" dirty="0"/>
              <a:t> to be acquired. Once an idea is patented, the risks of losing the innovation or key personnel decrease, and the acquirer can focus on bringing the product to market without much disruption.</a:t>
            </a:r>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303408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Analyzing </a:t>
            </a:r>
            <a:r>
              <a:rPr lang="en-US" b="1" dirty="0"/>
              <a:t>company product descriptions</a:t>
            </a:r>
            <a:r>
              <a:rPr lang="en-US" dirty="0"/>
              <a:t> from regulatory filings to see how similar they were to each other. For example, Tesla might mention batteries, electronics, and software in its reports, which would link it to companies in those fields.</a:t>
            </a:r>
          </a:p>
          <a:p>
            <a:endParaRPr lang="en-US" dirty="0"/>
          </a:p>
          <a:p>
            <a:r>
              <a:rPr lang="en-US" b="1" dirty="0"/>
              <a:t>Matching firms</a:t>
            </a:r>
            <a:r>
              <a:rPr lang="en-US" dirty="0"/>
              <a:t> with each other based on these similarities. They used text-based metrics, which is just a fancy way of saying they looked at the words companies used to describe themselves and identified relationships based on shared product descriptions.</a:t>
            </a:r>
          </a:p>
          <a:p>
            <a:endParaRPr lang="en-US" dirty="0"/>
          </a:p>
          <a:p>
            <a:r>
              <a:rPr lang="en-US" dirty="0"/>
              <a:t>Once they had these relationships mapped out, they looked at actual acquisition data to see which types of companies were more likely to acquire or be acquired.</a:t>
            </a:r>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a:p>
        </p:txBody>
      </p:sp>
    </p:spTree>
    <p:extLst>
      <p:ext uri="{BB962C8B-B14F-4D97-AF65-F5344CB8AC3E}">
        <p14:creationId xmlns:p14="http://schemas.microsoft.com/office/powerpoint/2010/main" val="3662784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2253414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text-based network of vertically related firms is built by analyzing the words companies use to describe their products in official reports. Here’s how it works, simply:</a:t>
            </a:r>
          </a:p>
          <a:p>
            <a:pPr>
              <a:buFont typeface="+mj-lt"/>
              <a:buAutoNum type="arabicPeriod"/>
            </a:pPr>
            <a:r>
              <a:rPr lang="en-US" b="1" dirty="0"/>
              <a:t>Collect Product Descriptions</a:t>
            </a:r>
            <a:r>
              <a:rPr lang="en-US" dirty="0"/>
              <a:t>: The method gathers descriptions from companies’ filings (like 10-K reports) where they talk about their products and services.</a:t>
            </a:r>
          </a:p>
          <a:p>
            <a:pPr>
              <a:buFont typeface="+mj-lt"/>
              <a:buAutoNum type="arabicPeriod"/>
            </a:pPr>
            <a:r>
              <a:rPr lang="en-US" b="1" dirty="0"/>
              <a:t>Match with BEA Product Vocabulary</a:t>
            </a:r>
            <a:r>
              <a:rPr lang="en-US" dirty="0"/>
              <a:t>: Using a standardized vocabulary from the Bureau of Economic Analysis (BEA), which categorizes industries, the analysis identifies words that link different companies based on shared or related product terms.</a:t>
            </a:r>
          </a:p>
          <a:p>
            <a:pPr>
              <a:buFont typeface="+mj-lt"/>
              <a:buAutoNum type="arabicPeriod"/>
            </a:pPr>
            <a:r>
              <a:rPr lang="en-US" b="1" dirty="0"/>
              <a:t>Identify Vertical Relationships</a:t>
            </a:r>
            <a:r>
              <a:rPr lang="en-US" dirty="0"/>
              <a:t>: If two companies have product descriptions that match or overlap in ways that suggest one could supply or complement the other, they’re identified as "vertically related." This creates a network showing potential supplier-customer connections between firms.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1902090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 is designed to </a:t>
            </a:r>
            <a:r>
              <a:rPr lang="en-US" b="1" dirty="0"/>
              <a:t>validate the way this study identifies "vertically related" firms</a:t>
            </a:r>
            <a:r>
              <a:rPr lang="en-US" dirty="0"/>
              <a:t>.</a:t>
            </a:r>
          </a:p>
          <a:p>
            <a:endParaRPr lang="en-US" dirty="0"/>
          </a:p>
          <a:p>
            <a:r>
              <a:rPr lang="en-US" dirty="0"/>
              <a:t> It compares the study’s new </a:t>
            </a:r>
            <a:r>
              <a:rPr lang="en-US" b="1" dirty="0"/>
              <a:t>text-based method</a:t>
            </a:r>
            <a:r>
              <a:rPr lang="en-US" dirty="0"/>
              <a:t> of finding vertical relationships with the </a:t>
            </a:r>
            <a:r>
              <a:rPr lang="en-US" b="1" dirty="0"/>
              <a:t>traditional NAICS classification</a:t>
            </a:r>
            <a:r>
              <a:rPr lang="en-US" dirty="0"/>
              <a:t> method, which groups firms based on standard industry codes.</a:t>
            </a:r>
          </a:p>
          <a:p>
            <a:endParaRPr lang="en-US" dirty="0"/>
          </a:p>
          <a:p>
            <a:r>
              <a:rPr lang="en-US" dirty="0"/>
              <a:t>The </a:t>
            </a:r>
            <a:r>
              <a:rPr lang="en-US" b="1" dirty="0"/>
              <a:t>text-based method finds many more pairs</a:t>
            </a:r>
            <a:r>
              <a:rPr lang="en-US" dirty="0"/>
              <a:t> as vertically related than the NAICS-based method. This suggests the text-based method identifies more nuanced or specific relationships.</a:t>
            </a:r>
          </a:p>
          <a:p>
            <a:endParaRPr lang="en-US" b="1" dirty="0"/>
          </a:p>
          <a:p>
            <a:r>
              <a:rPr lang="en-US" b="1" dirty="0"/>
              <a:t>Overlap is low</a:t>
            </a:r>
            <a:r>
              <a:rPr lang="en-US" dirty="0"/>
              <a:t> between the two methods (e.g., only 10.59% overlap in the 10% most related pairs), which means the text-based method is identifying relationships that NAICS might miss.</a:t>
            </a:r>
          </a:p>
          <a:p>
            <a:endParaRPr lang="en-US" dirty="0"/>
          </a:p>
          <a:p>
            <a:r>
              <a:rPr lang="en-US" dirty="0"/>
              <a:t>The study’s text-based method </a:t>
            </a:r>
            <a:r>
              <a:rPr lang="en-US" b="1" dirty="0"/>
              <a:t>performs better at identifying real customer-supplier relationships</a:t>
            </a:r>
            <a:r>
              <a:rPr lang="en-US" dirty="0"/>
              <a:t>, as shown by overlap with real-world supplier-customer data (last rows). This supports the idea that the text-based method is a good tool for identifying potential vertical relationships.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2393189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 evaluates the outcomes of </a:t>
            </a:r>
            <a:r>
              <a:rPr lang="en-US" b="1" dirty="0"/>
              <a:t>vertical vs. non-vertical acquisitions</a:t>
            </a:r>
            <a:r>
              <a:rPr lang="en-US" dirty="0"/>
              <a:t> and checks if the study’s </a:t>
            </a:r>
            <a:r>
              <a:rPr lang="en-US" b="1" dirty="0"/>
              <a:t>text-based method</a:t>
            </a:r>
            <a:r>
              <a:rPr lang="en-US" dirty="0"/>
              <a:t> for identifying vertical relationships makes sense by looking at </a:t>
            </a:r>
            <a:r>
              <a:rPr lang="en-US" b="1" dirty="0"/>
              <a:t>real-world effects on firms’ integration mentions and stock returns</a:t>
            </a:r>
            <a:r>
              <a:rPr lang="en-US" dirty="0"/>
              <a:t>.</a:t>
            </a:r>
          </a:p>
          <a:p>
            <a:endParaRPr lang="en-US" dirty="0"/>
          </a:p>
          <a:p>
            <a:r>
              <a:rPr lang="en-US" b="1" dirty="0"/>
              <a:t>1. Purpose of Table 4</a:t>
            </a:r>
          </a:p>
          <a:p>
            <a:pPr>
              <a:buFont typeface="Arial" panose="020B0604020202020204" pitchFamily="34" charset="0"/>
              <a:buChar char="•"/>
            </a:pPr>
            <a:r>
              <a:rPr lang="en-US" dirty="0"/>
              <a:t>Table 4 aims to show that </a:t>
            </a:r>
            <a:r>
              <a:rPr lang="en-US" b="1" dirty="0"/>
              <a:t>vertical acquisitions</a:t>
            </a:r>
            <a:r>
              <a:rPr lang="en-US" dirty="0"/>
              <a:t> (companies buying their suppliers or buyers) are </a:t>
            </a:r>
            <a:r>
              <a:rPr lang="en-US" b="1" dirty="0"/>
              <a:t>meaningfully different</a:t>
            </a:r>
            <a:r>
              <a:rPr lang="en-US" dirty="0"/>
              <a:t> from non-vertical acquisitions.</a:t>
            </a:r>
          </a:p>
          <a:p>
            <a:pPr>
              <a:buFont typeface="Arial" panose="020B0604020202020204" pitchFamily="34" charset="0"/>
              <a:buChar char="•"/>
            </a:pPr>
            <a:r>
              <a:rPr lang="en-US" dirty="0"/>
              <a:t>It does this by looking at what happens to firms after these acquisitions in two areas: their </a:t>
            </a:r>
            <a:r>
              <a:rPr lang="en-US" b="1" dirty="0"/>
              <a:t>language in official reports</a:t>
            </a:r>
            <a:r>
              <a:rPr lang="en-US" dirty="0"/>
              <a:t> and </a:t>
            </a:r>
            <a:r>
              <a:rPr lang="en-US" b="1" dirty="0"/>
              <a:t>stock market reactions</a:t>
            </a:r>
            <a:r>
              <a:rPr lang="en-US" dirty="0"/>
              <a:t>.</a:t>
            </a:r>
          </a:p>
          <a:p>
            <a:pPr>
              <a:buFont typeface="Arial" panose="020B0604020202020204" pitchFamily="34" charset="0"/>
              <a:buChar char="•"/>
            </a:pPr>
            <a:endParaRPr lang="en-US" dirty="0"/>
          </a:p>
          <a:p>
            <a:pPr>
              <a:buFont typeface="Arial" panose="020B0604020202020204" pitchFamily="34" charset="0"/>
              <a:buChar char="•"/>
            </a:pPr>
            <a:r>
              <a:rPr lang="en-US" b="1" dirty="0"/>
              <a:t>Panel A: Sample Breakdown</a:t>
            </a:r>
            <a:r>
              <a:rPr lang="en-US" dirty="0"/>
              <a:t> – This part shows how many acquisitions were classified as vertical or non-vertical using both methods (text-based and NAICS). It confirms that the text-based method finds more vertical deals (about 39% of deals are vertical vs. 13% using NAICS).</a:t>
            </a:r>
          </a:p>
          <a:p>
            <a:pPr>
              <a:buFont typeface="Arial" panose="020B0604020202020204" pitchFamily="34" charset="0"/>
              <a:buChar char="•"/>
            </a:pPr>
            <a:endParaRPr lang="en-US" b="1" dirty="0"/>
          </a:p>
          <a:p>
            <a:pPr>
              <a:buFont typeface="Arial" panose="020B0604020202020204" pitchFamily="34" charset="0"/>
              <a:buChar char="•"/>
            </a:pPr>
            <a:r>
              <a:rPr lang="en-US" b="1" dirty="0"/>
              <a:t>Panel B: Mentions of Vertical Integration</a:t>
            </a:r>
            <a:r>
              <a:rPr lang="en-US" dirty="0"/>
              <a:t> – This measures how often firms mention “vertical integration” in their reports after an acquisition. Firms that did text-identified vertical acquisitions </a:t>
            </a:r>
            <a:r>
              <a:rPr lang="en-US" b="1" dirty="0"/>
              <a:t>increased mentions of vertical integration significantly</a:t>
            </a:r>
            <a:r>
              <a:rPr lang="en-US" dirty="0"/>
              <a:t>, which wasn’t as evident with NAICS-identified vertical acquisitions. This suggests the text-based method captures real integration intentions.</a:t>
            </a:r>
          </a:p>
          <a:p>
            <a:pPr>
              <a:buFont typeface="Arial" panose="020B0604020202020204" pitchFamily="34" charset="0"/>
              <a:buChar char="•"/>
            </a:pPr>
            <a:endParaRPr lang="en-US" b="1" dirty="0"/>
          </a:p>
          <a:p>
            <a:pPr>
              <a:buFont typeface="Arial" panose="020B0604020202020204" pitchFamily="34" charset="0"/>
              <a:buChar char="•"/>
            </a:pPr>
            <a:r>
              <a:rPr lang="en-US" b="1" dirty="0"/>
              <a:t>Panel C: Stock Market Reaction (CARs)</a:t>
            </a:r>
            <a:r>
              <a:rPr lang="en-US" dirty="0"/>
              <a:t> – This part looks at </a:t>
            </a:r>
            <a:r>
              <a:rPr lang="en-US" b="1" dirty="0"/>
              <a:t>cumulative abnormal returns (CARs)</a:t>
            </a:r>
            <a:r>
              <a:rPr lang="en-US" dirty="0"/>
              <a:t>, or how the stock prices reacted to the acquisition news. </a:t>
            </a:r>
            <a:r>
              <a:rPr lang="en-US" b="1" dirty="0"/>
              <a:t>Text-identified vertical acquisitions had higher stock returns</a:t>
            </a:r>
            <a:r>
              <a:rPr lang="en-US" dirty="0"/>
              <a:t> (0.86% for text-based vs. 0.40% for NAICS), suggesting investors view these acquisitions positively.</a:t>
            </a:r>
          </a:p>
          <a:p>
            <a:pPr>
              <a:buFont typeface="Arial" panose="020B0604020202020204" pitchFamily="34" charset="0"/>
              <a:buChar char="•"/>
            </a:pPr>
            <a:endParaRPr lang="en-US" b="1" dirty="0"/>
          </a:p>
          <a:p>
            <a:pPr>
              <a:buFont typeface="Arial" panose="020B0604020202020204" pitchFamily="34" charset="0"/>
              <a:buChar char="•"/>
            </a:pPr>
            <a:r>
              <a:rPr lang="en-US" b="1" dirty="0"/>
              <a:t>Panel D: Examples of Vertical Deals</a:t>
            </a:r>
            <a:r>
              <a:rPr lang="en-US" dirty="0"/>
              <a:t> – Here, they provide specific examples of vertical acquisitions identified by the text-based method, showing real companies and their acquisition partners.</a:t>
            </a:r>
          </a:p>
          <a:p>
            <a:pPr>
              <a:buFont typeface="Arial" panose="020B0604020202020204" pitchFamily="34" charset="0"/>
              <a:buChar char="•"/>
            </a:pPr>
            <a:endParaRPr lang="en-US" dirty="0"/>
          </a:p>
          <a:p>
            <a:pPr>
              <a:buFont typeface="Arial" panose="020B0604020202020204" pitchFamily="34" charset="0"/>
              <a:buChar char="•"/>
            </a:pPr>
            <a:r>
              <a:rPr lang="en-US" dirty="0"/>
              <a:t>The </a:t>
            </a:r>
            <a:r>
              <a:rPr lang="en-US" b="1" dirty="0"/>
              <a:t>text-based method captures more vertical acquisitions</a:t>
            </a:r>
            <a:r>
              <a:rPr lang="en-US" dirty="0"/>
              <a:t> than NAICS, and these acquisitions are followed by a </a:t>
            </a:r>
            <a:r>
              <a:rPr lang="en-US" b="1" dirty="0"/>
              <a:t>clear increase in vertical integration mentions</a:t>
            </a:r>
            <a:r>
              <a:rPr lang="en-US" dirty="0"/>
              <a:t> in company reports.</a:t>
            </a:r>
          </a:p>
          <a:p>
            <a:pPr>
              <a:buFont typeface="Arial" panose="020B0604020202020204" pitchFamily="34" charset="0"/>
              <a:buChar char="•"/>
            </a:pPr>
            <a:endParaRPr lang="en-US" dirty="0"/>
          </a:p>
          <a:p>
            <a:pPr>
              <a:buFont typeface="Arial" panose="020B0604020202020204" pitchFamily="34" charset="0"/>
              <a:buChar char="•"/>
            </a:pPr>
            <a:r>
              <a:rPr lang="en-US" b="1" dirty="0"/>
              <a:t>Stock market reactions (CARs) are higher</a:t>
            </a:r>
            <a:r>
              <a:rPr lang="en-US" dirty="0"/>
              <a:t> for text-identified vertical acquisitions, suggesting these are perceived as more value-adding.</a:t>
            </a:r>
          </a:p>
          <a:p>
            <a:pPr>
              <a:buFont typeface="Arial" panose="020B0604020202020204" pitchFamily="34" charset="0"/>
              <a:buChar char="•"/>
            </a:pPr>
            <a:endParaRPr lang="en-US" dirty="0"/>
          </a:p>
          <a:p>
            <a:pPr>
              <a:buFont typeface="Arial" panose="020B0604020202020204" pitchFamily="34" charset="0"/>
              <a:buChar char="•"/>
            </a:pPr>
            <a:r>
              <a:rPr lang="en-US" dirty="0"/>
              <a:t>Overall, the text-based method </a:t>
            </a:r>
            <a:r>
              <a:rPr lang="en-US" b="1" dirty="0"/>
              <a:t>better identifies meaningful vertical relationships</a:t>
            </a:r>
            <a:r>
              <a:rPr lang="en-US" dirty="0"/>
              <a:t> and acquisitions that are seen as beneficial by both firms and investor</a:t>
            </a:r>
          </a:p>
          <a:p>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3715243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R&amp;D/sales and patents/assets vary widely, suggesting firms’ innovation strategies differ significantly in intensity.</a:t>
            </a:r>
          </a:p>
          <a:p>
            <a:endParaRPr lang="en-US" dirty="0"/>
          </a:p>
          <a:p>
            <a:r>
              <a:rPr lang="en-US" dirty="0"/>
              <a:t>The correlation between R&amp;D/sales and patents/assets is moderate, indicating a diverse relationship between innovation expenditure and output.</a:t>
            </a:r>
          </a:p>
          <a:p>
            <a:endParaRPr lang="en-US" dirty="0"/>
          </a:p>
          <a:p>
            <a:r>
              <a:rPr lang="en-US" b="1" dirty="0"/>
              <a:t>Notable number</a:t>
            </a:r>
            <a:r>
              <a:rPr lang="en-US" dirty="0"/>
              <a:t>: Mean R&amp;D/sales ratio of 0.108​.</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3928007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Table 6: Vertical Acquisitions - Deal-Level Analysis</a:t>
            </a:r>
          </a:p>
          <a:p>
            <a:r>
              <a:rPr lang="en-US" dirty="0"/>
              <a:t>Table 6 investigates the </a:t>
            </a:r>
            <a:r>
              <a:rPr lang="en-US" b="1" dirty="0"/>
              <a:t>innovation characteristics of firms</a:t>
            </a:r>
            <a:r>
              <a:rPr lang="en-US" dirty="0"/>
              <a:t> involved in vertical vs. non-vertical acquisitions. It compares three groups of firms:</a:t>
            </a:r>
          </a:p>
          <a:p>
            <a:endParaRPr lang="en-US" dirty="0"/>
          </a:p>
          <a:p>
            <a:pPr>
              <a:buFont typeface="Arial" panose="020B0604020202020204" pitchFamily="34" charset="0"/>
              <a:buChar char="•"/>
            </a:pPr>
            <a:r>
              <a:rPr lang="en-US" b="1" dirty="0"/>
              <a:t>Vertically acquired firms</a:t>
            </a:r>
            <a:r>
              <a:rPr lang="en-US" dirty="0"/>
              <a:t> (companies acquired by another firm in the same supply chain),</a:t>
            </a:r>
          </a:p>
          <a:p>
            <a:pPr>
              <a:buFont typeface="Arial" panose="020B0604020202020204" pitchFamily="34" charset="0"/>
              <a:buChar char="•"/>
            </a:pPr>
            <a:r>
              <a:rPr lang="en-US" b="1" dirty="0"/>
              <a:t>Non-vertically acquired firms</a:t>
            </a:r>
            <a:r>
              <a:rPr lang="en-US" dirty="0"/>
              <a:t> (firms acquired by a company in a different part of the supply chain),</a:t>
            </a:r>
          </a:p>
          <a:p>
            <a:pPr>
              <a:buFont typeface="Arial" panose="020B0604020202020204" pitchFamily="34" charset="0"/>
              <a:buChar char="•"/>
            </a:pPr>
            <a:r>
              <a:rPr lang="en-US" b="1" dirty="0"/>
              <a:t>Non-merging firms</a:t>
            </a:r>
            <a:r>
              <a:rPr lang="en-US" dirty="0"/>
              <a:t> (companies that were not acquired at all).</a:t>
            </a:r>
          </a:p>
          <a:p>
            <a:pPr>
              <a:buFont typeface="Arial" panose="020B0604020202020204" pitchFamily="34" charset="0"/>
              <a:buChar char="•"/>
            </a:pPr>
            <a:endParaRPr lang="en-US" dirty="0"/>
          </a:p>
          <a:p>
            <a:r>
              <a:rPr lang="en-US" b="1" dirty="0"/>
              <a:t>1. Purpose of Table 6</a:t>
            </a:r>
          </a:p>
          <a:p>
            <a:pPr>
              <a:buFont typeface="Arial" panose="020B0604020202020204" pitchFamily="34" charset="0"/>
              <a:buChar char="•"/>
            </a:pPr>
            <a:r>
              <a:rPr lang="en-US" dirty="0"/>
              <a:t>The table examines whether vertically acquired firms have different </a:t>
            </a:r>
            <a:r>
              <a:rPr lang="en-US" b="1" dirty="0"/>
              <a:t>innovation profiles</a:t>
            </a:r>
            <a:r>
              <a:rPr lang="en-US" dirty="0"/>
              <a:t> compared to non-vertically acquired or non-merging firms.</a:t>
            </a:r>
          </a:p>
          <a:p>
            <a:pPr>
              <a:buFont typeface="Arial" panose="020B0604020202020204" pitchFamily="34" charset="0"/>
              <a:buChar char="•"/>
            </a:pPr>
            <a:r>
              <a:rPr lang="en-US" dirty="0"/>
              <a:t>It uses </a:t>
            </a:r>
            <a:r>
              <a:rPr lang="en-US" b="1" dirty="0"/>
              <a:t>R&amp;D/sales</a:t>
            </a:r>
            <a:r>
              <a:rPr lang="en-US" dirty="0"/>
              <a:t> as a proxy for early-stage, ongoing innovation and </a:t>
            </a:r>
            <a:r>
              <a:rPr lang="en-US" b="1" dirty="0"/>
              <a:t>patents/assets</a:t>
            </a:r>
            <a:r>
              <a:rPr lang="en-US" dirty="0"/>
              <a:t> as a measure of mature, realized innovation to see if these innovation characteristics influence acquisition likelihood in vertical transactions.</a:t>
            </a:r>
          </a:p>
          <a:p>
            <a:pPr>
              <a:buFont typeface="Arial" panose="020B0604020202020204" pitchFamily="34" charset="0"/>
              <a:buChar char="•"/>
            </a:pPr>
            <a:endParaRPr lang="en-US" dirty="0"/>
          </a:p>
          <a:p>
            <a:r>
              <a:rPr lang="en-US" b="1" dirty="0"/>
              <a:t>2. Explanation of Each Panel</a:t>
            </a:r>
          </a:p>
          <a:p>
            <a:pPr>
              <a:buFont typeface="Arial" panose="020B0604020202020204" pitchFamily="34" charset="0"/>
              <a:buChar char="•"/>
            </a:pPr>
            <a:r>
              <a:rPr lang="en-US" b="1" dirty="0"/>
              <a:t>Panel A (Whole Sample)</a:t>
            </a:r>
            <a:r>
              <a:rPr lang="en-US" dirty="0"/>
              <a:t>: This section compares the R&amp;D and patenting intensity across vertically acquired targets, non-vertically acquired targets, and non-merging firms.</a:t>
            </a:r>
          </a:p>
          <a:p>
            <a:pPr marL="742950" lvl="1" indent="-285750">
              <a:buFont typeface="Arial" panose="020B0604020202020204" pitchFamily="34" charset="0"/>
              <a:buChar char="•"/>
            </a:pPr>
            <a:r>
              <a:rPr lang="en-US" dirty="0"/>
              <a:t>It shows that </a:t>
            </a:r>
            <a:r>
              <a:rPr lang="en-US" b="1" dirty="0"/>
              <a:t>vertically acquired firms have lower R&amp;D intensity</a:t>
            </a:r>
            <a:r>
              <a:rPr lang="en-US" dirty="0"/>
              <a:t> (0.053) compared to non-vertically acquired firms (0.136) and non-merging firms (0.109). This suggests that firms in vertical acquisitions are typically past the early, innovation-heavy phase.</a:t>
            </a:r>
          </a:p>
          <a:p>
            <a:pPr marL="742950" lvl="1" indent="-285750">
              <a:buFont typeface="Arial" panose="020B0604020202020204" pitchFamily="34" charset="0"/>
              <a:buChar char="•"/>
            </a:pPr>
            <a:r>
              <a:rPr lang="en-US" b="1" dirty="0"/>
              <a:t>Patent intensity</a:t>
            </a:r>
            <a:r>
              <a:rPr lang="en-US" dirty="0"/>
              <a:t>, however, is slightly higher for vertically acquired targets (0.010) than for non-vertically acquired targets (0.009) and non-merging firms (0.008), indicating that vertically acquired firms often have more mature, patented innovations.</a:t>
            </a:r>
          </a:p>
          <a:p>
            <a:pPr>
              <a:buFont typeface="Arial" panose="020B0604020202020204" pitchFamily="34" charset="0"/>
              <a:buChar char="•"/>
            </a:pPr>
            <a:r>
              <a:rPr lang="en-US" b="1" dirty="0"/>
              <a:t>Panel B (Matched Targets)</a:t>
            </a:r>
            <a:r>
              <a:rPr lang="en-US" dirty="0"/>
              <a:t>: This section further refines the comparison by matching each acquisition target with a similar firm (matched by size, industry, and other factors) that wasn’t acquired recently.</a:t>
            </a:r>
          </a:p>
          <a:p>
            <a:pPr marL="742950" lvl="1" indent="-285750">
              <a:buFont typeface="Arial" panose="020B0604020202020204" pitchFamily="34" charset="0"/>
              <a:buChar char="•"/>
            </a:pPr>
            <a:r>
              <a:rPr lang="en-US" dirty="0"/>
              <a:t>Results here reinforce Panel A findings: </a:t>
            </a:r>
            <a:r>
              <a:rPr lang="en-US" b="1" dirty="0"/>
              <a:t>Vertically acquired targets have significantly lower R&amp;D intensity</a:t>
            </a:r>
            <a:r>
              <a:rPr lang="en-US" dirty="0"/>
              <a:t> (0.053) compared to matched, non-acquired firms (0.093).</a:t>
            </a:r>
          </a:p>
          <a:p>
            <a:pPr marL="742950" lvl="1" indent="-285750">
              <a:buFont typeface="Arial" panose="020B0604020202020204" pitchFamily="34" charset="0"/>
              <a:buChar char="•"/>
            </a:pPr>
            <a:r>
              <a:rPr lang="en-US" b="1" dirty="0"/>
              <a:t>Patent intensity remains higher</a:t>
            </a:r>
            <a:r>
              <a:rPr lang="en-US" dirty="0"/>
              <a:t> for vertically acquired targets compared to matched non-acquired firms, confirming the trend that firms with more established (patented) innovation are attractive targets for vertical acquisitions.</a:t>
            </a:r>
          </a:p>
          <a:p>
            <a:pPr>
              <a:buFont typeface="Arial" panose="020B0604020202020204" pitchFamily="34" charset="0"/>
              <a:buChar char="•"/>
            </a:pPr>
            <a:endParaRPr lang="en-US" dirty="0"/>
          </a:p>
          <a:p>
            <a:pPr>
              <a:buFont typeface="Arial" panose="020B0604020202020204" pitchFamily="34" charset="0"/>
              <a:buChar char="•"/>
            </a:pPr>
            <a:r>
              <a:rPr lang="en-US" b="1" dirty="0"/>
              <a:t>R&amp;D vs. Patent Intensity in Vertical Acquisitions</a:t>
            </a:r>
            <a:r>
              <a:rPr lang="en-US" dirty="0"/>
              <a:t>: Vertically acquired firms tend to have lower R&amp;D intensity, meaning they are likely beyond the early stages of innovation development, where control over innovation processes is more crucial.</a:t>
            </a:r>
          </a:p>
          <a:p>
            <a:pPr>
              <a:buFont typeface="Arial" panose="020B0604020202020204" pitchFamily="34" charset="0"/>
              <a:buChar char="•"/>
            </a:pPr>
            <a:endParaRPr lang="en-US" dirty="0"/>
          </a:p>
          <a:p>
            <a:pPr>
              <a:buFont typeface="Arial" panose="020B0604020202020204" pitchFamily="34" charset="0"/>
              <a:buChar char="•"/>
            </a:pPr>
            <a:r>
              <a:rPr lang="en-US" b="1" dirty="0"/>
              <a:t>Mature Innovation Drives Vertical Acquisitions</a:t>
            </a:r>
            <a:r>
              <a:rPr lang="en-US" dirty="0"/>
              <a:t>: Higher patent intensity in vertically acquired targets suggests that vertical acquisitions are favored when a firm’s innovation is mature and legally protected, reducing risks associated with losing control of innovation.</a:t>
            </a:r>
          </a:p>
          <a:p>
            <a:pPr>
              <a:buFont typeface="Arial" panose="020B0604020202020204" pitchFamily="34" charset="0"/>
              <a:buChar char="•"/>
            </a:pPr>
            <a:endParaRPr lang="en-US" dirty="0"/>
          </a:p>
          <a:p>
            <a:pPr>
              <a:buFont typeface="Arial" panose="020B0604020202020204" pitchFamily="34" charset="0"/>
              <a:buChar char="•"/>
            </a:pPr>
            <a:r>
              <a:rPr lang="en-US" b="1" dirty="0"/>
              <a:t>Consistent Results Across Sample and Matched Comparisons</a:t>
            </a:r>
            <a:r>
              <a:rPr lang="en-US" dirty="0"/>
              <a:t>: The pattern holds even when acquisition targets are matched to similar firms, confirming the robustness of the findings.</a:t>
            </a:r>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3963889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tests the study’s core hypothesis: </a:t>
            </a:r>
            <a:r>
              <a:rPr lang="en-US" b="1" dirty="0"/>
              <a:t>firms with ongoing innovation (high R&amp;D) are less likely to be vertically acquired</a:t>
            </a:r>
            <a:r>
              <a:rPr lang="en-US" dirty="0"/>
              <a:t>, while </a:t>
            </a:r>
            <a:r>
              <a:rPr lang="en-US" b="1" dirty="0"/>
              <a:t>firms with mature, protected innovations (high patent intensity) are more likely to be acquired</a:t>
            </a:r>
            <a:r>
              <a:rPr lang="en-US" dirty="0"/>
              <a:t>.</a:t>
            </a:r>
          </a:p>
          <a:p>
            <a:endParaRPr lang="en-US" dirty="0"/>
          </a:p>
          <a:p>
            <a:r>
              <a:rPr lang="en-US" dirty="0"/>
              <a:t>Table 7 also checks whether these results hold up under different statistical models and after including a variety of control variables.</a:t>
            </a:r>
          </a:p>
          <a:p>
            <a:endParaRPr lang="en-US" dirty="0"/>
          </a:p>
          <a:p>
            <a:r>
              <a:rPr lang="en-US" b="1" dirty="0"/>
              <a:t>2. Explanation of Each Column</a:t>
            </a:r>
          </a:p>
          <a:p>
            <a:pPr>
              <a:buFont typeface="Arial" panose="020B0604020202020204" pitchFamily="34" charset="0"/>
              <a:buChar char="•"/>
            </a:pPr>
            <a:r>
              <a:rPr lang="en-US" b="1" dirty="0"/>
              <a:t>Column 1 (Baseline)</a:t>
            </a:r>
            <a:r>
              <a:rPr lang="en-US" dirty="0"/>
              <a:t>: Shows the simple relationship between R&amp;D intensity, patent intensity, and vertical acquisition likelihood.</a:t>
            </a:r>
          </a:p>
          <a:p>
            <a:pPr marL="742950" lvl="1" indent="-285750">
              <a:buFont typeface="Arial" panose="020B0604020202020204" pitchFamily="34" charset="0"/>
              <a:buChar char="•"/>
            </a:pPr>
            <a:r>
              <a:rPr lang="en-US" b="1" dirty="0"/>
              <a:t>R&amp;D Intensity</a:t>
            </a:r>
            <a:r>
              <a:rPr lang="en-US" dirty="0"/>
              <a:t>: Negative coefficient (-0.247), meaning that high R&amp;D makes a firm less likely to be vertically acquired.</a:t>
            </a:r>
          </a:p>
          <a:p>
            <a:pPr marL="742950" lvl="1" indent="-285750">
              <a:buFont typeface="Arial" panose="020B0604020202020204" pitchFamily="34" charset="0"/>
              <a:buChar char="•"/>
            </a:pPr>
            <a:r>
              <a:rPr lang="en-US" b="1" dirty="0"/>
              <a:t>Patent Intensity</a:t>
            </a:r>
            <a:r>
              <a:rPr lang="en-US" dirty="0"/>
              <a:t>: Positive coefficient (0.063), showing that firms with more patents are more likely to be targeted for a vertical acquisition.</a:t>
            </a:r>
          </a:p>
          <a:p>
            <a:pPr>
              <a:buFont typeface="Arial" panose="020B0604020202020204" pitchFamily="34" charset="0"/>
              <a:buChar char="•"/>
            </a:pPr>
            <a:r>
              <a:rPr lang="en-US" b="1" dirty="0"/>
              <a:t>Column 2 (With Controls)</a:t>
            </a:r>
            <a:r>
              <a:rPr lang="en-US" dirty="0"/>
              <a:t>: Adds control variables like firm size, age, profitability, growth, and industry concentration to see if R&amp;D and patent intensity still matter.</a:t>
            </a:r>
          </a:p>
          <a:p>
            <a:pPr marL="742950" lvl="1" indent="-285750">
              <a:buFont typeface="Arial" panose="020B0604020202020204" pitchFamily="34" charset="0"/>
              <a:buChar char="•"/>
            </a:pPr>
            <a:r>
              <a:rPr lang="en-US" dirty="0"/>
              <a:t>R&amp;D intensity remains negative (-0.092), while patent intensity stays positive (0.112), reinforcing the main finding.</a:t>
            </a:r>
          </a:p>
          <a:p>
            <a:pPr>
              <a:buFont typeface="Arial" panose="020B0604020202020204" pitchFamily="34" charset="0"/>
              <a:buChar char="•"/>
            </a:pPr>
            <a:r>
              <a:rPr lang="en-US" b="1" dirty="0"/>
              <a:t>Columns 3–7</a:t>
            </a:r>
            <a:r>
              <a:rPr lang="en-US" dirty="0"/>
              <a:t>: These columns test different variations to ensure the results are robust:</a:t>
            </a:r>
          </a:p>
          <a:p>
            <a:pPr marL="742950" lvl="1" indent="-285750">
              <a:buFont typeface="Arial" panose="020B0604020202020204" pitchFamily="34" charset="0"/>
              <a:buChar char="•"/>
            </a:pPr>
            <a:r>
              <a:rPr lang="en-US" b="1" dirty="0"/>
              <a:t>Column 3</a:t>
            </a:r>
            <a:r>
              <a:rPr lang="en-US" dirty="0"/>
              <a:t>: Adds industry-year controls to adjust for broader industry trends over time.</a:t>
            </a:r>
          </a:p>
          <a:p>
            <a:pPr marL="742950" lvl="1" indent="-285750">
              <a:buFont typeface="Arial" panose="020B0604020202020204" pitchFamily="34" charset="0"/>
              <a:buChar char="•"/>
            </a:pPr>
            <a:r>
              <a:rPr lang="en-US" b="1" dirty="0"/>
              <a:t>Column 4</a:t>
            </a:r>
            <a:r>
              <a:rPr lang="en-US" dirty="0"/>
              <a:t>: Uses lagged values for R&amp;D and patenting intensity to see if past innovation affects acquisition likelihood.</a:t>
            </a:r>
          </a:p>
          <a:p>
            <a:pPr marL="742950" lvl="1" indent="-285750">
              <a:buFont typeface="Arial" panose="020B0604020202020204" pitchFamily="34" charset="0"/>
              <a:buChar char="•"/>
            </a:pPr>
            <a:r>
              <a:rPr lang="en-US" b="1" dirty="0"/>
              <a:t>Column 5</a:t>
            </a:r>
            <a:r>
              <a:rPr lang="en-US" dirty="0"/>
              <a:t>: Tests an alternative model type (linear probability model) instead of probit.</a:t>
            </a:r>
          </a:p>
          <a:p>
            <a:pPr marL="742950" lvl="1" indent="-285750">
              <a:buFont typeface="Arial" panose="020B0604020202020204" pitchFamily="34" charset="0"/>
              <a:buChar char="•"/>
            </a:pPr>
            <a:r>
              <a:rPr lang="en-US" b="1" dirty="0"/>
              <a:t>Column 6</a:t>
            </a:r>
            <a:r>
              <a:rPr lang="en-US" dirty="0"/>
              <a:t>: Measures R&amp;D and patenting intensity using mentions in firms’ regulatory filings instead of standard databases.</a:t>
            </a:r>
          </a:p>
          <a:p>
            <a:pPr marL="742950" lvl="1" indent="-285750">
              <a:buFont typeface="Arial" panose="020B0604020202020204" pitchFamily="34" charset="0"/>
              <a:buChar char="•"/>
            </a:pPr>
            <a:r>
              <a:rPr lang="en-US" b="1" dirty="0"/>
              <a:t>Column 7</a:t>
            </a:r>
            <a:r>
              <a:rPr lang="en-US" dirty="0"/>
              <a:t>: Uses industry averages rather than firm-specific data, showing that the trend holds at the industry level too.</a:t>
            </a:r>
          </a:p>
          <a:p>
            <a:endParaRPr lang="en-US" dirty="0"/>
          </a:p>
          <a:p>
            <a:r>
              <a:rPr lang="en-US" b="1" dirty="0"/>
              <a:t>3. Key Takeaways from Table 7</a:t>
            </a:r>
          </a:p>
          <a:p>
            <a:pPr>
              <a:buFont typeface="Arial" panose="020B0604020202020204" pitchFamily="34" charset="0"/>
              <a:buChar char="•"/>
            </a:pPr>
            <a:r>
              <a:rPr lang="en-US" b="1" dirty="0"/>
              <a:t>R&amp;D and Patent Intensity Show Opposite Effects</a:t>
            </a:r>
            <a:r>
              <a:rPr lang="en-US" dirty="0"/>
              <a:t>: R&amp;D intensity consistently has a negative impact on the probability of vertical acquisition, supporting the idea that firms with ongoing innovation prefer to stay independent. Patent intensity has a positive impact, meaning that firms with completed, legally protected innovations are more attractive for vertical acquisitions.</a:t>
            </a:r>
          </a:p>
          <a:p>
            <a:pPr>
              <a:buFont typeface="Arial" panose="020B0604020202020204" pitchFamily="34" charset="0"/>
              <a:buChar char="•"/>
            </a:pPr>
            <a:r>
              <a:rPr lang="en-US" b="1" dirty="0"/>
              <a:t>Robustness Across Models</a:t>
            </a:r>
            <a:r>
              <a:rPr lang="en-US" dirty="0"/>
              <a:t>: The relationship between R&amp;D, patent intensity, and acquisition likelihood holds across various model types and adjustments (e.g., including controls, using different time lags, and changing measurement methods).</a:t>
            </a:r>
          </a:p>
          <a:p>
            <a:pPr>
              <a:buFont typeface="Arial" panose="020B0604020202020204" pitchFamily="34" charset="0"/>
              <a:buChar char="•"/>
            </a:pPr>
            <a:r>
              <a:rPr lang="en-US" b="1" dirty="0"/>
              <a:t>Control Variables Also Matter</a:t>
            </a:r>
            <a:r>
              <a:rPr lang="en-US" dirty="0"/>
              <a:t>: Other factors like </a:t>
            </a:r>
            <a:r>
              <a:rPr lang="en-US" b="1" dirty="0"/>
              <a:t>firm size</a:t>
            </a:r>
            <a:r>
              <a:rPr lang="en-US" dirty="0"/>
              <a:t>, </a:t>
            </a:r>
            <a:r>
              <a:rPr lang="en-US" b="1" dirty="0"/>
              <a:t>age</a:t>
            </a:r>
            <a:r>
              <a:rPr lang="en-US" dirty="0"/>
              <a:t>, and </a:t>
            </a:r>
            <a:r>
              <a:rPr lang="en-US" b="1" dirty="0"/>
              <a:t>market-to-book ratio</a:t>
            </a:r>
            <a:r>
              <a:rPr lang="en-US" dirty="0"/>
              <a:t> (a measure of growth prospects) also influence the likelihood of vertical acquisition, but R&amp;D and patent intensity remain significant even when these controls are included.</a:t>
            </a:r>
          </a:p>
          <a:p>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17</a:t>
            </a:fld>
            <a:endParaRPr lang="en-US"/>
          </a:p>
        </p:txBody>
      </p:sp>
    </p:spTree>
    <p:extLst>
      <p:ext uri="{BB962C8B-B14F-4D97-AF65-F5344CB8AC3E}">
        <p14:creationId xmlns:p14="http://schemas.microsoft.com/office/powerpoint/2010/main" val="2803873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8 shows the </a:t>
            </a:r>
            <a:r>
              <a:rPr lang="en-US" b="1" dirty="0"/>
              <a:t>economic importance</a:t>
            </a:r>
            <a:r>
              <a:rPr lang="en-US" dirty="0"/>
              <a:t> of R&amp;D and patent intensity by looking at how a one-standard-deviation change in each variable impacts the probability of vertical acquisition.</a:t>
            </a:r>
          </a:p>
          <a:p>
            <a:endParaRPr lang="en-US" dirty="0"/>
          </a:p>
          <a:p>
            <a:r>
              <a:rPr lang="en-US" dirty="0"/>
              <a:t>The table also explores </a:t>
            </a:r>
            <a:r>
              <a:rPr lang="en-US" b="1" dirty="0"/>
              <a:t>percentile shifts</a:t>
            </a:r>
            <a:r>
              <a:rPr lang="en-US" dirty="0"/>
              <a:t> for each variable, providing a clearer view of how acquisition probability varies when a firm’s characteristic (e.g., R&amp;D intensity) is in the 25th vs. 75th percentile or 10th vs. 90th percentile.</a:t>
            </a:r>
          </a:p>
          <a:p>
            <a:endParaRPr lang="en-US" dirty="0"/>
          </a:p>
          <a:p>
            <a:r>
              <a:rPr lang="en-US" b="1" dirty="0"/>
              <a:t>2. Explanation of Each Column</a:t>
            </a:r>
          </a:p>
          <a:p>
            <a:pPr>
              <a:buFont typeface="Arial" panose="020B0604020202020204" pitchFamily="34" charset="0"/>
              <a:buChar char="•"/>
            </a:pPr>
            <a:r>
              <a:rPr lang="en-US" b="1" dirty="0"/>
              <a:t>Column 1 (Marginal Effects)</a:t>
            </a:r>
            <a:r>
              <a:rPr lang="en-US" dirty="0"/>
              <a:t>: Shows the percentage point change in acquisition probability when each variable increases by one standard deviation.</a:t>
            </a:r>
          </a:p>
          <a:p>
            <a:pPr marL="742950" lvl="1" indent="-285750">
              <a:buFont typeface="Arial" panose="020B0604020202020204" pitchFamily="34" charset="0"/>
              <a:buChar char="•"/>
            </a:pPr>
            <a:r>
              <a:rPr lang="en-US" b="1" dirty="0"/>
              <a:t>R&amp;D Intensity</a:t>
            </a:r>
            <a:r>
              <a:rPr lang="en-US" dirty="0"/>
              <a:t>: A one-standard-deviation increase is associated with a 0.46% decrease in acquisition likelihood, which is significant given that it represents about one-third of the average acquisition probability (1.36%).</a:t>
            </a:r>
          </a:p>
          <a:p>
            <a:pPr marL="742950" lvl="1" indent="-285750">
              <a:buFont typeface="Arial" panose="020B0604020202020204" pitchFamily="34" charset="0"/>
              <a:buChar char="•"/>
            </a:pPr>
            <a:r>
              <a:rPr lang="en-US" b="1" dirty="0"/>
              <a:t>Patent Intensity</a:t>
            </a:r>
            <a:r>
              <a:rPr lang="en-US" dirty="0"/>
              <a:t>: A one-standard-deviation increase in patents raises acquisition probability by 0.56%, indicating that patents increase the attractiveness for vertical acquisitions.</a:t>
            </a:r>
          </a:p>
          <a:p>
            <a:pPr>
              <a:buFont typeface="Arial" panose="020B0604020202020204" pitchFamily="34" charset="0"/>
              <a:buChar char="•"/>
            </a:pPr>
            <a:r>
              <a:rPr lang="en-US" b="1" dirty="0"/>
              <a:t>Columns 2-4 (Percentile Comparisons)</a:t>
            </a:r>
            <a:r>
              <a:rPr lang="en-US" dirty="0"/>
              <a:t>: These columns show the predicted acquisition probabilities when the variable shifts between the 25th, mean, and 75th percentiles, holding everything else constant.</a:t>
            </a:r>
          </a:p>
          <a:p>
            <a:pPr marL="742950" lvl="1" indent="-285750">
              <a:buFont typeface="Arial" panose="020B0604020202020204" pitchFamily="34" charset="0"/>
              <a:buChar char="•"/>
            </a:pPr>
            <a:r>
              <a:rPr lang="en-US" b="1" dirty="0"/>
              <a:t>R&amp;D Intensity</a:t>
            </a:r>
            <a:r>
              <a:rPr lang="en-US" dirty="0"/>
              <a:t>: Moving from the 25th percentile (1.49%) to the 75th percentile (1.33%) reduces the acquisition likelihood slightly, in line with the idea that early-stage innovators are less likely to be acquired.</a:t>
            </a:r>
          </a:p>
          <a:p>
            <a:pPr marL="742950" lvl="1" indent="-285750">
              <a:buFont typeface="Arial" panose="020B0604020202020204" pitchFamily="34" charset="0"/>
              <a:buChar char="•"/>
            </a:pPr>
            <a:r>
              <a:rPr lang="en-US" b="1" dirty="0"/>
              <a:t>Patent Intensity</a:t>
            </a:r>
            <a:r>
              <a:rPr lang="en-US" dirty="0"/>
              <a:t>: Moving from the 25th percentile (1.24%) to the 75th percentile (1.51%) increases the probability of acquisition, consistent with the idea that patents make firms more attractive for acquisition.</a:t>
            </a:r>
          </a:p>
          <a:p>
            <a:pPr>
              <a:buFont typeface="Arial" panose="020B0604020202020204" pitchFamily="34" charset="0"/>
              <a:buChar char="•"/>
            </a:pPr>
            <a:r>
              <a:rPr lang="en-US" b="1" dirty="0"/>
              <a:t>Columns 5-7 (10th and 90th Percentiles)</a:t>
            </a:r>
            <a:r>
              <a:rPr lang="en-US" dirty="0"/>
              <a:t>: These columns compare the acquisition probability when the variable shifts between the 10th, mean, and 90th percentiles, providing an even broader range.</a:t>
            </a:r>
          </a:p>
          <a:p>
            <a:pPr marL="742950" lvl="1" indent="-285750">
              <a:buFont typeface="Arial" panose="020B0604020202020204" pitchFamily="34" charset="0"/>
              <a:buChar char="•"/>
            </a:pPr>
            <a:r>
              <a:rPr lang="en-US" dirty="0"/>
              <a:t>For example, </a:t>
            </a:r>
            <a:r>
              <a:rPr lang="en-US" b="1" dirty="0"/>
              <a:t>patent intensity</a:t>
            </a:r>
            <a:r>
              <a:rPr lang="en-US" dirty="0"/>
              <a:t> in the 10th percentile corresponds to an acquisition likelihood of 1.24%, while at the 90th percentile, it reaches 1.60%, underscoring how high patent levels make acquisition more likely.</a:t>
            </a:r>
          </a:p>
          <a:p>
            <a:endParaRPr lang="en-US" dirty="0"/>
          </a:p>
          <a:p>
            <a:endParaRPr lang="en-US" dirty="0"/>
          </a:p>
          <a:p>
            <a:r>
              <a:rPr lang="en-US" b="1" dirty="0"/>
              <a:t>3. Key Takeaways from Table 8</a:t>
            </a:r>
          </a:p>
          <a:p>
            <a:pPr>
              <a:buFont typeface="Arial" panose="020B0604020202020204" pitchFamily="34" charset="0"/>
              <a:buChar char="•"/>
            </a:pPr>
            <a:r>
              <a:rPr lang="en-US" b="1" dirty="0"/>
              <a:t>Significant Impact of R&amp;D and Patent Intensity</a:t>
            </a:r>
            <a:r>
              <a:rPr lang="en-US" dirty="0"/>
              <a:t>: R&amp;D intensity and patent intensity both have strong economic effects on acquisition probability. High R&amp;D intensity reduces the likelihood of acquisition, while high patent intensity increases it, supporting the hypothesis that mature innovation attracts vertical acquisition.</a:t>
            </a:r>
          </a:p>
          <a:p>
            <a:pPr>
              <a:buFont typeface="Arial" panose="020B0604020202020204" pitchFamily="34" charset="0"/>
              <a:buChar char="•"/>
            </a:pPr>
            <a:endParaRPr lang="en-US" dirty="0"/>
          </a:p>
          <a:p>
            <a:pPr>
              <a:buFont typeface="Arial" panose="020B0604020202020204" pitchFamily="34" charset="0"/>
              <a:buChar char="•"/>
            </a:pPr>
            <a:r>
              <a:rPr lang="en-US" b="1" dirty="0"/>
              <a:t>Magnitude Relative to Other Factors</a:t>
            </a:r>
            <a:r>
              <a:rPr lang="en-US" dirty="0"/>
              <a:t>: The impact of R&amp;D and patent intensity on acquisition probability is large and comparable to other important factors, such as firm age, market-to-book ratio, and sales growth, demonstrating the substantial influence of innovation stage on acquisition decisions.</a:t>
            </a:r>
          </a:p>
          <a:p>
            <a:pPr>
              <a:buFont typeface="Arial" panose="020B0604020202020204" pitchFamily="34" charset="0"/>
              <a:buChar char="•"/>
            </a:pPr>
            <a:endParaRPr lang="en-US" dirty="0"/>
          </a:p>
          <a:p>
            <a:pPr>
              <a:buFont typeface="Arial" panose="020B0604020202020204" pitchFamily="34" charset="0"/>
              <a:buChar char="•"/>
            </a:pPr>
            <a:r>
              <a:rPr lang="en-US" b="1" dirty="0"/>
              <a:t>Variability Across Percentiles</a:t>
            </a:r>
            <a:r>
              <a:rPr lang="en-US" dirty="0"/>
              <a:t>: Changes across percentiles (25th to 75th and 10th to 90th) confirm that as firms move from lower to higher patent levels, their attractiveness for acquisition increases, while higher R&amp;D levels correspond with lower acquisition likelihood.</a:t>
            </a:r>
          </a:p>
          <a:p>
            <a:pPr>
              <a:buFont typeface="Arial" panose="020B0604020202020204" pitchFamily="34" charset="0"/>
              <a:buChar char="•"/>
            </a:pPr>
            <a:endParaRPr lang="en-US" dirty="0"/>
          </a:p>
          <a:p>
            <a:r>
              <a:rPr lang="en-US" b="1" dirty="0"/>
              <a:t>In Summary</a:t>
            </a:r>
          </a:p>
          <a:p>
            <a:r>
              <a:rPr lang="en-US" dirty="0"/>
              <a:t>Table 8 underscores that </a:t>
            </a:r>
            <a:r>
              <a:rPr lang="en-US" b="1" dirty="0"/>
              <a:t>R&amp;D and patent intensity are economically significant</a:t>
            </a:r>
            <a:r>
              <a:rPr lang="en-US" dirty="0"/>
              <a:t> in predicting acquisition likelihood. Firms with more R&amp;D are less likely to be vertically acquired, while those with more patents are more attractive for acquisition, suggesting that mature, protected innovation is a key driver for vertical integration. The table confirms that these effects are robust and of considerable size relative to other factors.</a:t>
            </a:r>
          </a:p>
          <a:p>
            <a:pPr>
              <a:buFont typeface="Arial" panose="020B0604020202020204" pitchFamily="34" charset="0"/>
              <a:buChar cha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2357043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9 focuses on the </a:t>
            </a:r>
            <a:r>
              <a:rPr lang="en-US" b="1" dirty="0"/>
              <a:t>role of incentive provision and holdup costs</a:t>
            </a:r>
            <a:r>
              <a:rPr lang="en-US" dirty="0"/>
              <a:t> in vertical acquisitions. It tests whether the negative relationship between </a:t>
            </a:r>
            <a:r>
              <a:rPr lang="en-US" b="1" dirty="0"/>
              <a:t>R&amp;D intensity</a:t>
            </a:r>
            <a:r>
              <a:rPr lang="en-US" dirty="0"/>
              <a:t> and vertical acquisitions is stronger in firms with </a:t>
            </a:r>
            <a:r>
              <a:rPr lang="en-US" b="1" dirty="0"/>
              <a:t>higher risk of losing key inventors</a:t>
            </a:r>
            <a:r>
              <a:rPr lang="en-US" dirty="0"/>
              <a:t> or </a:t>
            </a:r>
            <a:r>
              <a:rPr lang="en-US" b="1" dirty="0"/>
              <a:t>higher costs of maintaining innovation incentives</a:t>
            </a:r>
            <a:r>
              <a:rPr lang="en-US" dirty="0"/>
              <a:t>, which would make them less attractive for integration. It also checks if </a:t>
            </a:r>
            <a:r>
              <a:rPr lang="en-US" b="1" dirty="0"/>
              <a:t>patent intensity</a:t>
            </a:r>
            <a:r>
              <a:rPr lang="en-US" dirty="0"/>
              <a:t> (mature innovation) makes acquisitions more likely when holdup risks are minimized.</a:t>
            </a:r>
          </a:p>
          <a:p>
            <a:endParaRPr lang="en-US" dirty="0"/>
          </a:p>
          <a:p>
            <a:r>
              <a:rPr lang="en-US" b="1" dirty="0"/>
              <a:t>1. Purpose of Table 9</a:t>
            </a:r>
          </a:p>
          <a:p>
            <a:pPr>
              <a:buFont typeface="Arial" panose="020B0604020202020204" pitchFamily="34" charset="0"/>
              <a:buChar char="•"/>
            </a:pPr>
            <a:r>
              <a:rPr lang="en-US" dirty="0"/>
              <a:t>This table digs into the </a:t>
            </a:r>
            <a:r>
              <a:rPr lang="en-US" b="1" dirty="0"/>
              <a:t>mechanisms behind the main hypothesis</a:t>
            </a:r>
            <a:r>
              <a:rPr lang="en-US" dirty="0"/>
              <a:t>: that vertical acquisitions weigh the trade-off between keeping innovation incentives (important in high R&amp;D firms) and reducing holdup risk (where patents make a difference).</a:t>
            </a:r>
          </a:p>
          <a:p>
            <a:pPr>
              <a:buFont typeface="Arial" panose="020B0604020202020204" pitchFamily="34" charset="0"/>
              <a:buChar char="•"/>
            </a:pPr>
            <a:r>
              <a:rPr lang="en-US" dirty="0"/>
              <a:t>Table 9 uses interaction terms to check if factors like </a:t>
            </a:r>
            <a:r>
              <a:rPr lang="en-US" b="1" dirty="0"/>
              <a:t>inventor mobility</a:t>
            </a:r>
            <a:r>
              <a:rPr lang="en-US" dirty="0"/>
              <a:t>, </a:t>
            </a:r>
            <a:r>
              <a:rPr lang="en-US" b="1" dirty="0"/>
              <a:t>employee incentives</a:t>
            </a:r>
            <a:r>
              <a:rPr lang="en-US" dirty="0"/>
              <a:t>, and </a:t>
            </a:r>
            <a:r>
              <a:rPr lang="en-US" b="1" dirty="0"/>
              <a:t>patent liquidity</a:t>
            </a:r>
            <a:r>
              <a:rPr lang="en-US" dirty="0"/>
              <a:t> strengthen or weaken the effect of R&amp;D and patent intensity on the probability of vertical acquisition.</a:t>
            </a:r>
          </a:p>
          <a:p>
            <a:endParaRPr lang="en-US" dirty="0"/>
          </a:p>
          <a:p>
            <a:r>
              <a:rPr lang="en-US" b="1" dirty="0"/>
              <a:t>2. Explanation of Each Column</a:t>
            </a:r>
          </a:p>
          <a:p>
            <a:pPr>
              <a:buFont typeface="Arial" panose="020B0604020202020204" pitchFamily="34" charset="0"/>
              <a:buChar char="•"/>
            </a:pPr>
            <a:r>
              <a:rPr lang="en-US" dirty="0"/>
              <a:t>Each column introduces a </a:t>
            </a:r>
            <a:r>
              <a:rPr lang="en-US" b="1" dirty="0"/>
              <a:t>“HIGH” indicator variable</a:t>
            </a:r>
            <a:r>
              <a:rPr lang="en-US" dirty="0"/>
              <a:t> representing a specific condition or characteristic that could affect the incentive or holdup costs of an acquisition:</a:t>
            </a:r>
          </a:p>
          <a:p>
            <a:pPr marL="742950" lvl="1" indent="-285750">
              <a:buFont typeface="Arial" panose="020B0604020202020204" pitchFamily="34" charset="0"/>
              <a:buChar char="•"/>
            </a:pPr>
            <a:r>
              <a:rPr lang="en-US" b="1" dirty="0"/>
              <a:t>Column 1 (Inventor Mobility)</a:t>
            </a:r>
            <a:r>
              <a:rPr lang="en-US" dirty="0"/>
              <a:t>: Tracks how likely inventors are to leave the firm. High mobility increases difficulty in maintaining incentives, making R&amp;D-heavy firms less appealing for acquisition.</a:t>
            </a:r>
          </a:p>
          <a:p>
            <a:pPr marL="742950" lvl="1" indent="-285750">
              <a:buFont typeface="Arial" panose="020B0604020202020204" pitchFamily="34" charset="0"/>
              <a:buChar char="•"/>
            </a:pPr>
            <a:r>
              <a:rPr lang="en-US" b="1" dirty="0"/>
              <a:t>Column 2 (Employee Incentives)</a:t>
            </a:r>
            <a:r>
              <a:rPr lang="en-US" dirty="0"/>
              <a:t>: Measures how well firms retain employees through incentives, like stock options. Firms with strong incentives find it easier to keep talent after acquisition.</a:t>
            </a:r>
          </a:p>
          <a:p>
            <a:pPr marL="742950" lvl="1" indent="-285750">
              <a:buFont typeface="Arial" panose="020B0604020202020204" pitchFamily="34" charset="0"/>
              <a:buChar char="•"/>
            </a:pPr>
            <a:r>
              <a:rPr lang="en-US" b="1" dirty="0"/>
              <a:t>Column 3 (Keyman Insurance)</a:t>
            </a:r>
            <a:r>
              <a:rPr lang="en-US" dirty="0"/>
              <a:t>: Reflects whether firms use insurance on key employees, indicating the firm values maintaining specific talent.</a:t>
            </a:r>
          </a:p>
          <a:p>
            <a:pPr marL="742950" lvl="1" indent="-285750">
              <a:buFont typeface="Arial" panose="020B0604020202020204" pitchFamily="34" charset="0"/>
              <a:buChar char="•"/>
            </a:pPr>
            <a:r>
              <a:rPr lang="en-US" b="1" dirty="0"/>
              <a:t>Columns 4-6</a:t>
            </a:r>
            <a:r>
              <a:rPr lang="en-US" dirty="0"/>
              <a:t> focus on holdup risks:</a:t>
            </a:r>
          </a:p>
          <a:p>
            <a:pPr marL="1143000" lvl="2" indent="-228600">
              <a:buFont typeface="Arial" panose="020B0604020202020204" pitchFamily="34" charset="0"/>
              <a:buChar char="•"/>
            </a:pPr>
            <a:r>
              <a:rPr lang="en-US" b="1" dirty="0"/>
              <a:t>Patent Liquidity</a:t>
            </a:r>
            <a:r>
              <a:rPr lang="en-US" dirty="0"/>
              <a:t> (Column 4): High liquidity suggests patents are easily transferred, lowering holdup risk.</a:t>
            </a:r>
          </a:p>
          <a:p>
            <a:pPr marL="1143000" lvl="2" indent="-228600">
              <a:buFont typeface="Arial" panose="020B0604020202020204" pitchFamily="34" charset="0"/>
              <a:buChar char="•"/>
            </a:pPr>
            <a:r>
              <a:rPr lang="en-US" b="1" dirty="0"/>
              <a:t>Patent Infringement Risk</a:t>
            </a:r>
            <a:r>
              <a:rPr lang="en-US" dirty="0"/>
              <a:t> (Column 5): Firms more prone to patent disputes may face higher costs in vertical integration.</a:t>
            </a:r>
          </a:p>
          <a:p>
            <a:pPr marL="1143000" lvl="2" indent="-228600">
              <a:buFont typeface="Arial" panose="020B0604020202020204" pitchFamily="34" charset="0"/>
              <a:buChar char="•"/>
            </a:pPr>
            <a:r>
              <a:rPr lang="en-US" b="1" dirty="0"/>
              <a:t>Number of Horizontal Peers</a:t>
            </a:r>
            <a:r>
              <a:rPr lang="en-US" dirty="0"/>
              <a:t> (Column 6): Indicates competitive pressure, possibly impacting innovation incentives.</a:t>
            </a:r>
          </a:p>
          <a:p>
            <a:pPr>
              <a:buFont typeface="Arial" panose="020B0604020202020204" pitchFamily="34" charset="0"/>
              <a:buChar char="•"/>
            </a:pPr>
            <a:r>
              <a:rPr lang="en-US" b="1" dirty="0"/>
              <a:t>R&amp;D and Patent Interactions</a:t>
            </a:r>
            <a:r>
              <a:rPr lang="en-US" dirty="0"/>
              <a:t>:</a:t>
            </a:r>
          </a:p>
          <a:p>
            <a:pPr marL="742950" lvl="1" indent="-285750">
              <a:buFont typeface="Arial" panose="020B0604020202020204" pitchFamily="34" charset="0"/>
              <a:buChar char="•"/>
            </a:pPr>
            <a:r>
              <a:rPr lang="en-US" b="1" dirty="0"/>
              <a:t>R&amp;D Intensity Interactions</a:t>
            </a:r>
            <a:r>
              <a:rPr lang="en-US" dirty="0"/>
              <a:t>: Significant negative coefficients (e.g., -0.065 in Column 1) indicate that high R&amp;D firms are less likely to be acquired when maintaining innovation incentives is difficult (e.g., high inventor mobility).</a:t>
            </a:r>
          </a:p>
          <a:p>
            <a:pPr marL="742950" lvl="1" indent="-285750">
              <a:buFont typeface="Arial" panose="020B0604020202020204" pitchFamily="34" charset="0"/>
              <a:buChar char="•"/>
            </a:pPr>
            <a:r>
              <a:rPr lang="en-US" b="1" dirty="0"/>
              <a:t>Patent Intensity Interactions</a:t>
            </a:r>
            <a:r>
              <a:rPr lang="en-US" dirty="0"/>
              <a:t>: Positive coefficients (e.g., 0.104 in Column 1) indicate that high patent firms are more attractive for acquisition, especially when holdup costs are low, like in firms with high patent liquidity.</a:t>
            </a:r>
          </a:p>
          <a:p>
            <a:endParaRPr lang="en-US" dirty="0"/>
          </a:p>
          <a:p>
            <a:endParaRPr lang="en-US" dirty="0"/>
          </a:p>
          <a:p>
            <a:r>
              <a:rPr lang="en-US" b="1" dirty="0"/>
              <a:t>Incentive Challenges and R&amp;D-Heavy Firms</a:t>
            </a:r>
            <a:r>
              <a:rPr lang="en-US" dirty="0"/>
              <a:t>: High R&amp;D firms face reduced acquisition likelihood when it’s hard to keep inventors or incentives, confirming that early-stage innovation prefers independence to protect innovation incentives.</a:t>
            </a:r>
          </a:p>
          <a:p>
            <a:endParaRPr lang="en-US" dirty="0"/>
          </a:p>
          <a:p>
            <a:r>
              <a:rPr lang="en-US" b="1" dirty="0"/>
              <a:t>Patent Intensity and Low Holdup Risk</a:t>
            </a:r>
            <a:r>
              <a:rPr lang="en-US" dirty="0"/>
              <a:t>: High patent intensity encourages acquisition when patents are more liquid or less risky, highlighting that mature, transferable innovation is attractive in acquisitions.</a:t>
            </a:r>
          </a:p>
          <a:p>
            <a:endParaRPr lang="en-US" dirty="0"/>
          </a:p>
          <a:p>
            <a:r>
              <a:rPr lang="en-US" b="1" dirty="0"/>
              <a:t>Significance Across Conditions</a:t>
            </a:r>
            <a:r>
              <a:rPr lang="en-US" dirty="0"/>
              <a:t>: Results hold across different settings, supporting the hypothesis that </a:t>
            </a:r>
            <a:r>
              <a:rPr lang="en-US" b="1" dirty="0"/>
              <a:t>the stage of innovation and the ease of maintaining incentives</a:t>
            </a:r>
            <a:r>
              <a:rPr lang="en-US" dirty="0"/>
              <a:t> are crucial in acquisition decisions.</a:t>
            </a:r>
          </a:p>
          <a:p>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31179987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Purpose of Table 10</a:t>
            </a:r>
          </a:p>
          <a:p>
            <a:pPr>
              <a:buFont typeface="Arial" panose="020B0604020202020204" pitchFamily="34" charset="0"/>
              <a:buChar char="•"/>
            </a:pPr>
            <a:r>
              <a:rPr lang="en-US" dirty="0"/>
              <a:t>Table 10 checks if firms’ </a:t>
            </a:r>
            <a:r>
              <a:rPr lang="en-US" b="1" dirty="0"/>
              <a:t>innovation efficiency</a:t>
            </a:r>
            <a:r>
              <a:rPr lang="en-US" dirty="0"/>
              <a:t> (patents per unit of R&amp;D expense) might be behind the observed pattern in vertical acquisitions. If efficient innovators are more likely to be acquired, the R&amp;D and patent relationship with vertical acquisitions might not be about the innovation stage at all.</a:t>
            </a:r>
          </a:p>
          <a:p>
            <a:pPr>
              <a:buFont typeface="Arial" panose="020B0604020202020204" pitchFamily="34" charset="0"/>
              <a:buChar char="•"/>
            </a:pPr>
            <a:r>
              <a:rPr lang="en-US" dirty="0"/>
              <a:t>It also tests whether </a:t>
            </a:r>
            <a:r>
              <a:rPr lang="en-US" b="1" dirty="0"/>
              <a:t>non-vertical (or horizontal) acquisitions</a:t>
            </a:r>
            <a:r>
              <a:rPr lang="en-US" dirty="0"/>
              <a:t> have similar relationships with R&amp;D and patenting intensity, serving as a control to validate whether the incentive and holdup theories specifically apply to vertical acquisitions.</a:t>
            </a:r>
          </a:p>
          <a:p>
            <a:pPr>
              <a:buFont typeface="Arial" panose="020B0604020202020204" pitchFamily="34" charset="0"/>
              <a:buChar char="•"/>
            </a:pPr>
            <a:endParaRPr lang="en-US" dirty="0"/>
          </a:p>
          <a:p>
            <a:endParaRPr lang="en-US" dirty="0"/>
          </a:p>
          <a:p>
            <a:r>
              <a:rPr lang="en-US" b="1" dirty="0"/>
              <a:t>2. Explanation of Each Column</a:t>
            </a:r>
          </a:p>
          <a:p>
            <a:pPr>
              <a:buFont typeface="Arial" panose="020B0604020202020204" pitchFamily="34" charset="0"/>
              <a:buChar char="•"/>
            </a:pPr>
            <a:r>
              <a:rPr lang="en-US" b="1" dirty="0"/>
              <a:t>Columns 1-4 (Innovation Efficiency in Vertical Acquisitions)</a:t>
            </a:r>
            <a:r>
              <a:rPr lang="en-US" dirty="0"/>
              <a:t>: Adds controls for innovation efficiency by looking at patents relative to R&amp;D over the past 3 or 5 years.</a:t>
            </a:r>
          </a:p>
          <a:p>
            <a:pPr marL="742950" lvl="1" indent="-285750">
              <a:buFont typeface="Arial" panose="020B0604020202020204" pitchFamily="34" charset="0"/>
              <a:buChar char="•"/>
            </a:pPr>
            <a:r>
              <a:rPr lang="en-US" b="1" dirty="0"/>
              <a:t>Finding</a:t>
            </a:r>
            <a:r>
              <a:rPr lang="en-US" dirty="0"/>
              <a:t>: The inclusion of innovation efficiency doesn’t change the core relationship—R&amp;D intensity is still negatively linked to vertical acquisitions, and patent intensity is positively linked, supporting the idea that it’s not just innovation efficiency driving acquisitions.</a:t>
            </a:r>
          </a:p>
          <a:p>
            <a:pPr>
              <a:buFont typeface="Arial" panose="020B0604020202020204" pitchFamily="34" charset="0"/>
              <a:buChar char="•"/>
            </a:pPr>
            <a:r>
              <a:rPr lang="en-US" b="1" dirty="0"/>
              <a:t>Column 5 (Non-Vertical Acquisitions)</a:t>
            </a:r>
            <a:r>
              <a:rPr lang="en-US" dirty="0"/>
              <a:t>: Examines non-vertical acquisitions, where firms are in unrelated parts of the supply chain.</a:t>
            </a:r>
          </a:p>
          <a:p>
            <a:pPr marL="742950" lvl="1" indent="-285750">
              <a:buFont typeface="Arial" panose="020B0604020202020204" pitchFamily="34" charset="0"/>
              <a:buChar char="•"/>
            </a:pPr>
            <a:r>
              <a:rPr lang="en-US" b="1" dirty="0"/>
              <a:t>Finding</a:t>
            </a:r>
            <a:r>
              <a:rPr lang="en-US" dirty="0"/>
              <a:t>: Here, R&amp;D-intensive firms are actually more likely to be acquired, suggesting that early-stage innovation may attract non-vertical (e.g., cross-industry) acquirers rather than vertical acquirers.</a:t>
            </a:r>
          </a:p>
          <a:p>
            <a:pPr>
              <a:buFont typeface="Arial" panose="020B0604020202020204" pitchFamily="34" charset="0"/>
              <a:buChar char="•"/>
            </a:pPr>
            <a:r>
              <a:rPr lang="en-US" b="1" dirty="0"/>
              <a:t>Column 6 (Horizontal Acquisitions)</a:t>
            </a:r>
            <a:r>
              <a:rPr lang="en-US" dirty="0"/>
              <a:t>: Examines horizontal acquisitions, where firms are in the same industry (direct competitors).</a:t>
            </a:r>
          </a:p>
          <a:p>
            <a:pPr marL="742950" lvl="1" indent="-285750">
              <a:buFont typeface="Arial" panose="020B0604020202020204" pitchFamily="34" charset="0"/>
              <a:buChar char="•"/>
            </a:pPr>
            <a:r>
              <a:rPr lang="en-US" b="1" dirty="0"/>
              <a:t>Finding</a:t>
            </a:r>
            <a:r>
              <a:rPr lang="en-US" dirty="0"/>
              <a:t>: Like non-vertical acquisitions, R&amp;D intensity is positively related, but patent intensity isn’t. This suggests that early-stage innovation increases attractiveness in horizontal deals as well, possibly due to competitive pressures in the same industry.</a:t>
            </a:r>
          </a:p>
          <a:p>
            <a:pPr marL="742950" lvl="1" indent="-285750">
              <a:buFont typeface="Arial" panose="020B0604020202020204" pitchFamily="34" charset="0"/>
              <a:buChar char="•"/>
            </a:pPr>
            <a:endParaRPr lang="en-US" dirty="0"/>
          </a:p>
          <a:p>
            <a:r>
              <a:rPr lang="en-US" b="1" dirty="0"/>
              <a:t>3. Key Takeaways from Table 10</a:t>
            </a:r>
          </a:p>
          <a:p>
            <a:endParaRPr lang="en-US" b="1" dirty="0"/>
          </a:p>
          <a:p>
            <a:pPr>
              <a:buFont typeface="Arial" panose="020B0604020202020204" pitchFamily="34" charset="0"/>
              <a:buChar char="•"/>
            </a:pPr>
            <a:r>
              <a:rPr lang="en-US" b="1" dirty="0"/>
              <a:t>Innovation Efficiency Does Not Drive Vertical Acquisitions</a:t>
            </a:r>
            <a:r>
              <a:rPr lang="en-US" dirty="0"/>
              <a:t>: Controlling for innovation efficiency doesn’t change the results—vertical acquisitions are more influenced by whether the innovation is ongoing (R&amp;D) or mature (patented), not just efficiency in innovation.</a:t>
            </a:r>
          </a:p>
          <a:p>
            <a:pPr>
              <a:buFont typeface="Arial" panose="020B0604020202020204" pitchFamily="34" charset="0"/>
              <a:buChar char="•"/>
            </a:pPr>
            <a:endParaRPr lang="en-US" dirty="0"/>
          </a:p>
          <a:p>
            <a:pPr>
              <a:buFont typeface="Arial" panose="020B0604020202020204" pitchFamily="34" charset="0"/>
              <a:buChar char="•"/>
            </a:pPr>
            <a:r>
              <a:rPr lang="en-US" b="1" dirty="0"/>
              <a:t>R&amp;D Attracts Non-Vertical and Horizontal Acquisitions</a:t>
            </a:r>
            <a:r>
              <a:rPr lang="en-US" dirty="0"/>
              <a:t>: Unlike vertical acquisitions, non-vertical and horizontal acquisitions are more likely to target R&amp;D-intensive firms. This suggests that early innovation stages are more attractive outside the vertical supply chain, possibly due to competitive and market expansion reasons.</a:t>
            </a:r>
          </a:p>
          <a:p>
            <a:pPr>
              <a:buFont typeface="Arial" panose="020B0604020202020204" pitchFamily="34" charset="0"/>
              <a:buChar char="•"/>
            </a:pPr>
            <a:endParaRPr lang="en-US" dirty="0"/>
          </a:p>
          <a:p>
            <a:pPr>
              <a:buFont typeface="Arial" panose="020B0604020202020204" pitchFamily="34" charset="0"/>
              <a:buChar char="•"/>
            </a:pPr>
            <a:r>
              <a:rPr lang="en-US" b="1" dirty="0"/>
              <a:t>Patents Are Specific to Vertical Acquisitions</a:t>
            </a:r>
            <a:r>
              <a:rPr lang="en-US" dirty="0"/>
              <a:t>: Patent intensity’s impact on acquisition is unique to vertical acquisitions, reinforcing that mature, protected innovation is particularly valuable in the same supply chain.</a:t>
            </a:r>
          </a:p>
          <a:p>
            <a:pPr marL="0" lvl="0" indent="0">
              <a:buFont typeface="Arial" panose="020B0604020202020204" pitchFamily="34" charset="0"/>
              <a:buNone/>
            </a:pPr>
            <a:endParaRPr lang="en-US" dirty="0"/>
          </a:p>
          <a:p>
            <a:pPr marL="457200" lvl="1" indent="0">
              <a:buFont typeface="Arial" panose="020B0604020202020204" pitchFamily="34" charset="0"/>
              <a:buNone/>
            </a:pPr>
            <a:endParaRPr lang="en-US" dirty="0"/>
          </a:p>
          <a:p>
            <a:pPr marL="457200" lvl="1" indent="0">
              <a:buFont typeface="Arial" panose="020B0604020202020204" pitchFamily="34" charset="0"/>
              <a:buNone/>
            </a:pPr>
            <a:endParaRPr lang="en-US" dirty="0"/>
          </a:p>
          <a:p>
            <a:pPr marL="457200" lvl="1" indent="0">
              <a:buFont typeface="Arial" panose="020B0604020202020204" pitchFamily="34" charset="0"/>
              <a:buNone/>
            </a:pPr>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2681534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Purpose of Table 11</a:t>
            </a:r>
          </a:p>
          <a:p>
            <a:pPr>
              <a:buFont typeface="Arial" panose="020B0604020202020204" pitchFamily="34" charset="0"/>
              <a:buChar char="•"/>
            </a:pPr>
            <a:r>
              <a:rPr lang="en-US" dirty="0"/>
              <a:t>Table 11 tests if firms or industries with different innovation stages (ongoing R&amp;D or mature patents) show distinct levels of vertical integration, supporting the idea that </a:t>
            </a:r>
            <a:r>
              <a:rPr lang="en-US" b="1" dirty="0"/>
              <a:t>innovation stage influences integration choices</a:t>
            </a:r>
            <a:r>
              <a:rPr lang="en-US" dirty="0"/>
              <a:t>.</a:t>
            </a:r>
          </a:p>
          <a:p>
            <a:pPr>
              <a:buFont typeface="Arial" panose="020B0604020202020204" pitchFamily="34" charset="0"/>
              <a:buChar char="•"/>
            </a:pPr>
            <a:r>
              <a:rPr lang="en-US" dirty="0"/>
              <a:t>It also compares firms that have completed vertical acquisitions to those that haven’t, examining if </a:t>
            </a:r>
            <a:r>
              <a:rPr lang="en-US" b="1" dirty="0"/>
              <a:t>patenting from acquisitions</a:t>
            </a:r>
            <a:r>
              <a:rPr lang="en-US" dirty="0"/>
              <a:t> influences the extent of integration.</a:t>
            </a:r>
          </a:p>
          <a:p>
            <a:endParaRPr lang="en-US" dirty="0"/>
          </a:p>
          <a:p>
            <a:r>
              <a:rPr lang="en-US" b="1" dirty="0"/>
              <a:t>2. Explanation of Each Column</a:t>
            </a:r>
          </a:p>
          <a:p>
            <a:pPr>
              <a:buFont typeface="Arial" panose="020B0604020202020204" pitchFamily="34" charset="0"/>
              <a:buChar char="•"/>
            </a:pPr>
            <a:r>
              <a:rPr lang="en-US" b="1" dirty="0"/>
              <a:t>Column 1 (Industry-Level R&amp;D and Patent Intensity)</a:t>
            </a:r>
            <a:r>
              <a:rPr lang="en-US" dirty="0"/>
              <a:t>: Uses industry averages for R&amp;D/sales and patents/assets.</a:t>
            </a:r>
          </a:p>
          <a:p>
            <a:pPr marL="742950" lvl="1" indent="-285750">
              <a:buFont typeface="Arial" panose="020B0604020202020204" pitchFamily="34" charset="0"/>
              <a:buChar char="•"/>
            </a:pPr>
            <a:r>
              <a:rPr lang="en-US" b="1" dirty="0"/>
              <a:t>Finding</a:t>
            </a:r>
            <a:r>
              <a:rPr lang="en-US" dirty="0"/>
              <a:t>: Firms in industries with high R&amp;D intensity tend to be less vertically integrated, while those in industries with high patent intensity show more integration, indicating that ongoing innovation favors independence, while mature innovation encourages integration.</a:t>
            </a:r>
          </a:p>
          <a:p>
            <a:pPr>
              <a:buFont typeface="Arial" panose="020B0604020202020204" pitchFamily="34" charset="0"/>
              <a:buChar char="•"/>
            </a:pPr>
            <a:r>
              <a:rPr lang="en-US" b="1" dirty="0"/>
              <a:t>Column 2 (Firm-Level Changes in R&amp;D and Patenting Intensity)</a:t>
            </a:r>
            <a:r>
              <a:rPr lang="en-US" dirty="0"/>
              <a:t>: Looks at vertical integration changes within firms over time, controlling for each firm’s unique characteristics.</a:t>
            </a:r>
          </a:p>
          <a:p>
            <a:pPr marL="742950" lvl="1" indent="-285750">
              <a:buFont typeface="Arial" panose="020B0604020202020204" pitchFamily="34" charset="0"/>
              <a:buChar char="•"/>
            </a:pPr>
            <a:r>
              <a:rPr lang="en-US" b="1" dirty="0"/>
              <a:t>Finding</a:t>
            </a:r>
            <a:r>
              <a:rPr lang="en-US" dirty="0"/>
              <a:t>: There’s no significant link between R&amp;D intensity and vertical integration changes, but patent intensity is positively related to integration. This suggests that firms only increase integration as innovation becomes more protected and mature.</a:t>
            </a:r>
          </a:p>
          <a:p>
            <a:pPr>
              <a:buFont typeface="Arial" panose="020B0604020202020204" pitchFamily="34" charset="0"/>
              <a:buChar char="•"/>
            </a:pPr>
            <a:r>
              <a:rPr lang="en-US" b="1" dirty="0"/>
              <a:t>Columns 3 and 4 (Vertical Acquirers vs. Non-Acquirers)</a:t>
            </a:r>
            <a:r>
              <a:rPr lang="en-US" dirty="0"/>
              <a:t>:</a:t>
            </a:r>
          </a:p>
          <a:p>
            <a:pPr marL="742950" lvl="1" indent="-285750">
              <a:buFont typeface="Arial" panose="020B0604020202020204" pitchFamily="34" charset="0"/>
              <a:buChar char="•"/>
            </a:pPr>
            <a:r>
              <a:rPr lang="en-US" b="1" dirty="0"/>
              <a:t>Column 3</a:t>
            </a:r>
            <a:r>
              <a:rPr lang="en-US" dirty="0"/>
              <a:t>: Focuses on firms that have made vertical acquisitions.</a:t>
            </a:r>
          </a:p>
          <a:p>
            <a:pPr marL="1143000" lvl="2" indent="-228600">
              <a:buFont typeface="Arial" panose="020B0604020202020204" pitchFamily="34" charset="0"/>
              <a:buChar char="•"/>
            </a:pPr>
            <a:r>
              <a:rPr lang="en-US" b="1" dirty="0"/>
              <a:t>Finding</a:t>
            </a:r>
            <a:r>
              <a:rPr lang="en-US" dirty="0"/>
              <a:t>: For these firms, patent intensity positively correlates with integration, indicating that patents acquired through vertical deals support further integration.</a:t>
            </a:r>
          </a:p>
          <a:p>
            <a:pPr marL="742950" lvl="1" indent="-285750">
              <a:buFont typeface="Arial" panose="020B0604020202020204" pitchFamily="34" charset="0"/>
              <a:buChar char="•"/>
            </a:pPr>
            <a:r>
              <a:rPr lang="en-US" b="1" dirty="0"/>
              <a:t>Column 4</a:t>
            </a:r>
            <a:r>
              <a:rPr lang="en-US" dirty="0"/>
              <a:t>: Focuses on firms that have never made a vertical acquisition.</a:t>
            </a:r>
          </a:p>
          <a:p>
            <a:pPr marL="1143000" lvl="2" indent="-228600">
              <a:buFont typeface="Arial" panose="020B0604020202020204" pitchFamily="34" charset="0"/>
              <a:buChar char="•"/>
            </a:pPr>
            <a:r>
              <a:rPr lang="en-US" b="1" dirty="0"/>
              <a:t>Finding</a:t>
            </a:r>
            <a:r>
              <a:rPr lang="en-US" dirty="0"/>
              <a:t>: In non-acquirers, vertical integration isn’t significantly related to either R&amp;D or patent intensity, suggesting that the integration-patent relationship is driven by firms actively engaging in vertical acquisitions.</a:t>
            </a:r>
          </a:p>
          <a:p>
            <a:pPr marL="1143000" lvl="2" indent="-228600">
              <a:buFont typeface="Arial" panose="020B0604020202020204" pitchFamily="34" charset="0"/>
              <a:buChar char="•"/>
            </a:pPr>
            <a:endParaRPr lang="en-US" dirty="0"/>
          </a:p>
          <a:p>
            <a:r>
              <a:rPr lang="en-US" b="1" dirty="0"/>
              <a:t>3. Key Takeaways from Table 11</a:t>
            </a:r>
          </a:p>
          <a:p>
            <a:pPr>
              <a:buFont typeface="Arial" panose="020B0604020202020204" pitchFamily="34" charset="0"/>
              <a:buChar char="•"/>
            </a:pPr>
            <a:r>
              <a:rPr lang="en-US" b="1" dirty="0"/>
              <a:t>Innovation Stage Shapes Integration</a:t>
            </a:r>
            <a:r>
              <a:rPr lang="en-US" dirty="0"/>
              <a:t>: Firms in R&amp;D-heavy industries are less integrated, supporting the idea that early innovation benefits from independence, while patent-heavy industries encourage integration.</a:t>
            </a:r>
          </a:p>
          <a:p>
            <a:pPr>
              <a:buFont typeface="Arial" panose="020B0604020202020204" pitchFamily="34" charset="0"/>
              <a:buChar char="•"/>
            </a:pPr>
            <a:endParaRPr lang="en-US" dirty="0"/>
          </a:p>
          <a:p>
            <a:pPr>
              <a:buFont typeface="Arial" panose="020B0604020202020204" pitchFamily="34" charset="0"/>
              <a:buChar char="•"/>
            </a:pPr>
            <a:r>
              <a:rPr lang="en-US" b="1" dirty="0"/>
              <a:t>Patents Drive Integration in Acquirers</a:t>
            </a:r>
            <a:r>
              <a:rPr lang="en-US" dirty="0"/>
              <a:t>: Among firms making vertical acquisitions, patenting intensity (especially from acquired patents) promotes integration, implying that patents obtained through acquisitions support integration.</a:t>
            </a:r>
          </a:p>
          <a:p>
            <a:pPr>
              <a:buFont typeface="Arial" panose="020B0604020202020204" pitchFamily="34" charset="0"/>
              <a:buChar char="•"/>
            </a:pPr>
            <a:endParaRPr lang="en-US" dirty="0"/>
          </a:p>
          <a:p>
            <a:pPr>
              <a:buFont typeface="Arial" panose="020B0604020202020204" pitchFamily="34" charset="0"/>
              <a:buChar char="•"/>
            </a:pPr>
            <a:r>
              <a:rPr lang="en-US" b="1" dirty="0"/>
              <a:t>No Effect in Non-Acquirers</a:t>
            </a:r>
            <a:r>
              <a:rPr lang="en-US" dirty="0"/>
              <a:t>: Firms without vertical acquisitions don’t show significant links between innovation and integration, confirming that integration patterns are tied to active acquisition strategies rather than organic growth alone.</a:t>
            </a:r>
          </a:p>
          <a:p>
            <a:pPr marL="0" lvl="0" indent="0">
              <a:buFont typeface="Arial" panose="020B0604020202020204" pitchFamily="34" charset="0"/>
              <a:buNone/>
            </a:pPr>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21</a:t>
            </a:fld>
            <a:endParaRPr lang="en-US"/>
          </a:p>
        </p:txBody>
      </p:sp>
    </p:spTree>
    <p:extLst>
      <p:ext uri="{BB962C8B-B14F-4D97-AF65-F5344CB8AC3E}">
        <p14:creationId xmlns:p14="http://schemas.microsoft.com/office/powerpoint/2010/main" val="1309812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7. Big Picture of the Results</a:t>
            </a:r>
          </a:p>
          <a:p>
            <a:r>
              <a:rPr lang="en-US" dirty="0"/>
              <a:t>The paper finds that companies with mature, protected innovations (e.g., patents) are attractive targets for acquisitions by related firms. On the other hand, companies that are still heavily investing in R&amp;D (without a lot of patents) are more likely to remain independent. This suggests that companies in early innovation stages prioritize maintaining control, likely to avoid disrupting their innovation momentum.</a:t>
            </a:r>
          </a:p>
          <a:p>
            <a:endParaRPr lang="en-US" dirty="0"/>
          </a:p>
          <a:p>
            <a:r>
              <a:rPr lang="en-US" b="1" dirty="0"/>
              <a:t>In Summary</a:t>
            </a:r>
          </a:p>
          <a:p>
            <a:r>
              <a:rPr lang="en-US" dirty="0"/>
              <a:t>This study explains that when a company is bought by another firm in its supply chain, it often has something to do with the innovation stage:</a:t>
            </a:r>
          </a:p>
          <a:p>
            <a:pPr>
              <a:buFont typeface="Arial" panose="020B0604020202020204" pitchFamily="34" charset="0"/>
              <a:buChar char="•"/>
            </a:pPr>
            <a:r>
              <a:rPr lang="en-US" dirty="0"/>
              <a:t>Early-stage innovators (high R&amp;D, low patents) are better off staying independent because they still need control and flexibility.</a:t>
            </a:r>
          </a:p>
          <a:p>
            <a:pPr>
              <a:buFont typeface="Arial" panose="020B0604020202020204" pitchFamily="34" charset="0"/>
              <a:buChar char="•"/>
            </a:pPr>
            <a:r>
              <a:rPr lang="en-US" dirty="0"/>
              <a:t>Mature innovators (high patents) are appealing for acquisition since their ideas are ready to market, and the acquiring firm can use the new technology immediately without much risk.</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22</a:t>
            </a:fld>
            <a:endParaRPr lang="en-US"/>
          </a:p>
        </p:txBody>
      </p:sp>
    </p:spTree>
    <p:extLst>
      <p:ext uri="{BB962C8B-B14F-4D97-AF65-F5344CB8AC3E}">
        <p14:creationId xmlns:p14="http://schemas.microsoft.com/office/powerpoint/2010/main" val="3882397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10/28/2024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10/28/2024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10/28/2024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10/28/2024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fontScale="90000"/>
          </a:bodyPr>
          <a:lstStyle/>
          <a:p>
            <a:r>
              <a:rPr lang="en-US" sz="3600" dirty="0">
                <a:ea typeface="+mj-lt"/>
                <a:cs typeface="+mj-lt"/>
              </a:rPr>
              <a:t>Innovation Activities and Integration through Vertical Acquisitions</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550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Laurent </a:t>
            </a:r>
            <a:r>
              <a:rPr lang="en-US" sz="2900" b="1" dirty="0" err="1">
                <a:solidFill>
                  <a:schemeClr val="tx1"/>
                </a:solidFill>
                <a:ea typeface="Calibri"/>
                <a:cs typeface="Calibri"/>
              </a:rPr>
              <a:t>Fresard</a:t>
            </a:r>
            <a:br>
              <a:rPr lang="en-US" sz="2900" dirty="0">
                <a:solidFill>
                  <a:schemeClr val="tx1"/>
                </a:solidFill>
                <a:ea typeface="Calibri"/>
                <a:cs typeface="Calibri"/>
              </a:rPr>
            </a:br>
            <a:r>
              <a:rPr lang="it-IT" sz="2900" dirty="0">
                <a:solidFill>
                  <a:schemeClr val="tx1"/>
                </a:solidFill>
                <a:ea typeface="Calibri"/>
                <a:cs typeface="Calibri"/>
              </a:rPr>
              <a:t>Universita della Svizzera italiana (USI), Swiss Finance Institute</a:t>
            </a:r>
          </a:p>
          <a:p>
            <a:br>
              <a:rPr lang="en-US" sz="2900" b="1" dirty="0">
                <a:ea typeface="Calibri"/>
                <a:cs typeface="Calibri"/>
              </a:rPr>
            </a:br>
            <a:r>
              <a:rPr lang="en-US" sz="2900" b="1" dirty="0">
                <a:ea typeface="Calibri"/>
                <a:cs typeface="Calibri"/>
              </a:rPr>
              <a:t>Gerard </a:t>
            </a:r>
            <a:r>
              <a:rPr lang="en-US" sz="2900" b="1" dirty="0" err="1">
                <a:ea typeface="Calibri"/>
                <a:cs typeface="Calibri"/>
              </a:rPr>
              <a:t>Hoberg</a:t>
            </a:r>
            <a:br>
              <a:rPr lang="en-US" sz="2900" dirty="0">
                <a:solidFill>
                  <a:schemeClr val="tx1"/>
                </a:solidFill>
                <a:ea typeface="Calibri"/>
                <a:cs typeface="Calibri"/>
              </a:rPr>
            </a:br>
            <a:r>
              <a:rPr lang="en-US" sz="2900" dirty="0">
                <a:solidFill>
                  <a:schemeClr val="tx1"/>
                </a:solidFill>
                <a:ea typeface="Calibri"/>
                <a:cs typeface="Calibri"/>
              </a:rPr>
              <a:t>Marshall School of Business, University of Southern California</a:t>
            </a:r>
          </a:p>
          <a:p>
            <a:br>
              <a:rPr lang="en-US" sz="2900" dirty="0">
                <a:solidFill>
                  <a:schemeClr val="tx1"/>
                </a:solidFill>
                <a:ea typeface="Calibri"/>
                <a:cs typeface="Calibri"/>
              </a:rPr>
            </a:br>
            <a:r>
              <a:rPr lang="en-US" sz="2900" b="1" dirty="0">
                <a:solidFill>
                  <a:schemeClr val="tx1"/>
                </a:solidFill>
                <a:ea typeface="Calibri"/>
                <a:cs typeface="Calibri"/>
              </a:rPr>
              <a:t>Gordon M. Phillips</a:t>
            </a:r>
            <a:br>
              <a:rPr lang="en-US" sz="2900" b="1" dirty="0">
                <a:ea typeface="Calibri"/>
                <a:cs typeface="Calibri"/>
              </a:rPr>
            </a:br>
            <a:r>
              <a:rPr lang="en-US" sz="2900" dirty="0">
                <a:solidFill>
                  <a:schemeClr val="tx1"/>
                </a:solidFill>
                <a:ea typeface="Calibri"/>
                <a:cs typeface="Calibri"/>
              </a:rPr>
              <a:t>Tuck School at Dartmouth College and National Bureau of Economic</a:t>
            </a:r>
          </a:p>
          <a:p>
            <a:r>
              <a:rPr lang="en-US" sz="2900" dirty="0">
                <a:solidFill>
                  <a:schemeClr val="tx1"/>
                </a:solidFill>
                <a:ea typeface="Calibri"/>
                <a:cs typeface="Calibri"/>
              </a:rPr>
              <a:t>Research</a:t>
            </a:r>
          </a:p>
          <a:p>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Calibri"/>
                <a:cs typeface="Times New Roman"/>
              </a:rPr>
              <a:t>The main research question investigates whether the stage of a firm's innovation development—unrealized or realized—affects its likelihood of being vertically acquired and how this stage influences the boundaries and organization of the firm​.</a:t>
            </a: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0"/>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681526"/>
            <a:ext cx="8229600" cy="3803977"/>
          </a:xfrm>
        </p:spPr>
        <p:txBody>
          <a:bodyPr vert="horz" lIns="91440" tIns="45720" rIns="91440" bIns="45720" rtlCol="0" anchor="t">
            <a:noAutofit/>
          </a:bodyPr>
          <a:lstStyle/>
          <a:p>
            <a:pPr marL="342900" lvl="1" indent="-342900">
              <a:buFont typeface="Arial"/>
              <a:buChar char="•"/>
            </a:pPr>
            <a:r>
              <a:rPr lang="en-US" sz="2000" dirty="0"/>
              <a:t>The paper builds on foundational theories of vertical integration and firm boundaries, such as the works of Williamson (1971) and Grossman and Hart (1986), which discuss incentives and opportunistic behavior in integration. </a:t>
            </a:r>
          </a:p>
          <a:p>
            <a:pPr marL="342900" lvl="1" indent="-342900">
              <a:buFont typeface="Arial"/>
              <a:buChar char="•"/>
            </a:pPr>
            <a:r>
              <a:rPr lang="en-US" sz="2000" dirty="0"/>
              <a:t>It also references studies that connect innovation activities to corporate boundaries, such as </a:t>
            </a:r>
            <a:r>
              <a:rPr lang="en-US" sz="2000" dirty="0" err="1"/>
              <a:t>Atalay</a:t>
            </a:r>
            <a:r>
              <a:rPr lang="en-US" sz="2000" dirty="0"/>
              <a:t>, </a:t>
            </a:r>
            <a:r>
              <a:rPr lang="en-US" sz="2000" dirty="0" err="1"/>
              <a:t>Hortacsu</a:t>
            </a:r>
            <a:r>
              <a:rPr lang="en-US" sz="2000" dirty="0"/>
              <a:t>, and </a:t>
            </a:r>
            <a:r>
              <a:rPr lang="en-US" sz="2000" dirty="0" err="1"/>
              <a:t>Syverson</a:t>
            </a:r>
            <a:r>
              <a:rPr lang="en-US" sz="2000" dirty="0"/>
              <a:t> (2014), who suggest that intangible assets, not physical shipments, are critical in vertical structures. </a:t>
            </a:r>
          </a:p>
          <a:p>
            <a:pPr marL="342900" lvl="1" indent="-342900">
              <a:buFont typeface="Arial"/>
              <a:buChar char="•"/>
            </a:pPr>
            <a:r>
              <a:rPr lang="en-US" sz="2000" dirty="0"/>
              <a:t>This study differentiates itself by focusing specifically on how innovation stages affect the motives and organization of vertically integrated acquisitions​.</a:t>
            </a:r>
            <a:endParaRPr lang="en-US" sz="2000" dirty="0">
              <a:ea typeface="Calibri"/>
              <a:cs typeface="Calibri"/>
            </a:endParaRP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6A5-86C3-A8D8-A981-308591F1FD23}"/>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7B4ECBA-3526-6C84-D51B-7013452FF46B}"/>
              </a:ext>
            </a:extLst>
          </p:cNvPr>
          <p:cNvSpPr>
            <a:spLocks noGrp="1"/>
          </p:cNvSpPr>
          <p:nvPr>
            <p:ph idx="1"/>
          </p:nvPr>
        </p:nvSpPr>
        <p:spPr/>
        <p:txBody>
          <a:bodyPr>
            <a:normAutofit fontScale="85000" lnSpcReduction="20000"/>
          </a:bodyPr>
          <a:lstStyle/>
          <a:p>
            <a:r>
              <a:rPr lang="en-US" dirty="0"/>
              <a:t> The authors hypothesize that vertical acquisitions are more probable when a firm’s innovation has transitioned from an unrealized state to a realized and legally protected form, as these stages alter the need for control and reduce holdup risks. </a:t>
            </a:r>
          </a:p>
          <a:p>
            <a:r>
              <a:rPr lang="en-US" dirty="0"/>
              <a:t>They posit that firms with realized innovation are more likely to integrate vertically as this phase allows for greater control transfer to the acquirer, ensuring alignment with commercialization needs​.</a:t>
            </a:r>
          </a:p>
        </p:txBody>
      </p:sp>
    </p:spTree>
    <p:extLst>
      <p:ext uri="{BB962C8B-B14F-4D97-AF65-F5344CB8AC3E}">
        <p14:creationId xmlns:p14="http://schemas.microsoft.com/office/powerpoint/2010/main" val="399648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7CD4B-C4C6-9D72-EEB6-51AD7218BC16}"/>
              </a:ext>
            </a:extLst>
          </p:cNvPr>
          <p:cNvSpPr>
            <a:spLocks noGrp="1"/>
          </p:cNvSpPr>
          <p:nvPr>
            <p:ph type="title"/>
          </p:nvPr>
        </p:nvSpPr>
        <p:spPr/>
        <p:txBody>
          <a:bodyPr/>
          <a:lstStyle/>
          <a:p>
            <a:r>
              <a:rPr lang="en-US" dirty="0"/>
              <a:t>Key Metrics</a:t>
            </a:r>
          </a:p>
        </p:txBody>
      </p:sp>
      <p:sp>
        <p:nvSpPr>
          <p:cNvPr id="3" name="Content Placeholder 2">
            <a:extLst>
              <a:ext uri="{FF2B5EF4-FFF2-40B4-BE49-F238E27FC236}">
                <a16:creationId xmlns:a16="http://schemas.microsoft.com/office/drawing/2014/main" id="{EAB73B4E-31D4-F34C-B410-EB6A2B8EEEC3}"/>
              </a:ext>
            </a:extLst>
          </p:cNvPr>
          <p:cNvSpPr>
            <a:spLocks noGrp="1"/>
          </p:cNvSpPr>
          <p:nvPr>
            <p:ph idx="1"/>
          </p:nvPr>
        </p:nvSpPr>
        <p:spPr>
          <a:xfrm>
            <a:off x="457200" y="1329559"/>
            <a:ext cx="8229600" cy="3394472"/>
          </a:xfrm>
        </p:spPr>
        <p:txBody>
          <a:bodyPr>
            <a:normAutofit/>
          </a:bodyPr>
          <a:lstStyle/>
          <a:p>
            <a:r>
              <a:rPr lang="en-US" sz="2000" b="1" dirty="0"/>
              <a:t>R&amp;D Intensity: </a:t>
            </a:r>
            <a:r>
              <a:rPr lang="en-US" sz="2000" dirty="0"/>
              <a:t>Defined as the ratio of R&amp;D expenditure to sales, this measures unrealized innovation.</a:t>
            </a:r>
          </a:p>
          <a:p>
            <a:endParaRPr lang="en-US" sz="2000" dirty="0"/>
          </a:p>
          <a:p>
            <a:r>
              <a:rPr lang="en-US" sz="2000" b="1" dirty="0"/>
              <a:t>Patenting Intensity: </a:t>
            </a:r>
            <a:r>
              <a:rPr lang="en-US" sz="2000" dirty="0"/>
              <a:t>Calculated as the number of patents per dollar of assets, this represents realized innovation.</a:t>
            </a:r>
          </a:p>
          <a:p>
            <a:endParaRPr lang="en-US" sz="2000" dirty="0"/>
          </a:p>
          <a:p>
            <a:r>
              <a:rPr lang="en-US" sz="2000" b="1" dirty="0"/>
              <a:t>Vertical Relatedness: </a:t>
            </a:r>
            <a:r>
              <a:rPr lang="en-US" sz="2000" dirty="0"/>
              <a:t>A text-based measure to assess firm-pair vertical integration, addressing the limitations of NAICS-based metrics​.</a:t>
            </a:r>
          </a:p>
        </p:txBody>
      </p:sp>
    </p:spTree>
    <p:extLst>
      <p:ext uri="{BB962C8B-B14F-4D97-AF65-F5344CB8AC3E}">
        <p14:creationId xmlns:p14="http://schemas.microsoft.com/office/powerpoint/2010/main" val="144076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2FF-A745-F5D3-D8DB-B77CF69A33F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FB31E7E-BB03-7F85-9FA9-B35E5C0A08A1}"/>
              </a:ext>
            </a:extLst>
          </p:cNvPr>
          <p:cNvSpPr>
            <a:spLocks noGrp="1"/>
          </p:cNvSpPr>
          <p:nvPr>
            <p:ph idx="1"/>
          </p:nvPr>
        </p:nvSpPr>
        <p:spPr>
          <a:xfrm>
            <a:off x="457200" y="1063229"/>
            <a:ext cx="8229600" cy="3394472"/>
          </a:xfrm>
        </p:spPr>
        <p:txBody>
          <a:bodyPr>
            <a:normAutofit fontScale="92500" lnSpcReduction="10000"/>
          </a:bodyPr>
          <a:lstStyle/>
          <a:p>
            <a:r>
              <a:rPr lang="en-US" sz="2400" dirty="0"/>
              <a:t>The findings support the hypothesis, showing that firms are more likely to be acquired vertically when they have higher patenting (realized innovation) but lower R&amp;D intensity.</a:t>
            </a:r>
          </a:p>
          <a:p>
            <a:r>
              <a:rPr lang="en-US" sz="2400" dirty="0"/>
              <a:t>Furthermore, vertical acquisitions identified with the text-based approach showed significant positive returns, indicating that such acquisitions are value-creating. </a:t>
            </a:r>
          </a:p>
          <a:p>
            <a:r>
              <a:rPr lang="en-US" sz="2400" dirty="0"/>
              <a:t>The data reveal that R&amp;D spending tends to decline post-acquisition, while patents increase only around the acquisition period, reinforcing the alignment with commercialization rather than innovation development​.</a:t>
            </a:r>
          </a:p>
        </p:txBody>
      </p:sp>
    </p:spTree>
    <p:extLst>
      <p:ext uri="{BB962C8B-B14F-4D97-AF65-F5344CB8AC3E}">
        <p14:creationId xmlns:p14="http://schemas.microsoft.com/office/powerpoint/2010/main" val="2280721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7CF-9F86-8098-130C-FD3F046D2086}"/>
              </a:ext>
            </a:extLst>
          </p:cNvPr>
          <p:cNvSpPr>
            <a:spLocks noGrp="1"/>
          </p:cNvSpPr>
          <p:nvPr>
            <p:ph type="title"/>
          </p:nvPr>
        </p:nvSpPr>
        <p:spPr/>
        <p:txBody>
          <a:bodyPr/>
          <a:lstStyle/>
          <a:p>
            <a:r>
              <a:rPr lang="en-US" dirty="0"/>
              <a:t>Data Collection</a:t>
            </a:r>
          </a:p>
        </p:txBody>
      </p:sp>
      <p:sp>
        <p:nvSpPr>
          <p:cNvPr id="3" name="Content Placeholder 2">
            <a:extLst>
              <a:ext uri="{FF2B5EF4-FFF2-40B4-BE49-F238E27FC236}">
                <a16:creationId xmlns:a16="http://schemas.microsoft.com/office/drawing/2014/main" id="{15D56D45-BDC3-3D0B-671F-78DDB007EF2F}"/>
              </a:ext>
            </a:extLst>
          </p:cNvPr>
          <p:cNvSpPr>
            <a:spLocks noGrp="1"/>
          </p:cNvSpPr>
          <p:nvPr>
            <p:ph idx="1"/>
          </p:nvPr>
        </p:nvSpPr>
        <p:spPr/>
        <p:txBody>
          <a:bodyPr>
            <a:normAutofit fontScale="85000" lnSpcReduction="10000"/>
          </a:bodyPr>
          <a:lstStyle/>
          <a:p>
            <a:r>
              <a:rPr lang="en-US" dirty="0"/>
              <a:t>The data comprises 61,463 firm-year observations from </a:t>
            </a:r>
            <a:r>
              <a:rPr lang="en-US" dirty="0" err="1"/>
              <a:t>Compustat</a:t>
            </a:r>
            <a:r>
              <a:rPr lang="en-US" dirty="0"/>
              <a:t>, EDGAR filings, and patent records from the United States Patent and Trademark Office (USPTO) for the period 1996-2013. </a:t>
            </a:r>
          </a:p>
          <a:p>
            <a:r>
              <a:rPr lang="en-US" dirty="0"/>
              <a:t>Firms in the sample are non-financial with annual sales above $5 million, and patenting data is combined from the NBER patent database and additional updates by Kogan et al. (2017)​.</a:t>
            </a:r>
          </a:p>
        </p:txBody>
      </p:sp>
    </p:spTree>
    <p:extLst>
      <p:ext uri="{BB962C8B-B14F-4D97-AF65-F5344CB8AC3E}">
        <p14:creationId xmlns:p14="http://schemas.microsoft.com/office/powerpoint/2010/main" val="102931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E6E2F-778B-F876-EC13-EDE808E9818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2483130-0D99-00F4-0FFB-A15C2EAEFC3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E92B5AA-9983-4D1B-48F1-9A517AC8C34D}"/>
              </a:ext>
            </a:extLst>
          </p:cNvPr>
          <p:cNvPicPr>
            <a:picLocks noChangeAspect="1"/>
          </p:cNvPicPr>
          <p:nvPr/>
        </p:nvPicPr>
        <p:blipFill>
          <a:blip r:embed="rId2"/>
          <a:stretch>
            <a:fillRect/>
          </a:stretch>
        </p:blipFill>
        <p:spPr>
          <a:xfrm>
            <a:off x="718204" y="390469"/>
            <a:ext cx="7968596" cy="4547052"/>
          </a:xfrm>
          <a:prstGeom prst="rect">
            <a:avLst/>
          </a:prstGeom>
        </p:spPr>
      </p:pic>
    </p:spTree>
    <p:extLst>
      <p:ext uri="{BB962C8B-B14F-4D97-AF65-F5344CB8AC3E}">
        <p14:creationId xmlns:p14="http://schemas.microsoft.com/office/powerpoint/2010/main" val="1343846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DBA18-38D5-397B-32DE-1B0852EAE1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938BA0-CD07-4609-8843-05218778308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15BF9E3-3854-0202-32D0-4A3EFCB7FB3F}"/>
              </a:ext>
            </a:extLst>
          </p:cNvPr>
          <p:cNvPicPr>
            <a:picLocks noChangeAspect="1"/>
          </p:cNvPicPr>
          <p:nvPr/>
        </p:nvPicPr>
        <p:blipFill>
          <a:blip r:embed="rId2"/>
          <a:stretch>
            <a:fillRect/>
          </a:stretch>
        </p:blipFill>
        <p:spPr>
          <a:xfrm>
            <a:off x="1496913" y="306306"/>
            <a:ext cx="6150173" cy="4530887"/>
          </a:xfrm>
          <a:prstGeom prst="rect">
            <a:avLst/>
          </a:prstGeom>
        </p:spPr>
      </p:pic>
    </p:spTree>
    <p:extLst>
      <p:ext uri="{BB962C8B-B14F-4D97-AF65-F5344CB8AC3E}">
        <p14:creationId xmlns:p14="http://schemas.microsoft.com/office/powerpoint/2010/main" val="2293964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6EE97-3F0B-9AD6-7686-420DF30211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A3F0FB-9555-5B9D-1F44-6E806D75AF7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F6FCFBA-6E30-1888-2DA9-CAECF8B3CFA7}"/>
              </a:ext>
            </a:extLst>
          </p:cNvPr>
          <p:cNvPicPr>
            <a:picLocks noChangeAspect="1"/>
          </p:cNvPicPr>
          <p:nvPr/>
        </p:nvPicPr>
        <p:blipFill>
          <a:blip r:embed="rId2"/>
          <a:stretch>
            <a:fillRect/>
          </a:stretch>
        </p:blipFill>
        <p:spPr>
          <a:xfrm>
            <a:off x="2006791" y="274438"/>
            <a:ext cx="5130418" cy="4594623"/>
          </a:xfrm>
          <a:prstGeom prst="rect">
            <a:avLst/>
          </a:prstGeom>
        </p:spPr>
      </p:pic>
    </p:spTree>
    <p:extLst>
      <p:ext uri="{BB962C8B-B14F-4D97-AF65-F5344CB8AC3E}">
        <p14:creationId xmlns:p14="http://schemas.microsoft.com/office/powerpoint/2010/main" val="3905501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91D44-AB79-2C10-974E-DB75A8BF7E61}"/>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407BCEBF-C63F-1365-A8C1-38CA1B10862F}"/>
              </a:ext>
            </a:extLst>
          </p:cNvPr>
          <p:cNvPicPr>
            <a:picLocks noGrp="1" noChangeAspect="1"/>
          </p:cNvPicPr>
          <p:nvPr>
            <p:ph idx="1"/>
          </p:nvPr>
        </p:nvPicPr>
        <p:blipFill>
          <a:blip r:embed="rId3"/>
          <a:stretch>
            <a:fillRect/>
          </a:stretch>
        </p:blipFill>
        <p:spPr>
          <a:xfrm>
            <a:off x="457200" y="478172"/>
            <a:ext cx="8527665" cy="4314292"/>
          </a:xfrm>
        </p:spPr>
      </p:pic>
    </p:spTree>
    <p:extLst>
      <p:ext uri="{BB962C8B-B14F-4D97-AF65-F5344CB8AC3E}">
        <p14:creationId xmlns:p14="http://schemas.microsoft.com/office/powerpoint/2010/main" val="1866333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C9A1-2168-C5AE-8567-3CD1A7E7B9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09290D-242F-BB7A-7C3D-FB1D4986C2F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44216FB-4356-7B80-C126-0CFCE850BFD4}"/>
              </a:ext>
            </a:extLst>
          </p:cNvPr>
          <p:cNvPicPr>
            <a:picLocks noChangeAspect="1"/>
          </p:cNvPicPr>
          <p:nvPr/>
        </p:nvPicPr>
        <p:blipFill>
          <a:blip r:embed="rId2"/>
          <a:stretch>
            <a:fillRect/>
          </a:stretch>
        </p:blipFill>
        <p:spPr>
          <a:xfrm>
            <a:off x="2147508" y="431584"/>
            <a:ext cx="4710090" cy="4505937"/>
          </a:xfrm>
          <a:prstGeom prst="rect">
            <a:avLst/>
          </a:prstGeom>
        </p:spPr>
      </p:pic>
    </p:spTree>
    <p:extLst>
      <p:ext uri="{BB962C8B-B14F-4D97-AF65-F5344CB8AC3E}">
        <p14:creationId xmlns:p14="http://schemas.microsoft.com/office/powerpoint/2010/main" val="2803546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E605D-4E6A-4108-988E-0061C1D9504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9CE6CCA-CB44-6792-7775-DB96836BE4E9}"/>
              </a:ext>
            </a:extLst>
          </p:cNvPr>
          <p:cNvPicPr>
            <a:picLocks noGrp="1" noChangeAspect="1"/>
          </p:cNvPicPr>
          <p:nvPr>
            <p:ph idx="1"/>
          </p:nvPr>
        </p:nvPicPr>
        <p:blipFill>
          <a:blip r:embed="rId3"/>
          <a:stretch>
            <a:fillRect/>
          </a:stretch>
        </p:blipFill>
        <p:spPr>
          <a:xfrm>
            <a:off x="1768170" y="487086"/>
            <a:ext cx="5607659" cy="4372222"/>
          </a:xfrm>
        </p:spPr>
      </p:pic>
    </p:spTree>
    <p:extLst>
      <p:ext uri="{BB962C8B-B14F-4D97-AF65-F5344CB8AC3E}">
        <p14:creationId xmlns:p14="http://schemas.microsoft.com/office/powerpoint/2010/main" val="4094571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79371-CE55-B4EA-7AE3-A2AE5AEA46F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93D5371-76FB-3721-E3A0-2D3F86CBBE37}"/>
              </a:ext>
            </a:extLst>
          </p:cNvPr>
          <p:cNvPicPr>
            <a:picLocks noGrp="1" noChangeAspect="1"/>
          </p:cNvPicPr>
          <p:nvPr>
            <p:ph idx="1"/>
          </p:nvPr>
        </p:nvPicPr>
        <p:blipFill>
          <a:blip r:embed="rId3"/>
          <a:stretch>
            <a:fillRect/>
          </a:stretch>
        </p:blipFill>
        <p:spPr>
          <a:xfrm>
            <a:off x="1709980" y="205979"/>
            <a:ext cx="5724040" cy="4879064"/>
          </a:xfrm>
        </p:spPr>
      </p:pic>
    </p:spTree>
    <p:extLst>
      <p:ext uri="{BB962C8B-B14F-4D97-AF65-F5344CB8AC3E}">
        <p14:creationId xmlns:p14="http://schemas.microsoft.com/office/powerpoint/2010/main" val="2507283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A37A-9D89-5D81-4FB2-871E3D89E53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DA3C072-6A93-8595-651A-15688DCC4A25}"/>
              </a:ext>
            </a:extLst>
          </p:cNvPr>
          <p:cNvPicPr>
            <a:picLocks noGrp="1" noChangeAspect="1"/>
          </p:cNvPicPr>
          <p:nvPr>
            <p:ph idx="1"/>
          </p:nvPr>
        </p:nvPicPr>
        <p:blipFill>
          <a:blip r:embed="rId3"/>
          <a:stretch>
            <a:fillRect/>
          </a:stretch>
        </p:blipFill>
        <p:spPr>
          <a:xfrm>
            <a:off x="547381" y="454864"/>
            <a:ext cx="8049237" cy="4233772"/>
          </a:xfrm>
        </p:spPr>
      </p:pic>
    </p:spTree>
    <p:extLst>
      <p:ext uri="{BB962C8B-B14F-4D97-AF65-F5344CB8AC3E}">
        <p14:creationId xmlns:p14="http://schemas.microsoft.com/office/powerpoint/2010/main" val="2645720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C3C87-009E-BD25-FD51-2EA421A1EC4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1EE7417-C31D-6427-4353-397D4449D6E1}"/>
              </a:ext>
            </a:extLst>
          </p:cNvPr>
          <p:cNvPicPr>
            <a:picLocks noGrp="1" noChangeAspect="1"/>
          </p:cNvPicPr>
          <p:nvPr>
            <p:ph idx="1"/>
          </p:nvPr>
        </p:nvPicPr>
        <p:blipFill>
          <a:blip r:embed="rId3"/>
          <a:stretch>
            <a:fillRect/>
          </a:stretch>
        </p:blipFill>
        <p:spPr>
          <a:xfrm>
            <a:off x="444641" y="346794"/>
            <a:ext cx="8254718" cy="4449911"/>
          </a:xfrm>
        </p:spPr>
      </p:pic>
    </p:spTree>
    <p:extLst>
      <p:ext uri="{BB962C8B-B14F-4D97-AF65-F5344CB8AC3E}">
        <p14:creationId xmlns:p14="http://schemas.microsoft.com/office/powerpoint/2010/main" val="3743595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00A1B-5CAC-07BC-40DD-9408B82D9DC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ECE5564-DD8D-6F61-7724-D9E38310A252}"/>
              </a:ext>
            </a:extLst>
          </p:cNvPr>
          <p:cNvPicPr>
            <a:picLocks noGrp="1" noChangeAspect="1"/>
          </p:cNvPicPr>
          <p:nvPr>
            <p:ph idx="1"/>
          </p:nvPr>
        </p:nvPicPr>
        <p:blipFill>
          <a:blip r:embed="rId3"/>
          <a:stretch>
            <a:fillRect/>
          </a:stretch>
        </p:blipFill>
        <p:spPr>
          <a:xfrm>
            <a:off x="2004195" y="227579"/>
            <a:ext cx="5135610" cy="4688341"/>
          </a:xfrm>
        </p:spPr>
      </p:pic>
    </p:spTree>
    <p:extLst>
      <p:ext uri="{BB962C8B-B14F-4D97-AF65-F5344CB8AC3E}">
        <p14:creationId xmlns:p14="http://schemas.microsoft.com/office/powerpoint/2010/main" val="3138288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E861E-8A5B-0432-90E3-004DE2281E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43D6AF-09B2-1E87-96C6-19FBCA07F0E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C532041-3843-A059-B571-5F77960B853A}"/>
              </a:ext>
            </a:extLst>
          </p:cNvPr>
          <p:cNvPicPr>
            <a:picLocks noChangeAspect="1"/>
          </p:cNvPicPr>
          <p:nvPr/>
        </p:nvPicPr>
        <p:blipFill>
          <a:blip r:embed="rId3"/>
          <a:stretch>
            <a:fillRect/>
          </a:stretch>
        </p:blipFill>
        <p:spPr>
          <a:xfrm>
            <a:off x="210190" y="364685"/>
            <a:ext cx="8723619" cy="3964034"/>
          </a:xfrm>
          <a:prstGeom prst="rect">
            <a:avLst/>
          </a:prstGeom>
        </p:spPr>
      </p:pic>
    </p:spTree>
    <p:extLst>
      <p:ext uri="{BB962C8B-B14F-4D97-AF65-F5344CB8AC3E}">
        <p14:creationId xmlns:p14="http://schemas.microsoft.com/office/powerpoint/2010/main" val="1393657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19868-FE8E-A00F-8F10-61DDA5CA60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1B6B8C-7696-C4AD-6A53-6419F23C621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468F189-E398-255F-FDB7-4DC8B2D50899}"/>
              </a:ext>
            </a:extLst>
          </p:cNvPr>
          <p:cNvPicPr>
            <a:picLocks noChangeAspect="1"/>
          </p:cNvPicPr>
          <p:nvPr/>
        </p:nvPicPr>
        <p:blipFill>
          <a:blip r:embed="rId3"/>
          <a:stretch>
            <a:fillRect/>
          </a:stretch>
        </p:blipFill>
        <p:spPr>
          <a:xfrm>
            <a:off x="1109444" y="147961"/>
            <a:ext cx="6925112" cy="4847578"/>
          </a:xfrm>
          <a:prstGeom prst="rect">
            <a:avLst/>
          </a:prstGeom>
        </p:spPr>
      </p:pic>
    </p:spTree>
    <p:extLst>
      <p:ext uri="{BB962C8B-B14F-4D97-AF65-F5344CB8AC3E}">
        <p14:creationId xmlns:p14="http://schemas.microsoft.com/office/powerpoint/2010/main" val="3296791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EDE93-69B4-B766-2491-81079DE5E8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7E13CE1-CD23-544C-9342-9351D33C09F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7B35DA6-6A21-D877-87A1-E82FF39C5B60}"/>
              </a:ext>
            </a:extLst>
          </p:cNvPr>
          <p:cNvPicPr>
            <a:picLocks noChangeAspect="1"/>
          </p:cNvPicPr>
          <p:nvPr/>
        </p:nvPicPr>
        <p:blipFill>
          <a:blip r:embed="rId3"/>
          <a:stretch>
            <a:fillRect/>
          </a:stretch>
        </p:blipFill>
        <p:spPr>
          <a:xfrm>
            <a:off x="324414" y="205979"/>
            <a:ext cx="8495172" cy="4491856"/>
          </a:xfrm>
          <a:prstGeom prst="rect">
            <a:avLst/>
          </a:prstGeom>
        </p:spPr>
      </p:pic>
    </p:spTree>
    <p:extLst>
      <p:ext uri="{BB962C8B-B14F-4D97-AF65-F5344CB8AC3E}">
        <p14:creationId xmlns:p14="http://schemas.microsoft.com/office/powerpoint/2010/main" val="1357993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2D433-E20A-6DF6-EB2C-E83923A1AFD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4C09BE5-C308-9A56-228E-9504F99AAA70}"/>
              </a:ext>
            </a:extLst>
          </p:cNvPr>
          <p:cNvPicPr>
            <a:picLocks noGrp="1" noChangeAspect="1"/>
          </p:cNvPicPr>
          <p:nvPr>
            <p:ph idx="1"/>
          </p:nvPr>
        </p:nvPicPr>
        <p:blipFill>
          <a:blip r:embed="rId3"/>
          <a:stretch>
            <a:fillRect/>
          </a:stretch>
        </p:blipFill>
        <p:spPr>
          <a:xfrm>
            <a:off x="1084277" y="314342"/>
            <a:ext cx="6975446" cy="4514816"/>
          </a:xfrm>
        </p:spPr>
      </p:pic>
    </p:spTree>
    <p:extLst>
      <p:ext uri="{BB962C8B-B14F-4D97-AF65-F5344CB8AC3E}">
        <p14:creationId xmlns:p14="http://schemas.microsoft.com/office/powerpoint/2010/main" val="3393607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94D3-909B-BD96-164C-2B73DA61960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809D06F-99B2-9518-6B5C-65EF09135218}"/>
              </a:ext>
            </a:extLst>
          </p:cNvPr>
          <p:cNvSpPr>
            <a:spLocks noGrp="1"/>
          </p:cNvSpPr>
          <p:nvPr>
            <p:ph idx="1"/>
          </p:nvPr>
        </p:nvSpPr>
        <p:spPr>
          <a:xfrm>
            <a:off x="457200" y="1063229"/>
            <a:ext cx="8229600" cy="3394472"/>
          </a:xfrm>
        </p:spPr>
        <p:txBody>
          <a:bodyPr>
            <a:normAutofit/>
          </a:bodyPr>
          <a:lstStyle/>
          <a:p>
            <a:r>
              <a:rPr lang="en-US" sz="1800" b="1" dirty="0"/>
              <a:t>Stage of Innovation Affects Acquisition Likelihood: </a:t>
            </a:r>
            <a:r>
              <a:rPr lang="en-US" sz="1800" dirty="0"/>
              <a:t>Firms in early innovation stages (high R&amp;D intensity) are less likely to be vertically acquired, preserving control and R&amp;D incentives, while those with mature, patented innovation are more likely targets, supporting efficient commercialization and reducing holdup risk.</a:t>
            </a:r>
          </a:p>
          <a:p>
            <a:r>
              <a:rPr lang="en-US" sz="1800" b="1" dirty="0"/>
              <a:t>Theoretical Validation: </a:t>
            </a:r>
            <a:r>
              <a:rPr lang="en-US" sz="1800" dirty="0"/>
              <a:t>Findings align with property rights and contracting theories, confirming that vertical acquisitions balance the need for innovation incentives (ex ante) with minimizing commercialization risks (ex post) in the integration decision-making process.</a:t>
            </a:r>
          </a:p>
        </p:txBody>
      </p:sp>
    </p:spTree>
    <p:extLst>
      <p:ext uri="{BB962C8B-B14F-4D97-AF65-F5344CB8AC3E}">
        <p14:creationId xmlns:p14="http://schemas.microsoft.com/office/powerpoint/2010/main" val="3235664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E64A7C7C8D8942ABE466F3AC32BB0E" ma:contentTypeVersion="6" ma:contentTypeDescription="Create a new document." ma:contentTypeScope="" ma:versionID="ef648cd0a4d738a27aa9253740c30aa6">
  <xsd:schema xmlns:xsd="http://www.w3.org/2001/XMLSchema" xmlns:xs="http://www.w3.org/2001/XMLSchema" xmlns:p="http://schemas.microsoft.com/office/2006/metadata/properties" xmlns:ns3="1fe8f82f-0556-4c42-a658-6aa8fd4f9ee2" targetNamespace="http://schemas.microsoft.com/office/2006/metadata/properties" ma:root="true" ma:fieldsID="5f081ffb0889366177bbb0fe137485fe" ns3:_="">
    <xsd:import namespace="1fe8f82f-0556-4c42-a658-6aa8fd4f9e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e8f82f-0556-4c42-a658-6aa8fd4f9e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fe8f82f-0556-4c42-a658-6aa8fd4f9ee2" xsi:nil="true"/>
  </documentManagement>
</p:properties>
</file>

<file path=customXml/itemProps1.xml><?xml version="1.0" encoding="utf-8"?>
<ds:datastoreItem xmlns:ds="http://schemas.openxmlformats.org/officeDocument/2006/customXml" ds:itemID="{8F324E69-EE82-4883-B96D-18BE646D0B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e8f82f-0556-4c42-a658-6aa8fd4f9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9F502D-FA94-4398-A8EF-92E089490A40}">
  <ds:schemaRefs>
    <ds:schemaRef ds:uri="http://schemas.microsoft.com/sharepoint/v3/contenttype/forms"/>
  </ds:schemaRefs>
</ds:datastoreItem>
</file>

<file path=customXml/itemProps3.xml><?xml version="1.0" encoding="utf-8"?>
<ds:datastoreItem xmlns:ds="http://schemas.openxmlformats.org/officeDocument/2006/customXml" ds:itemID="{6A5FFBEB-A448-4BA1-A8D8-5F9D7FB6B153}">
  <ds:schemaRefs>
    <ds:schemaRef ds:uri="http://purl.org/dc/elements/1.1/"/>
    <ds:schemaRef ds:uri="http://schemas.microsoft.com/office/2006/metadata/properties"/>
    <ds:schemaRef ds:uri="http://schemas.openxmlformats.org/package/2006/metadata/core-properties"/>
    <ds:schemaRef ds:uri="http://schemas.microsoft.com/office/2006/documentManagement/types"/>
    <ds:schemaRef ds:uri="1fe8f82f-0556-4c42-a658-6aa8fd4f9ee2"/>
    <ds:schemaRef ds:uri="http://schemas.microsoft.com/office/infopath/2007/PartnerControls"/>
    <ds:schemaRef ds:uri="http://www.w3.org/XML/1998/namespace"/>
    <ds:schemaRef ds:uri="http://purl.org/dc/dcmitype/"/>
    <ds:schemaRef ds:uri="http://purl.org/dc/terms/"/>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6622</TotalTime>
  <Words>4719</Words>
  <Application>Microsoft Office PowerPoint</Application>
  <PresentationFormat>On-screen Show (16:9)</PresentationFormat>
  <Paragraphs>246</Paragraphs>
  <Slides>22</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Innovation Activities and Integration through Vertical Acquisitions</vt:lpstr>
      <vt:lpstr>Research Question</vt:lpstr>
      <vt:lpstr>Prior Literature</vt:lpstr>
      <vt:lpstr>Hypothesis</vt:lpstr>
      <vt:lpstr>Key Metrics</vt:lpstr>
      <vt:lpstr>Results</vt:lpstr>
      <vt:lpstr>Data Collection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355</cp:revision>
  <dcterms:created xsi:type="dcterms:W3CDTF">2020-09-10T18:37:45Z</dcterms:created>
  <dcterms:modified xsi:type="dcterms:W3CDTF">2024-10-29T13:30:50Z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0x01010092E64A7C7C8D8942ABE466F3AC32BB0E</vt:lpwstr>
  </property>
</Properties>
</file>