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56" r:id="rId5"/>
    <p:sldId id="315" r:id="rId6"/>
    <p:sldId id="346" r:id="rId7"/>
    <p:sldId id="530" r:id="rId8"/>
    <p:sldId id="567" r:id="rId9"/>
    <p:sldId id="533" r:id="rId10"/>
    <p:sldId id="534" r:id="rId11"/>
    <p:sldId id="554" r:id="rId12"/>
    <p:sldId id="555" r:id="rId13"/>
    <p:sldId id="556" r:id="rId14"/>
    <p:sldId id="557" r:id="rId15"/>
    <p:sldId id="558" r:id="rId16"/>
    <p:sldId id="559" r:id="rId17"/>
    <p:sldId id="560" r:id="rId18"/>
    <p:sldId id="561" r:id="rId19"/>
    <p:sldId id="562" r:id="rId20"/>
    <p:sldId id="563" r:id="rId21"/>
    <p:sldId id="564" r:id="rId22"/>
    <p:sldId id="553" r:id="rId23"/>
    <p:sldId id="565" r:id="rId24"/>
    <p:sldId id="566" r:id="rId25"/>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67"/>
            <p14:sldId id="533"/>
            <p14:sldId id="534"/>
            <p14:sldId id="554"/>
            <p14:sldId id="555"/>
            <p14:sldId id="556"/>
            <p14:sldId id="557"/>
            <p14:sldId id="558"/>
            <p14:sldId id="559"/>
            <p14:sldId id="560"/>
            <p14:sldId id="561"/>
            <p14:sldId id="562"/>
            <p14:sldId id="563"/>
            <p14:sldId id="564"/>
            <p14:sldId id="553"/>
            <p14:sldId id="565"/>
            <p14:sldId id="56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A47F4-2BCF-4CEA-B27C-B33A411EDD1A}" v="17" dt="2024-11-12T03:38:51.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5" autoAdjust="0"/>
    <p:restoredTop sz="82972" autoAdjust="0"/>
  </p:normalViewPr>
  <p:slideViewPr>
    <p:cSldViewPr snapToGrid="0">
      <p:cViewPr>
        <p:scale>
          <a:sx n="90" d="100"/>
          <a:sy n="90" d="100"/>
        </p:scale>
        <p:origin x="116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d9206161-76a2-4d0d-bb71-2bac416203d9" providerId="ADAL" clId="{2A9A47F4-2BCF-4CEA-B27C-B33A411EDD1A}"/>
    <pc:docChg chg="undo redo custSel addSld delSld modSld modSection">
      <pc:chgData name="Austin Francis" userId="d9206161-76a2-4d0d-bb71-2bac416203d9" providerId="ADAL" clId="{2A9A47F4-2BCF-4CEA-B27C-B33A411EDD1A}" dt="2024-11-12T15:10:06.530" v="1214" actId="20577"/>
      <pc:docMkLst>
        <pc:docMk/>
      </pc:docMkLst>
      <pc:sldChg chg="modNotesTx">
        <pc:chgData name="Austin Francis" userId="d9206161-76a2-4d0d-bb71-2bac416203d9" providerId="ADAL" clId="{2A9A47F4-2BCF-4CEA-B27C-B33A411EDD1A}" dt="2024-11-12T14:58:26.847" v="1059" actId="20577"/>
        <pc:sldMkLst>
          <pc:docMk/>
          <pc:sldMk cId="718245954" sldId="315"/>
        </pc:sldMkLst>
      </pc:sldChg>
      <pc:sldChg chg="addSp delSp modSp mod">
        <pc:chgData name="Austin Francis" userId="d9206161-76a2-4d0d-bb71-2bac416203d9" providerId="ADAL" clId="{2A9A47F4-2BCF-4CEA-B27C-B33A411EDD1A}" dt="2024-11-12T00:43:26.233" v="232" actId="255"/>
        <pc:sldMkLst>
          <pc:docMk/>
          <pc:sldMk cId="869680711" sldId="346"/>
        </pc:sldMkLst>
        <pc:spChg chg="add del mod">
          <ac:chgData name="Austin Francis" userId="d9206161-76a2-4d0d-bb71-2bac416203d9" providerId="ADAL" clId="{2A9A47F4-2BCF-4CEA-B27C-B33A411EDD1A}" dt="2024-11-12T00:43:26.233" v="232" actId="255"/>
          <ac:spMkLst>
            <pc:docMk/>
            <pc:sldMk cId="869680711" sldId="346"/>
            <ac:spMk id="3" creationId="{EC44ADDE-7BAE-4D27-8839-0025B3A2D42C}"/>
          </ac:spMkLst>
        </pc:spChg>
        <pc:spChg chg="add">
          <ac:chgData name="Austin Francis" userId="d9206161-76a2-4d0d-bb71-2bac416203d9" providerId="ADAL" clId="{2A9A47F4-2BCF-4CEA-B27C-B33A411EDD1A}" dt="2024-11-12T00:42:26.658" v="213"/>
          <ac:spMkLst>
            <pc:docMk/>
            <pc:sldMk cId="869680711" sldId="346"/>
            <ac:spMk id="6" creationId="{F1A7C164-2B1B-3A31-D25F-C50C59E99D69}"/>
          </ac:spMkLst>
        </pc:spChg>
        <pc:spChg chg="add mod">
          <ac:chgData name="Austin Francis" userId="d9206161-76a2-4d0d-bb71-2bac416203d9" providerId="ADAL" clId="{2A9A47F4-2BCF-4CEA-B27C-B33A411EDD1A}" dt="2024-11-12T00:42:35.137" v="218"/>
          <ac:spMkLst>
            <pc:docMk/>
            <pc:sldMk cId="869680711" sldId="346"/>
            <ac:spMk id="7" creationId="{727C7B0F-5530-0DA3-7553-C2E9479F36A5}"/>
          </ac:spMkLst>
        </pc:spChg>
        <pc:spChg chg="add">
          <ac:chgData name="Austin Francis" userId="d9206161-76a2-4d0d-bb71-2bac416203d9" providerId="ADAL" clId="{2A9A47F4-2BCF-4CEA-B27C-B33A411EDD1A}" dt="2024-11-12T00:42:45.652" v="223"/>
          <ac:spMkLst>
            <pc:docMk/>
            <pc:sldMk cId="869680711" sldId="346"/>
            <ac:spMk id="8" creationId="{AF085BD0-C3C5-7AA1-E166-A9687247445A}"/>
          </ac:spMkLst>
        </pc:spChg>
        <pc:spChg chg="add">
          <ac:chgData name="Austin Francis" userId="d9206161-76a2-4d0d-bb71-2bac416203d9" providerId="ADAL" clId="{2A9A47F4-2BCF-4CEA-B27C-B33A411EDD1A}" dt="2024-11-12T00:43:09.232" v="228"/>
          <ac:spMkLst>
            <pc:docMk/>
            <pc:sldMk cId="869680711" sldId="346"/>
            <ac:spMk id="9" creationId="{623338A3-BB81-ACB9-50F0-B9ECD11560A0}"/>
          </ac:spMkLst>
        </pc:spChg>
      </pc:sldChg>
      <pc:sldChg chg="del">
        <pc:chgData name="Austin Francis" userId="d9206161-76a2-4d0d-bb71-2bac416203d9" providerId="ADAL" clId="{2A9A47F4-2BCF-4CEA-B27C-B33A411EDD1A}" dt="2024-11-12T01:18:15.942" v="263" actId="2696"/>
        <pc:sldMkLst>
          <pc:docMk/>
          <pc:sldMk cId="144076704" sldId="531"/>
        </pc:sldMkLst>
      </pc:sldChg>
      <pc:sldChg chg="modSp mod">
        <pc:chgData name="Austin Francis" userId="d9206161-76a2-4d0d-bb71-2bac416203d9" providerId="ADAL" clId="{2A9A47F4-2BCF-4CEA-B27C-B33A411EDD1A}" dt="2024-11-12T03:31:32.250" v="905" actId="1076"/>
        <pc:sldMkLst>
          <pc:docMk/>
          <pc:sldMk cId="102931800" sldId="534"/>
        </pc:sldMkLst>
        <pc:spChg chg="mod">
          <ac:chgData name="Austin Francis" userId="d9206161-76a2-4d0d-bb71-2bac416203d9" providerId="ADAL" clId="{2A9A47F4-2BCF-4CEA-B27C-B33A411EDD1A}" dt="2024-11-12T03:31:32.250" v="905" actId="1076"/>
          <ac:spMkLst>
            <pc:docMk/>
            <pc:sldMk cId="102931800" sldId="534"/>
            <ac:spMk id="3" creationId="{15D56D45-BDC3-3D0B-671F-78DDB007EF2F}"/>
          </ac:spMkLst>
        </pc:spChg>
      </pc:sldChg>
      <pc:sldChg chg="modNotesTx">
        <pc:chgData name="Austin Francis" userId="d9206161-76a2-4d0d-bb71-2bac416203d9" providerId="ADAL" clId="{2A9A47F4-2BCF-4CEA-B27C-B33A411EDD1A}" dt="2024-11-12T15:09:10.903" v="1134" actId="20577"/>
        <pc:sldMkLst>
          <pc:docMk/>
          <pc:sldMk cId="3251187517" sldId="553"/>
        </pc:sldMkLst>
      </pc:sldChg>
      <pc:sldChg chg="modNotesTx">
        <pc:chgData name="Austin Francis" userId="d9206161-76a2-4d0d-bb71-2bac416203d9" providerId="ADAL" clId="{2A9A47F4-2BCF-4CEA-B27C-B33A411EDD1A}" dt="2024-11-12T02:46:03.600" v="472" actId="20577"/>
        <pc:sldMkLst>
          <pc:docMk/>
          <pc:sldMk cId="511155946" sldId="554"/>
        </pc:sldMkLst>
      </pc:sldChg>
      <pc:sldChg chg="modNotesTx">
        <pc:chgData name="Austin Francis" userId="d9206161-76a2-4d0d-bb71-2bac416203d9" providerId="ADAL" clId="{2A9A47F4-2BCF-4CEA-B27C-B33A411EDD1A}" dt="2024-11-12T02:55:28.624" v="719" actId="20577"/>
        <pc:sldMkLst>
          <pc:docMk/>
          <pc:sldMk cId="3275124480" sldId="555"/>
        </pc:sldMkLst>
      </pc:sldChg>
      <pc:sldChg chg="modNotesTx">
        <pc:chgData name="Austin Francis" userId="d9206161-76a2-4d0d-bb71-2bac416203d9" providerId="ADAL" clId="{2A9A47F4-2BCF-4CEA-B27C-B33A411EDD1A}" dt="2024-11-12T02:57:41.871" v="778" actId="20577"/>
        <pc:sldMkLst>
          <pc:docMk/>
          <pc:sldMk cId="2101537241" sldId="556"/>
        </pc:sldMkLst>
      </pc:sldChg>
      <pc:sldChg chg="modNotesTx">
        <pc:chgData name="Austin Francis" userId="d9206161-76a2-4d0d-bb71-2bac416203d9" providerId="ADAL" clId="{2A9A47F4-2BCF-4CEA-B27C-B33A411EDD1A}" dt="2024-11-12T03:06:40.973" v="835" actId="20577"/>
        <pc:sldMkLst>
          <pc:docMk/>
          <pc:sldMk cId="3088249030" sldId="559"/>
        </pc:sldMkLst>
      </pc:sldChg>
      <pc:sldChg chg="modNotesTx">
        <pc:chgData name="Austin Francis" userId="d9206161-76a2-4d0d-bb71-2bac416203d9" providerId="ADAL" clId="{2A9A47F4-2BCF-4CEA-B27C-B33A411EDD1A}" dt="2024-11-12T03:39:29.800" v="1054" actId="20577"/>
        <pc:sldMkLst>
          <pc:docMk/>
          <pc:sldMk cId="887882070" sldId="560"/>
        </pc:sldMkLst>
      </pc:sldChg>
      <pc:sldChg chg="modNotesTx">
        <pc:chgData name="Austin Francis" userId="d9206161-76a2-4d0d-bb71-2bac416203d9" providerId="ADAL" clId="{2A9A47F4-2BCF-4CEA-B27C-B33A411EDD1A}" dt="2024-11-12T03:39:39.985" v="1055" actId="20577"/>
        <pc:sldMkLst>
          <pc:docMk/>
          <pc:sldMk cId="3507390905" sldId="561"/>
        </pc:sldMkLst>
      </pc:sldChg>
      <pc:sldChg chg="modNotesTx">
        <pc:chgData name="Austin Francis" userId="d9206161-76a2-4d0d-bb71-2bac416203d9" providerId="ADAL" clId="{2A9A47F4-2BCF-4CEA-B27C-B33A411EDD1A}" dt="2024-11-12T03:27:59.838" v="878" actId="20577"/>
        <pc:sldMkLst>
          <pc:docMk/>
          <pc:sldMk cId="828546677" sldId="562"/>
        </pc:sldMkLst>
      </pc:sldChg>
      <pc:sldChg chg="modNotesTx">
        <pc:chgData name="Austin Francis" userId="d9206161-76a2-4d0d-bb71-2bac416203d9" providerId="ADAL" clId="{2A9A47F4-2BCF-4CEA-B27C-B33A411EDD1A}" dt="2024-11-12T03:12:58.814" v="838"/>
        <pc:sldMkLst>
          <pc:docMk/>
          <pc:sldMk cId="3127915132" sldId="564"/>
        </pc:sldMkLst>
      </pc:sldChg>
      <pc:sldChg chg="modNotesTx">
        <pc:chgData name="Austin Francis" userId="d9206161-76a2-4d0d-bb71-2bac416203d9" providerId="ADAL" clId="{2A9A47F4-2BCF-4CEA-B27C-B33A411EDD1A}" dt="2024-11-12T15:10:06.530" v="1214" actId="20577"/>
        <pc:sldMkLst>
          <pc:docMk/>
          <pc:sldMk cId="3862816986" sldId="565"/>
        </pc:sldMkLst>
      </pc:sldChg>
      <pc:sldChg chg="addSp delSp modSp new mod">
        <pc:chgData name="Austin Francis" userId="d9206161-76a2-4d0d-bb71-2bac416203d9" providerId="ADAL" clId="{2A9A47F4-2BCF-4CEA-B27C-B33A411EDD1A}" dt="2024-11-12T00:45:13.970" v="262" actId="1076"/>
        <pc:sldMkLst>
          <pc:docMk/>
          <pc:sldMk cId="1021192713" sldId="567"/>
        </pc:sldMkLst>
        <pc:spChg chg="mod">
          <ac:chgData name="Austin Francis" userId="d9206161-76a2-4d0d-bb71-2bac416203d9" providerId="ADAL" clId="{2A9A47F4-2BCF-4CEA-B27C-B33A411EDD1A}" dt="2024-11-12T00:44:52.950" v="244" actId="20577"/>
          <ac:spMkLst>
            <pc:docMk/>
            <pc:sldMk cId="1021192713" sldId="567"/>
            <ac:spMk id="2" creationId="{ACAC72E8-D4ED-DDFE-5B53-5EEA5ABE8EA1}"/>
          </ac:spMkLst>
        </pc:spChg>
        <pc:spChg chg="add del mod">
          <ac:chgData name="Austin Francis" userId="d9206161-76a2-4d0d-bb71-2bac416203d9" providerId="ADAL" clId="{2A9A47F4-2BCF-4CEA-B27C-B33A411EDD1A}" dt="2024-11-12T00:45:13.970" v="262" actId="1076"/>
          <ac:spMkLst>
            <pc:docMk/>
            <pc:sldMk cId="1021192713" sldId="567"/>
            <ac:spMk id="3" creationId="{B8F124F5-2021-DDD7-BC9F-698B9BFF8D57}"/>
          </ac:spMkLst>
        </pc:spChg>
        <pc:spChg chg="add mod">
          <ac:chgData name="Austin Francis" userId="d9206161-76a2-4d0d-bb71-2bac416203d9" providerId="ADAL" clId="{2A9A47F4-2BCF-4CEA-B27C-B33A411EDD1A}" dt="2024-11-12T00:44:56.940" v="246"/>
          <ac:spMkLst>
            <pc:docMk/>
            <pc:sldMk cId="1021192713" sldId="567"/>
            <ac:spMk id="4" creationId="{B6517F2C-F494-0A23-751D-F44248C928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11/11/2024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131314"/>
                </a:solidFill>
                <a:effectLst/>
                <a:latin typeface="Google Sans Text"/>
              </a:rPr>
              <a:t>The authors argue that a "green" company might still face significant climate risks if its customers or suppliers are heavily involved in carbon-intensive activities</a:t>
            </a:r>
          </a:p>
          <a:p>
            <a:pPr marL="171450" indent="-171450">
              <a:buFont typeface="Arial" panose="020B0604020202020204" pitchFamily="34" charset="0"/>
              <a:buChar char="•"/>
            </a:pPr>
            <a:r>
              <a:rPr lang="en-US" b="0" i="0" dirty="0">
                <a:solidFill>
                  <a:srgbClr val="131314"/>
                </a:solidFill>
                <a:effectLst/>
                <a:latin typeface="Google Sans Text"/>
              </a:rPr>
              <a:t>This paper introduces a new way to measure a company's climate risk by considering the climate exposures of its customers and suppliers</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the climate exposure is calculated. A sum of downstream customers carbon intensity weighted by revenue. </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2642686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axis = Time </a:t>
            </a:r>
            <a:br>
              <a:rPr lang="en-US" dirty="0"/>
            </a:br>
            <a:r>
              <a:rPr lang="en-US" dirty="0"/>
              <a:t>y axis = Carbon emissions intensity </a:t>
            </a:r>
            <a:br>
              <a:rPr lang="en-US" dirty="0"/>
            </a:br>
            <a:br>
              <a:rPr lang="en-US" dirty="0"/>
            </a:br>
            <a:r>
              <a:rPr lang="en-US" dirty="0"/>
              <a:t>Downstream  = Authors new measure </a:t>
            </a:r>
            <a:br>
              <a:rPr lang="en-US" dirty="0"/>
            </a:br>
            <a:r>
              <a:rPr lang="en-US" dirty="0"/>
              <a:t>scope 1 = direct from sources they control </a:t>
            </a:r>
            <a:br>
              <a:rPr lang="en-US" dirty="0"/>
            </a:br>
            <a:r>
              <a:rPr lang="en-US" dirty="0"/>
              <a:t>scope 2 = energy a company buys </a:t>
            </a:r>
          </a:p>
          <a:p>
            <a:r>
              <a:rPr lang="en-US" dirty="0"/>
              <a:t>Scope 3 = all indirect emissions from a company’s supply chain</a:t>
            </a:r>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2415175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average intensity for the entire MSCI world index.</a:t>
            </a: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3435002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Regressing the new metric on old scopes and MSCI </a:t>
            </a:r>
            <a:br>
              <a:rPr lang="en-US" b="1" dirty="0">
                <a:effectLst/>
              </a:rPr>
            </a:br>
            <a:br>
              <a:rPr lang="en-US" b="1" dirty="0">
                <a:effectLst/>
              </a:rPr>
            </a:br>
            <a:r>
              <a:rPr lang="en-US" b="1" dirty="0">
                <a:effectLst/>
              </a:rPr>
              <a:t>Key Takeaways:</a:t>
            </a:r>
            <a:endParaRPr lang="en-US" dirty="0">
              <a:effectLst/>
            </a:endParaRPr>
          </a:p>
          <a:p>
            <a:pPr algn="l"/>
            <a:r>
              <a:rPr lang="en-US" dirty="0">
                <a:effectLst/>
              </a:rPr>
              <a:t>●</a:t>
            </a:r>
          </a:p>
          <a:p>
            <a:r>
              <a:rPr lang="en-US" b="1" dirty="0">
                <a:effectLst/>
              </a:rPr>
              <a:t>Correlation with traditional data:</a:t>
            </a:r>
            <a:r>
              <a:rPr lang="en-US" dirty="0">
                <a:effectLst/>
              </a:rPr>
              <a:t> The downstream supply chain climate exposure measure exhibits statistically significant correlations with established climate data, including scope 1 and 3 emissions intensity and MSCI ESG scores.12</a:t>
            </a:r>
          </a:p>
          <a:p>
            <a:pPr algn="l"/>
            <a:r>
              <a:rPr lang="en-US" dirty="0">
                <a:effectLst/>
              </a:rPr>
              <a:t>●</a:t>
            </a:r>
          </a:p>
          <a:p>
            <a:r>
              <a:rPr lang="en-US" b="1" dirty="0">
                <a:effectLst/>
              </a:rPr>
              <a:t>Limited explanatory power:</a:t>
            </a:r>
            <a:r>
              <a:rPr lang="en-US" dirty="0">
                <a:effectLst/>
              </a:rPr>
              <a:t> While traditional climate data shows some relationship with downstream supply chain exposure, these variables only explain a relatively small proportion of the variability, with R-squared values ranging from 1% to 30%.3</a:t>
            </a:r>
          </a:p>
          <a:p>
            <a:pPr algn="l"/>
            <a:r>
              <a:rPr lang="en-US" dirty="0">
                <a:effectLst/>
              </a:rPr>
              <a:t>●</a:t>
            </a:r>
          </a:p>
          <a:p>
            <a:r>
              <a:rPr lang="en-US" b="1" dirty="0">
                <a:effectLst/>
              </a:rPr>
              <a:t>Incremental information:</a:t>
            </a:r>
            <a:r>
              <a:rPr lang="en-US" dirty="0">
                <a:effectLst/>
              </a:rPr>
              <a:t> This suggests that the downstream supply chain climate exposure measure captures unique information about climate risk that goes beyond what is already incorporated in traditional climate metrics.4</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631099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top panel shows monthly return correlations with the monthly changes in climate news sentiment index of </a:t>
            </a:r>
            <a:r>
              <a:rPr lang="en-US" dirty="0" err="1"/>
              <a:t>Ardia</a:t>
            </a:r>
            <a:r>
              <a:rPr lang="en-US" dirty="0"/>
              <a:t> et al.(2021) for factors based on downstream supply chain climate exposure overall and within-industry exposure as well as after </a:t>
            </a:r>
            <a:r>
              <a:rPr lang="en-US" dirty="0" err="1"/>
              <a:t>remov-ing</a:t>
            </a:r>
            <a:r>
              <a:rPr lang="en-US" dirty="0"/>
              <a:t> the commonality with other typical climate-related data. </a:t>
            </a:r>
          </a:p>
          <a:p>
            <a:br>
              <a:rPr lang="en-US" dirty="0"/>
            </a:br>
            <a:br>
              <a:rPr lang="en-US" dirty="0"/>
            </a:br>
            <a:r>
              <a:rPr lang="en-US" dirty="0"/>
              <a:t>how well the factors correlate with climate news sentiment when removing other measure of climate change</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1832092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bottom panel shows similar correlations for a hypothetical long-short portfolio based on typical climate-related data, removing the commonality with the downstream supply chain measure, as </a:t>
            </a:r>
            <a:r>
              <a:rPr lang="en-US" dirty="0" err="1"/>
              <a:t>indi-cated</a:t>
            </a:r>
            <a:r>
              <a:rPr lang="en-US" dirty="0"/>
              <a:t> in the chart.</a:t>
            </a:r>
            <a:br>
              <a:rPr lang="en-US" dirty="0"/>
            </a:b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1506243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Loosely follows what you would expect</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492815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Both portfolios perform well, with the unadjusted one having a slightly higher Sharpe ratio (0.85 vs. 0.72). This means that even without controlling for industry, companies with lower "customer pollution" tend to do better.</a:t>
            </a:r>
          </a:p>
          <a:p>
            <a:pPr algn="l"/>
            <a:endParaRPr lang="en-US" dirty="0">
              <a:effectLst/>
            </a:endParaRPr>
          </a:p>
          <a:p>
            <a:pPr algn="l"/>
            <a:r>
              <a:rPr lang="en-US" dirty="0">
                <a:effectLst/>
              </a:rPr>
              <a:t>●</a:t>
            </a:r>
          </a:p>
          <a:p>
            <a:r>
              <a:rPr lang="en-US" b="1" dirty="0">
                <a:effectLst/>
              </a:rPr>
              <a:t>Strong performance:</a:t>
            </a:r>
            <a:r>
              <a:rPr lang="en-US" dirty="0">
                <a:effectLst/>
              </a:rPr>
              <a:t> Portfolios long in "green" stocks and short in "brown" stocks, based on the downstream supply chain climate exposure measure, exhibit compelling historical performance with Sharpe ratios of 0.85 and 0.72 for unadjusted and within-industry portfolios, respectively.5</a:t>
            </a:r>
          </a:p>
          <a:p>
            <a:pPr algn="l"/>
            <a:r>
              <a:rPr lang="en-US" dirty="0">
                <a:effectLst/>
              </a:rPr>
              <a:t>●</a:t>
            </a:r>
          </a:p>
          <a:p>
            <a:r>
              <a:rPr lang="en-US" b="1" dirty="0">
                <a:effectLst/>
              </a:rPr>
              <a:t>Not driven by sector bets:</a:t>
            </a:r>
            <a:r>
              <a:rPr lang="en-US" dirty="0">
                <a:effectLst/>
              </a:rPr>
              <a:t> The performance persists even when industry exposures are neutralized, indicating that the returns are not simply a result of broad sector allocations (e.g., shorting Energy and going long IT).5</a:t>
            </a:r>
          </a:p>
          <a:p>
            <a:pPr algn="l"/>
            <a:r>
              <a:rPr lang="en-US" dirty="0">
                <a:effectLst/>
              </a:rPr>
              <a:t>●</a:t>
            </a:r>
          </a:p>
          <a:p>
            <a:r>
              <a:rPr lang="en-US" b="1" dirty="0">
                <a:effectLst/>
              </a:rPr>
              <a:t>Market pricing of climate risk:</a:t>
            </a:r>
            <a:r>
              <a:rPr lang="en-US" dirty="0">
                <a:effectLst/>
              </a:rPr>
              <a:t> This performance is consistent with the idea that markets are increasingly incorporating climate risks into asset prices, potentially leading to the outperformance of companies with lower downstream supply chain climate exposure.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350060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Monthly returns are regressed on the factors indicated in row labels.</a:t>
            </a:r>
            <a:br>
              <a:rPr lang="en-US" b="1" dirty="0">
                <a:effectLst/>
              </a:rPr>
            </a:br>
            <a:br>
              <a:rPr lang="en-US" b="1" dirty="0">
                <a:effectLst/>
              </a:rPr>
            </a:br>
            <a:r>
              <a:rPr lang="en-US" b="1" dirty="0">
                <a:effectLst/>
              </a:rPr>
              <a:t>Key Takeaways:</a:t>
            </a:r>
            <a:endParaRPr lang="en-US" dirty="0">
              <a:effectLst/>
            </a:endParaRPr>
          </a:p>
          <a:p>
            <a:pPr algn="l"/>
            <a:r>
              <a:rPr lang="en-US" dirty="0">
                <a:effectLst/>
              </a:rPr>
              <a:t>●</a:t>
            </a:r>
          </a:p>
          <a:p>
            <a:r>
              <a:rPr lang="en-US" b="1" dirty="0">
                <a:effectLst/>
              </a:rPr>
              <a:t>Unexplained performance:</a:t>
            </a:r>
            <a:r>
              <a:rPr lang="en-US" dirty="0">
                <a:effectLst/>
              </a:rPr>
              <a:t> The downstream supply chain climate exposure portfolio consistently demonstrates positive alphas ranging from </a:t>
            </a:r>
            <a:r>
              <a:rPr lang="en-US" b="1" dirty="0">
                <a:effectLst/>
              </a:rPr>
              <a:t>6.5% to 9.4% per year</a:t>
            </a:r>
            <a:r>
              <a:rPr lang="en-US" dirty="0">
                <a:effectLst/>
              </a:rPr>
              <a:t> when regressed against standard academic risk factors, even after controlling for industry exposures.78</a:t>
            </a:r>
          </a:p>
          <a:p>
            <a:pPr algn="l"/>
            <a:r>
              <a:rPr lang="en-US" dirty="0">
                <a:effectLst/>
              </a:rPr>
              <a:t>●</a:t>
            </a:r>
          </a:p>
          <a:p>
            <a:r>
              <a:rPr lang="en-US" b="1" dirty="0">
                <a:effectLst/>
              </a:rPr>
              <a:t>Robust to factor adjustments:</a:t>
            </a:r>
            <a:r>
              <a:rPr lang="en-US" dirty="0">
                <a:effectLst/>
              </a:rPr>
              <a:t> The performance persists even when using more conservative factor definitions that specifically account for the portfolio's within-industry construction and stock universe.910</a:t>
            </a:r>
          </a:p>
          <a:p>
            <a:pPr algn="l"/>
            <a:r>
              <a:rPr lang="en-US" dirty="0">
                <a:effectLst/>
              </a:rPr>
              <a:t>●</a:t>
            </a:r>
          </a:p>
          <a:p>
            <a:r>
              <a:rPr lang="en-US" b="1" dirty="0">
                <a:effectLst/>
              </a:rPr>
              <a:t>Potential new source of alpha:</a:t>
            </a:r>
            <a:r>
              <a:rPr lang="en-US" dirty="0">
                <a:effectLst/>
              </a:rPr>
              <a:t> This suggests that the downstream supply chain climate exposure measure may represent a novel source of investment alpha that is not captured by traditional risk factors, potentially related to the market's pricing of climate risks or a reflection of the quality of a company's customer base.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282874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EPS and Sales surprises are regressed on a given </a:t>
            </a:r>
            <a:r>
              <a:rPr lang="en-US" b="1">
                <a:effectLst/>
              </a:rPr>
              <a:t>firm’s downstream supply. </a:t>
            </a:r>
            <a:br>
              <a:rPr lang="en-US" b="1">
                <a:effectLst/>
              </a:rPr>
            </a:br>
            <a:br>
              <a:rPr lang="en-US" b="1">
                <a:effectLst/>
              </a:rPr>
            </a:br>
            <a:r>
              <a:rPr lang="en-US" b="1" dirty="0">
                <a:effectLst/>
              </a:rPr>
              <a:t>Key Takeaways:</a:t>
            </a:r>
            <a:endParaRPr lang="en-US" dirty="0">
              <a:effectLst/>
            </a:endParaRPr>
          </a:p>
          <a:p>
            <a:pPr algn="l"/>
            <a:r>
              <a:rPr lang="en-US" dirty="0">
                <a:effectLst/>
              </a:rPr>
              <a:t>●</a:t>
            </a:r>
          </a:p>
          <a:p>
            <a:r>
              <a:rPr lang="en-US" b="1" dirty="0">
                <a:effectLst/>
              </a:rPr>
              <a:t>Predictive of earnings surprises:</a:t>
            </a:r>
            <a:r>
              <a:rPr lang="en-US" dirty="0">
                <a:effectLst/>
              </a:rPr>
              <a:t> Companies with lower downstream supply chain climate exposure tend to exhibit larger positive EPS surprises, even after accounting for factors like analyst revisions and various momentum measures.11</a:t>
            </a:r>
          </a:p>
          <a:p>
            <a:pPr algn="l"/>
            <a:r>
              <a:rPr lang="en-US" dirty="0">
                <a:effectLst/>
              </a:rPr>
              <a:t>●</a:t>
            </a:r>
          </a:p>
          <a:p>
            <a:r>
              <a:rPr lang="en-US" b="1" dirty="0">
                <a:effectLst/>
              </a:rPr>
              <a:t>Potential quality signal:</a:t>
            </a:r>
            <a:r>
              <a:rPr lang="en-US" dirty="0">
                <a:effectLst/>
              </a:rPr>
              <a:t> This relationship suggests that the measure may capture a facet of company "Quality," potentially related to resource efficiency or the stability of a company's customer relationships.11</a:t>
            </a:r>
          </a:p>
          <a:p>
            <a:pPr algn="l"/>
            <a:r>
              <a:rPr lang="en-US" dirty="0">
                <a:effectLst/>
              </a:rPr>
              <a:t>●</a:t>
            </a:r>
          </a:p>
          <a:p>
            <a:r>
              <a:rPr lang="en-US" b="1" dirty="0">
                <a:effectLst/>
              </a:rPr>
              <a:t>Consistent with performance:</a:t>
            </a:r>
            <a:r>
              <a:rPr lang="en-US" dirty="0">
                <a:effectLst/>
              </a:rPr>
              <a:t> The positive association with earnings surprises provides a potential explanation for the strong historical performance observed for portfolios based on the downstream supply chain climate exposure measure, aligning with the idea that quality often translates into favorable investment returns.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2139737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11/11/2024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a:bodyPr>
          <a:lstStyle/>
          <a:p>
            <a:r>
              <a:rPr lang="en-US" sz="3600" dirty="0">
                <a:ea typeface="+mj-lt"/>
                <a:cs typeface="+mj-lt"/>
              </a:rPr>
              <a:t>Supply Chain Climate Exposure</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400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Greg Hall</a:t>
            </a:r>
            <a:br>
              <a:rPr lang="en-US" sz="2900" dirty="0">
                <a:solidFill>
                  <a:schemeClr val="tx1"/>
                </a:solidFill>
                <a:ea typeface="Calibri"/>
                <a:cs typeface="Calibri"/>
              </a:rPr>
            </a:br>
            <a:r>
              <a:rPr lang="en-US" sz="2900" dirty="0">
                <a:solidFill>
                  <a:schemeClr val="tx1"/>
                </a:solidFill>
                <a:ea typeface="Calibri"/>
                <a:cs typeface="Calibri"/>
              </a:rPr>
              <a:t>AQR Capital Management</a:t>
            </a:r>
          </a:p>
          <a:p>
            <a:br>
              <a:rPr lang="en-US" sz="2900" b="1" dirty="0">
                <a:ea typeface="Calibri"/>
                <a:cs typeface="Calibri"/>
              </a:rPr>
            </a:br>
            <a:r>
              <a:rPr lang="en-US" sz="2900" b="1" dirty="0">
                <a:solidFill>
                  <a:schemeClr val="tx1"/>
                </a:solidFill>
                <a:ea typeface="Calibri"/>
                <a:cs typeface="Calibri"/>
              </a:rPr>
              <a:t>Kate Liu</a:t>
            </a:r>
            <a:br>
              <a:rPr lang="en-US" sz="2900" dirty="0">
                <a:solidFill>
                  <a:schemeClr val="tx1"/>
                </a:solidFill>
                <a:ea typeface="Calibri"/>
                <a:cs typeface="Calibri"/>
              </a:rPr>
            </a:br>
            <a:r>
              <a:rPr lang="en-US" sz="2900" dirty="0">
                <a:solidFill>
                  <a:schemeClr val="tx1"/>
                </a:solidFill>
                <a:ea typeface="Calibri"/>
                <a:cs typeface="Calibri"/>
              </a:rPr>
              <a:t>AQR Capital Management</a:t>
            </a:r>
          </a:p>
          <a:p>
            <a:br>
              <a:rPr lang="en-US" sz="2900" b="1" dirty="0">
                <a:solidFill>
                  <a:schemeClr val="tx1"/>
                </a:solidFill>
                <a:ea typeface="Calibri"/>
                <a:cs typeface="Calibri"/>
              </a:rPr>
            </a:br>
            <a:r>
              <a:rPr lang="en-US" sz="2900" b="1" dirty="0">
                <a:solidFill>
                  <a:schemeClr val="tx1"/>
                </a:solidFill>
                <a:ea typeface="Calibri"/>
                <a:cs typeface="Calibri"/>
              </a:rPr>
              <a:t>Lukasz </a:t>
            </a:r>
            <a:r>
              <a:rPr lang="en-US" sz="2900" b="1" dirty="0" err="1">
                <a:solidFill>
                  <a:schemeClr val="tx1"/>
                </a:solidFill>
                <a:ea typeface="Calibri"/>
                <a:cs typeface="Calibri"/>
              </a:rPr>
              <a:t>Pomorski</a:t>
            </a:r>
            <a:br>
              <a:rPr lang="en-US" sz="2900" b="1" dirty="0">
                <a:ea typeface="Calibri"/>
                <a:cs typeface="Calibri"/>
              </a:rPr>
            </a:br>
            <a:r>
              <a:rPr lang="en-US" sz="2900" dirty="0">
                <a:solidFill>
                  <a:schemeClr val="tx1"/>
                </a:solidFill>
                <a:ea typeface="Calibri"/>
                <a:cs typeface="Calibri"/>
              </a:rPr>
              <a:t>AQR Capital Management</a:t>
            </a:r>
          </a:p>
          <a:p>
            <a:endParaRPr lang="en-US" sz="2900" dirty="0">
              <a:solidFill>
                <a:schemeClr val="tx1"/>
              </a:solidFill>
              <a:ea typeface="Calibri"/>
              <a:cs typeface="Calibri"/>
            </a:endParaRPr>
          </a:p>
          <a:p>
            <a:r>
              <a:rPr lang="en-US" sz="2900" b="1" dirty="0">
                <a:solidFill>
                  <a:schemeClr val="tx1"/>
                </a:solidFill>
                <a:ea typeface="Calibri"/>
                <a:cs typeface="Calibri"/>
              </a:rPr>
              <a:t>Laura Serban</a:t>
            </a:r>
          </a:p>
          <a:p>
            <a:r>
              <a:rPr lang="en-US" sz="2900" dirty="0">
                <a:solidFill>
                  <a:schemeClr val="tx1"/>
                </a:solidFill>
                <a:ea typeface="Calibri"/>
                <a:cs typeface="Calibri"/>
              </a:rPr>
              <a:t>AQR Capital Management</a:t>
            </a:r>
          </a:p>
          <a:p>
            <a:endParaRPr lang="en-US" sz="2900" b="1" dirty="0">
              <a:solidFill>
                <a:schemeClr val="tx1"/>
              </a:solidFill>
              <a:ea typeface="Calibri"/>
              <a:cs typeface="Calibri"/>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How can we better measure a company's exposure to climate-related risks from its supply chain?</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0"/>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199" y="681527"/>
            <a:ext cx="8309295" cy="3479412"/>
          </a:xfrm>
        </p:spPr>
        <p:txBody>
          <a:bodyPr vert="horz" lIns="91440" tIns="45720" rIns="91440" bIns="45720" rtlCol="0" anchor="t">
            <a:noAutofit/>
          </a:bodyPr>
          <a:lstStyle/>
          <a:p>
            <a:pPr marL="342900" lvl="1" indent="-342900">
              <a:buFont typeface="Arial"/>
              <a:buChar char="•"/>
            </a:pPr>
            <a:r>
              <a:rPr lang="en-US" sz="1800" b="1" dirty="0">
                <a:ea typeface="Calibri"/>
                <a:cs typeface="Calibri"/>
              </a:rPr>
              <a:t>Supply chain relationships have a demonstrated impact on stock returns. </a:t>
            </a:r>
            <a:r>
              <a:rPr lang="en-US" sz="1800" dirty="0">
                <a:ea typeface="Calibri"/>
                <a:cs typeface="Calibri"/>
              </a:rPr>
              <a:t>Research has shown that the financial performance of companies is closely tied to the performance of their suppliers and customers. This suggests that a company's climate risk could be influenced by the climate exposures of its supply chain partners.</a:t>
            </a:r>
          </a:p>
          <a:p>
            <a:pPr marL="342900" lvl="1" indent="-342900">
              <a:buFont typeface="Arial"/>
              <a:buChar char="•"/>
            </a:pPr>
            <a:r>
              <a:rPr lang="en-US" sz="1800" b="1" dirty="0">
                <a:ea typeface="Calibri"/>
                <a:cs typeface="Calibri"/>
              </a:rPr>
              <a:t>Traditional climate metrics, particularly Scope 3 emissions data, have proven unreliable and difficult to compare across companies. </a:t>
            </a:r>
            <a:r>
              <a:rPr lang="en-US" sz="1800" dirty="0">
                <a:ea typeface="Calibri"/>
                <a:cs typeface="Calibri"/>
              </a:rPr>
              <a:t>The lack of consistent and high-quality Scope 3 data makes it challenging for investors to accurately assess a company's full climate risk.</a:t>
            </a:r>
          </a:p>
          <a:p>
            <a:pPr marL="342900" lvl="1" indent="-342900">
              <a:buFont typeface="Arial"/>
              <a:buChar char="•"/>
            </a:pPr>
            <a:r>
              <a:rPr lang="en-US" sz="1800" b="1" dirty="0">
                <a:ea typeface="Calibri"/>
                <a:cs typeface="Calibri"/>
              </a:rPr>
              <a:t>"Emissions offshoring", where companies shift carbon-intensive activities to their suppliers, can create a misleading picture of a company's true environmental performance. </a:t>
            </a:r>
            <a:r>
              <a:rPr lang="en-US" sz="1800" dirty="0">
                <a:ea typeface="Calibri"/>
                <a:cs typeface="Calibri"/>
              </a:rPr>
              <a:t>This practice underscores the need for climate risk assessments that look beyond a company's direct emissions and consider the entire supply chain.</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lstStyle/>
          <a:p>
            <a:r>
              <a:rPr lang="en-US" dirty="0"/>
              <a:t>A firm's climate exposure is impacted by the climate risks associated with its supply chain, and accounting for these linkages provides a more accurate and useful measure of climate risk.</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C72E8-D4ED-DDFE-5B53-5EEA5ABE8EA1}"/>
              </a:ext>
            </a:extLst>
          </p:cNvPr>
          <p:cNvSpPr>
            <a:spLocks noGrp="1"/>
          </p:cNvSpPr>
          <p:nvPr>
            <p:ph type="title"/>
          </p:nvPr>
        </p:nvSpPr>
        <p:spPr/>
        <p:txBody>
          <a:bodyPr/>
          <a:lstStyle/>
          <a:p>
            <a:r>
              <a:rPr lang="en-US" dirty="0"/>
              <a:t>New Measure</a:t>
            </a:r>
          </a:p>
        </p:txBody>
      </p:sp>
      <p:sp>
        <p:nvSpPr>
          <p:cNvPr id="3" name="Content Placeholder 2">
            <a:extLst>
              <a:ext uri="{FF2B5EF4-FFF2-40B4-BE49-F238E27FC236}">
                <a16:creationId xmlns:a16="http://schemas.microsoft.com/office/drawing/2014/main" id="{B8F124F5-2021-DDD7-BC9F-698B9BFF8D57}"/>
              </a:ext>
            </a:extLst>
          </p:cNvPr>
          <p:cNvSpPr>
            <a:spLocks noGrp="1"/>
          </p:cNvSpPr>
          <p:nvPr>
            <p:ph idx="1"/>
          </p:nvPr>
        </p:nvSpPr>
        <p:spPr>
          <a:xfrm>
            <a:off x="457200" y="979087"/>
            <a:ext cx="8229600" cy="3394472"/>
          </a:xfrm>
        </p:spPr>
        <p:txBody>
          <a:bodyPr>
            <a:normAutofit fontScale="62500" lnSpcReduction="20000"/>
          </a:bodyPr>
          <a:lstStyle/>
          <a:p>
            <a:endParaRPr lang="en-US" dirty="0"/>
          </a:p>
          <a:p>
            <a:r>
              <a:rPr lang="en-US" dirty="0"/>
              <a:t>The proposed method measures supply chain climate exposure as a weighted average of the standalone climate exposures of a company's customers and suppliers.</a:t>
            </a:r>
          </a:p>
          <a:p>
            <a:pPr marL="0" indent="0">
              <a:buNone/>
            </a:pPr>
            <a:endParaRPr lang="en-US" dirty="0"/>
          </a:p>
          <a:p>
            <a:r>
              <a:rPr lang="en-US" dirty="0"/>
              <a:t>The weighting is based on the strength of the economic connections, using revenue weights for customers ("downstream") and cost weights for suppliers ("upstream").</a:t>
            </a:r>
          </a:p>
          <a:p>
            <a:pPr marL="0" indent="0">
              <a:buNone/>
            </a:pPr>
            <a:endParaRPr lang="en-US" dirty="0"/>
          </a:p>
          <a:p>
            <a:r>
              <a:rPr lang="en-US" dirty="0"/>
              <a:t>The measure can incorporate any preferred climate exposure metric, such as carbon emissions intensity, climate Value at Risk (</a:t>
            </a:r>
            <a:r>
              <a:rPr lang="en-US" dirty="0" err="1"/>
              <a:t>VaR</a:t>
            </a:r>
            <a:r>
              <a:rPr lang="en-US" dirty="0"/>
              <a:t>), or Implied Temperature Rise scores, offering flexibility in assessing climate risk.</a:t>
            </a:r>
          </a:p>
          <a:p>
            <a:endParaRPr lang="en-US" dirty="0"/>
          </a:p>
        </p:txBody>
      </p:sp>
    </p:spTree>
    <p:extLst>
      <p:ext uri="{BB962C8B-B14F-4D97-AF65-F5344CB8AC3E}">
        <p14:creationId xmlns:p14="http://schemas.microsoft.com/office/powerpoint/2010/main" val="1021192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fontScale="92500"/>
          </a:bodyPr>
          <a:lstStyle/>
          <a:p>
            <a:r>
              <a:rPr lang="en-US" sz="2400" dirty="0"/>
              <a:t>The proposed measure has low but significant correlations with traditional climate data, suggesting it captures unique aspects of climate risk.</a:t>
            </a:r>
          </a:p>
          <a:p>
            <a:r>
              <a:rPr lang="en-US" sz="2400" dirty="0"/>
              <a:t>This metric better predicts stock price reactions to climate news and reflects performance patterns associated with climate risk repricing.</a:t>
            </a:r>
          </a:p>
          <a:p>
            <a:r>
              <a:rPr lang="en-US" sz="2400" dirty="0"/>
              <a:t>Portfolios constructed with this new metric have shown positive historical performance, suggesting that market participants may already be pricing in supply chain climate risks.</a:t>
            </a:r>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999407"/>
            <a:ext cx="8229600" cy="3394472"/>
          </a:xfrm>
        </p:spPr>
        <p:txBody>
          <a:bodyPr>
            <a:normAutofit fontScale="62500" lnSpcReduction="20000"/>
          </a:bodyPr>
          <a:lstStyle/>
          <a:p>
            <a:endParaRPr lang="en-US" dirty="0"/>
          </a:p>
          <a:p>
            <a:r>
              <a:rPr lang="en-US" dirty="0"/>
              <a:t>The authors use data on the commercial linkages between companies and their customers, blending data from multiple third-party vendors that track global supply chains using regulatory filings, earnings transcripts, company and industry publications, and news sources.</a:t>
            </a:r>
          </a:p>
          <a:p>
            <a:endParaRPr lang="en-US" dirty="0"/>
          </a:p>
          <a:p>
            <a:r>
              <a:rPr lang="en-US" dirty="0"/>
              <a:t>The study utilizes scope 1+2 carbon intensity of customers and suppliers as reported in the </a:t>
            </a:r>
            <a:r>
              <a:rPr lang="en-US" dirty="0" err="1"/>
              <a:t>Trucost</a:t>
            </a:r>
            <a:r>
              <a:rPr lang="en-US" dirty="0"/>
              <a:t> database to measure a customer's or supplier's climate exposure.</a:t>
            </a:r>
          </a:p>
          <a:p>
            <a:endParaRPr lang="en-US" dirty="0"/>
          </a:p>
          <a:p>
            <a:r>
              <a:rPr lang="en-US" dirty="0"/>
              <a:t>The authors obtained standard returns and financials data from </a:t>
            </a:r>
            <a:r>
              <a:rPr lang="en-US" dirty="0" err="1"/>
              <a:t>Xpressfeed</a:t>
            </a:r>
            <a:r>
              <a:rPr lang="en-US" dirty="0"/>
              <a:t> and a variety of ESG-related metrics from MSCI and </a:t>
            </a:r>
            <a:r>
              <a:rPr lang="en-US" dirty="0" err="1"/>
              <a:t>Trucost</a:t>
            </a:r>
            <a:r>
              <a:rPr lang="en-US" dirty="0"/>
              <a:t>.</a:t>
            </a:r>
          </a:p>
        </p:txBody>
      </p:sp>
    </p:spTree>
    <p:extLst>
      <p:ext uri="{BB962C8B-B14F-4D97-AF65-F5344CB8AC3E}">
        <p14:creationId xmlns:p14="http://schemas.microsoft.com/office/powerpoint/2010/main" val="102931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3927D-17C8-19F2-C7B6-C49C7372EE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88BD2A-2ACB-9F0B-A57A-F41C9A9A44E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4937D15-1063-FEB9-D744-3CEE68245CD4}"/>
              </a:ext>
            </a:extLst>
          </p:cNvPr>
          <p:cNvPicPr>
            <a:picLocks noChangeAspect="1"/>
          </p:cNvPicPr>
          <p:nvPr/>
        </p:nvPicPr>
        <p:blipFill>
          <a:blip r:embed="rId3"/>
          <a:stretch>
            <a:fillRect/>
          </a:stretch>
        </p:blipFill>
        <p:spPr>
          <a:xfrm>
            <a:off x="256952" y="339152"/>
            <a:ext cx="8630095" cy="2680884"/>
          </a:xfrm>
          <a:prstGeom prst="rect">
            <a:avLst/>
          </a:prstGeom>
        </p:spPr>
      </p:pic>
    </p:spTree>
    <p:extLst>
      <p:ext uri="{BB962C8B-B14F-4D97-AF65-F5344CB8AC3E}">
        <p14:creationId xmlns:p14="http://schemas.microsoft.com/office/powerpoint/2010/main" val="511155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323C-4B9B-9D04-DD6E-1084FD887A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769932-4FB0-73B5-4427-1C72FE3A311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D5FE1A4-8071-D824-26D0-9CC781B6BFE5}"/>
              </a:ext>
            </a:extLst>
          </p:cNvPr>
          <p:cNvPicPr>
            <a:picLocks noChangeAspect="1"/>
          </p:cNvPicPr>
          <p:nvPr/>
        </p:nvPicPr>
        <p:blipFill>
          <a:blip r:embed="rId3"/>
          <a:stretch>
            <a:fillRect/>
          </a:stretch>
        </p:blipFill>
        <p:spPr>
          <a:xfrm>
            <a:off x="363976" y="306604"/>
            <a:ext cx="8416047" cy="4399620"/>
          </a:xfrm>
          <a:prstGeom prst="rect">
            <a:avLst/>
          </a:prstGeom>
        </p:spPr>
      </p:pic>
    </p:spTree>
    <p:extLst>
      <p:ext uri="{BB962C8B-B14F-4D97-AF65-F5344CB8AC3E}">
        <p14:creationId xmlns:p14="http://schemas.microsoft.com/office/powerpoint/2010/main" val="327512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5CFAF-B0BD-EA87-F3BC-365B1675F1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8B8026-5D22-4B61-661E-3B4DBE7F923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14C85A8-84C1-146D-9B97-6ECB01A9607D}"/>
              </a:ext>
            </a:extLst>
          </p:cNvPr>
          <p:cNvPicPr>
            <a:picLocks noChangeAspect="1"/>
          </p:cNvPicPr>
          <p:nvPr/>
        </p:nvPicPr>
        <p:blipFill>
          <a:blip r:embed="rId3"/>
          <a:stretch>
            <a:fillRect/>
          </a:stretch>
        </p:blipFill>
        <p:spPr>
          <a:xfrm>
            <a:off x="899097" y="318435"/>
            <a:ext cx="7345805" cy="4506629"/>
          </a:xfrm>
          <a:prstGeom prst="rect">
            <a:avLst/>
          </a:prstGeom>
        </p:spPr>
      </p:pic>
    </p:spTree>
    <p:extLst>
      <p:ext uri="{BB962C8B-B14F-4D97-AF65-F5344CB8AC3E}">
        <p14:creationId xmlns:p14="http://schemas.microsoft.com/office/powerpoint/2010/main" val="2101537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55F89-9474-5693-BD7C-96181BDAF7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64C81D-C748-2288-433B-378198DAC00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A7951DC-1A33-F4A5-147A-316D123A1BDD}"/>
              </a:ext>
            </a:extLst>
          </p:cNvPr>
          <p:cNvPicPr>
            <a:picLocks noChangeAspect="1"/>
          </p:cNvPicPr>
          <p:nvPr/>
        </p:nvPicPr>
        <p:blipFill>
          <a:blip r:embed="rId2"/>
          <a:stretch>
            <a:fillRect/>
          </a:stretch>
        </p:blipFill>
        <p:spPr>
          <a:xfrm>
            <a:off x="764737" y="246750"/>
            <a:ext cx="7614525" cy="4650000"/>
          </a:xfrm>
          <a:prstGeom prst="rect">
            <a:avLst/>
          </a:prstGeom>
        </p:spPr>
      </p:pic>
    </p:spTree>
    <p:extLst>
      <p:ext uri="{BB962C8B-B14F-4D97-AF65-F5344CB8AC3E}">
        <p14:creationId xmlns:p14="http://schemas.microsoft.com/office/powerpoint/2010/main" val="2251910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197B-F1AF-646E-9788-26C4D10AD4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8A6D4A-F415-19FA-2CE7-6625F43BD9C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CBE1A844-5E6A-08F3-F7FC-7CAB40BB7162}"/>
              </a:ext>
            </a:extLst>
          </p:cNvPr>
          <p:cNvPicPr>
            <a:picLocks noChangeAspect="1"/>
          </p:cNvPicPr>
          <p:nvPr/>
        </p:nvPicPr>
        <p:blipFill>
          <a:blip r:embed="rId2"/>
          <a:stretch>
            <a:fillRect/>
          </a:stretch>
        </p:blipFill>
        <p:spPr>
          <a:xfrm>
            <a:off x="765901" y="345415"/>
            <a:ext cx="7612198" cy="4452669"/>
          </a:xfrm>
          <a:prstGeom prst="rect">
            <a:avLst/>
          </a:prstGeom>
        </p:spPr>
      </p:pic>
    </p:spTree>
    <p:extLst>
      <p:ext uri="{BB962C8B-B14F-4D97-AF65-F5344CB8AC3E}">
        <p14:creationId xmlns:p14="http://schemas.microsoft.com/office/powerpoint/2010/main" val="3789625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31880-C64E-361D-451E-78DF05B7F1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B909CC-3876-B0EA-6E6A-17E6B2B68B7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C40759C-9F5D-92AD-009D-88D773EB157E}"/>
              </a:ext>
            </a:extLst>
          </p:cNvPr>
          <p:cNvPicPr>
            <a:picLocks noChangeAspect="1"/>
          </p:cNvPicPr>
          <p:nvPr/>
        </p:nvPicPr>
        <p:blipFill>
          <a:blip r:embed="rId3"/>
          <a:stretch>
            <a:fillRect/>
          </a:stretch>
        </p:blipFill>
        <p:spPr>
          <a:xfrm>
            <a:off x="1471755" y="231205"/>
            <a:ext cx="6200489" cy="4681090"/>
          </a:xfrm>
          <a:prstGeom prst="rect">
            <a:avLst/>
          </a:prstGeom>
        </p:spPr>
      </p:pic>
    </p:spTree>
    <p:extLst>
      <p:ext uri="{BB962C8B-B14F-4D97-AF65-F5344CB8AC3E}">
        <p14:creationId xmlns:p14="http://schemas.microsoft.com/office/powerpoint/2010/main" val="3088249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FB9E-48AB-DEE9-704D-CC8706FA22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515645-0AD1-FC86-6C0B-2816BCB9A0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5EA0747-7226-C53E-B6BB-EBD48868CA48}"/>
              </a:ext>
            </a:extLst>
          </p:cNvPr>
          <p:cNvPicPr>
            <a:picLocks noChangeAspect="1"/>
          </p:cNvPicPr>
          <p:nvPr/>
        </p:nvPicPr>
        <p:blipFill>
          <a:blip r:embed="rId3"/>
          <a:stretch>
            <a:fillRect/>
          </a:stretch>
        </p:blipFill>
        <p:spPr>
          <a:xfrm>
            <a:off x="331390" y="474527"/>
            <a:ext cx="8481220" cy="4194445"/>
          </a:xfrm>
          <a:prstGeom prst="rect">
            <a:avLst/>
          </a:prstGeom>
        </p:spPr>
      </p:pic>
    </p:spTree>
    <p:extLst>
      <p:ext uri="{BB962C8B-B14F-4D97-AF65-F5344CB8AC3E}">
        <p14:creationId xmlns:p14="http://schemas.microsoft.com/office/powerpoint/2010/main" val="887882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E1A75-44DC-9413-04BE-91D178988D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08F764-1A0E-8F3C-6895-D639A92F626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56B7F81-735D-A786-B080-A60516FE63DE}"/>
              </a:ext>
            </a:extLst>
          </p:cNvPr>
          <p:cNvPicPr>
            <a:picLocks noChangeAspect="1"/>
          </p:cNvPicPr>
          <p:nvPr/>
        </p:nvPicPr>
        <p:blipFill>
          <a:blip r:embed="rId3"/>
          <a:stretch>
            <a:fillRect/>
          </a:stretch>
        </p:blipFill>
        <p:spPr>
          <a:xfrm>
            <a:off x="439638" y="279580"/>
            <a:ext cx="8264723" cy="4584339"/>
          </a:xfrm>
          <a:prstGeom prst="rect">
            <a:avLst/>
          </a:prstGeom>
        </p:spPr>
      </p:pic>
    </p:spTree>
    <p:extLst>
      <p:ext uri="{BB962C8B-B14F-4D97-AF65-F5344CB8AC3E}">
        <p14:creationId xmlns:p14="http://schemas.microsoft.com/office/powerpoint/2010/main" val="350739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4A9B-4463-63C1-ECE5-2870828EE4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E3D597-6A8C-7D8E-65B9-0C03B8135D6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53FDA33-9E6D-3B74-E784-595763B8371D}"/>
              </a:ext>
            </a:extLst>
          </p:cNvPr>
          <p:cNvPicPr>
            <a:picLocks noChangeAspect="1"/>
          </p:cNvPicPr>
          <p:nvPr/>
        </p:nvPicPr>
        <p:blipFill>
          <a:blip r:embed="rId3"/>
          <a:stretch>
            <a:fillRect/>
          </a:stretch>
        </p:blipFill>
        <p:spPr>
          <a:xfrm>
            <a:off x="74833" y="451657"/>
            <a:ext cx="8994334" cy="4240186"/>
          </a:xfrm>
          <a:prstGeom prst="rect">
            <a:avLst/>
          </a:prstGeom>
        </p:spPr>
      </p:pic>
    </p:spTree>
    <p:extLst>
      <p:ext uri="{BB962C8B-B14F-4D97-AF65-F5344CB8AC3E}">
        <p14:creationId xmlns:p14="http://schemas.microsoft.com/office/powerpoint/2010/main" val="828546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E44CE-DC49-213A-695B-ED731F1571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ACE9BE-109D-03C1-72A4-38D50B0DA9D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603B810-71C3-5EB8-2F51-0A7D556A03D7}"/>
              </a:ext>
            </a:extLst>
          </p:cNvPr>
          <p:cNvPicPr>
            <a:picLocks noChangeAspect="1"/>
          </p:cNvPicPr>
          <p:nvPr/>
        </p:nvPicPr>
        <p:blipFill>
          <a:blip r:embed="rId2"/>
          <a:stretch>
            <a:fillRect/>
          </a:stretch>
        </p:blipFill>
        <p:spPr>
          <a:xfrm>
            <a:off x="670768" y="339069"/>
            <a:ext cx="7802463" cy="4465361"/>
          </a:xfrm>
          <a:prstGeom prst="rect">
            <a:avLst/>
          </a:prstGeom>
        </p:spPr>
      </p:pic>
    </p:spTree>
    <p:extLst>
      <p:ext uri="{BB962C8B-B14F-4D97-AF65-F5344CB8AC3E}">
        <p14:creationId xmlns:p14="http://schemas.microsoft.com/office/powerpoint/2010/main" val="3417486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07505-782A-456C-46BE-267F20AF57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EB7E59-C79C-9754-755B-23AA086F553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6F3BD2B-C070-4BB0-2860-43E42FC39928}"/>
              </a:ext>
            </a:extLst>
          </p:cNvPr>
          <p:cNvPicPr>
            <a:picLocks noChangeAspect="1"/>
          </p:cNvPicPr>
          <p:nvPr/>
        </p:nvPicPr>
        <p:blipFill>
          <a:blip r:embed="rId3"/>
          <a:stretch>
            <a:fillRect/>
          </a:stretch>
        </p:blipFill>
        <p:spPr>
          <a:xfrm>
            <a:off x="1642061" y="205979"/>
            <a:ext cx="5622803" cy="4028800"/>
          </a:xfrm>
          <a:prstGeom prst="rect">
            <a:avLst/>
          </a:prstGeom>
        </p:spPr>
      </p:pic>
    </p:spTree>
    <p:extLst>
      <p:ext uri="{BB962C8B-B14F-4D97-AF65-F5344CB8AC3E}">
        <p14:creationId xmlns:p14="http://schemas.microsoft.com/office/powerpoint/2010/main" val="312791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DE54-FBF1-3867-9A3C-4CAD06F1F6D2}"/>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271AF3C-A65E-B636-39C5-ACC208FBC756}"/>
              </a:ext>
            </a:extLst>
          </p:cNvPr>
          <p:cNvPicPr>
            <a:picLocks noGrp="1" noChangeAspect="1"/>
          </p:cNvPicPr>
          <p:nvPr>
            <p:ph idx="1"/>
          </p:nvPr>
        </p:nvPicPr>
        <p:blipFill>
          <a:blip r:embed="rId3"/>
          <a:stretch>
            <a:fillRect/>
          </a:stretch>
        </p:blipFill>
        <p:spPr>
          <a:xfrm>
            <a:off x="320904" y="159550"/>
            <a:ext cx="8502191" cy="4824399"/>
          </a:xfrm>
        </p:spPr>
      </p:pic>
    </p:spTree>
    <p:extLst>
      <p:ext uri="{BB962C8B-B14F-4D97-AF65-F5344CB8AC3E}">
        <p14:creationId xmlns:p14="http://schemas.microsoft.com/office/powerpoint/2010/main" val="3251187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C3DC-C8B2-56E3-8A32-A232CAA50F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F59CB9-02CB-29A0-2104-A4BDDAE142D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5D735E9-EA36-B3AA-D57A-65588CFAFF19}"/>
              </a:ext>
            </a:extLst>
          </p:cNvPr>
          <p:cNvPicPr>
            <a:picLocks noChangeAspect="1"/>
          </p:cNvPicPr>
          <p:nvPr/>
        </p:nvPicPr>
        <p:blipFill>
          <a:blip r:embed="rId3"/>
          <a:stretch>
            <a:fillRect/>
          </a:stretch>
        </p:blipFill>
        <p:spPr>
          <a:xfrm>
            <a:off x="348793" y="548877"/>
            <a:ext cx="8446414" cy="4055885"/>
          </a:xfrm>
          <a:prstGeom prst="rect">
            <a:avLst/>
          </a:prstGeom>
        </p:spPr>
      </p:pic>
    </p:spTree>
    <p:extLst>
      <p:ext uri="{BB962C8B-B14F-4D97-AF65-F5344CB8AC3E}">
        <p14:creationId xmlns:p14="http://schemas.microsoft.com/office/powerpoint/2010/main" val="3862816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454A-FFEF-D6AB-4189-4C55E2B0C2D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7060D66-CDC1-2C35-94D7-25761B75301E}"/>
              </a:ext>
            </a:extLst>
          </p:cNvPr>
          <p:cNvSpPr>
            <a:spLocks noGrp="1"/>
          </p:cNvSpPr>
          <p:nvPr>
            <p:ph idx="1"/>
          </p:nvPr>
        </p:nvSpPr>
        <p:spPr/>
        <p:txBody>
          <a:bodyPr>
            <a:normAutofit fontScale="47500" lnSpcReduction="20000"/>
          </a:bodyPr>
          <a:lstStyle/>
          <a:p>
            <a:r>
              <a:rPr lang="en-US" b="1" i="0" dirty="0">
                <a:solidFill>
                  <a:srgbClr val="131314"/>
                </a:solidFill>
                <a:effectLst/>
              </a:rPr>
              <a:t>A new approach to measuring climate risk</a:t>
            </a:r>
            <a:r>
              <a:rPr lang="en-US" b="0" i="0" dirty="0">
                <a:solidFill>
                  <a:srgbClr val="131314"/>
                </a:solidFill>
                <a:effectLst/>
              </a:rPr>
              <a:t>: </a:t>
            </a:r>
            <a:r>
              <a:rPr lang="en-US" i="0" dirty="0">
                <a:solidFill>
                  <a:srgbClr val="131314"/>
                </a:solidFill>
                <a:effectLst/>
              </a:rPr>
              <a:t>The paper introduces the concept of downstream supply chain climate exposure, which assesses a company's climate risk by considering the carbon intensity of its customers. This approach recognizes that a company with low direct emissions can still be vulnerable to climate change impacts if its customers are heavily exposed.</a:t>
            </a:r>
          </a:p>
          <a:p>
            <a:endParaRPr lang="en-US" b="0" i="0" dirty="0">
              <a:solidFill>
                <a:srgbClr val="131314"/>
              </a:solidFill>
              <a:effectLst/>
            </a:endParaRPr>
          </a:p>
          <a:p>
            <a:r>
              <a:rPr lang="en-US" b="1" i="0" dirty="0">
                <a:solidFill>
                  <a:srgbClr val="131314"/>
                </a:solidFill>
                <a:effectLst/>
              </a:rPr>
              <a:t>Offers unique insights beyond traditional metrics:</a:t>
            </a:r>
            <a:r>
              <a:rPr lang="en-US" i="0" dirty="0">
                <a:solidFill>
                  <a:srgbClr val="131314"/>
                </a:solidFill>
                <a:effectLst/>
              </a:rPr>
              <a:t> Downstream supply chain climate exposure captures information not fully reflected in traditional climate data like scope 1, 2, and 3 emissions. This is evident in its correlation with climate news sentiment and its ability to explain stock price movements around climate-related events, even after controlling for traditional metrics. It also provides a different sector and geographic perspective on climate risk.</a:t>
            </a:r>
          </a:p>
          <a:p>
            <a:endParaRPr lang="en-US" b="0" i="0" dirty="0">
              <a:solidFill>
                <a:srgbClr val="131314"/>
              </a:solidFill>
              <a:effectLst/>
            </a:endParaRPr>
          </a:p>
          <a:p>
            <a:r>
              <a:rPr lang="en-US" b="1" i="0" dirty="0">
                <a:solidFill>
                  <a:srgbClr val="131314"/>
                </a:solidFill>
                <a:effectLst/>
              </a:rPr>
              <a:t>Practical implications for investors and corporations</a:t>
            </a:r>
            <a:r>
              <a:rPr lang="en-US" b="0" i="0" dirty="0">
                <a:solidFill>
                  <a:srgbClr val="131314"/>
                </a:solidFill>
                <a:effectLst/>
              </a:rPr>
              <a:t>: </a:t>
            </a:r>
            <a:r>
              <a:rPr lang="en-US" i="0" dirty="0">
                <a:solidFill>
                  <a:srgbClr val="131314"/>
                </a:solidFill>
                <a:effectLst/>
              </a:rPr>
              <a:t>The measure can be used by investors for portfolio risk management and to potentially enhance investment decisions. For companies, it offers a more relevant and manageable way to assess and report climate risks compared to the often-complex scope 3 emissions data.</a:t>
            </a:r>
            <a:endParaRPr lang="en-US" dirty="0"/>
          </a:p>
        </p:txBody>
      </p:sp>
    </p:spTree>
    <p:extLst>
      <p:ext uri="{BB962C8B-B14F-4D97-AF65-F5344CB8AC3E}">
        <p14:creationId xmlns:p14="http://schemas.microsoft.com/office/powerpoint/2010/main" val="172215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2.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7330</TotalTime>
  <Words>1482</Words>
  <Application>Microsoft Office PowerPoint</Application>
  <PresentationFormat>On-screen Show (16:9)</PresentationFormat>
  <Paragraphs>98</Paragraphs>
  <Slides>21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Google Sans Text</vt:lpstr>
      <vt:lpstr>Times New Roman</vt:lpstr>
      <vt:lpstr>Office Theme</vt:lpstr>
      <vt:lpstr>Supply Chain Climate Exposure</vt:lpstr>
      <vt:lpstr>Research Question</vt:lpstr>
      <vt:lpstr>Prior Literature</vt:lpstr>
      <vt:lpstr>Hypothesis</vt:lpstr>
      <vt:lpstr>New Measure</vt:lpstr>
      <vt:lpstr>Results</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356</cp:revision>
  <dcterms:created xsi:type="dcterms:W3CDTF">2020-09-10T18:37:45Z</dcterms:created>
  <dcterms:modified xsi:type="dcterms:W3CDTF">2024-11-12T15:10:10Z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