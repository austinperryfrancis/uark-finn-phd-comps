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56" r:id="rId5"/>
    <p:sldId id="315" r:id="rId6"/>
    <p:sldId id="346" r:id="rId7"/>
    <p:sldId id="530" r:id="rId8"/>
    <p:sldId id="531" r:id="rId9"/>
    <p:sldId id="533" r:id="rId10"/>
    <p:sldId id="553" r:id="rId11"/>
    <p:sldId id="554" r:id="rId12"/>
    <p:sldId id="534" r:id="rId13"/>
    <p:sldId id="556" r:id="rId14"/>
    <p:sldId id="468" r:id="rId15"/>
    <p:sldId id="549" r:id="rId16"/>
    <p:sldId id="495" r:id="rId17"/>
    <p:sldId id="557" r:id="rId18"/>
    <p:sldId id="536" r:id="rId19"/>
    <p:sldId id="558" r:id="rId20"/>
    <p:sldId id="555" r:id="rId21"/>
    <p:sldId id="538" r:id="rId22"/>
    <p:sldId id="539" r:id="rId23"/>
    <p:sldId id="540" r:id="rId24"/>
    <p:sldId id="559" r:id="rId25"/>
    <p:sldId id="550" r:id="rId26"/>
    <p:sldId id="551" r:id="rId27"/>
    <p:sldId id="552" r:id="rId28"/>
    <p:sldId id="515" r:id="rId29"/>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30"/>
            <p14:sldId id="531"/>
            <p14:sldId id="533"/>
            <p14:sldId id="553"/>
            <p14:sldId id="554"/>
            <p14:sldId id="534"/>
            <p14:sldId id="556"/>
            <p14:sldId id="468"/>
            <p14:sldId id="549"/>
            <p14:sldId id="495"/>
            <p14:sldId id="557"/>
            <p14:sldId id="536"/>
            <p14:sldId id="558"/>
            <p14:sldId id="555"/>
            <p14:sldId id="538"/>
            <p14:sldId id="539"/>
            <p14:sldId id="540"/>
            <p14:sldId id="559"/>
            <p14:sldId id="550"/>
            <p14:sldId id="551"/>
            <p14:sldId id="552"/>
            <p14:sldId id="515"/>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79A26C-1CD3-4A12-B8F2-F1078DEF4CA3}" v="22" dt="2024-10-08T13:36:30.4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95" autoAdjust="0"/>
    <p:restoredTop sz="91373" autoAdjust="0"/>
  </p:normalViewPr>
  <p:slideViewPr>
    <p:cSldViewPr snapToGrid="0">
      <p:cViewPr>
        <p:scale>
          <a:sx n="100" d="100"/>
          <a:sy n="100" d="100"/>
        </p:scale>
        <p:origin x="859"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10/8/2024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3662784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shows this pattern at an aggregate level: intragroup capital transfers increase sharply as the euro area sovereign debt crisis explodes in 2011, and this increase is mirrored by a drop in outside borrowing (mainly from banks). Analysis of firm-level data supports this substitution. First, intragroup capital flows from firms with high cash flow to those with low cash flow and also toward firms with high investment opportunities (proxied by sales growth).</a:t>
            </a:r>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3857437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a business group</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3457131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seeks to prove</a:t>
            </a:r>
            <a:r>
              <a:rPr lang="en-US" dirty="0"/>
              <a:t>:</a:t>
            </a:r>
            <a:br>
              <a:rPr lang="en-US" dirty="0"/>
            </a:br>
            <a:r>
              <a:rPr lang="en-US" dirty="0"/>
              <a:t>It aims to show the basic differences between group-affiliated and unaffiliated firms before and during the financial crisis, including firm size, performance, and borrowing behavior.</a:t>
            </a:r>
          </a:p>
          <a:p>
            <a:r>
              <a:rPr lang="en-US" b="1" dirty="0"/>
              <a:t>Three main takeaways</a:t>
            </a:r>
            <a:r>
              <a:rPr lang="en-US" dirty="0"/>
              <a:t>:</a:t>
            </a:r>
          </a:p>
          <a:p>
            <a:pPr>
              <a:buFont typeface="Arial" panose="020B0604020202020204" pitchFamily="34" charset="0"/>
              <a:buChar char="•"/>
            </a:pPr>
            <a:r>
              <a:rPr lang="en-US" dirty="0"/>
              <a:t>Group-affiliated firms are larger and more likely to borrow internally. </a:t>
            </a:r>
            <a:r>
              <a:rPr lang="en-US" b="1" dirty="0"/>
              <a:t>TOTAL ASSETS, MEAN AND MEDIAN</a:t>
            </a:r>
          </a:p>
          <a:p>
            <a:pPr>
              <a:buFont typeface="Arial" panose="020B0604020202020204" pitchFamily="34" charset="0"/>
              <a:buChar char="•"/>
            </a:pPr>
            <a:r>
              <a:rPr lang="en-US" dirty="0"/>
              <a:t>Both group-affiliated and unaffiliated firms saw declines in performance during the crisis.</a:t>
            </a:r>
          </a:p>
          <a:p>
            <a:pPr>
              <a:buFont typeface="Arial" panose="020B0604020202020204" pitchFamily="34" charset="0"/>
              <a:buChar char="•"/>
            </a:pPr>
            <a:r>
              <a:rPr lang="en-US" dirty="0"/>
              <a:t>Group-affiliated firms had more access to internal funding than unaffiliated firms.</a:t>
            </a:r>
            <a:br>
              <a:rPr lang="en-US" dirty="0"/>
            </a:br>
            <a:br>
              <a:rPr lang="en-US" dirty="0"/>
            </a:br>
            <a:r>
              <a:rPr lang="en-US" dirty="0"/>
              <a:t>For the group-affiliated firms, This </a:t>
            </a:r>
            <a:r>
              <a:rPr lang="en-US" dirty="0" err="1"/>
              <a:t>tablealso</a:t>
            </a:r>
            <a:r>
              <a:rPr lang="en-US" dirty="0"/>
              <a:t> shows how Intragroup Net Financial Position/Assets varies across firms and over time. As expected, the median value is near zero, which follows from the fact that the measure nets up to zero within each group</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2199744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seeks to prove</a:t>
            </a:r>
            <a:r>
              <a:rPr lang="en-US" dirty="0"/>
              <a:t>:</a:t>
            </a:r>
            <a:br>
              <a:rPr lang="en-US" dirty="0"/>
            </a:br>
            <a:r>
              <a:rPr lang="en-US" dirty="0"/>
              <a:t>It aims to show the basic differences between group-affiliated and unaffiliated firms before and during the financial crisis, including firm size, performance, and borrowing behavior.</a:t>
            </a:r>
          </a:p>
          <a:p>
            <a:r>
              <a:rPr lang="en-US" b="1" dirty="0"/>
              <a:t>Three main takeaways</a:t>
            </a:r>
            <a:r>
              <a:rPr lang="en-US" dirty="0"/>
              <a:t>:</a:t>
            </a:r>
          </a:p>
          <a:p>
            <a:pPr>
              <a:buFont typeface="Arial" panose="020B0604020202020204" pitchFamily="34" charset="0"/>
              <a:buChar char="•"/>
            </a:pPr>
            <a:r>
              <a:rPr lang="en-US" dirty="0"/>
              <a:t>Group-affiliated firms are larger and more likely to borrow internally.</a:t>
            </a:r>
          </a:p>
          <a:p>
            <a:pPr>
              <a:buFont typeface="Arial" panose="020B0604020202020204" pitchFamily="34" charset="0"/>
              <a:buChar char="•"/>
            </a:pPr>
            <a:r>
              <a:rPr lang="en-US" dirty="0"/>
              <a:t>Both group-affiliated and unaffiliated firms saw declines in performance during the crisis.</a:t>
            </a:r>
          </a:p>
          <a:p>
            <a:pPr>
              <a:buFont typeface="Arial" panose="020B0604020202020204" pitchFamily="34" charset="0"/>
              <a:buChar char="•"/>
            </a:pPr>
            <a:r>
              <a:rPr lang="en-US" dirty="0"/>
              <a:t>Group-affiliated firms had more access to internal funding than unaffiliated firms.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2339610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seeks to prove</a:t>
            </a:r>
            <a:r>
              <a:rPr lang="en-US" dirty="0"/>
              <a:t>:</a:t>
            </a:r>
            <a:br>
              <a:rPr lang="en-US" dirty="0"/>
            </a:br>
            <a:r>
              <a:rPr lang="en-US" dirty="0"/>
              <a:t>It tracks the changes in firm ownership and status over time, showing how many firms remained independent, joined groups, or exited the market.</a:t>
            </a:r>
          </a:p>
          <a:p>
            <a:endParaRPr lang="en-US" dirty="0"/>
          </a:p>
          <a:p>
            <a:r>
              <a:rPr lang="en-US" b="1" dirty="0"/>
              <a:t>Three main takeaways</a:t>
            </a:r>
            <a:r>
              <a:rPr lang="en-US" dirty="0"/>
              <a:t>:</a:t>
            </a:r>
          </a:p>
          <a:p>
            <a:pPr>
              <a:buFont typeface="Arial" panose="020B0604020202020204" pitchFamily="34" charset="0"/>
              <a:buChar char="•"/>
            </a:pPr>
            <a:r>
              <a:rPr lang="en-US" dirty="0"/>
              <a:t>Most firms remained in the same category (group-affiliated or unaffiliated) over time.</a:t>
            </a:r>
          </a:p>
          <a:p>
            <a:pPr>
              <a:buFont typeface="Arial" panose="020B0604020202020204" pitchFamily="34" charset="0"/>
              <a:buChar char="•"/>
            </a:pPr>
            <a:r>
              <a:rPr lang="en-US" dirty="0"/>
              <a:t>The rate of firms exiting the market increased during the crisis.</a:t>
            </a:r>
          </a:p>
          <a:p>
            <a:pPr>
              <a:buFont typeface="Arial" panose="020B0604020202020204" pitchFamily="34" charset="0"/>
              <a:buChar char="•"/>
            </a:pPr>
            <a:r>
              <a:rPr lang="en-US" dirty="0"/>
              <a:t>Group-affiliated firms were more likely to stay active compared to unaffiliated firms.</a:t>
            </a:r>
            <a:br>
              <a:rPr lang="en-US" dirty="0"/>
            </a:br>
            <a:br>
              <a:rPr lang="en-US" dirty="0"/>
            </a:br>
            <a:r>
              <a:rPr lang="en-US" dirty="0"/>
              <a:t>EXIT % - Higher for unaffiliated firms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108418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validate the idea that exposure to Bad Loans really has reduced credit supply, This table shows regressions of the growth in new credit origination at the bank–firm–quarter level, based on loan growth from the Credit Register.</a:t>
            </a:r>
            <a:br>
              <a:rPr lang="en-US" b="1" dirty="0"/>
            </a:br>
            <a:br>
              <a:rPr lang="en-US" b="1" dirty="0"/>
            </a:br>
            <a:r>
              <a:rPr lang="en-US" b="1" dirty="0"/>
              <a:t>What it seeks to prove</a:t>
            </a:r>
            <a:r>
              <a:rPr lang="en-US" dirty="0"/>
              <a:t>:</a:t>
            </a:r>
            <a:br>
              <a:rPr lang="en-US" dirty="0"/>
            </a:br>
            <a:r>
              <a:rPr lang="en-US" dirty="0"/>
              <a:t>It examines how bank health (especially bad loans) impacts the supply of credit to firms, particularly those borrowing from multiple banks.</a:t>
            </a:r>
          </a:p>
          <a:p>
            <a:r>
              <a:rPr lang="en-US" b="1" dirty="0"/>
              <a:t>Three main takeaways</a:t>
            </a:r>
            <a:r>
              <a:rPr lang="en-US" dirty="0"/>
              <a:t>:</a:t>
            </a:r>
          </a:p>
          <a:p>
            <a:pPr>
              <a:buFont typeface="Arial" panose="020B0604020202020204" pitchFamily="34" charset="0"/>
              <a:buChar char="•"/>
            </a:pPr>
            <a:r>
              <a:rPr lang="en-US" dirty="0"/>
              <a:t>Banks with high levels of bad loans reduced their credit supply.</a:t>
            </a:r>
          </a:p>
          <a:p>
            <a:pPr>
              <a:buFont typeface="Arial" panose="020B0604020202020204" pitchFamily="34" charset="0"/>
              <a:buChar char="•"/>
            </a:pPr>
            <a:r>
              <a:rPr lang="en-US" dirty="0"/>
              <a:t>Firm credit growth was negatively affected by their lenders’ financial problems.</a:t>
            </a:r>
          </a:p>
          <a:p>
            <a:pPr>
              <a:buFont typeface="Arial" panose="020B0604020202020204" pitchFamily="34" charset="0"/>
              <a:buChar char="•"/>
            </a:pPr>
            <a:r>
              <a:rPr lang="en-US" dirty="0"/>
              <a:t>The availability of bank credit was critical for firms' financial health during the crisis.</a:t>
            </a:r>
            <a:br>
              <a:rPr lang="en-US" dirty="0"/>
            </a:br>
            <a:br>
              <a:rPr lang="en-US" dirty="0"/>
            </a:br>
            <a:r>
              <a:rPr lang="en-US" dirty="0"/>
              <a:t>Bad loans coefficient. More bad loans leads to a reduction in credit supplied by banks</a:t>
            </a:r>
            <a:br>
              <a:rPr lang="en-US" dirty="0"/>
            </a:br>
            <a:br>
              <a:rPr lang="en-US" dirty="0"/>
            </a:br>
            <a:r>
              <a:rPr lang="en-US" dirty="0"/>
              <a:t>As shown, lenders saddled with high levels of loan losses cut credit growth. The magnitude of the effect of Bad Loans changes somewhat across specifications (smaller when we drop the outliers), but the sign is always negative with very strong statistical significance.16</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45137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seeks to prove</a:t>
            </a:r>
            <a:r>
              <a:rPr lang="en-US" dirty="0"/>
              <a:t>:</a:t>
            </a:r>
            <a:br>
              <a:rPr lang="en-US" dirty="0"/>
            </a:br>
            <a:r>
              <a:rPr lang="en-US" dirty="0"/>
              <a:t>It tests whether group affiliation helped firms survive during the financial crisis, considering both internal group cash flow and external bank health.</a:t>
            </a:r>
          </a:p>
          <a:p>
            <a:r>
              <a:rPr lang="en-US" b="1" dirty="0"/>
              <a:t>Three main takeaways</a:t>
            </a:r>
            <a:r>
              <a:rPr lang="en-US" dirty="0"/>
              <a:t>:</a:t>
            </a:r>
          </a:p>
          <a:p>
            <a:pPr>
              <a:buFont typeface="Arial" panose="020B0604020202020204" pitchFamily="34" charset="0"/>
              <a:buChar char="•"/>
            </a:pPr>
            <a:r>
              <a:rPr lang="en-US" dirty="0"/>
              <a:t>Group-affiliated firms had a lower probability of failure compared to unaffiliated firms.</a:t>
            </a:r>
          </a:p>
          <a:p>
            <a:pPr>
              <a:buFont typeface="Arial" panose="020B0604020202020204" pitchFamily="34" charset="0"/>
              <a:buChar char="•"/>
            </a:pPr>
            <a:r>
              <a:rPr lang="en-US" dirty="0"/>
              <a:t>A firm's survival depended less on its bank’s health if it was part of a group.</a:t>
            </a:r>
          </a:p>
          <a:p>
            <a:pPr>
              <a:buFont typeface="Arial" panose="020B0604020202020204" pitchFamily="34" charset="0"/>
              <a:buChar char="•"/>
            </a:pPr>
            <a:r>
              <a:rPr lang="en-US" dirty="0"/>
              <a:t>Internal capital transfers played a significant role in ensuring firm survival.</a:t>
            </a:r>
            <a:br>
              <a:rPr lang="en-US" dirty="0"/>
            </a:br>
            <a:br>
              <a:rPr lang="en-US" dirty="0"/>
            </a:br>
            <a:r>
              <a:rPr lang="en-US" dirty="0"/>
              <a:t>Being in a group reduces the annual probability of failing by 1.7% each year</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2424095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Firms placed in </a:t>
            </a:r>
            <a:r>
              <a:rPr lang="en-US" b="1" dirty="0" err="1"/>
              <a:t>psuedogroups</a:t>
            </a:r>
            <a:r>
              <a:rPr lang="en-US" b="1" dirty="0"/>
              <a:t> as a placebo</a:t>
            </a:r>
            <a:br>
              <a:rPr lang="en-US" b="1" dirty="0"/>
            </a:br>
            <a:br>
              <a:rPr lang="en-US" b="1" dirty="0"/>
            </a:br>
            <a:br>
              <a:rPr lang="en-US" b="1" dirty="0"/>
            </a:br>
            <a:r>
              <a:rPr lang="en-US" dirty="0"/>
              <a:t>When “brother and sister” firms have high sales and/or substantial cash flow, this firm is less likely to fail. In other words, comparing two group-affiliated firms with similar fundamentals, the one with access to a stronger internal capital market is more likely to survive.</a:t>
            </a:r>
            <a:br>
              <a:rPr lang="en-US" dirty="0"/>
            </a:br>
            <a:br>
              <a:rPr lang="en-US" dirty="0"/>
            </a:br>
            <a:r>
              <a:rPr lang="en-US" dirty="0"/>
              <a:t> a standard deviation increase in Other Cash flow (¼0.306) leads to a decline in annual failure rates of 0.12%.</a:t>
            </a:r>
            <a:br>
              <a:rPr lang="en-US" dirty="0"/>
            </a:br>
            <a:br>
              <a:rPr lang="en-US" dirty="0"/>
            </a:br>
            <a:br>
              <a:rPr lang="en-US" b="1" dirty="0"/>
            </a:br>
            <a:r>
              <a:rPr lang="en-US" b="1" dirty="0"/>
              <a:t>What it seeks to prove</a:t>
            </a:r>
            <a:r>
              <a:rPr lang="en-US" dirty="0"/>
              <a:t>:</a:t>
            </a:r>
            <a:br>
              <a:rPr lang="en-US" dirty="0"/>
            </a:br>
            <a:r>
              <a:rPr lang="en-US" dirty="0"/>
              <a:t>It explores the impact of group-level cash flow and sales growth on the likelihood of firm survival, especially during the crisis period.</a:t>
            </a:r>
          </a:p>
          <a:p>
            <a:r>
              <a:rPr lang="en-US" b="1" dirty="0"/>
              <a:t>Three main takeaways</a:t>
            </a:r>
            <a:r>
              <a:rPr lang="en-US" dirty="0"/>
              <a:t>:</a:t>
            </a:r>
          </a:p>
          <a:p>
            <a:pPr>
              <a:buFont typeface="Arial" panose="020B0604020202020204" pitchFamily="34" charset="0"/>
              <a:buChar char="•"/>
            </a:pPr>
            <a:r>
              <a:rPr lang="en-US" dirty="0"/>
              <a:t>Firms with strong group-level cash flow were more likely to survive.</a:t>
            </a:r>
          </a:p>
          <a:p>
            <a:pPr>
              <a:buFont typeface="Arial" panose="020B0604020202020204" pitchFamily="34" charset="0"/>
              <a:buChar char="•"/>
            </a:pPr>
            <a:r>
              <a:rPr lang="en-US" dirty="0"/>
              <a:t>The effect of group-level cash flow was stronger during periods of bank distress.</a:t>
            </a:r>
          </a:p>
          <a:p>
            <a:pPr>
              <a:buFont typeface="Arial" panose="020B0604020202020204" pitchFamily="34" charset="0"/>
              <a:buChar char="•"/>
            </a:pPr>
            <a:r>
              <a:rPr lang="en-US" dirty="0"/>
              <a:t>Sales growth within the group also improved survival rates for affiliated firms.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722342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seeks to prove</a:t>
            </a:r>
            <a:r>
              <a:rPr lang="en-US" dirty="0"/>
              <a:t>:</a:t>
            </a:r>
            <a:br>
              <a:rPr lang="en-US" dirty="0"/>
            </a:br>
            <a:r>
              <a:rPr lang="en-US" dirty="0"/>
              <a:t>It extends the survival model by breaking down differences between group-affiliated and unaffiliated firms, showing how these groups fared differently during crises.</a:t>
            </a:r>
          </a:p>
          <a:p>
            <a:r>
              <a:rPr lang="en-US" b="1" dirty="0"/>
              <a:t>Three main takeaways</a:t>
            </a:r>
            <a:r>
              <a:rPr lang="en-US" dirty="0"/>
              <a:t>:</a:t>
            </a:r>
          </a:p>
          <a:p>
            <a:pPr>
              <a:buFont typeface="Arial" panose="020B0604020202020204" pitchFamily="34" charset="0"/>
              <a:buChar char="•"/>
            </a:pPr>
            <a:r>
              <a:rPr lang="en-US" dirty="0"/>
              <a:t>Group-affiliated firms consistently outperformed unaffiliated firms in terms of survival.</a:t>
            </a:r>
          </a:p>
          <a:p>
            <a:pPr>
              <a:buFont typeface="Arial" panose="020B0604020202020204" pitchFamily="34" charset="0"/>
              <a:buChar char="•"/>
            </a:pPr>
            <a:r>
              <a:rPr lang="en-US" dirty="0"/>
              <a:t>Access to internal capital mitigated the risks from poor bank health.</a:t>
            </a:r>
          </a:p>
          <a:p>
            <a:pPr>
              <a:buFont typeface="Arial" panose="020B0604020202020204" pitchFamily="34" charset="0"/>
              <a:buChar char="•"/>
            </a:pPr>
            <a:r>
              <a:rPr lang="en-US" dirty="0"/>
              <a:t>The survival advantage for group-affiliated firms was consistent across industries.</a:t>
            </a:r>
            <a:br>
              <a:rPr lang="en-US" dirty="0"/>
            </a:br>
            <a:br>
              <a:rPr lang="en-US" dirty="0"/>
            </a:br>
            <a:r>
              <a:rPr lang="en-US" dirty="0"/>
              <a:t>To be precise, the effect of a firm’s own fundamentals becomes substantially stronger when its banks are distressed. That is, both own Sales Growth and own Cash Flow interact negatively with Bad Loans. Said differently</a:t>
            </a:r>
            <a:r>
              <a:rPr lang="en-US" b="1" dirty="0"/>
              <a:t>, firms are most likely to fail when their own fundamentals are weak and access to external capital is constrained. Yet the results also continue to show that unaffiliated firm survival depends more on its bank health than that of group-affiliated firms</a:t>
            </a:r>
            <a:r>
              <a:rPr lang="en-US" dirty="0"/>
              <a:t>.</a:t>
            </a:r>
            <a:br>
              <a:rPr lang="en-US" dirty="0"/>
            </a:br>
            <a:br>
              <a:rPr lang="en-US" dirty="0"/>
            </a:br>
            <a:r>
              <a:rPr lang="en-US" dirty="0"/>
              <a:t>Together, the results of Tables IV–VI </a:t>
            </a:r>
            <a:r>
              <a:rPr lang="en-US" b="1" dirty="0"/>
              <a:t>suggest that group affiliation helps firms survive by increasing their potential to share funds between firms owned by the same group</a:t>
            </a:r>
            <a:r>
              <a:rPr lang="en-US" dirty="0"/>
              <a:t>. And, crucially, that group-affiliated firm survival depends less on the health of their banks, consistent with internal capital markets providing a substitute source of funds. </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4178198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seeks to prove</a:t>
            </a:r>
            <a:r>
              <a:rPr lang="en-US" dirty="0"/>
              <a:t>:</a:t>
            </a:r>
            <a:br>
              <a:rPr lang="en-US" dirty="0"/>
            </a:br>
            <a:r>
              <a:rPr lang="en-US" dirty="0"/>
              <a:t>It examines how firms within a group transfer capital internally, especially in response to external financial constraints (like bank distress).</a:t>
            </a:r>
          </a:p>
          <a:p>
            <a:r>
              <a:rPr lang="en-US" b="1" dirty="0"/>
              <a:t>Three main takeaways</a:t>
            </a:r>
            <a:r>
              <a:rPr lang="en-US" dirty="0"/>
              <a:t>:</a:t>
            </a:r>
          </a:p>
          <a:p>
            <a:pPr>
              <a:buFont typeface="Arial" panose="020B0604020202020204" pitchFamily="34" charset="0"/>
              <a:buChar char="•"/>
            </a:pPr>
            <a:r>
              <a:rPr lang="en-US" dirty="0"/>
              <a:t>Internal transfers increased when banks were in distress.</a:t>
            </a:r>
          </a:p>
          <a:p>
            <a:pPr>
              <a:buFont typeface="Arial" panose="020B0604020202020204" pitchFamily="34" charset="0"/>
              <a:buChar char="•"/>
            </a:pPr>
            <a:r>
              <a:rPr lang="en-US" dirty="0"/>
              <a:t>Capital flowed from cash-rich to cash-poor firms within the group.</a:t>
            </a:r>
          </a:p>
          <a:p>
            <a:pPr>
              <a:buFont typeface="Arial" panose="020B0604020202020204" pitchFamily="34" charset="0"/>
              <a:buChar char="•"/>
            </a:pPr>
            <a:r>
              <a:rPr lang="en-US" dirty="0"/>
              <a:t>Firms with higher sales growth received more internal capital.</a:t>
            </a:r>
            <a:br>
              <a:rPr lang="en-US" dirty="0"/>
            </a:br>
            <a:br>
              <a:rPr lang="en-US" dirty="0"/>
            </a:br>
            <a:r>
              <a:rPr lang="en-US" dirty="0"/>
              <a:t>. </a:t>
            </a:r>
            <a:r>
              <a:rPr lang="en-US" b="1" dirty="0"/>
              <a:t>Positive coefficients indicate that an increase in the explanatory variable leads a firm to use more funds from the internal capital market (i.e., to borrow), whereas negative coefficients mean that an increase in the explanatory variable leads the firm to supply more funds to the internal capital market (to lend).</a:t>
            </a:r>
            <a:br>
              <a:rPr lang="en-US" b="1" dirty="0"/>
            </a:br>
            <a:br>
              <a:rPr lang="en-US" dirty="0"/>
            </a:br>
            <a:r>
              <a:rPr lang="en-US" dirty="0"/>
              <a:t>Both Cash Flow and Other Cash Flow affect capital transfers strongly: firms with high cash flow lend to the internal capital market and those with low cash flow borrow; </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845862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seeks to prove</a:t>
            </a:r>
            <a:r>
              <a:rPr lang="en-US" dirty="0"/>
              <a:t>:</a:t>
            </a:r>
            <a:br>
              <a:rPr lang="en-US" dirty="0"/>
            </a:br>
            <a:r>
              <a:rPr lang="en-US" dirty="0"/>
              <a:t>It focuses on the efficiency of internal capital markets, particularly how well firms allocate resources during financial crises.</a:t>
            </a:r>
          </a:p>
          <a:p>
            <a:r>
              <a:rPr lang="en-US" b="1" dirty="0"/>
              <a:t>Three main takeaways</a:t>
            </a:r>
            <a:r>
              <a:rPr lang="en-US" dirty="0"/>
              <a:t>:</a:t>
            </a:r>
          </a:p>
          <a:p>
            <a:pPr>
              <a:buFont typeface="Arial" panose="020B0604020202020204" pitchFamily="34" charset="0"/>
              <a:buChar char="•"/>
            </a:pPr>
            <a:r>
              <a:rPr lang="en-US" dirty="0"/>
              <a:t>Internal capital transfers were directed toward firms with better investment opportunities.</a:t>
            </a:r>
          </a:p>
          <a:p>
            <a:pPr>
              <a:buFont typeface="Arial" panose="020B0604020202020204" pitchFamily="34" charset="0"/>
              <a:buChar char="•"/>
            </a:pPr>
            <a:r>
              <a:rPr lang="en-US" dirty="0"/>
              <a:t>The efficiency of these transfers improved during the crisis.</a:t>
            </a:r>
          </a:p>
          <a:p>
            <a:pPr>
              <a:buFont typeface="Arial" panose="020B0604020202020204" pitchFamily="34" charset="0"/>
              <a:buChar char="•"/>
            </a:pPr>
            <a:r>
              <a:rPr lang="en-US" dirty="0"/>
              <a:t>Firms in groups with strong internal capital markets fared better in the downturn.</a:t>
            </a:r>
          </a:p>
          <a:p>
            <a:pPr>
              <a:buFont typeface="Arial" panose="020B0604020202020204" pitchFamily="34" charset="0"/>
              <a:buChar char="•"/>
            </a:pPr>
            <a:endParaRPr lang="en-US" dirty="0"/>
          </a:p>
          <a:p>
            <a:pPr>
              <a:buFont typeface="Arial" panose="020B0604020202020204" pitchFamily="34" charset="0"/>
              <a:buNone/>
            </a:pPr>
            <a:r>
              <a:rPr lang="en-US" dirty="0"/>
              <a:t>Positive = Borrow </a:t>
            </a:r>
            <a:br>
              <a:rPr lang="en-US" dirty="0"/>
            </a:br>
            <a:r>
              <a:rPr lang="en-US" dirty="0"/>
              <a:t>Negative = Lend</a:t>
            </a:r>
            <a:br>
              <a:rPr lang="en-US" dirty="0"/>
            </a:br>
            <a:br>
              <a:rPr lang="en-US" dirty="0"/>
            </a:br>
            <a:r>
              <a:rPr lang="en-US" dirty="0"/>
              <a:t>adding an indicator variable equal to one for firms with </a:t>
            </a:r>
            <a:r>
              <a:rPr lang="en-US" dirty="0" err="1"/>
              <a:t>abovemedian</a:t>
            </a:r>
            <a:r>
              <a:rPr lang="en-US" dirty="0"/>
              <a:t> sales growth for that year and its interaction with the two cash flow </a:t>
            </a:r>
            <a:r>
              <a:rPr lang="en-US" dirty="0" err="1"/>
              <a:t>variabes</a:t>
            </a:r>
            <a:r>
              <a:rPr lang="en-US" dirty="0"/>
              <a:t> (own and other)</a:t>
            </a:r>
            <a:br>
              <a:rPr lang="en-US" dirty="0"/>
            </a:br>
            <a:br>
              <a:rPr lang="en-US" dirty="0"/>
            </a:br>
            <a:r>
              <a:rPr lang="en-US" dirty="0"/>
              <a:t>Efficiency in the internal capital market would imply </a:t>
            </a:r>
            <a:r>
              <a:rPr lang="en-US" b="1" dirty="0"/>
              <a:t>that low cash flow firms with high sales ought </a:t>
            </a:r>
            <a:r>
              <a:rPr lang="en-US" dirty="0"/>
              <a:t>to receive more intragroup transfers </a:t>
            </a:r>
            <a:r>
              <a:rPr lang="en-US" b="1" dirty="0"/>
              <a:t>than low cash flow firms with low sales</a:t>
            </a:r>
            <a:r>
              <a:rPr lang="en-US" dirty="0"/>
              <a:t>. In other words, Above-Median Sales  Cash Flow ought to enter negatively. The opposite would be true for other cash flow, meaning that Above-Median Sales  Other Cash Flow ought to enter positively</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a:p>
        </p:txBody>
      </p:sp>
    </p:spTree>
    <p:extLst>
      <p:ext uri="{BB962C8B-B14F-4D97-AF65-F5344CB8AC3E}">
        <p14:creationId xmlns:p14="http://schemas.microsoft.com/office/powerpoint/2010/main" val="30185471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seeks to prove</a:t>
            </a:r>
            <a:r>
              <a:rPr lang="en-US" dirty="0"/>
              <a:t>:</a:t>
            </a:r>
            <a:br>
              <a:rPr lang="en-US" dirty="0"/>
            </a:br>
            <a:r>
              <a:rPr lang="en-US" dirty="0"/>
              <a:t>It explores how internal capital transfers within groups are affected by firms' debt capacity and fundamentals during the crisis.</a:t>
            </a:r>
          </a:p>
          <a:p>
            <a:r>
              <a:rPr lang="en-US" b="1" dirty="0"/>
              <a:t>Three main takeaways</a:t>
            </a:r>
            <a:r>
              <a:rPr lang="en-US" dirty="0"/>
              <a:t>:</a:t>
            </a:r>
          </a:p>
          <a:p>
            <a:pPr>
              <a:buFont typeface="Arial" panose="020B0604020202020204" pitchFamily="34" charset="0"/>
              <a:buChar char="•"/>
            </a:pPr>
            <a:r>
              <a:rPr lang="en-US" dirty="0"/>
              <a:t>Firms with better fundamentals and higher debt capacity received more internal capital.</a:t>
            </a:r>
          </a:p>
          <a:p>
            <a:pPr>
              <a:buFont typeface="Arial" panose="020B0604020202020204" pitchFamily="34" charset="0"/>
              <a:buChar char="•"/>
            </a:pPr>
            <a:r>
              <a:rPr lang="en-US" dirty="0"/>
              <a:t>Internal capital markets helped firms avoid external borrowing.</a:t>
            </a:r>
          </a:p>
          <a:p>
            <a:pPr>
              <a:buFont typeface="Arial" panose="020B0604020202020204" pitchFamily="34" charset="0"/>
              <a:buChar char="•"/>
            </a:pPr>
            <a:r>
              <a:rPr lang="en-US" dirty="0"/>
              <a:t>Debt capacity was an important determinant in capital allocation decisions.</a:t>
            </a:r>
            <a:br>
              <a:rPr lang="en-US" dirty="0"/>
            </a:br>
            <a:br>
              <a:rPr lang="en-US" dirty="0"/>
            </a:br>
            <a:r>
              <a:rPr lang="en-US" dirty="0"/>
              <a:t>Positive = Borrow </a:t>
            </a:r>
            <a:br>
              <a:rPr lang="en-US" dirty="0"/>
            </a:br>
            <a:r>
              <a:rPr lang="en-US" dirty="0"/>
              <a:t>Negative = Lend</a:t>
            </a:r>
          </a:p>
          <a:p>
            <a:pPr>
              <a:buFont typeface="Arial" panose="020B0604020202020204" pitchFamily="34" charset="0"/>
              <a:buChar char="•"/>
            </a:pPr>
            <a:endParaRPr lang="en-US" dirty="0"/>
          </a:p>
          <a:p>
            <a:pPr>
              <a:buFont typeface="Arial" panose="020B0604020202020204" pitchFamily="34" charset="0"/>
              <a:buChar char="•"/>
            </a:pPr>
            <a:r>
              <a:rPr lang="en-US" dirty="0"/>
              <a:t>Other Bank Debt enters significantly with a positive effect, meaning firms borrow from the internal capital market when their “brother and sister” firms have greater access to external capital. They do not find, however, that this effect interacts with the health of the firm’s banks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17449019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a:p>
        </p:txBody>
      </p:sp>
    </p:spTree>
    <p:extLst>
      <p:ext uri="{BB962C8B-B14F-4D97-AF65-F5344CB8AC3E}">
        <p14:creationId xmlns:p14="http://schemas.microsoft.com/office/powerpoint/2010/main" val="3882397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10/8/2024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10/8/2024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10/8/2024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10/8/2024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Internal Capital Markets in Times of Crisis: The Benefit of Group Affiliation</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625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Raffaele </a:t>
            </a:r>
            <a:r>
              <a:rPr lang="en-US" sz="2900" b="1" dirty="0" err="1">
                <a:solidFill>
                  <a:schemeClr val="tx1"/>
                </a:solidFill>
                <a:ea typeface="Calibri"/>
                <a:cs typeface="Calibri"/>
              </a:rPr>
              <a:t>Santioni</a:t>
            </a:r>
            <a:br>
              <a:rPr lang="en-US" sz="2900" dirty="0">
                <a:solidFill>
                  <a:schemeClr val="tx1"/>
                </a:solidFill>
                <a:ea typeface="Calibri"/>
                <a:cs typeface="Calibri"/>
              </a:rPr>
            </a:br>
            <a:r>
              <a:rPr lang="en-US" sz="2900" dirty="0">
                <a:solidFill>
                  <a:schemeClr val="tx1"/>
                </a:solidFill>
                <a:ea typeface="Calibri"/>
                <a:cs typeface="Calibri"/>
              </a:rPr>
              <a:t>Bank of Italy</a:t>
            </a:r>
          </a:p>
          <a:p>
            <a:br>
              <a:rPr lang="en-US" sz="2900" b="1" dirty="0">
                <a:ea typeface="Calibri"/>
                <a:cs typeface="Calibri"/>
              </a:rPr>
            </a:br>
            <a:r>
              <a:rPr lang="en-US" sz="2900" b="1" dirty="0">
                <a:solidFill>
                  <a:schemeClr val="tx1"/>
                </a:solidFill>
                <a:ea typeface="Calibri"/>
                <a:cs typeface="Calibri"/>
              </a:rPr>
              <a:t>Fabio </a:t>
            </a:r>
            <a:r>
              <a:rPr lang="en-US" sz="2900" b="1" dirty="0" err="1">
                <a:solidFill>
                  <a:schemeClr val="tx1"/>
                </a:solidFill>
                <a:ea typeface="Calibri"/>
                <a:cs typeface="Calibri"/>
              </a:rPr>
              <a:t>Schiantarelli</a:t>
            </a:r>
            <a:br>
              <a:rPr lang="en-US" sz="2900" dirty="0">
                <a:solidFill>
                  <a:schemeClr val="tx1"/>
                </a:solidFill>
                <a:ea typeface="Calibri"/>
                <a:cs typeface="Calibri"/>
              </a:rPr>
            </a:br>
            <a:r>
              <a:rPr lang="en-US" sz="2900" dirty="0">
                <a:solidFill>
                  <a:schemeClr val="tx1"/>
                </a:solidFill>
                <a:ea typeface="Calibri"/>
                <a:cs typeface="Calibri"/>
              </a:rPr>
              <a:t>Boston College</a:t>
            </a:r>
          </a:p>
          <a:p>
            <a:br>
              <a:rPr lang="en-US" sz="2900" dirty="0">
                <a:solidFill>
                  <a:schemeClr val="tx1"/>
                </a:solidFill>
                <a:ea typeface="Calibri"/>
                <a:cs typeface="Calibri"/>
              </a:rPr>
            </a:br>
            <a:r>
              <a:rPr lang="en-US" sz="2900" b="1" dirty="0">
                <a:solidFill>
                  <a:schemeClr val="tx1"/>
                </a:solidFill>
                <a:ea typeface="Calibri"/>
                <a:cs typeface="Calibri"/>
              </a:rPr>
              <a:t>Philip E. Strahan</a:t>
            </a:r>
            <a:br>
              <a:rPr lang="en-US" sz="2900" b="1" dirty="0">
                <a:ea typeface="Calibri"/>
                <a:cs typeface="Calibri"/>
              </a:rPr>
            </a:br>
            <a:r>
              <a:rPr lang="en-US" sz="2900" dirty="0">
                <a:solidFill>
                  <a:schemeClr val="tx1"/>
                </a:solidFill>
                <a:ea typeface="Calibri"/>
                <a:cs typeface="Calibri"/>
              </a:rPr>
              <a:t>IZA, and NBER</a:t>
            </a: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Calibri"/>
                <a:cs typeface="Times New Roman"/>
              </a:rPr>
              <a:t>What is the role of internal capital markets within business groups during times of financial crisis, and how do these internal capital transfers affect firm survival, particularly when external markets (like banks) are distressed?</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0"/>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681526"/>
            <a:ext cx="8229600" cy="3803977"/>
          </a:xfrm>
        </p:spPr>
        <p:txBody>
          <a:bodyPr vert="horz" lIns="91440" tIns="45720" rIns="91440" bIns="45720" rtlCol="0" anchor="t">
            <a:noAutofit/>
          </a:bodyPr>
          <a:lstStyle/>
          <a:p>
            <a:pPr marL="342900" lvl="1" indent="-342900">
              <a:buFont typeface="Arial"/>
              <a:buChar char="•"/>
            </a:pPr>
            <a:r>
              <a:rPr lang="en-US" sz="1600" b="1" dirty="0"/>
              <a:t>Internal Capital Markets during Crises</a:t>
            </a:r>
            <a:r>
              <a:rPr lang="en-US" sz="1600" dirty="0"/>
              <a:t>: Previous research has shown that internal capital markets become more important during financial crises. Studies by </a:t>
            </a:r>
            <a:r>
              <a:rPr lang="en-US" sz="1600" dirty="0" err="1"/>
              <a:t>Matvos</a:t>
            </a:r>
            <a:r>
              <a:rPr lang="en-US" sz="1600" dirty="0"/>
              <a:t> and </a:t>
            </a:r>
            <a:r>
              <a:rPr lang="en-US" sz="1600" dirty="0" err="1"/>
              <a:t>Seru</a:t>
            </a:r>
            <a:r>
              <a:rPr lang="en-US" sz="1600" dirty="0"/>
              <a:t> (2014), Almeida, Kim, and Kim (2015), and </a:t>
            </a:r>
            <a:r>
              <a:rPr lang="en-US" sz="1600" dirty="0" err="1"/>
              <a:t>Kuppuswamy</a:t>
            </a:r>
            <a:r>
              <a:rPr lang="en-US" sz="1600" dirty="0"/>
              <a:t> and </a:t>
            </a:r>
            <a:r>
              <a:rPr lang="en-US" sz="1600" dirty="0" err="1"/>
              <a:t>Villalonga</a:t>
            </a:r>
            <a:r>
              <a:rPr lang="en-US" sz="1600" dirty="0"/>
              <a:t> (2015) have explored this dynamic, demonstrating that group-affiliated firms are better able to survive because of access to internal capital.</a:t>
            </a:r>
          </a:p>
          <a:p>
            <a:pPr marL="342900" lvl="1" indent="-342900">
              <a:buFont typeface="Arial"/>
              <a:buChar char="•"/>
            </a:pPr>
            <a:r>
              <a:rPr lang="en-US" sz="1600" b="1" dirty="0"/>
              <a:t>Diversified Firms and Survival</a:t>
            </a:r>
            <a:r>
              <a:rPr lang="en-US" sz="1600" dirty="0"/>
              <a:t>: Studies have shown that diversified conglomerates, like those in the U.S., tend to perform better during crises due to their ability to share resources (e.g., </a:t>
            </a:r>
            <a:r>
              <a:rPr lang="en-US" sz="1600" dirty="0" err="1"/>
              <a:t>Matvos</a:t>
            </a:r>
            <a:r>
              <a:rPr lang="en-US" sz="1600" dirty="0"/>
              <a:t>, </a:t>
            </a:r>
            <a:r>
              <a:rPr lang="en-US" sz="1600" dirty="0" err="1"/>
              <a:t>Seru</a:t>
            </a:r>
            <a:r>
              <a:rPr lang="en-US" sz="1600" dirty="0"/>
              <a:t>, and Silva, 2018). Similarly, work on Korean and Indian business groups shows that intragroup transfers are used to reallocate capital where it’s needed most.</a:t>
            </a:r>
          </a:p>
          <a:p>
            <a:pPr marL="342900" lvl="1" indent="-342900">
              <a:buFont typeface="Arial"/>
              <a:buChar char="•"/>
            </a:pPr>
            <a:r>
              <a:rPr lang="en-US" sz="1600" b="1" dirty="0"/>
              <a:t>Bank Credit and Financial Shocks</a:t>
            </a:r>
            <a:r>
              <a:rPr lang="en-US" sz="1600" dirty="0"/>
              <a:t>: Studies on the effects of bank distress on firms, such as by </a:t>
            </a:r>
            <a:r>
              <a:rPr lang="en-US" sz="1600" dirty="0" err="1"/>
              <a:t>Cingano</a:t>
            </a:r>
            <a:r>
              <a:rPr lang="en-US" sz="1600" dirty="0"/>
              <a:t>, </a:t>
            </a:r>
            <a:r>
              <a:rPr lang="en-US" sz="1600" dirty="0" err="1"/>
              <a:t>Manaresi</a:t>
            </a:r>
            <a:r>
              <a:rPr lang="en-US" sz="1600" dirty="0"/>
              <a:t>, and </a:t>
            </a:r>
            <a:r>
              <a:rPr lang="en-US" sz="1600" dirty="0" err="1"/>
              <a:t>Sette</a:t>
            </a:r>
            <a:r>
              <a:rPr lang="en-US" sz="1600" dirty="0"/>
              <a:t> (2016) and Popov and van </a:t>
            </a:r>
            <a:r>
              <a:rPr lang="en-US" sz="1600" dirty="0" err="1"/>
              <a:t>Horen</a:t>
            </a:r>
            <a:r>
              <a:rPr lang="en-US" sz="1600" dirty="0"/>
              <a:t> (2015), reveal that external financing constraints can severely limit firm performance, but the internal capital market acts as a buffer in such times.</a:t>
            </a:r>
            <a:endParaRPr lang="en-US" sz="1600" dirty="0">
              <a:ea typeface="Calibri"/>
              <a:cs typeface="Calibri"/>
            </a:endParaRP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p:txBody>
          <a:bodyPr/>
          <a:lstStyle/>
          <a:p>
            <a:r>
              <a:rPr lang="en-US" dirty="0"/>
              <a:t>Firms that are part of business groups will have higher survival rates during financial crises due to their access to internal capital markets. These firms will be less affected by bank distress compared to unaffiliated firms.</a:t>
            </a:r>
          </a:p>
        </p:txBody>
      </p:sp>
    </p:spTree>
    <p:extLst>
      <p:ext uri="{BB962C8B-B14F-4D97-AF65-F5344CB8AC3E}">
        <p14:creationId xmlns:p14="http://schemas.microsoft.com/office/powerpoint/2010/main" val="399648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CD4B-C4C6-9D72-EEB6-51AD7218BC16}"/>
              </a:ext>
            </a:extLst>
          </p:cNvPr>
          <p:cNvSpPr>
            <a:spLocks noGrp="1"/>
          </p:cNvSpPr>
          <p:nvPr>
            <p:ph type="title"/>
          </p:nvPr>
        </p:nvSpPr>
        <p:spPr/>
        <p:txBody>
          <a:bodyPr/>
          <a:lstStyle/>
          <a:p>
            <a:r>
              <a:rPr lang="en-US" dirty="0"/>
              <a:t>Key Metrics</a:t>
            </a:r>
          </a:p>
        </p:txBody>
      </p:sp>
      <p:sp>
        <p:nvSpPr>
          <p:cNvPr id="3" name="Content Placeholder 2">
            <a:extLst>
              <a:ext uri="{FF2B5EF4-FFF2-40B4-BE49-F238E27FC236}">
                <a16:creationId xmlns:a16="http://schemas.microsoft.com/office/drawing/2014/main" id="{EAB73B4E-31D4-F34C-B410-EB6A2B8EEEC3}"/>
              </a:ext>
            </a:extLst>
          </p:cNvPr>
          <p:cNvSpPr>
            <a:spLocks noGrp="1"/>
          </p:cNvSpPr>
          <p:nvPr>
            <p:ph idx="1"/>
          </p:nvPr>
        </p:nvSpPr>
        <p:spPr>
          <a:xfrm>
            <a:off x="457200" y="1063229"/>
            <a:ext cx="8229600" cy="3394472"/>
          </a:xfrm>
        </p:spPr>
        <p:txBody>
          <a:bodyPr>
            <a:normAutofit/>
          </a:bodyPr>
          <a:lstStyle/>
          <a:p>
            <a:r>
              <a:rPr lang="en-US" sz="2000" b="1" dirty="0"/>
              <a:t>Firm survival</a:t>
            </a:r>
            <a:r>
              <a:rPr lang="en-US" sz="2000" dirty="0"/>
              <a:t>: The probability of a firm surviving during and after a crisis period.</a:t>
            </a:r>
          </a:p>
          <a:p>
            <a:r>
              <a:rPr lang="en-US" sz="2000" b="1" dirty="0"/>
              <a:t>Bank health</a:t>
            </a:r>
            <a:r>
              <a:rPr lang="en-US" sz="2000" dirty="0"/>
              <a:t>: Measured using the ratio of bad loans to total assets for the firm’s lending banks.</a:t>
            </a:r>
          </a:p>
          <a:p>
            <a:r>
              <a:rPr lang="en-US" sz="2000" b="1" dirty="0"/>
              <a:t>Intragroup financial transfers</a:t>
            </a:r>
            <a:r>
              <a:rPr lang="en-US" sz="2000" dirty="0"/>
              <a:t>: Measured as the amount of financial debt transferred between firms within the same group.</a:t>
            </a:r>
          </a:p>
          <a:p>
            <a:r>
              <a:rPr lang="en-US" sz="2000" b="1" dirty="0"/>
              <a:t>Cash flow</a:t>
            </a:r>
            <a:r>
              <a:rPr lang="en-US" sz="2000" dirty="0"/>
              <a:t>: Both firm-level and group-level cash flows, as a measure of internal financial resources.</a:t>
            </a:r>
          </a:p>
          <a:p>
            <a:r>
              <a:rPr lang="en-US" sz="2000" b="1" dirty="0"/>
              <a:t>Sales growth</a:t>
            </a:r>
            <a:r>
              <a:rPr lang="en-US" sz="2000" dirty="0"/>
              <a:t>: Used to proxy for investment opportunities within a firm.</a:t>
            </a:r>
          </a:p>
        </p:txBody>
      </p:sp>
    </p:spTree>
    <p:extLst>
      <p:ext uri="{BB962C8B-B14F-4D97-AF65-F5344CB8AC3E}">
        <p14:creationId xmlns:p14="http://schemas.microsoft.com/office/powerpoint/2010/main" val="144076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1063229"/>
            <a:ext cx="8229600" cy="3394472"/>
          </a:xfrm>
        </p:spPr>
        <p:txBody>
          <a:bodyPr>
            <a:normAutofit/>
          </a:bodyPr>
          <a:lstStyle/>
          <a:p>
            <a:r>
              <a:rPr lang="en-US" sz="2000" dirty="0"/>
              <a:t>Group-affiliated firms are about 6 percentage points more likely to survive during the 2008 financial crisis compared to unaffiliated firms.</a:t>
            </a:r>
          </a:p>
          <a:p>
            <a:r>
              <a:rPr lang="en-US" sz="2000" dirty="0"/>
              <a:t>The effect of a firm’s bank health on its survival is smaller for group-affiliated firms, proving that internal capital markets helped buffer the effects of external credit shocks.</a:t>
            </a:r>
          </a:p>
          <a:p>
            <a:r>
              <a:rPr lang="en-US" sz="2000" dirty="0"/>
              <a:t>Internal transfers within groups increased significantly during times of financial stress, especially when external financing options (like bank loans) became more limited.</a:t>
            </a:r>
          </a:p>
        </p:txBody>
      </p:sp>
    </p:spTree>
    <p:extLst>
      <p:ext uri="{BB962C8B-B14F-4D97-AF65-F5344CB8AC3E}">
        <p14:creationId xmlns:p14="http://schemas.microsoft.com/office/powerpoint/2010/main" val="228072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461BF-F229-31C4-7B2A-8816975E28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739B47-5EAC-9706-0317-9D0F7594B8C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BBEB010-61E4-BDBE-CEDB-640200753641}"/>
              </a:ext>
            </a:extLst>
          </p:cNvPr>
          <p:cNvPicPr>
            <a:picLocks noChangeAspect="1"/>
          </p:cNvPicPr>
          <p:nvPr/>
        </p:nvPicPr>
        <p:blipFill>
          <a:blip r:embed="rId3"/>
          <a:stretch>
            <a:fillRect/>
          </a:stretch>
        </p:blipFill>
        <p:spPr>
          <a:xfrm>
            <a:off x="389367" y="469722"/>
            <a:ext cx="8297433" cy="4124901"/>
          </a:xfrm>
          <a:prstGeom prst="rect">
            <a:avLst/>
          </a:prstGeom>
        </p:spPr>
      </p:pic>
    </p:spTree>
    <p:extLst>
      <p:ext uri="{BB962C8B-B14F-4D97-AF65-F5344CB8AC3E}">
        <p14:creationId xmlns:p14="http://schemas.microsoft.com/office/powerpoint/2010/main" val="758992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1633B-99B3-DC8A-0639-5E18DED387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17C642-2F2E-562C-CEBB-BE5B6EED58C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23A1326-B388-1D04-6F68-384E44031809}"/>
              </a:ext>
            </a:extLst>
          </p:cNvPr>
          <p:cNvPicPr>
            <a:picLocks noChangeAspect="1"/>
          </p:cNvPicPr>
          <p:nvPr/>
        </p:nvPicPr>
        <p:blipFill>
          <a:blip r:embed="rId3"/>
          <a:stretch>
            <a:fillRect/>
          </a:stretch>
        </p:blipFill>
        <p:spPr>
          <a:xfrm>
            <a:off x="2694066" y="548877"/>
            <a:ext cx="3755867" cy="4207357"/>
          </a:xfrm>
          <a:prstGeom prst="rect">
            <a:avLst/>
          </a:prstGeom>
        </p:spPr>
      </p:pic>
    </p:spTree>
    <p:extLst>
      <p:ext uri="{BB962C8B-B14F-4D97-AF65-F5344CB8AC3E}">
        <p14:creationId xmlns:p14="http://schemas.microsoft.com/office/powerpoint/2010/main" val="2100775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p:txBody>
          <a:bodyPr/>
          <a:lstStyle/>
          <a:p>
            <a:r>
              <a:rPr lang="en-US" i="1" dirty="0" err="1"/>
              <a:t>Gruppi</a:t>
            </a:r>
            <a:r>
              <a:rPr lang="en-US" i="1" dirty="0"/>
              <a:t> </a:t>
            </a:r>
            <a:r>
              <a:rPr lang="en-US" i="1" dirty="0" err="1"/>
              <a:t>Italiani</a:t>
            </a:r>
            <a:r>
              <a:rPr lang="en-US" i="1" dirty="0"/>
              <a:t> </a:t>
            </a:r>
            <a:r>
              <a:rPr lang="en-US" dirty="0"/>
              <a:t>data by </a:t>
            </a:r>
            <a:r>
              <a:rPr lang="en-US" dirty="0" err="1"/>
              <a:t>Cerved</a:t>
            </a:r>
            <a:r>
              <a:rPr lang="en-US" dirty="0"/>
              <a:t> for information on the entire universe of Italian groups.</a:t>
            </a:r>
          </a:p>
          <a:p>
            <a:r>
              <a:rPr lang="en-US" i="1" dirty="0"/>
              <a:t>Centrale Dei </a:t>
            </a:r>
            <a:r>
              <a:rPr lang="en-US" i="1" dirty="0" err="1"/>
              <a:t>Bilanci</a:t>
            </a:r>
            <a:r>
              <a:rPr lang="en-US" i="1" dirty="0"/>
              <a:t> </a:t>
            </a:r>
            <a:r>
              <a:rPr lang="en-US" dirty="0"/>
              <a:t>by </a:t>
            </a:r>
            <a:r>
              <a:rPr lang="en-US" dirty="0" err="1"/>
              <a:t>Cerved</a:t>
            </a:r>
            <a:r>
              <a:rPr lang="en-US" dirty="0"/>
              <a:t> for income statement and cash flow statement</a:t>
            </a:r>
          </a:p>
          <a:p>
            <a:r>
              <a:rPr lang="en-US" dirty="0"/>
              <a:t>Firm level loan data from the </a:t>
            </a:r>
            <a:r>
              <a:rPr lang="en-US" i="1" dirty="0"/>
              <a:t>Italian Credit Register</a:t>
            </a:r>
          </a:p>
        </p:txBody>
      </p:sp>
    </p:spTree>
    <p:extLst>
      <p:ext uri="{BB962C8B-B14F-4D97-AF65-F5344CB8AC3E}">
        <p14:creationId xmlns:p14="http://schemas.microsoft.com/office/powerpoint/2010/main" val="102931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F2B76-5BBE-700A-6C49-F92259D2F92B}"/>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406C4CA2-B690-6B19-C40A-3836E43572E8}"/>
              </a:ext>
            </a:extLst>
          </p:cNvPr>
          <p:cNvSpPr>
            <a:spLocks noGrp="1"/>
          </p:cNvSpPr>
          <p:nvPr>
            <p:ph idx="1"/>
          </p:nvPr>
        </p:nvSpPr>
        <p:spPr/>
        <p:txBody>
          <a:bodyPr/>
          <a:lstStyle/>
          <a:p>
            <a:r>
              <a:rPr lang="en-US" dirty="0"/>
              <a:t>Ownership is assigned as follows: 2006 ownership data for all firms from 2004-2007; 2010 information is for 2008-2011; and the 2014 ownership data is assigned to the years 2012-2014</a:t>
            </a:r>
          </a:p>
        </p:txBody>
      </p:sp>
    </p:spTree>
    <p:extLst>
      <p:ext uri="{BB962C8B-B14F-4D97-AF65-F5344CB8AC3E}">
        <p14:creationId xmlns:p14="http://schemas.microsoft.com/office/powerpoint/2010/main" val="1834911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91740" y="-3459"/>
            <a:ext cx="9177086" cy="857250"/>
          </a:xfrm>
        </p:spPr>
        <p:txBody>
          <a:bodyPr>
            <a:noAutofit/>
          </a:bodyPr>
          <a:lstStyle/>
          <a:p>
            <a:r>
              <a:rPr lang="en-US" sz="2800" dirty="0"/>
              <a:t>Table 1 – Summary Statistics </a:t>
            </a:r>
            <a:endParaRPr lang="en-US" sz="2800" dirty="0">
              <a:ea typeface="Calibri"/>
              <a:cs typeface="Calibri"/>
            </a:endParaRPr>
          </a:p>
        </p:txBody>
      </p:sp>
      <p:sp>
        <p:nvSpPr>
          <p:cNvPr id="5" name="Content Placeholder 4">
            <a:extLst>
              <a:ext uri="{FF2B5EF4-FFF2-40B4-BE49-F238E27FC236}">
                <a16:creationId xmlns:a16="http://schemas.microsoft.com/office/drawing/2014/main" id="{DFB81298-68B3-C48E-33D0-602330F88063}"/>
              </a:ext>
            </a:extLst>
          </p:cNvPr>
          <p:cNvSpPr>
            <a:spLocks noGrp="1"/>
          </p:cNvSpPr>
          <p:nvPr>
            <p:ph idx="1"/>
          </p:nvPr>
        </p:nvSpPr>
        <p:spPr>
          <a:xfrm>
            <a:off x="457200" y="969039"/>
            <a:ext cx="8229600" cy="857250"/>
          </a:xfrm>
        </p:spPr>
        <p:txBody>
          <a:bodyPr/>
          <a:lstStyle/>
          <a:p>
            <a:endParaRPr lang="en-US" dirty="0"/>
          </a:p>
        </p:txBody>
      </p:sp>
      <p:sp>
        <p:nvSpPr>
          <p:cNvPr id="11" name="Rectangle 10">
            <a:extLst>
              <a:ext uri="{FF2B5EF4-FFF2-40B4-BE49-F238E27FC236}">
                <a16:creationId xmlns:a16="http://schemas.microsoft.com/office/drawing/2014/main" id="{D25D3D9E-31FC-D9F0-018B-E4CD1D0B6989}"/>
              </a:ext>
            </a:extLst>
          </p:cNvPr>
          <p:cNvSpPr/>
          <p:nvPr/>
        </p:nvSpPr>
        <p:spPr>
          <a:xfrm>
            <a:off x="6597445" y="1602658"/>
            <a:ext cx="884903" cy="137652"/>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7FBC48B-C083-0E61-2CE7-F29C06ED512D}"/>
              </a:ext>
            </a:extLst>
          </p:cNvPr>
          <p:cNvSpPr/>
          <p:nvPr/>
        </p:nvSpPr>
        <p:spPr>
          <a:xfrm>
            <a:off x="6597444" y="2150711"/>
            <a:ext cx="884903" cy="137652"/>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B097946-D06A-714E-DE72-124903BE3820}"/>
              </a:ext>
            </a:extLst>
          </p:cNvPr>
          <p:cNvPicPr>
            <a:picLocks noChangeAspect="1"/>
          </p:cNvPicPr>
          <p:nvPr/>
        </p:nvPicPr>
        <p:blipFill>
          <a:blip r:embed="rId3"/>
          <a:stretch>
            <a:fillRect/>
          </a:stretch>
        </p:blipFill>
        <p:spPr>
          <a:xfrm>
            <a:off x="0" y="693525"/>
            <a:ext cx="9144000" cy="3343493"/>
          </a:xfrm>
          <a:prstGeom prst="rect">
            <a:avLst/>
          </a:prstGeom>
        </p:spPr>
      </p:pic>
      <p:sp>
        <p:nvSpPr>
          <p:cNvPr id="3" name="Rectangle 2">
            <a:extLst>
              <a:ext uri="{FF2B5EF4-FFF2-40B4-BE49-F238E27FC236}">
                <a16:creationId xmlns:a16="http://schemas.microsoft.com/office/drawing/2014/main" id="{0E222102-39CF-0BC7-42E9-2F8810E9CCFE}"/>
              </a:ext>
            </a:extLst>
          </p:cNvPr>
          <p:cNvSpPr/>
          <p:nvPr/>
        </p:nvSpPr>
        <p:spPr>
          <a:xfrm>
            <a:off x="133350" y="2032000"/>
            <a:ext cx="2739159" cy="209550"/>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ACD685F-1F00-7204-330A-CDDECA6C69A0}"/>
              </a:ext>
            </a:extLst>
          </p:cNvPr>
          <p:cNvSpPr/>
          <p:nvPr/>
        </p:nvSpPr>
        <p:spPr>
          <a:xfrm>
            <a:off x="5829300" y="2032000"/>
            <a:ext cx="654050" cy="187536"/>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B0131CF-7ABB-47BC-E4BE-CC5FEA51ED00}"/>
              </a:ext>
            </a:extLst>
          </p:cNvPr>
          <p:cNvSpPr/>
          <p:nvPr/>
        </p:nvSpPr>
        <p:spPr>
          <a:xfrm>
            <a:off x="4496803" y="2571750"/>
            <a:ext cx="654050" cy="187536"/>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8961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242F9-DF88-2138-77BE-62D7C78A0A84}"/>
              </a:ext>
            </a:extLst>
          </p:cNvPr>
          <p:cNvSpPr>
            <a:spLocks noGrp="1"/>
          </p:cNvSpPr>
          <p:nvPr>
            <p:ph type="title"/>
          </p:nvPr>
        </p:nvSpPr>
        <p:spPr/>
        <p:txBody>
          <a:bodyPr/>
          <a:lstStyle/>
          <a:p>
            <a:r>
              <a:rPr lang="en-US" dirty="0"/>
              <a:t>Table 1 – Summary Statistics</a:t>
            </a:r>
          </a:p>
        </p:txBody>
      </p:sp>
      <p:sp>
        <p:nvSpPr>
          <p:cNvPr id="3" name="Content Placeholder 2">
            <a:extLst>
              <a:ext uri="{FF2B5EF4-FFF2-40B4-BE49-F238E27FC236}">
                <a16:creationId xmlns:a16="http://schemas.microsoft.com/office/drawing/2014/main" id="{3578E8EF-69A0-8D5C-031F-1FFE7452435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1E242E0-324D-0A5B-33B5-05FEB60EA658}"/>
              </a:ext>
            </a:extLst>
          </p:cNvPr>
          <p:cNvPicPr>
            <a:picLocks noChangeAspect="1"/>
          </p:cNvPicPr>
          <p:nvPr/>
        </p:nvPicPr>
        <p:blipFill>
          <a:blip r:embed="rId3"/>
          <a:stretch>
            <a:fillRect/>
          </a:stretch>
        </p:blipFill>
        <p:spPr>
          <a:xfrm>
            <a:off x="228600" y="1182670"/>
            <a:ext cx="8686800" cy="3245981"/>
          </a:xfrm>
          <a:prstGeom prst="rect">
            <a:avLst/>
          </a:prstGeom>
        </p:spPr>
      </p:pic>
      <p:sp>
        <p:nvSpPr>
          <p:cNvPr id="4" name="Rectangle 3">
            <a:extLst>
              <a:ext uri="{FF2B5EF4-FFF2-40B4-BE49-F238E27FC236}">
                <a16:creationId xmlns:a16="http://schemas.microsoft.com/office/drawing/2014/main" id="{665D54B7-FA22-0262-0E4A-E41022356967}"/>
              </a:ext>
            </a:extLst>
          </p:cNvPr>
          <p:cNvSpPr/>
          <p:nvPr/>
        </p:nvSpPr>
        <p:spPr>
          <a:xfrm>
            <a:off x="4465053" y="2897387"/>
            <a:ext cx="654050" cy="187536"/>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EEE8D6E-CF98-F470-E244-E0460B6A562E}"/>
              </a:ext>
            </a:extLst>
          </p:cNvPr>
          <p:cNvSpPr/>
          <p:nvPr/>
        </p:nvSpPr>
        <p:spPr>
          <a:xfrm>
            <a:off x="3831056" y="2246113"/>
            <a:ext cx="1839494" cy="187536"/>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AB57BE9-2DAE-4A44-145E-FEA467FE6E77}"/>
              </a:ext>
            </a:extLst>
          </p:cNvPr>
          <p:cNvSpPr/>
          <p:nvPr/>
        </p:nvSpPr>
        <p:spPr>
          <a:xfrm>
            <a:off x="7120356" y="2246113"/>
            <a:ext cx="1839494" cy="187536"/>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3412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6DC14-03AD-E880-1939-2FC3A8E563AB}"/>
              </a:ext>
            </a:extLst>
          </p:cNvPr>
          <p:cNvSpPr>
            <a:spLocks noGrp="1"/>
          </p:cNvSpPr>
          <p:nvPr>
            <p:ph type="title"/>
          </p:nvPr>
        </p:nvSpPr>
        <p:spPr>
          <a:xfrm>
            <a:off x="-108155" y="205979"/>
            <a:ext cx="9488129" cy="857250"/>
          </a:xfrm>
        </p:spPr>
        <p:txBody>
          <a:bodyPr>
            <a:normAutofit fontScale="90000"/>
          </a:bodyPr>
          <a:lstStyle/>
          <a:p>
            <a:r>
              <a:rPr lang="en-US" dirty="0"/>
              <a:t>Table 2 – Transition Matrix for the universe of Italian firms</a:t>
            </a:r>
          </a:p>
        </p:txBody>
      </p:sp>
      <p:sp>
        <p:nvSpPr>
          <p:cNvPr id="4" name="Content Placeholder 3">
            <a:extLst>
              <a:ext uri="{FF2B5EF4-FFF2-40B4-BE49-F238E27FC236}">
                <a16:creationId xmlns:a16="http://schemas.microsoft.com/office/drawing/2014/main" id="{18E8A082-1645-005B-B856-978015824BED}"/>
              </a:ext>
            </a:extLst>
          </p:cNvPr>
          <p:cNvSpPr>
            <a:spLocks noGrp="1"/>
          </p:cNvSpPr>
          <p:nvPr>
            <p:ph idx="1"/>
          </p:nvPr>
        </p:nvSpPr>
        <p:spPr/>
        <p:txBody>
          <a:bodyPr/>
          <a:lstStyle/>
          <a:p>
            <a:endParaRPr lang="en-US"/>
          </a:p>
        </p:txBody>
      </p:sp>
      <p:sp>
        <p:nvSpPr>
          <p:cNvPr id="8" name="Rectangle 7">
            <a:extLst>
              <a:ext uri="{FF2B5EF4-FFF2-40B4-BE49-F238E27FC236}">
                <a16:creationId xmlns:a16="http://schemas.microsoft.com/office/drawing/2014/main" id="{092B80F8-17B4-11D6-F4A9-78A8BF5E6AD3}"/>
              </a:ext>
            </a:extLst>
          </p:cNvPr>
          <p:cNvSpPr/>
          <p:nvPr/>
        </p:nvSpPr>
        <p:spPr>
          <a:xfrm>
            <a:off x="3195483" y="2320413"/>
            <a:ext cx="2369575" cy="251337"/>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E508624-4BE9-0F63-DCF5-70E85A1C4B8D}"/>
              </a:ext>
            </a:extLst>
          </p:cNvPr>
          <p:cNvPicPr>
            <a:picLocks noChangeAspect="1"/>
          </p:cNvPicPr>
          <p:nvPr/>
        </p:nvPicPr>
        <p:blipFill>
          <a:blip r:embed="rId3"/>
          <a:stretch>
            <a:fillRect/>
          </a:stretch>
        </p:blipFill>
        <p:spPr>
          <a:xfrm>
            <a:off x="1101213" y="1157613"/>
            <a:ext cx="6902244" cy="3825765"/>
          </a:xfrm>
          <a:prstGeom prst="rect">
            <a:avLst/>
          </a:prstGeom>
        </p:spPr>
      </p:pic>
      <p:sp>
        <p:nvSpPr>
          <p:cNvPr id="3" name="Rectangle 2">
            <a:extLst>
              <a:ext uri="{FF2B5EF4-FFF2-40B4-BE49-F238E27FC236}">
                <a16:creationId xmlns:a16="http://schemas.microsoft.com/office/drawing/2014/main" id="{D2FFCC9A-CCD1-1DB7-C022-106E5DA43F9B}"/>
              </a:ext>
            </a:extLst>
          </p:cNvPr>
          <p:cNvSpPr/>
          <p:nvPr/>
        </p:nvSpPr>
        <p:spPr>
          <a:xfrm>
            <a:off x="7389453" y="2446081"/>
            <a:ext cx="539750" cy="976365"/>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84D4CD4-6DBC-3AE8-423A-86C179FF0EEC}"/>
              </a:ext>
            </a:extLst>
          </p:cNvPr>
          <p:cNvSpPr/>
          <p:nvPr/>
        </p:nvSpPr>
        <p:spPr>
          <a:xfrm>
            <a:off x="7379039" y="3943349"/>
            <a:ext cx="539750" cy="976365"/>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8198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0A5D-DE10-883E-74D9-6EA1A5B28366}"/>
              </a:ext>
            </a:extLst>
          </p:cNvPr>
          <p:cNvSpPr>
            <a:spLocks noGrp="1"/>
          </p:cNvSpPr>
          <p:nvPr>
            <p:ph type="title"/>
          </p:nvPr>
        </p:nvSpPr>
        <p:spPr/>
        <p:txBody>
          <a:bodyPr/>
          <a:lstStyle/>
          <a:p>
            <a:r>
              <a:rPr lang="en-US" dirty="0"/>
              <a:t>Model </a:t>
            </a:r>
          </a:p>
        </p:txBody>
      </p:sp>
      <p:pic>
        <p:nvPicPr>
          <p:cNvPr id="5" name="Content Placeholder 4">
            <a:extLst>
              <a:ext uri="{FF2B5EF4-FFF2-40B4-BE49-F238E27FC236}">
                <a16:creationId xmlns:a16="http://schemas.microsoft.com/office/drawing/2014/main" id="{347BF7BC-A683-E4A3-825A-05B33C720F3E}"/>
              </a:ext>
            </a:extLst>
          </p:cNvPr>
          <p:cNvPicPr>
            <a:picLocks noGrp="1" noChangeAspect="1"/>
          </p:cNvPicPr>
          <p:nvPr>
            <p:ph idx="1"/>
          </p:nvPr>
        </p:nvPicPr>
        <p:blipFill>
          <a:blip r:embed="rId2"/>
          <a:stretch>
            <a:fillRect/>
          </a:stretch>
        </p:blipFill>
        <p:spPr>
          <a:xfrm>
            <a:off x="101599" y="1515625"/>
            <a:ext cx="9042401" cy="924580"/>
          </a:xfrm>
        </p:spPr>
      </p:pic>
    </p:spTree>
    <p:extLst>
      <p:ext uri="{BB962C8B-B14F-4D97-AF65-F5344CB8AC3E}">
        <p14:creationId xmlns:p14="http://schemas.microsoft.com/office/powerpoint/2010/main" val="456343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99070-3A9E-B1E9-13A6-058A30D837DD}"/>
              </a:ext>
            </a:extLst>
          </p:cNvPr>
          <p:cNvSpPr>
            <a:spLocks noGrp="1"/>
          </p:cNvSpPr>
          <p:nvPr>
            <p:ph type="title"/>
          </p:nvPr>
        </p:nvSpPr>
        <p:spPr>
          <a:xfrm>
            <a:off x="-70338" y="0"/>
            <a:ext cx="9214338" cy="857250"/>
          </a:xfrm>
        </p:spPr>
        <p:txBody>
          <a:bodyPr>
            <a:normAutofit/>
          </a:bodyPr>
          <a:lstStyle/>
          <a:p>
            <a:r>
              <a:rPr lang="en-US" dirty="0"/>
              <a:t>Table 3 – Bank loan supply growth</a:t>
            </a:r>
          </a:p>
        </p:txBody>
      </p:sp>
      <p:sp>
        <p:nvSpPr>
          <p:cNvPr id="4" name="Content Placeholder 3">
            <a:extLst>
              <a:ext uri="{FF2B5EF4-FFF2-40B4-BE49-F238E27FC236}">
                <a16:creationId xmlns:a16="http://schemas.microsoft.com/office/drawing/2014/main" id="{1E0C6230-7D7C-09FF-22A2-2F9CF417B397}"/>
              </a:ext>
            </a:extLst>
          </p:cNvPr>
          <p:cNvSpPr>
            <a:spLocks noGrp="1"/>
          </p:cNvSpPr>
          <p:nvPr>
            <p:ph idx="1"/>
          </p:nvPr>
        </p:nvSpPr>
        <p:spPr>
          <a:xfrm>
            <a:off x="457200" y="1435509"/>
            <a:ext cx="8195187" cy="3159113"/>
          </a:xfrm>
        </p:spPr>
        <p:txBody>
          <a:bodyPr/>
          <a:lstStyle/>
          <a:p>
            <a:endParaRPr lang="en-US" dirty="0"/>
          </a:p>
        </p:txBody>
      </p:sp>
      <p:pic>
        <p:nvPicPr>
          <p:cNvPr id="7" name="Picture 6">
            <a:extLst>
              <a:ext uri="{FF2B5EF4-FFF2-40B4-BE49-F238E27FC236}">
                <a16:creationId xmlns:a16="http://schemas.microsoft.com/office/drawing/2014/main" id="{B77B3294-7287-93B9-DA19-EFBB9FD3B6E0}"/>
              </a:ext>
            </a:extLst>
          </p:cNvPr>
          <p:cNvPicPr>
            <a:picLocks noChangeAspect="1"/>
          </p:cNvPicPr>
          <p:nvPr/>
        </p:nvPicPr>
        <p:blipFill>
          <a:blip r:embed="rId3"/>
          <a:stretch>
            <a:fillRect/>
          </a:stretch>
        </p:blipFill>
        <p:spPr>
          <a:xfrm>
            <a:off x="1224634" y="770519"/>
            <a:ext cx="6624393" cy="4253735"/>
          </a:xfrm>
          <a:prstGeom prst="rect">
            <a:avLst/>
          </a:prstGeom>
        </p:spPr>
      </p:pic>
      <p:sp>
        <p:nvSpPr>
          <p:cNvPr id="3" name="Rectangle 2">
            <a:extLst>
              <a:ext uri="{FF2B5EF4-FFF2-40B4-BE49-F238E27FC236}">
                <a16:creationId xmlns:a16="http://schemas.microsoft.com/office/drawing/2014/main" id="{09A3260E-811E-E15D-C49B-2507995730C8}"/>
              </a:ext>
            </a:extLst>
          </p:cNvPr>
          <p:cNvSpPr/>
          <p:nvPr/>
        </p:nvSpPr>
        <p:spPr>
          <a:xfrm>
            <a:off x="2552589" y="1687312"/>
            <a:ext cx="5296438" cy="217687"/>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5938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62C5E-533A-50BE-B26F-043CED113233}"/>
              </a:ext>
            </a:extLst>
          </p:cNvPr>
          <p:cNvSpPr>
            <a:spLocks noGrp="1"/>
          </p:cNvSpPr>
          <p:nvPr>
            <p:ph type="title"/>
          </p:nvPr>
        </p:nvSpPr>
        <p:spPr/>
        <p:txBody>
          <a:bodyPr/>
          <a:lstStyle/>
          <a:p>
            <a:r>
              <a:rPr lang="en-US" dirty="0"/>
              <a:t>Survival Model</a:t>
            </a:r>
          </a:p>
        </p:txBody>
      </p:sp>
      <p:pic>
        <p:nvPicPr>
          <p:cNvPr id="5" name="Content Placeholder 4">
            <a:extLst>
              <a:ext uri="{FF2B5EF4-FFF2-40B4-BE49-F238E27FC236}">
                <a16:creationId xmlns:a16="http://schemas.microsoft.com/office/drawing/2014/main" id="{4DEA9B0B-6D31-65C4-72DE-24C71719E977}"/>
              </a:ext>
            </a:extLst>
          </p:cNvPr>
          <p:cNvPicPr>
            <a:picLocks noGrp="1" noChangeAspect="1"/>
          </p:cNvPicPr>
          <p:nvPr>
            <p:ph idx="1"/>
          </p:nvPr>
        </p:nvPicPr>
        <p:blipFill>
          <a:blip r:embed="rId2"/>
          <a:stretch>
            <a:fillRect/>
          </a:stretch>
        </p:blipFill>
        <p:spPr>
          <a:xfrm>
            <a:off x="179631" y="1368028"/>
            <a:ext cx="8588342" cy="1324371"/>
          </a:xfrm>
        </p:spPr>
      </p:pic>
    </p:spTree>
    <p:extLst>
      <p:ext uri="{BB962C8B-B14F-4D97-AF65-F5344CB8AC3E}">
        <p14:creationId xmlns:p14="http://schemas.microsoft.com/office/powerpoint/2010/main" val="2281550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226D3-851A-0F51-8011-5AE664462243}"/>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EDF5F2C1-E3CD-B6B1-B480-4307F0BEADED}"/>
              </a:ext>
            </a:extLst>
          </p:cNvPr>
          <p:cNvPicPr>
            <a:picLocks noGrp="1" noChangeAspect="1"/>
          </p:cNvPicPr>
          <p:nvPr>
            <p:ph idx="1"/>
          </p:nvPr>
        </p:nvPicPr>
        <p:blipFill>
          <a:blip r:embed="rId2"/>
          <a:stretch>
            <a:fillRect/>
          </a:stretch>
        </p:blipFill>
        <p:spPr>
          <a:xfrm>
            <a:off x="606778" y="296101"/>
            <a:ext cx="7930444" cy="4641420"/>
          </a:xfrm>
        </p:spPr>
      </p:pic>
    </p:spTree>
    <p:extLst>
      <p:ext uri="{BB962C8B-B14F-4D97-AF65-F5344CB8AC3E}">
        <p14:creationId xmlns:p14="http://schemas.microsoft.com/office/powerpoint/2010/main" val="2527630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BD817-BBE8-67AE-9ED9-D0E6226F43B8}"/>
              </a:ext>
            </a:extLst>
          </p:cNvPr>
          <p:cNvSpPr>
            <a:spLocks noGrp="1"/>
          </p:cNvSpPr>
          <p:nvPr>
            <p:ph type="title"/>
          </p:nvPr>
        </p:nvSpPr>
        <p:spPr>
          <a:xfrm>
            <a:off x="319953" y="1464508"/>
            <a:ext cx="2448233" cy="857250"/>
          </a:xfrm>
        </p:spPr>
        <p:txBody>
          <a:bodyPr>
            <a:normAutofit fontScale="90000"/>
          </a:bodyPr>
          <a:lstStyle/>
          <a:p>
            <a:r>
              <a:rPr lang="en-US" dirty="0"/>
              <a:t>Table 4 –</a:t>
            </a:r>
            <a:br>
              <a:rPr lang="en-US" dirty="0"/>
            </a:br>
            <a:r>
              <a:rPr lang="en-US" dirty="0"/>
              <a:t>Firm Failure by Group Affiliation</a:t>
            </a:r>
          </a:p>
        </p:txBody>
      </p:sp>
      <p:pic>
        <p:nvPicPr>
          <p:cNvPr id="8" name="Picture 7">
            <a:extLst>
              <a:ext uri="{FF2B5EF4-FFF2-40B4-BE49-F238E27FC236}">
                <a16:creationId xmlns:a16="http://schemas.microsoft.com/office/drawing/2014/main" id="{A19BB852-3FC8-0437-C89D-5BBE8FF9060D}"/>
              </a:ext>
            </a:extLst>
          </p:cNvPr>
          <p:cNvPicPr>
            <a:picLocks noChangeAspect="1"/>
          </p:cNvPicPr>
          <p:nvPr/>
        </p:nvPicPr>
        <p:blipFill>
          <a:blip r:embed="rId3"/>
          <a:stretch>
            <a:fillRect/>
          </a:stretch>
        </p:blipFill>
        <p:spPr>
          <a:xfrm>
            <a:off x="3295211" y="175220"/>
            <a:ext cx="5528836" cy="4793059"/>
          </a:xfrm>
          <a:prstGeom prst="rect">
            <a:avLst/>
          </a:prstGeom>
        </p:spPr>
      </p:pic>
      <p:sp>
        <p:nvSpPr>
          <p:cNvPr id="3" name="Rectangle 2">
            <a:extLst>
              <a:ext uri="{FF2B5EF4-FFF2-40B4-BE49-F238E27FC236}">
                <a16:creationId xmlns:a16="http://schemas.microsoft.com/office/drawing/2014/main" id="{0485DA9E-4F9A-C8B1-BFD5-893833C843FD}"/>
              </a:ext>
            </a:extLst>
          </p:cNvPr>
          <p:cNvSpPr/>
          <p:nvPr/>
        </p:nvSpPr>
        <p:spPr>
          <a:xfrm>
            <a:off x="5477933" y="846668"/>
            <a:ext cx="2074334" cy="211665"/>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9162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8397-04E5-8C37-CDED-A52BD222B362}"/>
              </a:ext>
            </a:extLst>
          </p:cNvPr>
          <p:cNvSpPr>
            <a:spLocks noGrp="1"/>
          </p:cNvSpPr>
          <p:nvPr>
            <p:ph type="title"/>
          </p:nvPr>
        </p:nvSpPr>
        <p:spPr>
          <a:xfrm>
            <a:off x="83574" y="333797"/>
            <a:ext cx="3200400" cy="3687595"/>
          </a:xfrm>
        </p:spPr>
        <p:txBody>
          <a:bodyPr>
            <a:normAutofit fontScale="90000"/>
          </a:bodyPr>
          <a:lstStyle/>
          <a:p>
            <a:r>
              <a:rPr lang="en-US" dirty="0"/>
              <a:t>Table 5 – Firm Failure and Group-level Cash Flow and Sales Growth and Bank Health</a:t>
            </a:r>
          </a:p>
        </p:txBody>
      </p:sp>
      <p:pic>
        <p:nvPicPr>
          <p:cNvPr id="8" name="Picture 7">
            <a:extLst>
              <a:ext uri="{FF2B5EF4-FFF2-40B4-BE49-F238E27FC236}">
                <a16:creationId xmlns:a16="http://schemas.microsoft.com/office/drawing/2014/main" id="{00EA8DA4-2CBF-2333-A513-EB66FB158E92}"/>
              </a:ext>
            </a:extLst>
          </p:cNvPr>
          <p:cNvPicPr>
            <a:picLocks noChangeAspect="1"/>
          </p:cNvPicPr>
          <p:nvPr/>
        </p:nvPicPr>
        <p:blipFill>
          <a:blip r:embed="rId3"/>
          <a:stretch>
            <a:fillRect/>
          </a:stretch>
        </p:blipFill>
        <p:spPr>
          <a:xfrm>
            <a:off x="3425775" y="93406"/>
            <a:ext cx="5327649" cy="4956687"/>
          </a:xfrm>
          <a:prstGeom prst="rect">
            <a:avLst/>
          </a:prstGeom>
        </p:spPr>
      </p:pic>
      <p:sp>
        <p:nvSpPr>
          <p:cNvPr id="3" name="Rectangle 2">
            <a:extLst>
              <a:ext uri="{FF2B5EF4-FFF2-40B4-BE49-F238E27FC236}">
                <a16:creationId xmlns:a16="http://schemas.microsoft.com/office/drawing/2014/main" id="{987EEDCA-CED4-8876-7115-92834A800DD2}"/>
              </a:ext>
            </a:extLst>
          </p:cNvPr>
          <p:cNvSpPr/>
          <p:nvPr/>
        </p:nvSpPr>
        <p:spPr>
          <a:xfrm>
            <a:off x="5215466" y="1100668"/>
            <a:ext cx="3420533" cy="203199"/>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E8140A1-76D8-677E-5F61-18B4E1E4D633}"/>
              </a:ext>
            </a:extLst>
          </p:cNvPr>
          <p:cNvSpPr/>
          <p:nvPr/>
        </p:nvSpPr>
        <p:spPr>
          <a:xfrm>
            <a:off x="6070599" y="2878667"/>
            <a:ext cx="2682825" cy="135466"/>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2914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8397-04E5-8C37-CDED-A52BD222B362}"/>
              </a:ext>
            </a:extLst>
          </p:cNvPr>
          <p:cNvSpPr>
            <a:spLocks noGrp="1"/>
          </p:cNvSpPr>
          <p:nvPr>
            <p:ph type="title"/>
          </p:nvPr>
        </p:nvSpPr>
        <p:spPr>
          <a:xfrm>
            <a:off x="132735" y="422288"/>
            <a:ext cx="3544529" cy="3549944"/>
          </a:xfrm>
        </p:spPr>
        <p:txBody>
          <a:bodyPr>
            <a:normAutofit fontScale="90000"/>
          </a:bodyPr>
          <a:lstStyle/>
          <a:p>
            <a:r>
              <a:rPr lang="en-US" dirty="0"/>
              <a:t>Table 6 – Firm Failure and Group-level Cash Flow and Sales Growth and Bank Health </a:t>
            </a:r>
          </a:p>
        </p:txBody>
      </p:sp>
      <p:pic>
        <p:nvPicPr>
          <p:cNvPr id="6" name="Picture 5">
            <a:extLst>
              <a:ext uri="{FF2B5EF4-FFF2-40B4-BE49-F238E27FC236}">
                <a16:creationId xmlns:a16="http://schemas.microsoft.com/office/drawing/2014/main" id="{808C9346-A518-AFB3-5558-1C1A8CF2F874}"/>
              </a:ext>
            </a:extLst>
          </p:cNvPr>
          <p:cNvPicPr>
            <a:picLocks noChangeAspect="1"/>
          </p:cNvPicPr>
          <p:nvPr/>
        </p:nvPicPr>
        <p:blipFill>
          <a:blip r:embed="rId3"/>
          <a:stretch>
            <a:fillRect/>
          </a:stretch>
        </p:blipFill>
        <p:spPr>
          <a:xfrm>
            <a:off x="4316361" y="47507"/>
            <a:ext cx="4268884" cy="5048486"/>
          </a:xfrm>
          <a:prstGeom prst="rect">
            <a:avLst/>
          </a:prstGeom>
        </p:spPr>
      </p:pic>
      <p:sp>
        <p:nvSpPr>
          <p:cNvPr id="3" name="Rectangle 2">
            <a:extLst>
              <a:ext uri="{FF2B5EF4-FFF2-40B4-BE49-F238E27FC236}">
                <a16:creationId xmlns:a16="http://schemas.microsoft.com/office/drawing/2014/main" id="{695A74F9-38CC-D6DF-945F-C637F22E2545}"/>
              </a:ext>
            </a:extLst>
          </p:cNvPr>
          <p:cNvSpPr/>
          <p:nvPr/>
        </p:nvSpPr>
        <p:spPr>
          <a:xfrm>
            <a:off x="6263640" y="822960"/>
            <a:ext cx="2321605" cy="145627"/>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1123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47A3A-FE32-9745-8776-3BABDA22873E}"/>
              </a:ext>
            </a:extLst>
          </p:cNvPr>
          <p:cNvSpPr>
            <a:spLocks noGrp="1"/>
          </p:cNvSpPr>
          <p:nvPr>
            <p:ph type="title"/>
          </p:nvPr>
        </p:nvSpPr>
        <p:spPr/>
        <p:txBody>
          <a:bodyPr/>
          <a:lstStyle/>
          <a:p>
            <a:r>
              <a:rPr lang="en-US" dirty="0"/>
              <a:t>Net Transfer Model</a:t>
            </a:r>
          </a:p>
        </p:txBody>
      </p:sp>
      <p:sp>
        <p:nvSpPr>
          <p:cNvPr id="3" name="Content Placeholder 2">
            <a:extLst>
              <a:ext uri="{FF2B5EF4-FFF2-40B4-BE49-F238E27FC236}">
                <a16:creationId xmlns:a16="http://schemas.microsoft.com/office/drawing/2014/main" id="{72E180BC-8099-BCAF-7343-D9E53A2C5F5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69A0A88-6B25-456A-FC13-357F4C698E72}"/>
              </a:ext>
            </a:extLst>
          </p:cNvPr>
          <p:cNvPicPr>
            <a:picLocks noChangeAspect="1"/>
          </p:cNvPicPr>
          <p:nvPr/>
        </p:nvPicPr>
        <p:blipFill>
          <a:blip r:embed="rId2"/>
          <a:stretch>
            <a:fillRect/>
          </a:stretch>
        </p:blipFill>
        <p:spPr>
          <a:xfrm>
            <a:off x="710014" y="1729663"/>
            <a:ext cx="7723972" cy="1684174"/>
          </a:xfrm>
          <a:prstGeom prst="rect">
            <a:avLst/>
          </a:prstGeom>
        </p:spPr>
      </p:pic>
    </p:spTree>
    <p:extLst>
      <p:ext uri="{BB962C8B-B14F-4D97-AF65-F5344CB8AC3E}">
        <p14:creationId xmlns:p14="http://schemas.microsoft.com/office/powerpoint/2010/main" val="997039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F3971-96FB-C44B-F357-DB12C0E71BB3}"/>
              </a:ext>
            </a:extLst>
          </p:cNvPr>
          <p:cNvSpPr>
            <a:spLocks noGrp="1"/>
          </p:cNvSpPr>
          <p:nvPr>
            <p:ph type="title"/>
          </p:nvPr>
        </p:nvSpPr>
        <p:spPr>
          <a:xfrm>
            <a:off x="-1" y="216310"/>
            <a:ext cx="3549445" cy="3814915"/>
          </a:xfrm>
        </p:spPr>
        <p:txBody>
          <a:bodyPr>
            <a:normAutofit/>
          </a:bodyPr>
          <a:lstStyle/>
          <a:p>
            <a:r>
              <a:rPr lang="en-US" dirty="0"/>
              <a:t>Table 7 – Intragroup Capital Transfers and Bank Health</a:t>
            </a:r>
          </a:p>
        </p:txBody>
      </p:sp>
      <p:pic>
        <p:nvPicPr>
          <p:cNvPr id="5" name="Picture 4">
            <a:extLst>
              <a:ext uri="{FF2B5EF4-FFF2-40B4-BE49-F238E27FC236}">
                <a16:creationId xmlns:a16="http://schemas.microsoft.com/office/drawing/2014/main" id="{06C95A48-6345-BCDD-2D7D-72F7C751151C}"/>
              </a:ext>
            </a:extLst>
          </p:cNvPr>
          <p:cNvPicPr>
            <a:picLocks noChangeAspect="1"/>
          </p:cNvPicPr>
          <p:nvPr/>
        </p:nvPicPr>
        <p:blipFill>
          <a:blip r:embed="rId3"/>
          <a:stretch>
            <a:fillRect/>
          </a:stretch>
        </p:blipFill>
        <p:spPr>
          <a:xfrm>
            <a:off x="3950817" y="0"/>
            <a:ext cx="4565670" cy="5143500"/>
          </a:xfrm>
          <a:prstGeom prst="rect">
            <a:avLst/>
          </a:prstGeom>
        </p:spPr>
      </p:pic>
      <p:sp>
        <p:nvSpPr>
          <p:cNvPr id="3" name="Rectangle 2">
            <a:extLst>
              <a:ext uri="{FF2B5EF4-FFF2-40B4-BE49-F238E27FC236}">
                <a16:creationId xmlns:a16="http://schemas.microsoft.com/office/drawing/2014/main" id="{C358782B-E962-EACD-C84F-1CE26156DE6C}"/>
              </a:ext>
            </a:extLst>
          </p:cNvPr>
          <p:cNvSpPr/>
          <p:nvPr/>
        </p:nvSpPr>
        <p:spPr>
          <a:xfrm>
            <a:off x="5775960" y="1645920"/>
            <a:ext cx="2740527" cy="441960"/>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BC42648-2A35-E12D-9F34-73040FDA2E36}"/>
              </a:ext>
            </a:extLst>
          </p:cNvPr>
          <p:cNvSpPr/>
          <p:nvPr/>
        </p:nvSpPr>
        <p:spPr>
          <a:xfrm>
            <a:off x="5775960" y="3276600"/>
            <a:ext cx="1348740" cy="152400"/>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8314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F4BBF-1A5D-EF40-1AEC-3D9571F41B76}"/>
              </a:ext>
            </a:extLst>
          </p:cNvPr>
          <p:cNvSpPr>
            <a:spLocks noGrp="1"/>
          </p:cNvSpPr>
          <p:nvPr>
            <p:ph type="title"/>
          </p:nvPr>
        </p:nvSpPr>
        <p:spPr>
          <a:xfrm>
            <a:off x="0" y="205978"/>
            <a:ext cx="4355690" cy="4493841"/>
          </a:xfrm>
        </p:spPr>
        <p:txBody>
          <a:bodyPr>
            <a:normAutofit/>
          </a:bodyPr>
          <a:lstStyle/>
          <a:p>
            <a:r>
              <a:rPr lang="en-US" dirty="0"/>
              <a:t>Table 8 – Intragroup Capital Transfers and Bank Health </a:t>
            </a:r>
          </a:p>
        </p:txBody>
      </p:sp>
      <p:pic>
        <p:nvPicPr>
          <p:cNvPr id="5" name="Picture 4">
            <a:extLst>
              <a:ext uri="{FF2B5EF4-FFF2-40B4-BE49-F238E27FC236}">
                <a16:creationId xmlns:a16="http://schemas.microsoft.com/office/drawing/2014/main" id="{A80A0F5C-1A1B-21B2-A958-CC596A794E89}"/>
              </a:ext>
            </a:extLst>
          </p:cNvPr>
          <p:cNvPicPr>
            <a:picLocks noChangeAspect="1"/>
          </p:cNvPicPr>
          <p:nvPr/>
        </p:nvPicPr>
        <p:blipFill>
          <a:blip r:embed="rId3"/>
          <a:stretch>
            <a:fillRect/>
          </a:stretch>
        </p:blipFill>
        <p:spPr>
          <a:xfrm>
            <a:off x="4572000" y="20895"/>
            <a:ext cx="4116257" cy="5143500"/>
          </a:xfrm>
          <a:prstGeom prst="rect">
            <a:avLst/>
          </a:prstGeom>
        </p:spPr>
      </p:pic>
      <p:sp>
        <p:nvSpPr>
          <p:cNvPr id="3" name="Rectangle 2">
            <a:extLst>
              <a:ext uri="{FF2B5EF4-FFF2-40B4-BE49-F238E27FC236}">
                <a16:creationId xmlns:a16="http://schemas.microsoft.com/office/drawing/2014/main" id="{307330D0-A356-B137-0822-F2144BC1363F}"/>
              </a:ext>
            </a:extLst>
          </p:cNvPr>
          <p:cNvSpPr/>
          <p:nvPr/>
        </p:nvSpPr>
        <p:spPr>
          <a:xfrm>
            <a:off x="6949440" y="3314700"/>
            <a:ext cx="1653541" cy="830580"/>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7495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404E8-F0D2-080C-B02E-3C1961F06C07}"/>
              </a:ext>
            </a:extLst>
          </p:cNvPr>
          <p:cNvSpPr>
            <a:spLocks noGrp="1"/>
          </p:cNvSpPr>
          <p:nvPr>
            <p:ph type="title"/>
          </p:nvPr>
        </p:nvSpPr>
        <p:spPr>
          <a:xfrm>
            <a:off x="-1" y="0"/>
            <a:ext cx="3785419" cy="4739148"/>
          </a:xfrm>
        </p:spPr>
        <p:txBody>
          <a:bodyPr>
            <a:normAutofit/>
          </a:bodyPr>
          <a:lstStyle/>
          <a:p>
            <a:r>
              <a:rPr lang="en-US" dirty="0"/>
              <a:t>Table 9 - Intragroup Capital Transfers and Debt Capacity</a:t>
            </a:r>
          </a:p>
        </p:txBody>
      </p:sp>
      <p:pic>
        <p:nvPicPr>
          <p:cNvPr id="5" name="Picture 4">
            <a:extLst>
              <a:ext uri="{FF2B5EF4-FFF2-40B4-BE49-F238E27FC236}">
                <a16:creationId xmlns:a16="http://schemas.microsoft.com/office/drawing/2014/main" id="{1FEDE9EC-1920-2AE7-AC63-DA3795127139}"/>
              </a:ext>
            </a:extLst>
          </p:cNvPr>
          <p:cNvPicPr>
            <a:picLocks noChangeAspect="1"/>
          </p:cNvPicPr>
          <p:nvPr/>
        </p:nvPicPr>
        <p:blipFill>
          <a:blip r:embed="rId3"/>
          <a:stretch>
            <a:fillRect/>
          </a:stretch>
        </p:blipFill>
        <p:spPr>
          <a:xfrm>
            <a:off x="4109787" y="0"/>
            <a:ext cx="4306722" cy="5143500"/>
          </a:xfrm>
          <a:prstGeom prst="rect">
            <a:avLst/>
          </a:prstGeom>
        </p:spPr>
      </p:pic>
      <p:sp>
        <p:nvSpPr>
          <p:cNvPr id="3" name="Rectangle 2">
            <a:extLst>
              <a:ext uri="{FF2B5EF4-FFF2-40B4-BE49-F238E27FC236}">
                <a16:creationId xmlns:a16="http://schemas.microsoft.com/office/drawing/2014/main" id="{7D6AE8B0-8075-CBEF-C16D-D9EE41790D50}"/>
              </a:ext>
            </a:extLst>
          </p:cNvPr>
          <p:cNvSpPr/>
          <p:nvPr/>
        </p:nvSpPr>
        <p:spPr>
          <a:xfrm>
            <a:off x="6454140" y="3482340"/>
            <a:ext cx="1767839" cy="617220"/>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3857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94D3-909B-BD96-164C-2B73DA61960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809D06F-99B2-9518-6B5C-65EF09135218}"/>
              </a:ext>
            </a:extLst>
          </p:cNvPr>
          <p:cNvSpPr>
            <a:spLocks noGrp="1"/>
          </p:cNvSpPr>
          <p:nvPr>
            <p:ph idx="1"/>
          </p:nvPr>
        </p:nvSpPr>
        <p:spPr>
          <a:xfrm>
            <a:off x="457200" y="1063229"/>
            <a:ext cx="8229600" cy="3394472"/>
          </a:xfrm>
        </p:spPr>
        <p:txBody>
          <a:bodyPr>
            <a:normAutofit lnSpcReduction="10000"/>
          </a:bodyPr>
          <a:lstStyle/>
          <a:p>
            <a:r>
              <a:rPr lang="en-US" sz="2400"/>
              <a:t>Group-affiliated firms are about 6 percentage points more likely to survive during the 2008 financial crisis compared to unaffiliated firms.</a:t>
            </a:r>
          </a:p>
          <a:p>
            <a:r>
              <a:rPr lang="en-US" sz="2400"/>
              <a:t>The effect of a firm’s bank health on its survival is smaller for group-affiliated firms, proving that internal capital markets helped buffer the effects of external credit shocks.</a:t>
            </a:r>
          </a:p>
          <a:p>
            <a:r>
              <a:rPr lang="en-US" sz="2400"/>
              <a:t>Internal transfers within groups increased significantly during times of financial stress, especially when external financing options (like bank loans) became more limited.</a:t>
            </a:r>
          </a:p>
          <a:p>
            <a:endParaRPr lang="en-US" sz="2400" dirty="0"/>
          </a:p>
        </p:txBody>
      </p:sp>
    </p:spTree>
    <p:extLst>
      <p:ext uri="{BB962C8B-B14F-4D97-AF65-F5344CB8AC3E}">
        <p14:creationId xmlns:p14="http://schemas.microsoft.com/office/powerpoint/2010/main" val="3235664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A5FFBEB-A448-4BA1-A8D8-5F9D7FB6B153}">
  <ds:schemaRef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1fe8f82f-0556-4c42-a658-6aa8fd4f9ee2"/>
    <ds:schemaRef ds:uri="http://schemas.microsoft.com/office/infopath/2007/PartnerControls"/>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B59F502D-FA94-4398-A8EF-92E089490A40}">
  <ds:schemaRefs>
    <ds:schemaRef ds:uri="http://schemas.microsoft.com/sharepoint/v3/contenttype/forms"/>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4313</TotalTime>
  <Words>2251</Words>
  <Application>Microsoft Office PowerPoint</Application>
  <PresentationFormat>On-screen Show (16:9)</PresentationFormat>
  <Paragraphs>123</Paragraphs>
  <Slides>25</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Internal Capital Markets in Times of Crisis: The Benefit of Group Affiliation</vt:lpstr>
      <vt:lpstr>Research Question</vt:lpstr>
      <vt:lpstr>Prior Literature</vt:lpstr>
      <vt:lpstr>Hypothesis</vt:lpstr>
      <vt:lpstr>Key Metrics</vt:lpstr>
      <vt:lpstr>Results</vt:lpstr>
      <vt:lpstr>PowerPoint Presentation</vt:lpstr>
      <vt:lpstr>PowerPoint Presentation</vt:lpstr>
      <vt:lpstr>Data Collection</vt:lpstr>
      <vt:lpstr>Data Collection</vt:lpstr>
      <vt:lpstr>Table 1 – Summary Statistics </vt:lpstr>
      <vt:lpstr>Table 1 – Summary Statistics</vt:lpstr>
      <vt:lpstr>Table 2 – Transition Matrix for the universe of Italian firms</vt:lpstr>
      <vt:lpstr>Model </vt:lpstr>
      <vt:lpstr>Table 3 – Bank loan supply growth</vt:lpstr>
      <vt:lpstr>Survival Model</vt:lpstr>
      <vt:lpstr>PowerPoint Presentation</vt:lpstr>
      <vt:lpstr>Table 4 – Firm Failure by Group Affiliation</vt:lpstr>
      <vt:lpstr>Table 5 – Firm Failure and Group-level Cash Flow and Sales Growth and Bank Health</vt:lpstr>
      <vt:lpstr>Table 6 – Firm Failure and Group-level Cash Flow and Sales Growth and Bank Health </vt:lpstr>
      <vt:lpstr>Net Transfer Model</vt:lpstr>
      <vt:lpstr>Table 7 – Intragroup Capital Transfers and Bank Health</vt:lpstr>
      <vt:lpstr>Table 8 – Intragroup Capital Transfers and Bank Health </vt:lpstr>
      <vt:lpstr>Table 9 - Intragroup Capital Transfers and Debt Capacity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354</cp:revision>
  <dcterms:created xsi:type="dcterms:W3CDTF">2020-09-10T18:37:45Z</dcterms:created>
  <dcterms:modified xsi:type="dcterms:W3CDTF">2024-10-08T14:39:03Z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