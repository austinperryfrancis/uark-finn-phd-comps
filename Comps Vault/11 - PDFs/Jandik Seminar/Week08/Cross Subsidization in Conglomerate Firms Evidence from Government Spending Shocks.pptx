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2"/>
  </p:notesMasterIdLst>
  <p:sldIdLst>
    <p:sldId id="256" r:id="rId5"/>
    <p:sldId id="315" r:id="rId6"/>
    <p:sldId id="346" r:id="rId7"/>
    <p:sldId id="530" r:id="rId8"/>
    <p:sldId id="531" r:id="rId9"/>
    <p:sldId id="533" r:id="rId10"/>
    <p:sldId id="534" r:id="rId11"/>
    <p:sldId id="551" r:id="rId12"/>
    <p:sldId id="535" r:id="rId13"/>
    <p:sldId id="552" r:id="rId14"/>
    <p:sldId id="536" r:id="rId15"/>
    <p:sldId id="537" r:id="rId16"/>
    <p:sldId id="553" r:id="rId17"/>
    <p:sldId id="538" r:id="rId18"/>
    <p:sldId id="539" r:id="rId19"/>
    <p:sldId id="541" r:id="rId20"/>
    <p:sldId id="540" r:id="rId21"/>
    <p:sldId id="542" r:id="rId22"/>
    <p:sldId id="543" r:id="rId23"/>
    <p:sldId id="544" r:id="rId24"/>
    <p:sldId id="545" r:id="rId25"/>
    <p:sldId id="546" r:id="rId26"/>
    <p:sldId id="548" r:id="rId27"/>
    <p:sldId id="547" r:id="rId28"/>
    <p:sldId id="549" r:id="rId29"/>
    <p:sldId id="515" r:id="rId30"/>
    <p:sldId id="550" r:id="rId31"/>
  </p:sldIdLst>
  <p:sldSz cx="9144000" cy="5143500" type="screen16x9"/>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F0ED9B7-CD5E-4565-9CB6-CF7B31D9F05F}">
          <p14:sldIdLst>
            <p14:sldId id="256"/>
            <p14:sldId id="315"/>
            <p14:sldId id="346"/>
            <p14:sldId id="530"/>
            <p14:sldId id="531"/>
            <p14:sldId id="533"/>
            <p14:sldId id="534"/>
            <p14:sldId id="551"/>
            <p14:sldId id="535"/>
            <p14:sldId id="552"/>
            <p14:sldId id="536"/>
            <p14:sldId id="537"/>
            <p14:sldId id="553"/>
            <p14:sldId id="538"/>
            <p14:sldId id="539"/>
            <p14:sldId id="541"/>
            <p14:sldId id="540"/>
            <p14:sldId id="542"/>
            <p14:sldId id="543"/>
            <p14:sldId id="544"/>
            <p14:sldId id="545"/>
            <p14:sldId id="546"/>
            <p14:sldId id="548"/>
            <p14:sldId id="547"/>
            <p14:sldId id="549"/>
            <p14:sldId id="515"/>
            <p14:sldId id="550"/>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6E8609-0508-49FD-AEB7-3D5EAFF327AF}" v="22" dt="2024-10-08T13:52:53.0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78824" autoAdjust="0"/>
  </p:normalViewPr>
  <p:slideViewPr>
    <p:cSldViewPr snapToGrid="0">
      <p:cViewPr varScale="1">
        <p:scale>
          <a:sx n="86" d="100"/>
          <a:sy n="86" d="100"/>
        </p:scale>
        <p:origin x="1320" y="5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44" tIns="48323" rIns="96644" bIns="48323" rtlCol="0"/>
          <a:lstStyle>
            <a:lvl1pPr algn="l">
              <a:defRPr sz="12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44" tIns="48323" rIns="96644" bIns="48323" rtlCol="0"/>
          <a:lstStyle>
            <a:lvl1pPr algn="r">
              <a:defRPr sz="1200"/>
            </a:lvl1pPr>
          </a:lstStyle>
          <a:p>
            <a:fld id="{77EE0671-D154-4A0D-90F0-4F99050D0CF0}" type="datetimeFigureOut">
              <a:rPr lang="en-US" smtClean="0"/>
              <a:t>10/8/2024</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44" tIns="48323" rIns="96644" bIns="48323"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44" tIns="48323" rIns="96644" bIns="48323"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1726"/>
          </a:xfrm>
          <a:prstGeom prst="rect">
            <a:avLst/>
          </a:prstGeom>
        </p:spPr>
        <p:txBody>
          <a:bodyPr vert="horz" lIns="96644" tIns="48323" rIns="96644" bIns="48323" rtlCol="0" anchor="b"/>
          <a:lstStyle>
            <a:lvl1pPr algn="l">
              <a:defRPr sz="1200"/>
            </a:lvl1pPr>
          </a:lstStyle>
          <a:p>
            <a:endParaRPr lang="en-US"/>
          </a:p>
        </p:txBody>
      </p:sp>
      <p:sp>
        <p:nvSpPr>
          <p:cNvPr id="7" name="Slide Number Placeholder 6"/>
          <p:cNvSpPr>
            <a:spLocks noGrp="1"/>
          </p:cNvSpPr>
          <p:nvPr>
            <p:ph type="sldNum" sz="quarter" idx="5"/>
          </p:nvPr>
        </p:nvSpPr>
        <p:spPr>
          <a:xfrm>
            <a:off x="4143587" y="9119475"/>
            <a:ext cx="3169920" cy="481726"/>
          </a:xfrm>
          <a:prstGeom prst="rect">
            <a:avLst/>
          </a:prstGeom>
        </p:spPr>
        <p:txBody>
          <a:bodyPr vert="horz" lIns="96644" tIns="48323" rIns="96644" bIns="48323" rtlCol="0" anchor="b"/>
          <a:lstStyle>
            <a:lvl1pPr algn="r">
              <a:defRPr sz="1200"/>
            </a:lvl1pPr>
          </a:lstStyle>
          <a:p>
            <a:fld id="{55CCDD01-DD87-4F55-A952-E63114553089}" type="slidenum">
              <a:rPr lang="en-US" smtClean="0"/>
              <a:t>‹#›</a:t>
            </a:fld>
            <a:endParaRPr lang="en-US"/>
          </a:p>
        </p:txBody>
      </p:sp>
    </p:spTree>
    <p:extLst>
      <p:ext uri="{BB962C8B-B14F-4D97-AF65-F5344CB8AC3E}">
        <p14:creationId xmlns:p14="http://schemas.microsoft.com/office/powerpoint/2010/main" val="1739130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a:t>
            </a:fld>
            <a:endParaRPr lang="en-US"/>
          </a:p>
        </p:txBody>
      </p:sp>
    </p:spTree>
    <p:extLst>
      <p:ext uri="{BB962C8B-B14F-4D97-AF65-F5344CB8AC3E}">
        <p14:creationId xmlns:p14="http://schemas.microsoft.com/office/powerpoint/2010/main" val="25890362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dirty="0">
                <a:ea typeface="Calibri"/>
                <a:cs typeface="Times New Roman"/>
              </a:rPr>
              <a:t>particularly if there is cross-subsidization (i.e., sharing of resources) between different segments of the firm.</a:t>
            </a:r>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a:t>
            </a:fld>
            <a:endParaRPr lang="en-US"/>
          </a:p>
        </p:txBody>
      </p:sp>
    </p:spTree>
    <p:extLst>
      <p:ext uri="{BB962C8B-B14F-4D97-AF65-F5344CB8AC3E}">
        <p14:creationId xmlns:p14="http://schemas.microsoft.com/office/powerpoint/2010/main" val="12035715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3</a:t>
            </a:fld>
            <a:endParaRPr lang="en-US"/>
          </a:p>
        </p:txBody>
      </p:sp>
    </p:spTree>
    <p:extLst>
      <p:ext uri="{BB962C8B-B14F-4D97-AF65-F5344CB8AC3E}">
        <p14:creationId xmlns:p14="http://schemas.microsoft.com/office/powerpoint/2010/main" val="12136163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4</a:t>
            </a:fld>
            <a:endParaRPr lang="en-US"/>
          </a:p>
        </p:txBody>
      </p:sp>
    </p:spTree>
    <p:extLst>
      <p:ext uri="{BB962C8B-B14F-4D97-AF65-F5344CB8AC3E}">
        <p14:creationId xmlns:p14="http://schemas.microsoft.com/office/powerpoint/2010/main" val="3034087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5</a:t>
            </a:fld>
            <a:endParaRPr lang="en-US"/>
          </a:p>
        </p:txBody>
      </p:sp>
    </p:spTree>
    <p:extLst>
      <p:ext uri="{BB962C8B-B14F-4D97-AF65-F5344CB8AC3E}">
        <p14:creationId xmlns:p14="http://schemas.microsoft.com/office/powerpoint/2010/main" val="36627846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6</a:t>
            </a:fld>
            <a:endParaRPr lang="en-US"/>
          </a:p>
        </p:txBody>
      </p:sp>
    </p:spTree>
    <p:extLst>
      <p:ext uri="{BB962C8B-B14F-4D97-AF65-F5344CB8AC3E}">
        <p14:creationId xmlns:p14="http://schemas.microsoft.com/office/powerpoint/2010/main" val="22534147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do so, we sort segment years along two dimensions: the government dependency of the segment and the level of government spending in the year. Specifically, we break down government spending into two groups: years in which government spending is higher than the 75th percentile and years in which government spending is lower than the 75th percentile. For each group, we calculate the average investment rate of segments in each government dependency quartile.</a:t>
            </a:r>
          </a:p>
        </p:txBody>
      </p:sp>
      <p:sp>
        <p:nvSpPr>
          <p:cNvPr id="4" name="Slide Number Placeholder 3"/>
          <p:cNvSpPr>
            <a:spLocks noGrp="1"/>
          </p:cNvSpPr>
          <p:nvPr>
            <p:ph type="sldNum" sz="quarter" idx="5"/>
          </p:nvPr>
        </p:nvSpPr>
        <p:spPr/>
        <p:txBody>
          <a:bodyPr/>
          <a:lstStyle/>
          <a:p>
            <a:fld id="{55CCDD01-DD87-4F55-A952-E63114553089}" type="slidenum">
              <a:rPr lang="en-US" smtClean="0"/>
              <a:t>8</a:t>
            </a:fld>
            <a:endParaRPr lang="en-US"/>
          </a:p>
        </p:txBody>
      </p:sp>
    </p:spTree>
    <p:extLst>
      <p:ext uri="{BB962C8B-B14F-4D97-AF65-F5344CB8AC3E}">
        <p14:creationId xmlns:p14="http://schemas.microsoft.com/office/powerpoint/2010/main" val="13946981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median segment in our sample has sales of $145 million, assets of $126 million, and a Q ratio of 1.45. It invests 5% of its assets each year and generates profits equivalent to 9% of its assets. In addition, 1% of its products are consumed by the federal government for nondefense purposes.</a:t>
            </a:r>
          </a:p>
        </p:txBody>
      </p:sp>
      <p:sp>
        <p:nvSpPr>
          <p:cNvPr id="4" name="Slide Number Placeholder 3"/>
          <p:cNvSpPr>
            <a:spLocks noGrp="1"/>
          </p:cNvSpPr>
          <p:nvPr>
            <p:ph type="sldNum" sz="quarter" idx="5"/>
          </p:nvPr>
        </p:nvSpPr>
        <p:spPr/>
        <p:txBody>
          <a:bodyPr/>
          <a:lstStyle/>
          <a:p>
            <a:fld id="{55CCDD01-DD87-4F55-A952-E63114553089}" type="slidenum">
              <a:rPr lang="en-US" smtClean="0"/>
              <a:t>9</a:t>
            </a:fld>
            <a:endParaRPr lang="en-US"/>
          </a:p>
        </p:txBody>
      </p:sp>
    </p:spTree>
    <p:extLst>
      <p:ext uri="{BB962C8B-B14F-4D97-AF65-F5344CB8AC3E}">
        <p14:creationId xmlns:p14="http://schemas.microsoft.com/office/powerpoint/2010/main" val="31806470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Segments more dependent on government spending increase their investment significantly during years of higher government spending.</a:t>
            </a:r>
          </a:p>
          <a:p>
            <a:endParaRPr lang="en-US" dirty="0"/>
          </a:p>
          <a:p>
            <a:r>
              <a:rPr lang="en-US" dirty="0"/>
              <a:t>Firms less dependent on government spending do not exhibit the same level of responsiveness, emphasizing the impact of government demand shocks.</a:t>
            </a:r>
          </a:p>
          <a:p>
            <a:endParaRPr lang="en-US" dirty="0"/>
          </a:p>
          <a:p>
            <a:r>
              <a:rPr lang="en-US" dirty="0"/>
              <a:t>The results hold both for public firms and in broader industry-level analysis that includes private firms.</a:t>
            </a:r>
          </a:p>
        </p:txBody>
      </p:sp>
      <p:sp>
        <p:nvSpPr>
          <p:cNvPr id="4" name="Slide Number Placeholder 3"/>
          <p:cNvSpPr>
            <a:spLocks noGrp="1"/>
          </p:cNvSpPr>
          <p:nvPr>
            <p:ph type="sldNum" sz="quarter" idx="5"/>
          </p:nvPr>
        </p:nvSpPr>
        <p:spPr/>
        <p:txBody>
          <a:bodyPr/>
          <a:lstStyle/>
          <a:p>
            <a:fld id="{55CCDD01-DD87-4F55-A952-E63114553089}" type="slidenum">
              <a:rPr lang="en-US" smtClean="0"/>
              <a:t>11</a:t>
            </a:fld>
            <a:endParaRPr lang="en-US"/>
          </a:p>
        </p:txBody>
      </p:sp>
    </p:spTree>
    <p:extLst>
      <p:ext uri="{BB962C8B-B14F-4D97-AF65-F5344CB8AC3E}">
        <p14:creationId xmlns:p14="http://schemas.microsoft.com/office/powerpoint/2010/main" val="16775182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Segments in multi-industry firms are less responsive to government spending shocks compared to single-industry firms.</a:t>
            </a:r>
          </a:p>
          <a:p>
            <a:endParaRPr lang="en-US" dirty="0"/>
          </a:p>
          <a:p>
            <a:r>
              <a:rPr lang="en-US" dirty="0"/>
              <a:t>Diversification across industries dampens the investment response to government demand shocks.</a:t>
            </a:r>
          </a:p>
          <a:p>
            <a:endParaRPr lang="en-US" dirty="0"/>
          </a:p>
          <a:p>
            <a:r>
              <a:rPr lang="en-US" dirty="0"/>
              <a:t>Higher industry dispersion tends to reduce the effectiveness of government-induced demand as a driver of investment growth.</a:t>
            </a:r>
          </a:p>
          <a:p>
            <a:endParaRPr lang="en-US" dirty="0"/>
          </a:p>
          <a:p>
            <a:r>
              <a:rPr lang="en-US" dirty="0"/>
              <a:t>Specifically, the estimates in column 1 indicate that for a 1-standard-deviation increase in government spending, segments in single-industry firms invest 0.92% (0.184  0.5  10%) more of their assets when they sell 10% more of their products to the government.12 However, for the same increase in government spending, similar segments in multi-industry firms only increase their investment by 0.02% of their assets (0.184  0.5  10%-0.179-  0.5  10%).</a:t>
            </a:r>
          </a:p>
        </p:txBody>
      </p:sp>
      <p:sp>
        <p:nvSpPr>
          <p:cNvPr id="4" name="Slide Number Placeholder 3"/>
          <p:cNvSpPr>
            <a:spLocks noGrp="1"/>
          </p:cNvSpPr>
          <p:nvPr>
            <p:ph type="sldNum" sz="quarter" idx="5"/>
          </p:nvPr>
        </p:nvSpPr>
        <p:spPr/>
        <p:txBody>
          <a:bodyPr/>
          <a:lstStyle/>
          <a:p>
            <a:fld id="{55CCDD01-DD87-4F55-A952-E63114553089}" type="slidenum">
              <a:rPr lang="en-US" smtClean="0"/>
              <a:t>14</a:t>
            </a:fld>
            <a:endParaRPr lang="en-US"/>
          </a:p>
        </p:txBody>
      </p:sp>
    </p:spTree>
    <p:extLst>
      <p:ext uri="{BB962C8B-B14F-4D97-AF65-F5344CB8AC3E}">
        <p14:creationId xmlns:p14="http://schemas.microsoft.com/office/powerpoint/2010/main" val="30923218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Panel B, we use only OWN_GD for segments in firms that are government suppliers and 0 for segments in other firms (i.e., our alternative measure). The results mirror those presented in Panel A.</a:t>
            </a:r>
          </a:p>
        </p:txBody>
      </p:sp>
      <p:sp>
        <p:nvSpPr>
          <p:cNvPr id="4" name="Slide Number Placeholder 3"/>
          <p:cNvSpPr>
            <a:spLocks noGrp="1"/>
          </p:cNvSpPr>
          <p:nvPr>
            <p:ph type="sldNum" sz="quarter" idx="5"/>
          </p:nvPr>
        </p:nvSpPr>
        <p:spPr/>
        <p:txBody>
          <a:bodyPr/>
          <a:lstStyle/>
          <a:p>
            <a:fld id="{55CCDD01-DD87-4F55-A952-E63114553089}" type="slidenum">
              <a:rPr lang="en-US" smtClean="0"/>
              <a:t>15</a:t>
            </a:fld>
            <a:endParaRPr lang="en-US"/>
          </a:p>
        </p:txBody>
      </p:sp>
    </p:spTree>
    <p:extLst>
      <p:ext uri="{BB962C8B-B14F-4D97-AF65-F5344CB8AC3E}">
        <p14:creationId xmlns:p14="http://schemas.microsoft.com/office/powerpoint/2010/main" val="2764004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Panel A, segments with higher government dependency increase their investment by 0.14% for every unit increase in government spending (significant at the 5% level).</a:t>
            </a:r>
          </a:p>
          <a:p>
            <a:endParaRPr lang="en-US" dirty="0"/>
          </a:p>
          <a:p>
            <a:r>
              <a:rPr lang="en-US" dirty="0"/>
              <a:t>In Panel B, compared to single-segment firms, multi-segment firms with higher government dependency reduce their investment by 0.12%.</a:t>
            </a:r>
            <a:br>
              <a:rPr lang="en-US" dirty="0"/>
            </a:br>
            <a:br>
              <a:rPr lang="en-US" dirty="0"/>
            </a:br>
            <a:br>
              <a:rPr lang="en-US" dirty="0"/>
            </a:br>
            <a:br>
              <a:rPr lang="en-US" dirty="0"/>
            </a:br>
            <a:r>
              <a:rPr lang="en-US" dirty="0"/>
              <a:t>Segments within multi-segment firms invest more when government spending rises, but the response is weaker compared to stand-alone firms.</a:t>
            </a:r>
          </a:p>
          <a:p>
            <a:endParaRPr lang="en-US" dirty="0"/>
          </a:p>
          <a:p>
            <a:r>
              <a:rPr lang="en-US" dirty="0"/>
              <a:t>Cross-subsidization reduces the sensitivity of segment investments to government demand shocks.</a:t>
            </a:r>
          </a:p>
          <a:p>
            <a:endParaRPr lang="en-US" dirty="0"/>
          </a:p>
          <a:p>
            <a:r>
              <a:rPr lang="en-US" dirty="0"/>
              <a:t>Firms with multiple segments tend to distribute resources unevenly across segments during government spending changes.</a:t>
            </a:r>
          </a:p>
        </p:txBody>
      </p:sp>
      <p:sp>
        <p:nvSpPr>
          <p:cNvPr id="4" name="Slide Number Placeholder 3"/>
          <p:cNvSpPr>
            <a:spLocks noGrp="1"/>
          </p:cNvSpPr>
          <p:nvPr>
            <p:ph type="sldNum" sz="quarter" idx="5"/>
          </p:nvPr>
        </p:nvSpPr>
        <p:spPr/>
        <p:txBody>
          <a:bodyPr/>
          <a:lstStyle/>
          <a:p>
            <a:fld id="{55CCDD01-DD87-4F55-A952-E63114553089}" type="slidenum">
              <a:rPr lang="en-US" smtClean="0"/>
              <a:t>16</a:t>
            </a:fld>
            <a:endParaRPr lang="en-US"/>
          </a:p>
        </p:txBody>
      </p:sp>
    </p:spTree>
    <p:extLst>
      <p:ext uri="{BB962C8B-B14F-4D97-AF65-F5344CB8AC3E}">
        <p14:creationId xmlns:p14="http://schemas.microsoft.com/office/powerpoint/2010/main" val="35450145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Panel A, segments with higher government dependency increase their investment by 0.14% for every unit increase in government spending (significant at the 5% level).</a:t>
            </a:r>
          </a:p>
          <a:p>
            <a:endParaRPr lang="en-US" dirty="0"/>
          </a:p>
          <a:p>
            <a:r>
              <a:rPr lang="en-US" dirty="0"/>
              <a:t>In Panel B, compared to single-segment firms, multi-segment firms with higher government dependency reduce their investment by 0.12%.</a:t>
            </a:r>
            <a:br>
              <a:rPr lang="en-US" dirty="0"/>
            </a:br>
            <a:br>
              <a:rPr lang="en-US" dirty="0"/>
            </a:br>
            <a:br>
              <a:rPr lang="en-US" dirty="0"/>
            </a:br>
            <a:br>
              <a:rPr lang="en-US" dirty="0"/>
            </a:br>
            <a:r>
              <a:rPr lang="en-US" dirty="0"/>
              <a:t>Segments within multi-segment firms invest more when government spending rises, but the response is weaker compared to stand-alone firms.</a:t>
            </a:r>
          </a:p>
          <a:p>
            <a:endParaRPr lang="en-US" dirty="0"/>
          </a:p>
          <a:p>
            <a:r>
              <a:rPr lang="en-US" dirty="0"/>
              <a:t>Cross-subsidization reduces the sensitivity of segment investments to government demand shocks.</a:t>
            </a:r>
          </a:p>
          <a:p>
            <a:endParaRPr lang="en-US" dirty="0"/>
          </a:p>
          <a:p>
            <a:r>
              <a:rPr lang="en-US" dirty="0"/>
              <a:t>Firms with multiple segments tend to distribute resources unevenly across segments during government spending changes.</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17</a:t>
            </a:fld>
            <a:endParaRPr lang="en-US"/>
          </a:p>
        </p:txBody>
      </p:sp>
    </p:spTree>
    <p:extLst>
      <p:ext uri="{BB962C8B-B14F-4D97-AF65-F5344CB8AC3E}">
        <p14:creationId xmlns:p14="http://schemas.microsoft.com/office/powerpoint/2010/main" val="13671210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Segments with lower government dependency increase their investment by 0.19% when government spending rises, while more government-dependent segments show no significant investment response.</a:t>
            </a:r>
            <a:br>
              <a:rPr lang="en-US" dirty="0"/>
            </a:br>
            <a:br>
              <a:rPr lang="en-US" dirty="0"/>
            </a:br>
            <a:r>
              <a:rPr lang="en-US" dirty="0"/>
              <a:t>Segments that rely less on government spending invest more when other segments in the firm benefit from increased government funding.</a:t>
            </a:r>
          </a:p>
          <a:p>
            <a:endParaRPr lang="en-US" dirty="0"/>
          </a:p>
          <a:p>
            <a:r>
              <a:rPr lang="en-US" dirty="0"/>
              <a:t>Cross-subsidization appears stronger in firms with segments that vary in their government dependency.</a:t>
            </a:r>
          </a:p>
          <a:p>
            <a:endParaRPr lang="en-US" dirty="0"/>
          </a:p>
          <a:p>
            <a:r>
              <a:rPr lang="en-US" dirty="0"/>
              <a:t>The investment response to government shocks is asymmetric, depending on the firm's structure.</a:t>
            </a:r>
          </a:p>
        </p:txBody>
      </p:sp>
      <p:sp>
        <p:nvSpPr>
          <p:cNvPr id="4" name="Slide Number Placeholder 3"/>
          <p:cNvSpPr>
            <a:spLocks noGrp="1"/>
          </p:cNvSpPr>
          <p:nvPr>
            <p:ph type="sldNum" sz="quarter" idx="5"/>
          </p:nvPr>
        </p:nvSpPr>
        <p:spPr/>
        <p:txBody>
          <a:bodyPr/>
          <a:lstStyle/>
          <a:p>
            <a:fld id="{55CCDD01-DD87-4F55-A952-E63114553089}" type="slidenum">
              <a:rPr lang="en-US" smtClean="0"/>
              <a:t>18</a:t>
            </a:fld>
            <a:endParaRPr lang="en-US"/>
          </a:p>
        </p:txBody>
      </p:sp>
    </p:spTree>
    <p:extLst>
      <p:ext uri="{BB962C8B-B14F-4D97-AF65-F5344CB8AC3E}">
        <p14:creationId xmlns:p14="http://schemas.microsoft.com/office/powerpoint/2010/main" val="22775568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Segments within firms with high government dependency in other segments reduce their investment by up to 0.35% when government spending increases.</a:t>
            </a:r>
          </a:p>
        </p:txBody>
      </p:sp>
      <p:sp>
        <p:nvSpPr>
          <p:cNvPr id="4" name="Slide Number Placeholder 3"/>
          <p:cNvSpPr>
            <a:spLocks noGrp="1"/>
          </p:cNvSpPr>
          <p:nvPr>
            <p:ph type="sldNum" sz="quarter" idx="5"/>
          </p:nvPr>
        </p:nvSpPr>
        <p:spPr/>
        <p:txBody>
          <a:bodyPr/>
          <a:lstStyle/>
          <a:p>
            <a:fld id="{55CCDD01-DD87-4F55-A952-E63114553089}" type="slidenum">
              <a:rPr lang="en-US" smtClean="0"/>
              <a:t>19</a:t>
            </a:fld>
            <a:endParaRPr lang="en-US"/>
          </a:p>
        </p:txBody>
      </p:sp>
    </p:spTree>
    <p:extLst>
      <p:ext uri="{BB962C8B-B14F-4D97-AF65-F5344CB8AC3E}">
        <p14:creationId xmlns:p14="http://schemas.microsoft.com/office/powerpoint/2010/main" val="35574666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Segments with high government dependency experience a 1.5% increase in return on assets (ROA) for every standard deviation increase in government spending.</a:t>
            </a:r>
          </a:p>
          <a:p>
            <a:endParaRPr lang="en-US" dirty="0"/>
          </a:p>
          <a:p>
            <a:r>
              <a:rPr lang="en-US" dirty="0"/>
              <a:t>However, this increase is lower for conglomerate segments compared to stand-alone firms, which see an even higher increase in profitability.</a:t>
            </a:r>
            <a:br>
              <a:rPr lang="en-US" dirty="0"/>
            </a:br>
            <a:br>
              <a:rPr lang="en-US" dirty="0"/>
            </a:br>
            <a:r>
              <a:rPr lang="en-US" dirty="0"/>
              <a:t>Cross-subsidization hampers the profitability gains of conglomerate segments when government spending rises.</a:t>
            </a:r>
          </a:p>
          <a:p>
            <a:endParaRPr lang="en-US" dirty="0"/>
          </a:p>
          <a:p>
            <a:r>
              <a:rPr lang="en-US" dirty="0"/>
              <a:t>Stand-alone firms benefit more from government spending shocks than conglomerate segments.</a:t>
            </a:r>
          </a:p>
          <a:p>
            <a:endParaRPr lang="en-US" dirty="0"/>
          </a:p>
          <a:p>
            <a:r>
              <a:rPr lang="en-US" dirty="0"/>
              <a:t>The negative impact of cross-subsidization on performance is notable, reducing the profitability advantage of multi-segment firms.</a:t>
            </a:r>
          </a:p>
        </p:txBody>
      </p:sp>
      <p:sp>
        <p:nvSpPr>
          <p:cNvPr id="4" name="Slide Number Placeholder 3"/>
          <p:cNvSpPr>
            <a:spLocks noGrp="1"/>
          </p:cNvSpPr>
          <p:nvPr>
            <p:ph type="sldNum" sz="quarter" idx="5"/>
          </p:nvPr>
        </p:nvSpPr>
        <p:spPr/>
        <p:txBody>
          <a:bodyPr/>
          <a:lstStyle/>
          <a:p>
            <a:fld id="{55CCDD01-DD87-4F55-A952-E63114553089}" type="slidenum">
              <a:rPr lang="en-US" smtClean="0"/>
              <a:t>20</a:t>
            </a:fld>
            <a:endParaRPr lang="en-US"/>
          </a:p>
        </p:txBody>
      </p:sp>
    </p:spTree>
    <p:extLst>
      <p:ext uri="{BB962C8B-B14F-4D97-AF65-F5344CB8AC3E}">
        <p14:creationId xmlns:p14="http://schemas.microsoft.com/office/powerpoint/2010/main" val="13231209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NUMBERS: </a:t>
            </a:r>
            <a:br>
              <a:rPr lang="en-US" dirty="0"/>
            </a:br>
            <a:r>
              <a:rPr lang="en-US" dirty="0"/>
              <a:t>Multi-industry firms trade at an 8.1% discount compared to single-industry firms.</a:t>
            </a:r>
          </a:p>
          <a:p>
            <a:endParaRPr lang="en-US" dirty="0"/>
          </a:p>
          <a:p>
            <a:r>
              <a:rPr lang="en-US" dirty="0"/>
              <a:t>This discount grows to 8.7% when government spending increases (column 3).</a:t>
            </a:r>
          </a:p>
          <a:p>
            <a:endParaRPr lang="en-US" dirty="0"/>
          </a:p>
          <a:p>
            <a:r>
              <a:rPr lang="en-US" dirty="0"/>
              <a:t>Firms with higher government dependency show a 2.35% additional discount (column 2).</a:t>
            </a:r>
          </a:p>
          <a:p>
            <a:endParaRPr lang="en-US" dirty="0"/>
          </a:p>
          <a:p>
            <a:r>
              <a:rPr lang="en-US" dirty="0"/>
              <a:t>KEY TAKEAWAYS:</a:t>
            </a:r>
            <a:br>
              <a:rPr lang="en-US" dirty="0"/>
            </a:br>
            <a:br>
              <a:rPr lang="en-US" dirty="0"/>
            </a:br>
            <a:r>
              <a:rPr lang="en-US" dirty="0"/>
              <a:t>Multi-industry firms generally face a diversification discount.</a:t>
            </a:r>
          </a:p>
          <a:p>
            <a:endParaRPr lang="en-US" dirty="0"/>
          </a:p>
          <a:p>
            <a:r>
              <a:rPr lang="en-US" dirty="0"/>
              <a:t>Higher government dependency makes this discount worse.</a:t>
            </a:r>
          </a:p>
          <a:p>
            <a:endParaRPr lang="en-US" dirty="0"/>
          </a:p>
          <a:p>
            <a:r>
              <a:rPr lang="en-US" dirty="0"/>
              <a:t>Government spending shocks lead to an even greater discount in multi-industry firms.</a:t>
            </a:r>
          </a:p>
        </p:txBody>
      </p:sp>
      <p:sp>
        <p:nvSpPr>
          <p:cNvPr id="4" name="Slide Number Placeholder 3"/>
          <p:cNvSpPr>
            <a:spLocks noGrp="1"/>
          </p:cNvSpPr>
          <p:nvPr>
            <p:ph type="sldNum" sz="quarter" idx="5"/>
          </p:nvPr>
        </p:nvSpPr>
        <p:spPr/>
        <p:txBody>
          <a:bodyPr/>
          <a:lstStyle/>
          <a:p>
            <a:fld id="{55CCDD01-DD87-4F55-A952-E63114553089}" type="slidenum">
              <a:rPr lang="en-US" smtClean="0"/>
              <a:t>22</a:t>
            </a:fld>
            <a:endParaRPr lang="en-US"/>
          </a:p>
        </p:txBody>
      </p:sp>
    </p:spTree>
    <p:extLst>
      <p:ext uri="{BB962C8B-B14F-4D97-AF65-F5344CB8AC3E}">
        <p14:creationId xmlns:p14="http://schemas.microsoft.com/office/powerpoint/2010/main" val="2224951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Overview of Results</a:t>
            </a:r>
            <a:r>
              <a:rPr lang="en-US" dirty="0"/>
              <a:t>:</a:t>
            </a:r>
          </a:p>
          <a:p>
            <a:pPr>
              <a:buFont typeface="Arial" panose="020B0604020202020204" pitchFamily="34" charset="0"/>
              <a:buChar char="•"/>
            </a:pPr>
            <a:r>
              <a:rPr lang="en-US" dirty="0"/>
              <a:t>When Democrats control the government, government spending increases by 0.42%.</a:t>
            </a:r>
          </a:p>
          <a:p>
            <a:pPr>
              <a:buFont typeface="Arial" panose="020B0604020202020204" pitchFamily="34" charset="0"/>
              <a:buChar char="•"/>
            </a:pPr>
            <a:r>
              <a:rPr lang="en-US" dirty="0"/>
              <a:t>In multi-industry firms, government dependency combined with increased government spending leads to significant cross-subsidization effects (β = 0.347 for multi-industry firms, significant at 1%).</a:t>
            </a:r>
          </a:p>
          <a:p>
            <a:endParaRPr lang="en-US" dirty="0"/>
          </a:p>
          <a:p>
            <a:r>
              <a:rPr lang="en-US" b="1" dirty="0"/>
              <a:t>Key Takeaways</a:t>
            </a:r>
            <a:r>
              <a:rPr lang="en-US" dirty="0"/>
              <a:t>:</a:t>
            </a:r>
          </a:p>
          <a:p>
            <a:pPr>
              <a:buFont typeface="Arial" panose="020B0604020202020204" pitchFamily="34" charset="0"/>
              <a:buChar char="•"/>
            </a:pPr>
            <a:r>
              <a:rPr lang="en-US" dirty="0"/>
              <a:t>Government spending tends to increase under Democratic control.</a:t>
            </a:r>
          </a:p>
          <a:p>
            <a:pPr>
              <a:buFont typeface="Arial" panose="020B0604020202020204" pitchFamily="34" charset="0"/>
              <a:buChar char="•"/>
            </a:pPr>
            <a:r>
              <a:rPr lang="en-US" dirty="0"/>
              <a:t>Firms operating in multiple industries see stronger cross-subsidization effects when government spending rises.</a:t>
            </a:r>
          </a:p>
          <a:p>
            <a:pPr>
              <a:buFont typeface="Arial" panose="020B0604020202020204" pitchFamily="34" charset="0"/>
              <a:buChar char="•"/>
            </a:pPr>
            <a:r>
              <a:rPr lang="en-US" dirty="0"/>
              <a:t>The instrumental variable confirms that political factors significantly influence the relationship between government spending and firm behavior.</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23</a:t>
            </a:fld>
            <a:endParaRPr lang="en-US"/>
          </a:p>
        </p:txBody>
      </p:sp>
    </p:spTree>
    <p:extLst>
      <p:ext uri="{BB962C8B-B14F-4D97-AF65-F5344CB8AC3E}">
        <p14:creationId xmlns:p14="http://schemas.microsoft.com/office/powerpoint/2010/main" val="23595886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26</a:t>
            </a:fld>
            <a:endParaRPr lang="en-US"/>
          </a:p>
        </p:txBody>
      </p:sp>
    </p:spTree>
    <p:extLst>
      <p:ext uri="{BB962C8B-B14F-4D97-AF65-F5344CB8AC3E}">
        <p14:creationId xmlns:p14="http://schemas.microsoft.com/office/powerpoint/2010/main" val="38823976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27</a:t>
            </a:fld>
            <a:endParaRPr lang="en-US"/>
          </a:p>
        </p:txBody>
      </p:sp>
    </p:spTree>
    <p:extLst>
      <p:ext uri="{BB962C8B-B14F-4D97-AF65-F5344CB8AC3E}">
        <p14:creationId xmlns:p14="http://schemas.microsoft.com/office/powerpoint/2010/main" val="14195510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4E038BA-856D-E640-9AF0-8E7AA133C933}" type="datetimeFigureOut">
              <a:rPr lang="en-US" smtClean="0"/>
              <a:t>10/8/2024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1524648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10/8/2024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012273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4E038BA-856D-E640-9AF0-8E7AA133C933}" type="datetimeFigureOut">
              <a:rPr lang="en-US" smtClean="0"/>
              <a:t>10/8/2024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303031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4E038BA-856D-E640-9AF0-8E7AA133C933}" type="datetimeFigureOut">
              <a:rPr lang="en-US" smtClean="0"/>
              <a:t>10/8/2024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585448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4E038BA-856D-E640-9AF0-8E7AA133C933}" type="datetimeFigureOut">
              <a:rPr lang="en-US" smtClean="0"/>
              <a:t>10/8/2024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870676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4E038BA-856D-E640-9AF0-8E7AA133C933}" type="datetimeFigureOut">
              <a:rPr lang="en-US" smtClean="0"/>
              <a:t>10/8/2024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1008595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E038BA-856D-E640-9AF0-8E7AA133C933}" type="datetimeFigureOut">
              <a:rPr lang="en-US" smtClean="0"/>
              <a:t>10/8/2024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218653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4E038BA-856D-E640-9AF0-8E7AA133C933}" type="datetimeFigureOut">
              <a:rPr lang="en-US" smtClean="0"/>
              <a:t>10/8/2024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206881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4E038BA-856D-E640-9AF0-8E7AA133C933}" type="datetimeFigureOut">
              <a:rPr lang="en-US" smtClean="0"/>
              <a:t>10/8/2024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571403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10/8/2024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510983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10/8/2024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4003078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Untitled-4.pn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4397736"/>
            <a:ext cx="9153144" cy="757423"/>
          </a:xfrm>
          <a:prstGeom prst="rect">
            <a:avLst/>
          </a:prstGeom>
        </p:spPr>
      </p:pic>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34E038BA-856D-E640-9AF0-8E7AA133C933}" type="datetimeFigureOut">
              <a:rPr lang="en-US" smtClean="0"/>
              <a:t>10/8/2024</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870BBC46-B35C-FC4A-B901-4F9F5D11ECB6}" type="slidenum">
              <a:rPr lang="en-US" smtClean="0"/>
              <a:t>‹#›</a:t>
            </a:fld>
            <a:endParaRPr lang="en-US"/>
          </a:p>
        </p:txBody>
      </p:sp>
    </p:spTree>
    <p:extLst>
      <p:ext uri="{BB962C8B-B14F-4D97-AF65-F5344CB8AC3E}">
        <p14:creationId xmlns:p14="http://schemas.microsoft.com/office/powerpoint/2010/main" val="35373879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38264"/>
            <a:ext cx="7772400" cy="1102519"/>
          </a:xfrm>
        </p:spPr>
        <p:txBody>
          <a:bodyPr>
            <a:normAutofit fontScale="90000"/>
          </a:bodyPr>
          <a:lstStyle/>
          <a:p>
            <a:r>
              <a:rPr lang="en-US" sz="3600" dirty="0">
                <a:ea typeface="+mj-lt"/>
                <a:cs typeface="+mj-lt"/>
              </a:rPr>
              <a:t>Cross-Subsidization in Conglomerate Firms:</a:t>
            </a:r>
            <a:br>
              <a:rPr lang="en-US" sz="3600" dirty="0">
                <a:ea typeface="+mj-lt"/>
                <a:cs typeface="+mj-lt"/>
              </a:rPr>
            </a:br>
            <a:r>
              <a:rPr lang="en-US" sz="3600" dirty="0">
                <a:ea typeface="+mj-lt"/>
                <a:cs typeface="+mj-lt"/>
              </a:rPr>
              <a:t>Evidence from Government Spending Shocks</a:t>
            </a:r>
          </a:p>
        </p:txBody>
      </p:sp>
      <p:sp>
        <p:nvSpPr>
          <p:cNvPr id="3" name="Subtitle 2"/>
          <p:cNvSpPr>
            <a:spLocks noGrp="1"/>
          </p:cNvSpPr>
          <p:nvPr>
            <p:ph type="subTitle" idx="1"/>
          </p:nvPr>
        </p:nvSpPr>
        <p:spPr>
          <a:xfrm>
            <a:off x="1073150" y="1589529"/>
            <a:ext cx="6997700" cy="2639787"/>
          </a:xfrm>
        </p:spPr>
        <p:txBody>
          <a:bodyPr vert="horz" lIns="91440" tIns="45720" rIns="91440" bIns="45720" rtlCol="0" anchor="t">
            <a:normAutofit fontScale="77500" lnSpcReduction="20000"/>
          </a:bodyPr>
          <a:lstStyle/>
          <a:p>
            <a:endParaRPr lang="en-US" sz="2900" b="1" dirty="0">
              <a:solidFill>
                <a:schemeClr val="tx1"/>
              </a:solidFill>
              <a:latin typeface="+mj-lt"/>
              <a:ea typeface="Calibri"/>
              <a:cs typeface="Times New Roman" panose="02020603050405020304" pitchFamily="18" charset="0"/>
            </a:endParaRPr>
          </a:p>
          <a:p>
            <a:r>
              <a:rPr lang="en-US" sz="2900" b="1" dirty="0">
                <a:solidFill>
                  <a:schemeClr val="tx1"/>
                </a:solidFill>
                <a:ea typeface="Calibri"/>
                <a:cs typeface="Calibri"/>
              </a:rPr>
              <a:t>Darren J. </a:t>
            </a:r>
            <a:r>
              <a:rPr lang="en-US" sz="2900" b="1" dirty="0" err="1">
                <a:solidFill>
                  <a:schemeClr val="tx1"/>
                </a:solidFill>
                <a:ea typeface="Calibri"/>
                <a:cs typeface="Calibri"/>
              </a:rPr>
              <a:t>Kisgen</a:t>
            </a:r>
            <a:br>
              <a:rPr lang="en-US" sz="2900" dirty="0">
                <a:solidFill>
                  <a:schemeClr val="tx1"/>
                </a:solidFill>
                <a:ea typeface="Calibri"/>
                <a:cs typeface="Calibri"/>
              </a:rPr>
            </a:br>
            <a:r>
              <a:rPr lang="en-US" sz="2900" dirty="0">
                <a:solidFill>
                  <a:schemeClr val="tx1"/>
                </a:solidFill>
                <a:ea typeface="Calibri"/>
                <a:cs typeface="Calibri"/>
              </a:rPr>
              <a:t>Boston College Carroll School of Management</a:t>
            </a:r>
          </a:p>
          <a:p>
            <a:br>
              <a:rPr lang="en-US" sz="2900" b="1" dirty="0">
                <a:ea typeface="Calibri"/>
                <a:cs typeface="Calibri"/>
              </a:rPr>
            </a:br>
            <a:r>
              <a:rPr lang="en-US" sz="2900" b="1" dirty="0">
                <a:solidFill>
                  <a:schemeClr val="tx1"/>
                </a:solidFill>
                <a:ea typeface="Calibri"/>
                <a:cs typeface="Calibri"/>
              </a:rPr>
              <a:t>Lei Kong</a:t>
            </a:r>
            <a:br>
              <a:rPr lang="en-US" sz="2900" dirty="0">
                <a:solidFill>
                  <a:schemeClr val="tx1"/>
                </a:solidFill>
                <a:ea typeface="Calibri"/>
                <a:cs typeface="Calibri"/>
              </a:rPr>
            </a:br>
            <a:r>
              <a:rPr lang="en-US" sz="2900" dirty="0">
                <a:solidFill>
                  <a:schemeClr val="tx1"/>
                </a:solidFill>
                <a:ea typeface="Calibri"/>
                <a:cs typeface="Calibri"/>
              </a:rPr>
              <a:t>University of Alabama Culverhouse College of Business</a:t>
            </a:r>
          </a:p>
          <a:p>
            <a:endParaRPr lang="en-US" sz="2000" i="1" dirty="0">
              <a:solidFill>
                <a:schemeClr val="tx1"/>
              </a:solidFill>
              <a:latin typeface="+mj-lt"/>
              <a:ea typeface="Calibri"/>
              <a:cs typeface="Times New Roman" panose="02020603050405020304" pitchFamily="18" charset="0"/>
            </a:endParaRPr>
          </a:p>
          <a:p>
            <a:r>
              <a:rPr lang="en-US" sz="1800" dirty="0">
                <a:solidFill>
                  <a:schemeClr val="tx1"/>
                </a:solidFill>
                <a:latin typeface="+mj-lt"/>
                <a:cs typeface="Times New Roman"/>
              </a:rPr>
              <a:t>Presented by Austin Francis</a:t>
            </a:r>
            <a:endParaRPr lang="en-US" sz="1800" dirty="0">
              <a:solidFill>
                <a:schemeClr val="tx1"/>
              </a:solidFill>
              <a:latin typeface="+mj-lt"/>
              <a:ea typeface="Calibri"/>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5954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p:txBody>
          <a:bodyPr/>
          <a:lstStyle/>
          <a:p>
            <a:r>
              <a:rPr lang="en-US"/>
              <a:t>Research Question</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p:txBody>
          <a:bodyPr vert="horz" lIns="91440" tIns="45720" rIns="91440" bIns="45720" rtlCol="0" anchor="t">
            <a:normAutofit/>
          </a:bodyPr>
          <a:lstStyle/>
          <a:p>
            <a:r>
              <a:rPr lang="en-US" sz="2800" dirty="0">
                <a:ea typeface="Calibri"/>
                <a:cs typeface="Times New Roman"/>
              </a:rPr>
              <a:t>How do conglomerate firms (which operate in multiple industries) respond to demand shocks caused by changes in federal government spending? </a:t>
            </a:r>
          </a:p>
        </p:txBody>
      </p:sp>
    </p:spTree>
    <p:extLst>
      <p:ext uri="{BB962C8B-B14F-4D97-AF65-F5344CB8AC3E}">
        <p14:creationId xmlns:p14="http://schemas.microsoft.com/office/powerpoint/2010/main" val="718245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57200" y="108824"/>
            <a:ext cx="8229600" cy="681526"/>
          </a:xfrm>
        </p:spPr>
        <p:txBody>
          <a:bodyPr>
            <a:normAutofit fontScale="90000"/>
          </a:bodyPr>
          <a:lstStyle/>
          <a:p>
            <a:r>
              <a:rPr lang="en-US" dirty="0"/>
              <a:t>Prior Literature</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a:xfrm>
            <a:off x="457200" y="790350"/>
            <a:ext cx="8229600" cy="3384671"/>
          </a:xfrm>
        </p:spPr>
        <p:txBody>
          <a:bodyPr vert="horz" lIns="91440" tIns="45720" rIns="91440" bIns="45720" rtlCol="0" anchor="t">
            <a:noAutofit/>
          </a:bodyPr>
          <a:lstStyle/>
          <a:p>
            <a:pPr marL="342900" lvl="1" indent="-342900">
              <a:buFont typeface="Arial"/>
              <a:buChar char="•"/>
            </a:pPr>
            <a:r>
              <a:rPr lang="en-US" sz="2000" dirty="0">
                <a:ea typeface="Calibri"/>
                <a:cs typeface="Calibri"/>
              </a:rPr>
              <a:t>Conglomerates often trade at a discount relative to stand-alone firms, a phenomenon known as the "diversification discount" (Lang and </a:t>
            </a:r>
            <a:r>
              <a:rPr lang="en-US" sz="2000" dirty="0" err="1">
                <a:ea typeface="Calibri"/>
                <a:cs typeface="Calibri"/>
              </a:rPr>
              <a:t>Stulz</a:t>
            </a:r>
            <a:r>
              <a:rPr lang="en-US" sz="2000" dirty="0">
                <a:ea typeface="Calibri"/>
                <a:cs typeface="Calibri"/>
              </a:rPr>
              <a:t>, 1994; Berger and </a:t>
            </a:r>
            <a:r>
              <a:rPr lang="en-US" sz="2000" dirty="0" err="1">
                <a:ea typeface="Calibri"/>
                <a:cs typeface="Calibri"/>
              </a:rPr>
              <a:t>Ofek</a:t>
            </a:r>
            <a:r>
              <a:rPr lang="en-US" sz="2000" dirty="0">
                <a:ea typeface="Calibri"/>
                <a:cs typeface="Calibri"/>
              </a:rPr>
              <a:t>, 1995)​</a:t>
            </a:r>
          </a:p>
          <a:p>
            <a:pPr marL="342900" lvl="1" indent="-342900">
              <a:buFont typeface="Arial"/>
              <a:buChar char="•"/>
            </a:pPr>
            <a:r>
              <a:rPr lang="en-US" sz="2000" dirty="0">
                <a:ea typeface="Calibri"/>
                <a:cs typeface="Calibri"/>
              </a:rPr>
              <a:t>Some studies argue that the value reduction of conglomerates may be due to internal choices, like a firm’s decision to diversify, which could reduce firm value (Campa and </a:t>
            </a:r>
            <a:r>
              <a:rPr lang="en-US" sz="2000" dirty="0" err="1">
                <a:ea typeface="Calibri"/>
                <a:cs typeface="Calibri"/>
              </a:rPr>
              <a:t>Kedia</a:t>
            </a:r>
            <a:r>
              <a:rPr lang="en-US" sz="2000" dirty="0">
                <a:ea typeface="Calibri"/>
                <a:cs typeface="Calibri"/>
              </a:rPr>
              <a:t>, 2002)​</a:t>
            </a:r>
          </a:p>
          <a:p>
            <a:pPr marL="342900" lvl="1" indent="-342900">
              <a:buFont typeface="Arial"/>
              <a:buChar char="•"/>
            </a:pPr>
            <a:r>
              <a:rPr lang="en-US" sz="2000" dirty="0">
                <a:ea typeface="Calibri"/>
                <a:cs typeface="Calibri"/>
              </a:rPr>
              <a:t>Recent evidence suggests that corporate diversification does not always destroy value, as </a:t>
            </a:r>
            <a:r>
              <a:rPr lang="en-US" sz="2000" dirty="0" err="1">
                <a:ea typeface="Calibri"/>
                <a:cs typeface="Calibri"/>
              </a:rPr>
              <a:t>Boguth</a:t>
            </a:r>
            <a:r>
              <a:rPr lang="en-US" sz="2000" dirty="0">
                <a:ea typeface="Calibri"/>
                <a:cs typeface="Calibri"/>
              </a:rPr>
              <a:t>, </a:t>
            </a:r>
            <a:r>
              <a:rPr lang="en-US" sz="2000" dirty="0" err="1">
                <a:ea typeface="Calibri"/>
                <a:cs typeface="Calibri"/>
              </a:rPr>
              <a:t>Duchin</a:t>
            </a:r>
            <a:r>
              <a:rPr lang="en-US" sz="2000" dirty="0">
                <a:ea typeface="Calibri"/>
                <a:cs typeface="Calibri"/>
              </a:rPr>
              <a:t>, and </a:t>
            </a:r>
            <a:r>
              <a:rPr lang="en-US" sz="2000" dirty="0" err="1">
                <a:ea typeface="Calibri"/>
                <a:cs typeface="Calibri"/>
              </a:rPr>
              <a:t>Simutin</a:t>
            </a:r>
            <a:r>
              <a:rPr lang="en-US" sz="2000" dirty="0">
                <a:ea typeface="Calibri"/>
                <a:cs typeface="Calibri"/>
              </a:rPr>
              <a:t> (2022) found that conglomerates' divisions can operate effectively using new empirical methods</a:t>
            </a:r>
          </a:p>
        </p:txBody>
      </p:sp>
    </p:spTree>
    <p:extLst>
      <p:ext uri="{BB962C8B-B14F-4D97-AF65-F5344CB8AC3E}">
        <p14:creationId xmlns:p14="http://schemas.microsoft.com/office/powerpoint/2010/main" val="869680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A56A5-86C3-A8D8-A981-308591F1FD23}"/>
              </a:ext>
            </a:extLst>
          </p:cNvPr>
          <p:cNvSpPr>
            <a:spLocks noGrp="1"/>
          </p:cNvSpPr>
          <p:nvPr>
            <p:ph type="title"/>
          </p:nvPr>
        </p:nvSpPr>
        <p:spPr/>
        <p:txBody>
          <a:bodyPr/>
          <a:lstStyle/>
          <a:p>
            <a:r>
              <a:rPr lang="en-US" dirty="0"/>
              <a:t>Hypothesis</a:t>
            </a:r>
          </a:p>
        </p:txBody>
      </p:sp>
      <p:sp>
        <p:nvSpPr>
          <p:cNvPr id="3" name="Content Placeholder 2">
            <a:extLst>
              <a:ext uri="{FF2B5EF4-FFF2-40B4-BE49-F238E27FC236}">
                <a16:creationId xmlns:a16="http://schemas.microsoft.com/office/drawing/2014/main" id="{77B4ECBA-3526-6C84-D51B-7013452FF46B}"/>
              </a:ext>
            </a:extLst>
          </p:cNvPr>
          <p:cNvSpPr>
            <a:spLocks noGrp="1"/>
          </p:cNvSpPr>
          <p:nvPr>
            <p:ph idx="1"/>
          </p:nvPr>
        </p:nvSpPr>
        <p:spPr/>
        <p:txBody>
          <a:bodyPr>
            <a:normAutofit lnSpcReduction="10000"/>
          </a:bodyPr>
          <a:lstStyle/>
          <a:p>
            <a:r>
              <a:rPr lang="en-US" sz="2800" dirty="0"/>
              <a:t>The authors hypothesize that in conglomerates, segments more dependent on government spending will invest less when compared to similar stand-alone firms. </a:t>
            </a:r>
          </a:p>
          <a:p>
            <a:r>
              <a:rPr lang="en-US" sz="2800" dirty="0"/>
              <a:t>They also believe that segments less dependent on government spending will invest more when other parts of the conglomerate get a boost in government spending, indicating cross-subsidization.</a:t>
            </a:r>
          </a:p>
        </p:txBody>
      </p:sp>
    </p:spTree>
    <p:extLst>
      <p:ext uri="{BB962C8B-B14F-4D97-AF65-F5344CB8AC3E}">
        <p14:creationId xmlns:p14="http://schemas.microsoft.com/office/powerpoint/2010/main" val="3996482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7CD4B-C4C6-9D72-EEB6-51AD7218BC16}"/>
              </a:ext>
            </a:extLst>
          </p:cNvPr>
          <p:cNvSpPr>
            <a:spLocks noGrp="1"/>
          </p:cNvSpPr>
          <p:nvPr>
            <p:ph type="title"/>
          </p:nvPr>
        </p:nvSpPr>
        <p:spPr/>
        <p:txBody>
          <a:bodyPr/>
          <a:lstStyle/>
          <a:p>
            <a:r>
              <a:rPr lang="en-US" dirty="0"/>
              <a:t>Key Metrics</a:t>
            </a:r>
          </a:p>
        </p:txBody>
      </p:sp>
      <p:sp>
        <p:nvSpPr>
          <p:cNvPr id="3" name="Content Placeholder 2">
            <a:extLst>
              <a:ext uri="{FF2B5EF4-FFF2-40B4-BE49-F238E27FC236}">
                <a16:creationId xmlns:a16="http://schemas.microsoft.com/office/drawing/2014/main" id="{EAB73B4E-31D4-F34C-B410-EB6A2B8EEEC3}"/>
              </a:ext>
            </a:extLst>
          </p:cNvPr>
          <p:cNvSpPr>
            <a:spLocks noGrp="1"/>
          </p:cNvSpPr>
          <p:nvPr>
            <p:ph idx="1"/>
          </p:nvPr>
        </p:nvSpPr>
        <p:spPr>
          <a:xfrm>
            <a:off x="457200" y="1063229"/>
            <a:ext cx="8229600" cy="3394472"/>
          </a:xfrm>
        </p:spPr>
        <p:txBody>
          <a:bodyPr>
            <a:normAutofit/>
          </a:bodyPr>
          <a:lstStyle/>
          <a:p>
            <a:r>
              <a:rPr lang="en-US" sz="2400" dirty="0"/>
              <a:t>OWN_GD: Government dependency of each segment.</a:t>
            </a:r>
          </a:p>
          <a:p>
            <a:r>
              <a:rPr lang="en-US" sz="2400" dirty="0"/>
              <a:t>OTHER_GD: Government dependency of other segments in the same conglomerate.</a:t>
            </a:r>
          </a:p>
          <a:p>
            <a:r>
              <a:rPr lang="en-US" sz="2400" dirty="0"/>
              <a:t>Investment Rate: Capital expenditures divided by assets for each segment.</a:t>
            </a:r>
          </a:p>
          <a:p>
            <a:r>
              <a:rPr lang="en-US" sz="2400" dirty="0"/>
              <a:t>Government Spending: Measured using the amount of nondefense discretionary government spending.</a:t>
            </a:r>
          </a:p>
        </p:txBody>
      </p:sp>
    </p:spTree>
    <p:extLst>
      <p:ext uri="{BB962C8B-B14F-4D97-AF65-F5344CB8AC3E}">
        <p14:creationId xmlns:p14="http://schemas.microsoft.com/office/powerpoint/2010/main" val="144076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FC2FF-A745-F5D3-D8DB-B77CF69A33F4}"/>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AFB31E7E-BB03-7F85-9FA9-B35E5C0A08A1}"/>
              </a:ext>
            </a:extLst>
          </p:cNvPr>
          <p:cNvSpPr>
            <a:spLocks noGrp="1"/>
          </p:cNvSpPr>
          <p:nvPr>
            <p:ph idx="1"/>
          </p:nvPr>
        </p:nvSpPr>
        <p:spPr>
          <a:xfrm>
            <a:off x="457200" y="1063229"/>
            <a:ext cx="8229600" cy="3394472"/>
          </a:xfrm>
        </p:spPr>
        <p:txBody>
          <a:bodyPr>
            <a:normAutofit/>
          </a:bodyPr>
          <a:lstStyle/>
          <a:p>
            <a:r>
              <a:rPr lang="en-US" sz="2300" dirty="0"/>
              <a:t>Segments that rely more on government spending invest less when they are part of a conglomerate compared to stand-alone firms.</a:t>
            </a:r>
          </a:p>
          <a:p>
            <a:r>
              <a:rPr lang="en-US" sz="2300" dirty="0"/>
              <a:t>When other segments of the conglomerate experience positive demand shocks from government spending, less government-dependent segments invest more, indicating cross-subsidization.</a:t>
            </a:r>
          </a:p>
          <a:p>
            <a:r>
              <a:rPr lang="en-US" sz="2300" dirty="0"/>
              <a:t>Cross-subsidization leads to worse performance for some segments and a larger diversification discount, meaning conglomerates may be less efficient overall.</a:t>
            </a:r>
          </a:p>
        </p:txBody>
      </p:sp>
    </p:spTree>
    <p:extLst>
      <p:ext uri="{BB962C8B-B14F-4D97-AF65-F5344CB8AC3E}">
        <p14:creationId xmlns:p14="http://schemas.microsoft.com/office/powerpoint/2010/main" val="2280721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2C7CF-9F86-8098-130C-FD3F046D2086}"/>
              </a:ext>
            </a:extLst>
          </p:cNvPr>
          <p:cNvSpPr>
            <a:spLocks noGrp="1"/>
          </p:cNvSpPr>
          <p:nvPr>
            <p:ph type="title"/>
          </p:nvPr>
        </p:nvSpPr>
        <p:spPr/>
        <p:txBody>
          <a:bodyPr/>
          <a:lstStyle/>
          <a:p>
            <a:r>
              <a:rPr lang="en-US" dirty="0"/>
              <a:t>Data Collection</a:t>
            </a:r>
          </a:p>
        </p:txBody>
      </p:sp>
      <p:sp>
        <p:nvSpPr>
          <p:cNvPr id="3" name="Content Placeholder 2">
            <a:extLst>
              <a:ext uri="{FF2B5EF4-FFF2-40B4-BE49-F238E27FC236}">
                <a16:creationId xmlns:a16="http://schemas.microsoft.com/office/drawing/2014/main" id="{15D56D45-BDC3-3D0B-671F-78DDB007EF2F}"/>
              </a:ext>
            </a:extLst>
          </p:cNvPr>
          <p:cNvSpPr>
            <a:spLocks noGrp="1"/>
          </p:cNvSpPr>
          <p:nvPr>
            <p:ph idx="1"/>
          </p:nvPr>
        </p:nvSpPr>
        <p:spPr/>
        <p:txBody>
          <a:bodyPr/>
          <a:lstStyle/>
          <a:p>
            <a:r>
              <a:rPr lang="en-US" dirty="0" err="1"/>
              <a:t>Compustat</a:t>
            </a:r>
            <a:r>
              <a:rPr lang="en-US" dirty="0"/>
              <a:t> Historical Segments data from 1977 to 2016</a:t>
            </a:r>
          </a:p>
        </p:txBody>
      </p:sp>
    </p:spTree>
    <p:extLst>
      <p:ext uri="{BB962C8B-B14F-4D97-AF65-F5344CB8AC3E}">
        <p14:creationId xmlns:p14="http://schemas.microsoft.com/office/powerpoint/2010/main" val="102931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B40FF-7EA8-CDE0-E3CC-D866B57D559B}"/>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AC7FB4EB-2897-29AD-479C-A9FDC9FCA7D7}"/>
              </a:ext>
            </a:extLst>
          </p:cNvPr>
          <p:cNvPicPr>
            <a:picLocks noGrp="1" noChangeAspect="1"/>
          </p:cNvPicPr>
          <p:nvPr>
            <p:ph idx="1"/>
          </p:nvPr>
        </p:nvPicPr>
        <p:blipFill>
          <a:blip r:embed="rId3"/>
          <a:stretch>
            <a:fillRect/>
          </a:stretch>
        </p:blipFill>
        <p:spPr>
          <a:xfrm>
            <a:off x="552792" y="205979"/>
            <a:ext cx="8038415" cy="4508192"/>
          </a:xfrm>
        </p:spPr>
      </p:pic>
    </p:spTree>
    <p:extLst>
      <p:ext uri="{BB962C8B-B14F-4D97-AF65-F5344CB8AC3E}">
        <p14:creationId xmlns:p14="http://schemas.microsoft.com/office/powerpoint/2010/main" val="17287158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33954-CBF2-61A5-4173-9D7E13F5C516}"/>
              </a:ext>
            </a:extLst>
          </p:cNvPr>
          <p:cNvSpPr>
            <a:spLocks noGrp="1"/>
          </p:cNvSpPr>
          <p:nvPr>
            <p:ph type="title"/>
          </p:nvPr>
        </p:nvSpPr>
        <p:spPr>
          <a:xfrm>
            <a:off x="457199" y="0"/>
            <a:ext cx="8229600" cy="857250"/>
          </a:xfrm>
        </p:spPr>
        <p:txBody>
          <a:bodyPr/>
          <a:lstStyle/>
          <a:p>
            <a:r>
              <a:rPr lang="en-US" dirty="0"/>
              <a:t>Table 1 – Summary Statistics</a:t>
            </a:r>
          </a:p>
        </p:txBody>
      </p:sp>
      <p:pic>
        <p:nvPicPr>
          <p:cNvPr id="5" name="Content Placeholder 4">
            <a:extLst>
              <a:ext uri="{FF2B5EF4-FFF2-40B4-BE49-F238E27FC236}">
                <a16:creationId xmlns:a16="http://schemas.microsoft.com/office/drawing/2014/main" id="{EDF4D7D4-5CC1-7E09-0681-4D8B03AC8007}"/>
              </a:ext>
            </a:extLst>
          </p:cNvPr>
          <p:cNvPicPr>
            <a:picLocks noGrp="1" noChangeAspect="1"/>
          </p:cNvPicPr>
          <p:nvPr>
            <p:ph idx="1"/>
          </p:nvPr>
        </p:nvPicPr>
        <p:blipFill>
          <a:blip r:embed="rId3"/>
          <a:stretch>
            <a:fillRect/>
          </a:stretch>
        </p:blipFill>
        <p:spPr>
          <a:xfrm>
            <a:off x="1460650" y="849060"/>
            <a:ext cx="6222699" cy="4294440"/>
          </a:xfrm>
        </p:spPr>
      </p:pic>
      <p:sp>
        <p:nvSpPr>
          <p:cNvPr id="3" name="Rectangle 2">
            <a:extLst>
              <a:ext uri="{FF2B5EF4-FFF2-40B4-BE49-F238E27FC236}">
                <a16:creationId xmlns:a16="http://schemas.microsoft.com/office/drawing/2014/main" id="{2D70CCF9-7FC6-38EB-A9ED-A30AF375C5C8}"/>
              </a:ext>
            </a:extLst>
          </p:cNvPr>
          <p:cNvSpPr/>
          <p:nvPr/>
        </p:nvSpPr>
        <p:spPr>
          <a:xfrm>
            <a:off x="5983550" y="2077374"/>
            <a:ext cx="880146" cy="857250"/>
          </a:xfrm>
          <a:prstGeom prst="rect">
            <a:avLst/>
          </a:prstGeom>
          <a:no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704099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CFC63-775F-138D-6423-B7FB0B3F4504}"/>
              </a:ext>
            </a:extLst>
          </p:cNvPr>
          <p:cNvSpPr>
            <a:spLocks noGrp="1"/>
          </p:cNvSpPr>
          <p:nvPr>
            <p:ph type="title"/>
          </p:nvPr>
        </p:nvSpPr>
        <p:spPr/>
        <p:txBody>
          <a:bodyPr/>
          <a:lstStyle/>
          <a:p>
            <a:r>
              <a:rPr lang="en-US" dirty="0"/>
              <a:t>Model</a:t>
            </a:r>
          </a:p>
        </p:txBody>
      </p:sp>
      <p:pic>
        <p:nvPicPr>
          <p:cNvPr id="5" name="Content Placeholder 4">
            <a:extLst>
              <a:ext uri="{FF2B5EF4-FFF2-40B4-BE49-F238E27FC236}">
                <a16:creationId xmlns:a16="http://schemas.microsoft.com/office/drawing/2014/main" id="{2565F52F-DF47-3647-8E4C-635D7014B27F}"/>
              </a:ext>
            </a:extLst>
          </p:cNvPr>
          <p:cNvPicPr>
            <a:picLocks noGrp="1" noChangeAspect="1"/>
          </p:cNvPicPr>
          <p:nvPr>
            <p:ph idx="1"/>
          </p:nvPr>
        </p:nvPicPr>
        <p:blipFill>
          <a:blip r:embed="rId2"/>
          <a:stretch>
            <a:fillRect/>
          </a:stretch>
        </p:blipFill>
        <p:spPr>
          <a:xfrm>
            <a:off x="654631" y="1670161"/>
            <a:ext cx="7834738" cy="1152938"/>
          </a:xfrm>
        </p:spPr>
      </p:pic>
    </p:spTree>
    <p:extLst>
      <p:ext uri="{BB962C8B-B14F-4D97-AF65-F5344CB8AC3E}">
        <p14:creationId xmlns:p14="http://schemas.microsoft.com/office/powerpoint/2010/main" val="11594719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B8581-D403-77E6-ED3E-8111B127E8DE}"/>
              </a:ext>
            </a:extLst>
          </p:cNvPr>
          <p:cNvSpPr>
            <a:spLocks noGrp="1"/>
          </p:cNvSpPr>
          <p:nvPr>
            <p:ph type="title"/>
          </p:nvPr>
        </p:nvSpPr>
        <p:spPr/>
        <p:txBody>
          <a:bodyPr>
            <a:normAutofit fontScale="90000"/>
          </a:bodyPr>
          <a:lstStyle/>
          <a:p>
            <a:r>
              <a:rPr lang="en-US" dirty="0"/>
              <a:t>Table 2 – Government Spending Shocks and Segment Investment</a:t>
            </a:r>
          </a:p>
        </p:txBody>
      </p:sp>
      <p:sp>
        <p:nvSpPr>
          <p:cNvPr id="3" name="Content Placeholder 2">
            <a:extLst>
              <a:ext uri="{FF2B5EF4-FFF2-40B4-BE49-F238E27FC236}">
                <a16:creationId xmlns:a16="http://schemas.microsoft.com/office/drawing/2014/main" id="{B75B2D10-BC13-DBF0-1EC1-70D8D694BB9E}"/>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5B7550C5-C497-072E-8F6E-AEE3CCE9C260}"/>
              </a:ext>
            </a:extLst>
          </p:cNvPr>
          <p:cNvPicPr>
            <a:picLocks noChangeAspect="1"/>
          </p:cNvPicPr>
          <p:nvPr/>
        </p:nvPicPr>
        <p:blipFill>
          <a:blip r:embed="rId3"/>
          <a:stretch>
            <a:fillRect/>
          </a:stretch>
        </p:blipFill>
        <p:spPr>
          <a:xfrm>
            <a:off x="404231" y="780800"/>
            <a:ext cx="8335538" cy="3581900"/>
          </a:xfrm>
          <a:prstGeom prst="rect">
            <a:avLst/>
          </a:prstGeom>
        </p:spPr>
      </p:pic>
      <p:sp>
        <p:nvSpPr>
          <p:cNvPr id="7" name="Rectangle 6">
            <a:extLst>
              <a:ext uri="{FF2B5EF4-FFF2-40B4-BE49-F238E27FC236}">
                <a16:creationId xmlns:a16="http://schemas.microsoft.com/office/drawing/2014/main" id="{BD79B1F0-344A-B81A-76DF-766AE931C434}"/>
              </a:ext>
            </a:extLst>
          </p:cNvPr>
          <p:cNvSpPr/>
          <p:nvPr/>
        </p:nvSpPr>
        <p:spPr>
          <a:xfrm>
            <a:off x="2503502" y="2032986"/>
            <a:ext cx="3950564" cy="443884"/>
          </a:xfrm>
          <a:prstGeom prst="rect">
            <a:avLst/>
          </a:prstGeom>
          <a:no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274930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B8581-D403-77E6-ED3E-8111B127E8DE}"/>
              </a:ext>
            </a:extLst>
          </p:cNvPr>
          <p:cNvSpPr>
            <a:spLocks noGrp="1"/>
          </p:cNvSpPr>
          <p:nvPr>
            <p:ph type="title"/>
          </p:nvPr>
        </p:nvSpPr>
        <p:spPr/>
        <p:txBody>
          <a:bodyPr>
            <a:normAutofit fontScale="90000"/>
          </a:bodyPr>
          <a:lstStyle/>
          <a:p>
            <a:r>
              <a:rPr lang="en-US" dirty="0"/>
              <a:t>Table 2 – Government Spending Shocks and Segment Investment</a:t>
            </a:r>
          </a:p>
        </p:txBody>
      </p:sp>
      <p:sp>
        <p:nvSpPr>
          <p:cNvPr id="3" name="Content Placeholder 2">
            <a:extLst>
              <a:ext uri="{FF2B5EF4-FFF2-40B4-BE49-F238E27FC236}">
                <a16:creationId xmlns:a16="http://schemas.microsoft.com/office/drawing/2014/main" id="{B75B2D10-BC13-DBF0-1EC1-70D8D694BB9E}"/>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95C8A4C1-1B66-B51C-2F55-D4243284C3EE}"/>
              </a:ext>
            </a:extLst>
          </p:cNvPr>
          <p:cNvPicPr>
            <a:picLocks noChangeAspect="1"/>
          </p:cNvPicPr>
          <p:nvPr/>
        </p:nvPicPr>
        <p:blipFill>
          <a:blip r:embed="rId2"/>
          <a:stretch>
            <a:fillRect/>
          </a:stretch>
        </p:blipFill>
        <p:spPr>
          <a:xfrm>
            <a:off x="437573" y="1325542"/>
            <a:ext cx="8268854" cy="3143689"/>
          </a:xfrm>
          <a:prstGeom prst="rect">
            <a:avLst/>
          </a:prstGeom>
        </p:spPr>
      </p:pic>
    </p:spTree>
    <p:extLst>
      <p:ext uri="{BB962C8B-B14F-4D97-AF65-F5344CB8AC3E}">
        <p14:creationId xmlns:p14="http://schemas.microsoft.com/office/powerpoint/2010/main" val="28901463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2DFE8-D8CA-B536-CDB2-729962FD330A}"/>
              </a:ext>
            </a:extLst>
          </p:cNvPr>
          <p:cNvSpPr>
            <a:spLocks noGrp="1"/>
          </p:cNvSpPr>
          <p:nvPr>
            <p:ph type="title"/>
          </p:nvPr>
        </p:nvSpPr>
        <p:spPr/>
        <p:txBody>
          <a:bodyPr/>
          <a:lstStyle/>
          <a:p>
            <a:r>
              <a:rPr lang="en-US" dirty="0"/>
              <a:t>Model</a:t>
            </a:r>
          </a:p>
        </p:txBody>
      </p:sp>
      <p:pic>
        <p:nvPicPr>
          <p:cNvPr id="5" name="Content Placeholder 4">
            <a:extLst>
              <a:ext uri="{FF2B5EF4-FFF2-40B4-BE49-F238E27FC236}">
                <a16:creationId xmlns:a16="http://schemas.microsoft.com/office/drawing/2014/main" id="{871AF2BB-3457-DBA8-412D-15EE96058996}"/>
              </a:ext>
            </a:extLst>
          </p:cNvPr>
          <p:cNvPicPr>
            <a:picLocks noGrp="1" noChangeAspect="1"/>
          </p:cNvPicPr>
          <p:nvPr>
            <p:ph idx="1"/>
          </p:nvPr>
        </p:nvPicPr>
        <p:blipFill>
          <a:blip r:embed="rId2"/>
          <a:stretch>
            <a:fillRect/>
          </a:stretch>
        </p:blipFill>
        <p:spPr>
          <a:xfrm>
            <a:off x="1633127" y="1490511"/>
            <a:ext cx="5877745" cy="2162477"/>
          </a:xfrm>
        </p:spPr>
      </p:pic>
    </p:spTree>
    <p:extLst>
      <p:ext uri="{BB962C8B-B14F-4D97-AF65-F5344CB8AC3E}">
        <p14:creationId xmlns:p14="http://schemas.microsoft.com/office/powerpoint/2010/main" val="29790529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1B587-74E0-B94B-2B95-1C860FAFD563}"/>
              </a:ext>
            </a:extLst>
          </p:cNvPr>
          <p:cNvSpPr>
            <a:spLocks noGrp="1"/>
          </p:cNvSpPr>
          <p:nvPr>
            <p:ph type="title"/>
          </p:nvPr>
        </p:nvSpPr>
        <p:spPr>
          <a:xfrm>
            <a:off x="0" y="205979"/>
            <a:ext cx="9144000" cy="857250"/>
          </a:xfrm>
        </p:spPr>
        <p:txBody>
          <a:bodyPr>
            <a:noAutofit/>
          </a:bodyPr>
          <a:lstStyle/>
          <a:p>
            <a:r>
              <a:rPr lang="en-US" sz="2800" dirty="0"/>
              <a:t>Table 3 – Industry Dispersion and Segment Investment Sensitivity to Government Spending Shocks</a:t>
            </a:r>
          </a:p>
        </p:txBody>
      </p:sp>
      <p:pic>
        <p:nvPicPr>
          <p:cNvPr id="5" name="Content Placeholder 4">
            <a:extLst>
              <a:ext uri="{FF2B5EF4-FFF2-40B4-BE49-F238E27FC236}">
                <a16:creationId xmlns:a16="http://schemas.microsoft.com/office/drawing/2014/main" id="{E45A08FD-06DF-2580-D81D-325FD092CF7C}"/>
              </a:ext>
            </a:extLst>
          </p:cNvPr>
          <p:cNvPicPr>
            <a:picLocks noGrp="1" noChangeAspect="1"/>
          </p:cNvPicPr>
          <p:nvPr>
            <p:ph idx="1"/>
          </p:nvPr>
        </p:nvPicPr>
        <p:blipFill>
          <a:blip r:embed="rId3"/>
          <a:stretch>
            <a:fillRect/>
          </a:stretch>
        </p:blipFill>
        <p:spPr>
          <a:xfrm>
            <a:off x="1412274" y="1063229"/>
            <a:ext cx="6319451" cy="3941550"/>
          </a:xfrm>
        </p:spPr>
      </p:pic>
      <p:sp>
        <p:nvSpPr>
          <p:cNvPr id="3" name="Rectangle 2">
            <a:extLst>
              <a:ext uri="{FF2B5EF4-FFF2-40B4-BE49-F238E27FC236}">
                <a16:creationId xmlns:a16="http://schemas.microsoft.com/office/drawing/2014/main" id="{BC1404B9-AE35-B7CC-EA02-594CBE7A96A3}"/>
              </a:ext>
            </a:extLst>
          </p:cNvPr>
          <p:cNvSpPr/>
          <p:nvPr/>
        </p:nvSpPr>
        <p:spPr>
          <a:xfrm>
            <a:off x="3781161" y="2032986"/>
            <a:ext cx="657674" cy="355108"/>
          </a:xfrm>
          <a:prstGeom prst="rect">
            <a:avLst/>
          </a:prstGeom>
          <a:no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7F3F331-FE07-ED3E-83C9-ED8EF1642FF2}"/>
              </a:ext>
            </a:extLst>
          </p:cNvPr>
          <p:cNvSpPr/>
          <p:nvPr/>
        </p:nvSpPr>
        <p:spPr>
          <a:xfrm>
            <a:off x="3622843" y="2678897"/>
            <a:ext cx="878136" cy="355108"/>
          </a:xfrm>
          <a:prstGeom prst="rect">
            <a:avLst/>
          </a:prstGeom>
          <a:no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025676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1B587-74E0-B94B-2B95-1C860FAFD563}"/>
              </a:ext>
            </a:extLst>
          </p:cNvPr>
          <p:cNvSpPr>
            <a:spLocks noGrp="1"/>
          </p:cNvSpPr>
          <p:nvPr>
            <p:ph type="title"/>
          </p:nvPr>
        </p:nvSpPr>
        <p:spPr>
          <a:xfrm>
            <a:off x="0" y="205979"/>
            <a:ext cx="9144000" cy="857250"/>
          </a:xfrm>
        </p:spPr>
        <p:txBody>
          <a:bodyPr>
            <a:noAutofit/>
          </a:bodyPr>
          <a:lstStyle/>
          <a:p>
            <a:r>
              <a:rPr lang="en-US" sz="2800" dirty="0"/>
              <a:t>Table 3 – Industry Dispersion and Segment Investment Sensitivity to Government Spending Shocks</a:t>
            </a:r>
          </a:p>
        </p:txBody>
      </p:sp>
      <p:sp>
        <p:nvSpPr>
          <p:cNvPr id="3" name="Content Placeholder 2">
            <a:extLst>
              <a:ext uri="{FF2B5EF4-FFF2-40B4-BE49-F238E27FC236}">
                <a16:creationId xmlns:a16="http://schemas.microsoft.com/office/drawing/2014/main" id="{795E0687-C59D-5933-B80E-8F9CCEB8F453}"/>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EEFC88FB-F445-8EC1-8858-9EA88124ADFB}"/>
              </a:ext>
            </a:extLst>
          </p:cNvPr>
          <p:cNvPicPr>
            <a:picLocks noChangeAspect="1"/>
          </p:cNvPicPr>
          <p:nvPr/>
        </p:nvPicPr>
        <p:blipFill>
          <a:blip r:embed="rId3"/>
          <a:stretch>
            <a:fillRect/>
          </a:stretch>
        </p:blipFill>
        <p:spPr>
          <a:xfrm>
            <a:off x="825910" y="1063229"/>
            <a:ext cx="7674077" cy="3933844"/>
          </a:xfrm>
          <a:prstGeom prst="rect">
            <a:avLst/>
          </a:prstGeom>
        </p:spPr>
      </p:pic>
      <p:sp>
        <p:nvSpPr>
          <p:cNvPr id="7" name="Rectangle 6">
            <a:extLst>
              <a:ext uri="{FF2B5EF4-FFF2-40B4-BE49-F238E27FC236}">
                <a16:creationId xmlns:a16="http://schemas.microsoft.com/office/drawing/2014/main" id="{9FFD4459-5866-B78A-E6CC-0263A3CFABCA}"/>
              </a:ext>
            </a:extLst>
          </p:cNvPr>
          <p:cNvSpPr/>
          <p:nvPr/>
        </p:nvSpPr>
        <p:spPr>
          <a:xfrm>
            <a:off x="3693864" y="2136743"/>
            <a:ext cx="878136" cy="355108"/>
          </a:xfrm>
          <a:prstGeom prst="rect">
            <a:avLst/>
          </a:prstGeom>
          <a:no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D5435FC-8ED3-B0F3-5F01-DC34D236CC0C}"/>
              </a:ext>
            </a:extLst>
          </p:cNvPr>
          <p:cNvSpPr/>
          <p:nvPr/>
        </p:nvSpPr>
        <p:spPr>
          <a:xfrm>
            <a:off x="3649476" y="1385288"/>
            <a:ext cx="878136" cy="355108"/>
          </a:xfrm>
          <a:prstGeom prst="rect">
            <a:avLst/>
          </a:prstGeom>
          <a:no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777623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669AD-5DBC-6595-B383-B733251E4017}"/>
              </a:ext>
            </a:extLst>
          </p:cNvPr>
          <p:cNvSpPr>
            <a:spLocks noGrp="1"/>
          </p:cNvSpPr>
          <p:nvPr>
            <p:ph type="title"/>
          </p:nvPr>
        </p:nvSpPr>
        <p:spPr>
          <a:xfrm>
            <a:off x="157316" y="205979"/>
            <a:ext cx="8986684" cy="857250"/>
          </a:xfrm>
        </p:spPr>
        <p:txBody>
          <a:bodyPr>
            <a:noAutofit/>
          </a:bodyPr>
          <a:lstStyle/>
          <a:p>
            <a:r>
              <a:rPr lang="en-US" sz="2800" dirty="0"/>
              <a:t>Table 4 – Segment Investment Sensitivity to Government Spending Shocks Within Multi-Segment Firms</a:t>
            </a:r>
          </a:p>
        </p:txBody>
      </p:sp>
      <p:pic>
        <p:nvPicPr>
          <p:cNvPr id="5" name="Content Placeholder 4">
            <a:extLst>
              <a:ext uri="{FF2B5EF4-FFF2-40B4-BE49-F238E27FC236}">
                <a16:creationId xmlns:a16="http://schemas.microsoft.com/office/drawing/2014/main" id="{4960A09C-1A33-FB7A-7963-24DCE636447B}"/>
              </a:ext>
            </a:extLst>
          </p:cNvPr>
          <p:cNvPicPr>
            <a:picLocks noGrp="1" noChangeAspect="1"/>
          </p:cNvPicPr>
          <p:nvPr>
            <p:ph idx="1"/>
          </p:nvPr>
        </p:nvPicPr>
        <p:blipFill>
          <a:blip r:embed="rId3"/>
          <a:stretch>
            <a:fillRect/>
          </a:stretch>
        </p:blipFill>
        <p:spPr>
          <a:xfrm>
            <a:off x="36643" y="1289371"/>
            <a:ext cx="9070713" cy="3469442"/>
          </a:xfrm>
        </p:spPr>
      </p:pic>
    </p:spTree>
    <p:extLst>
      <p:ext uri="{BB962C8B-B14F-4D97-AF65-F5344CB8AC3E}">
        <p14:creationId xmlns:p14="http://schemas.microsoft.com/office/powerpoint/2010/main" val="17457245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669AD-5DBC-6595-B383-B733251E4017}"/>
              </a:ext>
            </a:extLst>
          </p:cNvPr>
          <p:cNvSpPr>
            <a:spLocks noGrp="1"/>
          </p:cNvSpPr>
          <p:nvPr>
            <p:ph type="title"/>
          </p:nvPr>
        </p:nvSpPr>
        <p:spPr>
          <a:xfrm>
            <a:off x="157316" y="205979"/>
            <a:ext cx="8986684" cy="857250"/>
          </a:xfrm>
        </p:spPr>
        <p:txBody>
          <a:bodyPr>
            <a:noAutofit/>
          </a:bodyPr>
          <a:lstStyle/>
          <a:p>
            <a:r>
              <a:rPr lang="en-US" sz="2800" dirty="0"/>
              <a:t>Table 4 – Segment Investment Sensitivity to Government Spending Shocks Within Multi-Segment Firms</a:t>
            </a:r>
          </a:p>
        </p:txBody>
      </p:sp>
      <p:pic>
        <p:nvPicPr>
          <p:cNvPr id="5" name="Content Placeholder 4">
            <a:extLst>
              <a:ext uri="{FF2B5EF4-FFF2-40B4-BE49-F238E27FC236}">
                <a16:creationId xmlns:a16="http://schemas.microsoft.com/office/drawing/2014/main" id="{8E25200C-46CD-4EEC-6EFA-F7FDC9783E00}"/>
              </a:ext>
            </a:extLst>
          </p:cNvPr>
          <p:cNvPicPr>
            <a:picLocks noGrp="1" noChangeAspect="1"/>
          </p:cNvPicPr>
          <p:nvPr>
            <p:ph idx="1"/>
          </p:nvPr>
        </p:nvPicPr>
        <p:blipFill>
          <a:blip r:embed="rId3"/>
          <a:stretch>
            <a:fillRect/>
          </a:stretch>
        </p:blipFill>
        <p:spPr>
          <a:xfrm>
            <a:off x="0" y="1063229"/>
            <a:ext cx="9144300" cy="3607094"/>
          </a:xfrm>
        </p:spPr>
      </p:pic>
    </p:spTree>
    <p:extLst>
      <p:ext uri="{BB962C8B-B14F-4D97-AF65-F5344CB8AC3E}">
        <p14:creationId xmlns:p14="http://schemas.microsoft.com/office/powerpoint/2010/main" val="10489819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D2FF5-EBFB-5557-B6AE-1511AA3F466C}"/>
              </a:ext>
            </a:extLst>
          </p:cNvPr>
          <p:cNvSpPr>
            <a:spLocks noGrp="1"/>
          </p:cNvSpPr>
          <p:nvPr>
            <p:ph type="title"/>
          </p:nvPr>
        </p:nvSpPr>
        <p:spPr>
          <a:xfrm>
            <a:off x="0" y="120252"/>
            <a:ext cx="9144000" cy="857250"/>
          </a:xfrm>
        </p:spPr>
        <p:txBody>
          <a:bodyPr>
            <a:normAutofit fontScale="90000"/>
          </a:bodyPr>
          <a:lstStyle/>
          <a:p>
            <a:r>
              <a:rPr lang="en-US" dirty="0"/>
              <a:t>Table 5 – Government Spending Shocks and Cross-Subsidization</a:t>
            </a:r>
          </a:p>
        </p:txBody>
      </p:sp>
      <p:pic>
        <p:nvPicPr>
          <p:cNvPr id="5" name="Picture 4">
            <a:extLst>
              <a:ext uri="{FF2B5EF4-FFF2-40B4-BE49-F238E27FC236}">
                <a16:creationId xmlns:a16="http://schemas.microsoft.com/office/drawing/2014/main" id="{B2701C67-2A85-DB91-BCC8-E545AF497BB3}"/>
              </a:ext>
            </a:extLst>
          </p:cNvPr>
          <p:cNvPicPr>
            <a:picLocks noChangeAspect="1"/>
          </p:cNvPicPr>
          <p:nvPr/>
        </p:nvPicPr>
        <p:blipFill>
          <a:blip r:embed="rId3"/>
          <a:stretch>
            <a:fillRect/>
          </a:stretch>
        </p:blipFill>
        <p:spPr>
          <a:xfrm>
            <a:off x="322487" y="1073412"/>
            <a:ext cx="8499026" cy="3949836"/>
          </a:xfrm>
          <a:prstGeom prst="rect">
            <a:avLst/>
          </a:prstGeom>
        </p:spPr>
      </p:pic>
    </p:spTree>
    <p:extLst>
      <p:ext uri="{BB962C8B-B14F-4D97-AF65-F5344CB8AC3E}">
        <p14:creationId xmlns:p14="http://schemas.microsoft.com/office/powerpoint/2010/main" val="22431384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D2FF5-EBFB-5557-B6AE-1511AA3F466C}"/>
              </a:ext>
            </a:extLst>
          </p:cNvPr>
          <p:cNvSpPr>
            <a:spLocks noGrp="1"/>
          </p:cNvSpPr>
          <p:nvPr>
            <p:ph type="title"/>
          </p:nvPr>
        </p:nvSpPr>
        <p:spPr>
          <a:xfrm>
            <a:off x="0" y="120252"/>
            <a:ext cx="9144000" cy="857250"/>
          </a:xfrm>
        </p:spPr>
        <p:txBody>
          <a:bodyPr>
            <a:normAutofit fontScale="90000"/>
          </a:bodyPr>
          <a:lstStyle/>
          <a:p>
            <a:r>
              <a:rPr lang="en-US" dirty="0"/>
              <a:t>Table 5 – Government Spending Shocks and Cross-Subsidization</a:t>
            </a:r>
          </a:p>
        </p:txBody>
      </p:sp>
      <p:pic>
        <p:nvPicPr>
          <p:cNvPr id="4" name="Picture 3">
            <a:extLst>
              <a:ext uri="{FF2B5EF4-FFF2-40B4-BE49-F238E27FC236}">
                <a16:creationId xmlns:a16="http://schemas.microsoft.com/office/drawing/2014/main" id="{73F3BF70-1972-E226-E8B8-534CF54EB740}"/>
              </a:ext>
            </a:extLst>
          </p:cNvPr>
          <p:cNvPicPr>
            <a:picLocks noChangeAspect="1"/>
          </p:cNvPicPr>
          <p:nvPr/>
        </p:nvPicPr>
        <p:blipFill>
          <a:blip r:embed="rId3"/>
          <a:stretch>
            <a:fillRect/>
          </a:stretch>
        </p:blipFill>
        <p:spPr>
          <a:xfrm>
            <a:off x="1567880" y="1301825"/>
            <a:ext cx="6008240" cy="3841675"/>
          </a:xfrm>
          <a:prstGeom prst="rect">
            <a:avLst/>
          </a:prstGeom>
        </p:spPr>
      </p:pic>
    </p:spTree>
    <p:extLst>
      <p:ext uri="{BB962C8B-B14F-4D97-AF65-F5344CB8AC3E}">
        <p14:creationId xmlns:p14="http://schemas.microsoft.com/office/powerpoint/2010/main" val="3489574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99EF2-2759-374D-B17F-6479DA66C536}"/>
              </a:ext>
            </a:extLst>
          </p:cNvPr>
          <p:cNvSpPr>
            <a:spLocks noGrp="1"/>
          </p:cNvSpPr>
          <p:nvPr>
            <p:ph type="title"/>
          </p:nvPr>
        </p:nvSpPr>
        <p:spPr>
          <a:xfrm>
            <a:off x="0" y="205979"/>
            <a:ext cx="9144000" cy="857250"/>
          </a:xfrm>
        </p:spPr>
        <p:txBody>
          <a:bodyPr>
            <a:normAutofit fontScale="90000"/>
          </a:bodyPr>
          <a:lstStyle/>
          <a:p>
            <a:r>
              <a:rPr lang="en-US" dirty="0"/>
              <a:t>Table 6 – Cross-Subsidization and Operating Performance</a:t>
            </a:r>
          </a:p>
        </p:txBody>
      </p:sp>
      <p:pic>
        <p:nvPicPr>
          <p:cNvPr id="5" name="Picture 4">
            <a:extLst>
              <a:ext uri="{FF2B5EF4-FFF2-40B4-BE49-F238E27FC236}">
                <a16:creationId xmlns:a16="http://schemas.microsoft.com/office/drawing/2014/main" id="{5A7A4870-CBB3-FA2C-AC11-D0013113BC18}"/>
              </a:ext>
            </a:extLst>
          </p:cNvPr>
          <p:cNvPicPr>
            <a:picLocks noChangeAspect="1"/>
          </p:cNvPicPr>
          <p:nvPr/>
        </p:nvPicPr>
        <p:blipFill>
          <a:blip r:embed="rId3"/>
          <a:stretch>
            <a:fillRect/>
          </a:stretch>
        </p:blipFill>
        <p:spPr>
          <a:xfrm>
            <a:off x="27292" y="1221416"/>
            <a:ext cx="9116708" cy="3716105"/>
          </a:xfrm>
          <a:prstGeom prst="rect">
            <a:avLst/>
          </a:prstGeom>
        </p:spPr>
      </p:pic>
    </p:spTree>
    <p:extLst>
      <p:ext uri="{BB962C8B-B14F-4D97-AF65-F5344CB8AC3E}">
        <p14:creationId xmlns:p14="http://schemas.microsoft.com/office/powerpoint/2010/main" val="31604836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99EF2-2759-374D-B17F-6479DA66C536}"/>
              </a:ext>
            </a:extLst>
          </p:cNvPr>
          <p:cNvSpPr>
            <a:spLocks noGrp="1"/>
          </p:cNvSpPr>
          <p:nvPr>
            <p:ph type="title"/>
          </p:nvPr>
        </p:nvSpPr>
        <p:spPr>
          <a:xfrm>
            <a:off x="0" y="205979"/>
            <a:ext cx="9144000" cy="857250"/>
          </a:xfrm>
        </p:spPr>
        <p:txBody>
          <a:bodyPr>
            <a:normAutofit fontScale="90000"/>
          </a:bodyPr>
          <a:lstStyle/>
          <a:p>
            <a:r>
              <a:rPr lang="en-US" dirty="0"/>
              <a:t>Table 6 – Cross-Subsidization and Operating Performance</a:t>
            </a:r>
          </a:p>
        </p:txBody>
      </p:sp>
      <p:pic>
        <p:nvPicPr>
          <p:cNvPr id="4" name="Picture 3">
            <a:extLst>
              <a:ext uri="{FF2B5EF4-FFF2-40B4-BE49-F238E27FC236}">
                <a16:creationId xmlns:a16="http://schemas.microsoft.com/office/drawing/2014/main" id="{312C2FDB-C033-6E76-4123-461A6E8BE59A}"/>
              </a:ext>
            </a:extLst>
          </p:cNvPr>
          <p:cNvPicPr>
            <a:picLocks noChangeAspect="1"/>
          </p:cNvPicPr>
          <p:nvPr/>
        </p:nvPicPr>
        <p:blipFill>
          <a:blip r:embed="rId2"/>
          <a:stretch>
            <a:fillRect/>
          </a:stretch>
        </p:blipFill>
        <p:spPr>
          <a:xfrm>
            <a:off x="7136" y="1364791"/>
            <a:ext cx="9129728" cy="3167880"/>
          </a:xfrm>
          <a:prstGeom prst="rect">
            <a:avLst/>
          </a:prstGeom>
        </p:spPr>
      </p:pic>
    </p:spTree>
    <p:extLst>
      <p:ext uri="{BB962C8B-B14F-4D97-AF65-F5344CB8AC3E}">
        <p14:creationId xmlns:p14="http://schemas.microsoft.com/office/powerpoint/2010/main" val="9288092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0927A-D1E7-70D4-B42B-A5340A54A65E}"/>
              </a:ext>
            </a:extLst>
          </p:cNvPr>
          <p:cNvSpPr>
            <a:spLocks noGrp="1"/>
          </p:cNvSpPr>
          <p:nvPr>
            <p:ph type="title"/>
          </p:nvPr>
        </p:nvSpPr>
        <p:spPr>
          <a:xfrm>
            <a:off x="167147" y="205979"/>
            <a:ext cx="8799871" cy="857250"/>
          </a:xfrm>
        </p:spPr>
        <p:txBody>
          <a:bodyPr>
            <a:normAutofit fontScale="90000"/>
          </a:bodyPr>
          <a:lstStyle/>
          <a:p>
            <a:r>
              <a:rPr lang="en-US" dirty="0"/>
              <a:t>Table 7 – Cross-Subsidization and Excess Value</a:t>
            </a:r>
          </a:p>
        </p:txBody>
      </p:sp>
      <p:pic>
        <p:nvPicPr>
          <p:cNvPr id="5" name="Content Placeholder 4">
            <a:extLst>
              <a:ext uri="{FF2B5EF4-FFF2-40B4-BE49-F238E27FC236}">
                <a16:creationId xmlns:a16="http://schemas.microsoft.com/office/drawing/2014/main" id="{AAC6E209-9E68-7022-4DF4-0E9847ED636E}"/>
              </a:ext>
            </a:extLst>
          </p:cNvPr>
          <p:cNvPicPr>
            <a:picLocks noGrp="1" noChangeAspect="1"/>
          </p:cNvPicPr>
          <p:nvPr>
            <p:ph idx="1"/>
          </p:nvPr>
        </p:nvPicPr>
        <p:blipFill>
          <a:blip r:embed="rId3"/>
          <a:stretch>
            <a:fillRect/>
          </a:stretch>
        </p:blipFill>
        <p:spPr>
          <a:xfrm>
            <a:off x="246511" y="1151719"/>
            <a:ext cx="8641142" cy="3874292"/>
          </a:xfrm>
        </p:spPr>
      </p:pic>
    </p:spTree>
    <p:extLst>
      <p:ext uri="{BB962C8B-B14F-4D97-AF65-F5344CB8AC3E}">
        <p14:creationId xmlns:p14="http://schemas.microsoft.com/office/powerpoint/2010/main" val="4544723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C7F1B-DA11-6AE6-A620-EB8D93BBD0CB}"/>
              </a:ext>
            </a:extLst>
          </p:cNvPr>
          <p:cNvSpPr>
            <a:spLocks noGrp="1"/>
          </p:cNvSpPr>
          <p:nvPr>
            <p:ph type="title"/>
          </p:nvPr>
        </p:nvSpPr>
        <p:spPr/>
        <p:txBody>
          <a:bodyPr/>
          <a:lstStyle/>
          <a:p>
            <a:r>
              <a:rPr lang="en-US" dirty="0"/>
              <a:t>Table 8 – IV Analysis</a:t>
            </a:r>
          </a:p>
        </p:txBody>
      </p:sp>
      <p:pic>
        <p:nvPicPr>
          <p:cNvPr id="5" name="Content Placeholder 4">
            <a:extLst>
              <a:ext uri="{FF2B5EF4-FFF2-40B4-BE49-F238E27FC236}">
                <a16:creationId xmlns:a16="http://schemas.microsoft.com/office/drawing/2014/main" id="{5446D147-B50D-F91B-7E68-C06ACEC1D8F3}"/>
              </a:ext>
            </a:extLst>
          </p:cNvPr>
          <p:cNvPicPr>
            <a:picLocks noGrp="1" noChangeAspect="1"/>
          </p:cNvPicPr>
          <p:nvPr>
            <p:ph idx="1"/>
          </p:nvPr>
        </p:nvPicPr>
        <p:blipFill>
          <a:blip r:embed="rId3"/>
          <a:stretch>
            <a:fillRect/>
          </a:stretch>
        </p:blipFill>
        <p:spPr>
          <a:xfrm>
            <a:off x="0" y="1063229"/>
            <a:ext cx="9119740" cy="2397726"/>
          </a:xfrm>
        </p:spPr>
      </p:pic>
    </p:spTree>
    <p:extLst>
      <p:ext uri="{BB962C8B-B14F-4D97-AF65-F5344CB8AC3E}">
        <p14:creationId xmlns:p14="http://schemas.microsoft.com/office/powerpoint/2010/main" val="38912628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C7F1B-DA11-6AE6-A620-EB8D93BBD0CB}"/>
              </a:ext>
            </a:extLst>
          </p:cNvPr>
          <p:cNvSpPr>
            <a:spLocks noGrp="1"/>
          </p:cNvSpPr>
          <p:nvPr>
            <p:ph type="title"/>
          </p:nvPr>
        </p:nvSpPr>
        <p:spPr>
          <a:xfrm>
            <a:off x="457200" y="0"/>
            <a:ext cx="8229600" cy="857250"/>
          </a:xfrm>
        </p:spPr>
        <p:txBody>
          <a:bodyPr/>
          <a:lstStyle/>
          <a:p>
            <a:r>
              <a:rPr lang="en-US" dirty="0"/>
              <a:t>Table 8 – IV Analysis</a:t>
            </a:r>
          </a:p>
        </p:txBody>
      </p:sp>
      <p:pic>
        <p:nvPicPr>
          <p:cNvPr id="5" name="Picture 4">
            <a:extLst>
              <a:ext uri="{FF2B5EF4-FFF2-40B4-BE49-F238E27FC236}">
                <a16:creationId xmlns:a16="http://schemas.microsoft.com/office/drawing/2014/main" id="{953F21BD-7271-7A90-8308-F3164DD7235C}"/>
              </a:ext>
            </a:extLst>
          </p:cNvPr>
          <p:cNvPicPr>
            <a:picLocks noChangeAspect="1"/>
          </p:cNvPicPr>
          <p:nvPr/>
        </p:nvPicPr>
        <p:blipFill>
          <a:blip r:embed="rId2"/>
          <a:stretch>
            <a:fillRect/>
          </a:stretch>
        </p:blipFill>
        <p:spPr>
          <a:xfrm>
            <a:off x="294104" y="857250"/>
            <a:ext cx="8392696" cy="4182059"/>
          </a:xfrm>
          <a:prstGeom prst="rect">
            <a:avLst/>
          </a:prstGeom>
        </p:spPr>
      </p:pic>
    </p:spTree>
    <p:extLst>
      <p:ext uri="{BB962C8B-B14F-4D97-AF65-F5344CB8AC3E}">
        <p14:creationId xmlns:p14="http://schemas.microsoft.com/office/powerpoint/2010/main" val="33950216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C7F1B-DA11-6AE6-A620-EB8D93BBD0CB}"/>
              </a:ext>
            </a:extLst>
          </p:cNvPr>
          <p:cNvSpPr>
            <a:spLocks noGrp="1"/>
          </p:cNvSpPr>
          <p:nvPr>
            <p:ph type="title"/>
          </p:nvPr>
        </p:nvSpPr>
        <p:spPr>
          <a:xfrm>
            <a:off x="457200" y="0"/>
            <a:ext cx="8229600" cy="857250"/>
          </a:xfrm>
        </p:spPr>
        <p:txBody>
          <a:bodyPr/>
          <a:lstStyle/>
          <a:p>
            <a:r>
              <a:rPr lang="en-US" dirty="0"/>
              <a:t>Table 8 – IV Analysis</a:t>
            </a:r>
          </a:p>
        </p:txBody>
      </p:sp>
      <p:pic>
        <p:nvPicPr>
          <p:cNvPr id="4" name="Picture 3">
            <a:extLst>
              <a:ext uri="{FF2B5EF4-FFF2-40B4-BE49-F238E27FC236}">
                <a16:creationId xmlns:a16="http://schemas.microsoft.com/office/drawing/2014/main" id="{32B7E1D4-A22E-A0B4-4241-11FF8784B6A7}"/>
              </a:ext>
            </a:extLst>
          </p:cNvPr>
          <p:cNvPicPr>
            <a:picLocks noChangeAspect="1"/>
          </p:cNvPicPr>
          <p:nvPr/>
        </p:nvPicPr>
        <p:blipFill>
          <a:blip r:embed="rId2"/>
          <a:stretch>
            <a:fillRect/>
          </a:stretch>
        </p:blipFill>
        <p:spPr>
          <a:xfrm>
            <a:off x="801577" y="756806"/>
            <a:ext cx="7540845" cy="4250924"/>
          </a:xfrm>
          <a:prstGeom prst="rect">
            <a:avLst/>
          </a:prstGeom>
        </p:spPr>
      </p:pic>
    </p:spTree>
    <p:extLst>
      <p:ext uri="{BB962C8B-B14F-4D97-AF65-F5344CB8AC3E}">
        <p14:creationId xmlns:p14="http://schemas.microsoft.com/office/powerpoint/2010/main" val="29901439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894D3-909B-BD96-164C-2B73DA619603}"/>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8809D06F-99B2-9518-6B5C-65EF09135218}"/>
              </a:ext>
            </a:extLst>
          </p:cNvPr>
          <p:cNvSpPr>
            <a:spLocks noGrp="1"/>
          </p:cNvSpPr>
          <p:nvPr>
            <p:ph idx="1"/>
          </p:nvPr>
        </p:nvSpPr>
        <p:spPr>
          <a:xfrm>
            <a:off x="457200" y="1063229"/>
            <a:ext cx="8229600" cy="3394472"/>
          </a:xfrm>
        </p:spPr>
        <p:txBody>
          <a:bodyPr>
            <a:normAutofit/>
          </a:bodyPr>
          <a:lstStyle/>
          <a:p>
            <a:r>
              <a:rPr lang="en-US" sz="2000" dirty="0"/>
              <a:t>Key Finding: Cross-subsidization occurs when some segments of a conglomerate benefit from demand shocks (like government spending) while others contribute resources, leading to less efficient overall performance.</a:t>
            </a:r>
          </a:p>
          <a:p>
            <a:r>
              <a:rPr lang="en-US" sz="2000" dirty="0"/>
              <a:t>Investment Sensitivity: Segments with higher government dependency in multi-segment firms invest less in response to demand shocks than stand-alone firms.</a:t>
            </a:r>
          </a:p>
          <a:p>
            <a:r>
              <a:rPr lang="en-US" sz="2000" dirty="0"/>
              <a:t>Profitability Impact: Cross-subsidization harms operating performance, as conglomerate segments that share resources with other segments see smaller profitability gains.</a:t>
            </a:r>
          </a:p>
        </p:txBody>
      </p:sp>
    </p:spTree>
    <p:extLst>
      <p:ext uri="{BB962C8B-B14F-4D97-AF65-F5344CB8AC3E}">
        <p14:creationId xmlns:p14="http://schemas.microsoft.com/office/powerpoint/2010/main" val="32356645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894D3-909B-BD96-164C-2B73DA619603}"/>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8809D06F-99B2-9518-6B5C-65EF09135218}"/>
              </a:ext>
            </a:extLst>
          </p:cNvPr>
          <p:cNvSpPr>
            <a:spLocks noGrp="1"/>
          </p:cNvSpPr>
          <p:nvPr>
            <p:ph idx="1"/>
          </p:nvPr>
        </p:nvSpPr>
        <p:spPr>
          <a:xfrm>
            <a:off x="457200" y="1063229"/>
            <a:ext cx="8229600" cy="3394472"/>
          </a:xfrm>
        </p:spPr>
        <p:txBody>
          <a:bodyPr>
            <a:normAutofit/>
          </a:bodyPr>
          <a:lstStyle/>
          <a:p>
            <a:r>
              <a:rPr lang="en-US" sz="2000" dirty="0"/>
              <a:t>Valuation Consequences: The diversification discount in conglomerates is worsened by cross-subsidization, especially during periods of higher government spending.</a:t>
            </a:r>
          </a:p>
          <a:p>
            <a:endParaRPr lang="en-US" sz="2000" dirty="0"/>
          </a:p>
          <a:p>
            <a:r>
              <a:rPr lang="en-US" sz="2000" dirty="0"/>
              <a:t>Policy Implication: The paper suggests that while diversification can buffer against shocks, internal capital reallocation (cross-subsidization) often reduces efficiency and firm value.</a:t>
            </a:r>
          </a:p>
        </p:txBody>
      </p:sp>
    </p:spTree>
    <p:extLst>
      <p:ext uri="{BB962C8B-B14F-4D97-AF65-F5344CB8AC3E}">
        <p14:creationId xmlns:p14="http://schemas.microsoft.com/office/powerpoint/2010/main" val="6752335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2E64A7C7C8D8942ABE466F3AC32BB0E" ma:contentTypeVersion="6" ma:contentTypeDescription="Create a new document." ma:contentTypeScope="" ma:versionID="ef648cd0a4d738a27aa9253740c30aa6">
  <xsd:schema xmlns:xsd="http://www.w3.org/2001/XMLSchema" xmlns:xs="http://www.w3.org/2001/XMLSchema" xmlns:p="http://schemas.microsoft.com/office/2006/metadata/properties" xmlns:ns3="1fe8f82f-0556-4c42-a658-6aa8fd4f9ee2" targetNamespace="http://schemas.microsoft.com/office/2006/metadata/properties" ma:root="true" ma:fieldsID="5f081ffb0889366177bbb0fe137485fe" ns3:_="">
    <xsd:import namespace="1fe8f82f-0556-4c42-a658-6aa8fd4f9ee2"/>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e8f82f-0556-4c42-a658-6aa8fd4f9ee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1fe8f82f-0556-4c42-a658-6aa8fd4f9ee2"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F324E69-EE82-4883-B96D-18BE646D0B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fe8f82f-0556-4c42-a658-6aa8fd4f9e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A5FFBEB-A448-4BA1-A8D8-5F9D7FB6B153}">
  <ds:schemaRefs>
    <ds:schemaRef ds:uri="http://purl.org/dc/elements/1.1/"/>
    <ds:schemaRef ds:uri="http://schemas.microsoft.com/office/2006/metadata/properties"/>
    <ds:schemaRef ds:uri="http://schemas.openxmlformats.org/package/2006/metadata/core-properties"/>
    <ds:schemaRef ds:uri="http://schemas.microsoft.com/office/2006/documentManagement/types"/>
    <ds:schemaRef ds:uri="1fe8f82f-0556-4c42-a658-6aa8fd4f9ee2"/>
    <ds:schemaRef ds:uri="http://schemas.microsoft.com/office/infopath/2007/PartnerControls"/>
    <ds:schemaRef ds:uri="http://www.w3.org/XML/1998/namespace"/>
    <ds:schemaRef ds:uri="http://purl.org/dc/dcmitype/"/>
    <ds:schemaRef ds:uri="http://purl.org/dc/terms/"/>
  </ds:schemaRefs>
</ds:datastoreItem>
</file>

<file path=customXml/itemProps3.xml><?xml version="1.0" encoding="utf-8"?>
<ds:datastoreItem xmlns:ds="http://schemas.openxmlformats.org/officeDocument/2006/customXml" ds:itemID="{B59F502D-FA94-4398-A8EF-92E089490A40}">
  <ds:schemaRefs>
    <ds:schemaRef ds:uri="http://schemas.microsoft.com/sharepoint/v3/contenttype/forms"/>
  </ds:schemaRefs>
</ds:datastoreItem>
</file>

<file path=docMetadata/LabelInfo.xml><?xml version="1.0" encoding="utf-8"?>
<clbl:labelList xmlns:clbl="http://schemas.microsoft.com/office/2020/mipLabelMetadata">
  <clbl:label id="{79c742c4-e61c-4fa5-be89-a3cb566a80d1}" enabled="0" method="" siteId="{79c742c4-e61c-4fa5-be89-a3cb566a80d1}" removed="1"/>
</clbl:labelList>
</file>

<file path=docProps/app.xml><?xml version="1.0" encoding="utf-8"?>
<Properties xmlns="http://schemas.openxmlformats.org/officeDocument/2006/extended-properties" xmlns:vt="http://schemas.openxmlformats.org/officeDocument/2006/docPropsVTypes">
  <TotalTime>8409</TotalTime>
  <Words>1588</Words>
  <Application>Microsoft Office PowerPoint</Application>
  <PresentationFormat>On-screen Show (16:9)</PresentationFormat>
  <Paragraphs>133</Paragraphs>
  <Slides>27</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Times New Roman</vt:lpstr>
      <vt:lpstr>Office Theme</vt:lpstr>
      <vt:lpstr>Cross-Subsidization in Conglomerate Firms: Evidence from Government Spending Shocks</vt:lpstr>
      <vt:lpstr>Research Question</vt:lpstr>
      <vt:lpstr>Prior Literature</vt:lpstr>
      <vt:lpstr>Hypothesis</vt:lpstr>
      <vt:lpstr>Key Metrics</vt:lpstr>
      <vt:lpstr>Results</vt:lpstr>
      <vt:lpstr>Data Collection</vt:lpstr>
      <vt:lpstr>PowerPoint Presentation</vt:lpstr>
      <vt:lpstr>Table 1 – Summary Statistics</vt:lpstr>
      <vt:lpstr>Model</vt:lpstr>
      <vt:lpstr>Table 2 – Government Spending Shocks and Segment Investment</vt:lpstr>
      <vt:lpstr>Table 2 – Government Spending Shocks and Segment Investment</vt:lpstr>
      <vt:lpstr>Model</vt:lpstr>
      <vt:lpstr>Table 3 – Industry Dispersion and Segment Investment Sensitivity to Government Spending Shocks</vt:lpstr>
      <vt:lpstr>Table 3 – Industry Dispersion and Segment Investment Sensitivity to Government Spending Shocks</vt:lpstr>
      <vt:lpstr>Table 4 – Segment Investment Sensitivity to Government Spending Shocks Within Multi-Segment Firms</vt:lpstr>
      <vt:lpstr>Table 4 – Segment Investment Sensitivity to Government Spending Shocks Within Multi-Segment Firms</vt:lpstr>
      <vt:lpstr>Table 5 – Government Spending Shocks and Cross-Subsidization</vt:lpstr>
      <vt:lpstr>Table 5 – Government Spending Shocks and Cross-Subsidization</vt:lpstr>
      <vt:lpstr>Table 6 – Cross-Subsidization and Operating Performance</vt:lpstr>
      <vt:lpstr>Table 6 – Cross-Subsidization and Operating Performance</vt:lpstr>
      <vt:lpstr>Table 7 – Cross-Subsidization and Excess Value</vt:lpstr>
      <vt:lpstr>Table 8 – IV Analysis</vt:lpstr>
      <vt:lpstr>Table 8 – IV Analysis</vt:lpstr>
      <vt:lpstr>Table 8 – IV Analysis</vt:lpstr>
      <vt:lpstr>Conclusion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Sharing, Holdup, and External Finance: Evidence from Private Firms</dc:title>
  <dc:creator>Tyler Johnson</dc:creator>
  <cp:lastModifiedBy>Austin Francis</cp:lastModifiedBy>
  <cp:revision>354</cp:revision>
  <dcterms:created xsi:type="dcterms:W3CDTF">2020-09-10T18:37:45Z</dcterms:created>
  <dcterms:modified xsi:type="dcterms:W3CDTF">2024-10-08T14:38:40Z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0x01010092E64A7C7C8D8942ABE466F3AC32BB0E</vt:lpwstr>
  </property>
</Properties>
</file>