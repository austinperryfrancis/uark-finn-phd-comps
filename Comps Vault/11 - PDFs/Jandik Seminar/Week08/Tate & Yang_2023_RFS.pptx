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8"/>
  </p:notesMasterIdLst>
  <p:sldIdLst>
    <p:sldId id="291" r:id="rId2"/>
    <p:sldId id="292" r:id="rId3"/>
    <p:sldId id="388" r:id="rId4"/>
    <p:sldId id="410" r:id="rId5"/>
    <p:sldId id="336" r:id="rId6"/>
    <p:sldId id="402" r:id="rId7"/>
    <p:sldId id="406" r:id="rId8"/>
    <p:sldId id="411" r:id="rId9"/>
    <p:sldId id="412" r:id="rId10"/>
    <p:sldId id="413" r:id="rId11"/>
    <p:sldId id="414" r:id="rId12"/>
    <p:sldId id="415" r:id="rId13"/>
    <p:sldId id="416" r:id="rId14"/>
    <p:sldId id="417" r:id="rId15"/>
    <p:sldId id="418" r:id="rId16"/>
    <p:sldId id="419" r:id="rId17"/>
    <p:sldId id="420" r:id="rId18"/>
    <p:sldId id="421" r:id="rId19"/>
    <p:sldId id="422" r:id="rId20"/>
    <p:sldId id="423" r:id="rId21"/>
    <p:sldId id="424" r:id="rId22"/>
    <p:sldId id="425" r:id="rId23"/>
    <p:sldId id="426" r:id="rId24"/>
    <p:sldId id="427" r:id="rId25"/>
    <p:sldId id="293" r:id="rId26"/>
    <p:sldId id="29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A87FB5-F0EB-4FBA-8A5E-FAAD43B7474B}">
          <p14:sldIdLst>
            <p14:sldId id="291"/>
            <p14:sldId id="292"/>
            <p14:sldId id="388"/>
            <p14:sldId id="410"/>
            <p14:sldId id="336"/>
            <p14:sldId id="402"/>
            <p14:sldId id="406"/>
            <p14:sldId id="411"/>
            <p14:sldId id="412"/>
            <p14:sldId id="413"/>
            <p14:sldId id="414"/>
            <p14:sldId id="415"/>
            <p14:sldId id="416"/>
            <p14:sldId id="417"/>
            <p14:sldId id="418"/>
            <p14:sldId id="419"/>
            <p14:sldId id="420"/>
            <p14:sldId id="421"/>
            <p14:sldId id="422"/>
            <p14:sldId id="423"/>
            <p14:sldId id="424"/>
            <p14:sldId id="425"/>
            <p14:sldId id="426"/>
            <p14:sldId id="427"/>
          </p14:sldIdLst>
        </p14:section>
        <p14:section name="Untitled Section" id="{43869892-F9B2-4101-B346-C564C3AD44BA}">
          <p14:sldIdLst>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A3FD9-75E6-48B4-8622-40F229F05D29}" v="7" dt="2024-09-11T21:25:49.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35"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0:28.92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26,'5'-3,"0"1,0-1,0 1,0 0,0 1,1-1,-1 1,1 0,-1 1,1-1,-1 1,11 1,4-2,600-7,-356 11,575-3,-806 2,0 1,-1 2,53 15,-56-13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0:35.64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1 213,'183'-11,"-26"1,1268 5,-765 8,2739-3,-3303 4,131 24,-88-9,86 6,250-6,-324-21,399 7,22 15,697-21,-1216-2,0-2,-1-2,85-24,-63 15,1 4,85-3,152 9,-205 5,1361 1,-654 2,-553-13,-45 1,749 7,-576 4,-314-5,0-3,129-30,-39-3,94-16,-93 34,261-1,-395 23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0:41.18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48,'407'-3,"450"7,-489 31,-62-2,-146-28,67 6,261 50,-85-9,-224-28,72 6,-191-26,0-3,79-8,113-24,342-26,-306 34,75 0,1190 24,-1206-25,14-1,-144 28,235-5,-62-46,-94 8,536 11,-580 41,13 0,631 20,-68-15,-540-19,8 2,-261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0:43.85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25,'3064'0,"-2774"-12,18-1,100 14,-388-1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0:53.4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1,'1751'0,"-1623"6,242 42,-257-35,0-5,170-9,-99-2,-163 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0:56.58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0,'460'29,"-6"35,-432-60,214 27,188 36,-369-58,0-2,0-3,0-2,59-5,1 0,28-8,-3-1,-116 10,-1-2,0 0,0-1,0-1,31-13,29-7,128-41,-198 62,-16 3,-28 0,-371 13,133 0,-48-7,250-4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39:59.5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2,'369'-2,"425"4,-576 10,0 9,239 55,-402-68,1-3,71-1,-26-1,697 9,-771-12,107-12,-16 1,-21 10,-55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0:02.95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1 148,'1656'0,"-1581"-4,1-3,91-20,-38 4,-46 15,1 3,97 8,60-3,-217-3,0-1,-1-1,0-1,0 0,24-12,-1 1,-23 12,0 0,0 2,0 0,0 2,0 0,36 5,7-1,209-3,-254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0:03.69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0:05.30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25,'615'0,"-447"-12,-12 0,12 12,-146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0:06.81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0,'635'13,"62"-1,-666-12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0:08.56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26,'8'0,"31"-4,24-2,34 1,32 1,34 1,26 1,24 1,1 1,-10 0,-14 0,-23 0,-37 0,-37 0,-33 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0:09.9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50,'16'0,"13"0,22-4,26-1,28-5,16 1,16 1,12 2,1 2,3 2,-5 1,-23 1,-21 0,-28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7:49.42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49,'376'-1,"431"3,-725 2,1 3,-1 3,159 43,-208-45,-1-2,1-2,-1-1,1-1,35-3,-9 1,1215 0,-547-2,-413-11,-37 1,811 13,-948-12,-20 1,421 7,-387 3,-21-11,-21 1,855 5,-524 8,-205-16,-112 4,123-14,111-4,831 28,-1142 2,-1 1,63 15,-12-2,-16-10,0-3,90-7,-33 0,503 33,91-11,-473-21,236 2,-318-15,-44 1,607-3,7 38,-220-20,-53-1,-283 12,54 1,15-16,285 5,-504 3,-1 1,76 21,-66-14,55 8,-82-17,-5 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0:47:53.18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0,'5346'0,"-4891"12,-49 0,2529-9,-1501-6,-1254 6,0 9,312 59,-353-47,263 12,144-37,-211-4,3752 5,-3910-12,-62 1,439-56,-498 54,-36 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1:05:13.61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2,'306'-2,"326"4,-364 17,-216-14,35 4,94 6,8-17,152 3,-293 4,0 3,-1 1,54 18,36 7,-42-19,185 3,-133-13,-91 1,94 22,-98-16,109 10,29-20,-87-2,157 19,-100 4,274 4,-359-28,397-14,-424 11,14-1,119-26,7-9,-43 11,-84 12,-42 11,1 0,-1 2,38-5,310-16,-186 2,-24 2,-130 19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1:05:16.50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45,'3021'0,"-2745"-16,-163 7,-9-8,-86 14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39.18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0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3T23:11:40.6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 10,'-4'-4,"-2"-2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1:15:32.42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1 152,'6'-4,"1"-1,0 1,0 0,0 0,1 1,-1 0,1 0,0 1,0 0,11-2,12-3,15-4,0 2,1 2,68 0,-21 0,26-1,-37 3,106-21,-148 20,75-3,-10 2,-71 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1:15:34.26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71,'780'0,"-752"-2,1-2,-1 0,0-2,40-14,-30 9,50-8,-57 15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1:15:36.34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74,'285'-12,"-50"1,-160 8,1-3,98-22,-126 22,1 1,0 2,59 5,-36-1,-40-1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7T21:15:37.87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0 237,'177'-62,"-75"32,1 4,196-21,-249 41,86-23,-95 18,1 2,0 2,64-3,132 12,-200-1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10/7/2024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10/7/2024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10/7/2024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10/7/2024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customXml" Target="../ink/ink5.xml"/><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15.png"/><Relationship Id="rId5" Type="http://schemas.openxmlformats.org/officeDocument/2006/relationships/image" Target="../media/image12.png"/><Relationship Id="rId15" Type="http://schemas.openxmlformats.org/officeDocument/2006/relationships/image" Target="../media/image17.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4.png"/><Relationship Id="rId14" Type="http://schemas.openxmlformats.org/officeDocument/2006/relationships/customXml" Target="../ink/ink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customXml" Target="../ink/ink7.xml"/><Relationship Id="rId7"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9.xml"/><Relationship Id="rId5" Type="http://schemas.openxmlformats.org/officeDocument/2006/relationships/customXml" Target="../ink/ink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10.xml"/><Relationship Id="rId7"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12.xml"/><Relationship Id="rId5" Type="http://schemas.openxmlformats.org/officeDocument/2006/relationships/customXml" Target="../ink/ink1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customXml" Target="../ink/ink18.xml"/><Relationship Id="rId18" Type="http://schemas.openxmlformats.org/officeDocument/2006/relationships/image" Target="../media/image29.png"/><Relationship Id="rId3" Type="http://schemas.openxmlformats.org/officeDocument/2006/relationships/customXml" Target="../ink/ink13.xml"/><Relationship Id="rId21" Type="http://schemas.openxmlformats.org/officeDocument/2006/relationships/customXml" Target="../ink/ink22.xml"/><Relationship Id="rId7" Type="http://schemas.openxmlformats.org/officeDocument/2006/relationships/image" Target="../media/image22.png"/><Relationship Id="rId12" Type="http://schemas.openxmlformats.org/officeDocument/2006/relationships/image" Target="../media/image26.png"/><Relationship Id="rId17" Type="http://schemas.openxmlformats.org/officeDocument/2006/relationships/customXml" Target="../ink/ink20.xml"/><Relationship Id="rId2" Type="http://schemas.openxmlformats.org/officeDocument/2006/relationships/image" Target="../media/image6.png"/><Relationship Id="rId16" Type="http://schemas.openxmlformats.org/officeDocument/2006/relationships/image" Target="../media/image28.png"/><Relationship Id="rId20"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customXml" Target="../ink/ink15.xml"/><Relationship Id="rId11" Type="http://schemas.openxmlformats.org/officeDocument/2006/relationships/customXml" Target="../ink/ink17.xml"/><Relationship Id="rId5" Type="http://schemas.openxmlformats.org/officeDocument/2006/relationships/customXml" Target="../ink/ink14.xml"/><Relationship Id="rId15" Type="http://schemas.openxmlformats.org/officeDocument/2006/relationships/customXml" Target="../ink/ink19.xml"/><Relationship Id="rId10" Type="http://schemas.openxmlformats.org/officeDocument/2006/relationships/image" Target="../media/image25.png"/><Relationship Id="rId19" Type="http://schemas.openxmlformats.org/officeDocument/2006/relationships/customXml" Target="../ink/ink21.xml"/><Relationship Id="rId4" Type="http://schemas.openxmlformats.org/officeDocument/2006/relationships/image" Target="../media/image19.png"/><Relationship Id="rId9" Type="http://schemas.openxmlformats.org/officeDocument/2006/relationships/customXml" Target="../ink/ink16.xml"/><Relationship Id="rId14" Type="http://schemas.openxmlformats.org/officeDocument/2006/relationships/image" Target="../media/image27.png"/><Relationship Id="rId22" Type="http://schemas.openxmlformats.org/officeDocument/2006/relationships/image" Target="../media/image31.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customXml" Target="../ink/ink23.xml"/><Relationship Id="rId7" Type="http://schemas.openxmlformats.org/officeDocument/2006/relationships/image" Target="../media/image26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25.xml"/><Relationship Id="rId5" Type="http://schemas.openxmlformats.org/officeDocument/2006/relationships/customXml" Target="../ink/ink24.xml"/><Relationship Id="rId4" Type="http://schemas.openxmlformats.org/officeDocument/2006/relationships/image" Target="../media/image250.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customXml" Target="../ink/ink26.xml"/><Relationship Id="rId7" Type="http://schemas.openxmlformats.org/officeDocument/2006/relationships/image" Target="../media/image260.png"/><Relationship Id="rId12"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28.xml"/><Relationship Id="rId11" Type="http://schemas.openxmlformats.org/officeDocument/2006/relationships/customXml" Target="../ink/ink30.xml"/><Relationship Id="rId5" Type="http://schemas.openxmlformats.org/officeDocument/2006/relationships/customXml" Target="../ink/ink27.xml"/><Relationship Id="rId10"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customXml" Target="../ink/ink29.xml"/></Relationships>
</file>

<file path=ppt/slides/_rels/slide1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customXml" Target="../ink/ink31.xml"/><Relationship Id="rId7" Type="http://schemas.openxmlformats.org/officeDocument/2006/relationships/image" Target="../media/image26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33.xml"/><Relationship Id="rId5" Type="http://schemas.openxmlformats.org/officeDocument/2006/relationships/customXml" Target="../ink/ink32.xml"/><Relationship Id="rId4" Type="http://schemas.openxmlformats.org/officeDocument/2006/relationships/image" Target="../media/image250.png"/></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customXml" Target="../ink/ink34.xml"/><Relationship Id="rId7" Type="http://schemas.openxmlformats.org/officeDocument/2006/relationships/image" Target="../media/image26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36.xml"/><Relationship Id="rId5" Type="http://schemas.openxmlformats.org/officeDocument/2006/relationships/customXml" Target="../ink/ink35.xml"/><Relationship Id="rId4" Type="http://schemas.openxmlformats.org/officeDocument/2006/relationships/image" Target="../media/image250.png"/></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customXml" Target="../ink/ink37.xml"/><Relationship Id="rId7" Type="http://schemas.openxmlformats.org/officeDocument/2006/relationships/image" Target="../media/image26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39.xml"/><Relationship Id="rId5" Type="http://schemas.openxmlformats.org/officeDocument/2006/relationships/customXml" Target="../ink/ink38.xml"/><Relationship Id="rId4" Type="http://schemas.openxmlformats.org/officeDocument/2006/relationships/image" Target="../media/image250.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customXml" Target="../ink/ink40.xml"/><Relationship Id="rId7" Type="http://schemas.openxmlformats.org/officeDocument/2006/relationships/image" Target="../media/image26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42.xml"/><Relationship Id="rId5" Type="http://schemas.openxmlformats.org/officeDocument/2006/relationships/customXml" Target="../ink/ink41.xml"/><Relationship Id="rId4" Type="http://schemas.openxmlformats.org/officeDocument/2006/relationships/image" Target="../media/image250.png"/></Relationships>
</file>

<file path=ppt/slides/_rels/slide2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customXml" Target="../ink/ink43.xml"/><Relationship Id="rId7" Type="http://schemas.openxmlformats.org/officeDocument/2006/relationships/image" Target="../media/image260.png"/><Relationship Id="rId12" Type="http://schemas.openxmlformats.org/officeDocument/2006/relationships/image" Target="../media/image43.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45.xml"/><Relationship Id="rId11" Type="http://schemas.openxmlformats.org/officeDocument/2006/relationships/customXml" Target="../ink/ink47.xml"/><Relationship Id="rId5" Type="http://schemas.openxmlformats.org/officeDocument/2006/relationships/customXml" Target="../ink/ink44.xml"/><Relationship Id="rId10" Type="http://schemas.openxmlformats.org/officeDocument/2006/relationships/image" Target="../media/image42.png"/><Relationship Id="rId4" Type="http://schemas.openxmlformats.org/officeDocument/2006/relationships/image" Target="../media/image250.png"/><Relationship Id="rId9" Type="http://schemas.openxmlformats.org/officeDocument/2006/relationships/customXml" Target="../ink/ink46.xml"/></Relationships>
</file>

<file path=ppt/slides/_rels/slide2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customXml" Target="../ink/ink48.xml"/><Relationship Id="rId7" Type="http://schemas.openxmlformats.org/officeDocument/2006/relationships/image" Target="../media/image26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50.xml"/><Relationship Id="rId5" Type="http://schemas.openxmlformats.org/officeDocument/2006/relationships/customXml" Target="../ink/ink49.xml"/><Relationship Id="rId4" Type="http://schemas.openxmlformats.org/officeDocument/2006/relationships/image" Target="../media/image250.png"/><Relationship Id="rId9" Type="http://schemas.openxmlformats.org/officeDocument/2006/relationships/image" Target="../media/image45.png"/></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customXml" Target="../ink/ink56.xml"/><Relationship Id="rId3" Type="http://schemas.openxmlformats.org/officeDocument/2006/relationships/customXml" Target="../ink/ink51.xml"/><Relationship Id="rId7" Type="http://schemas.openxmlformats.org/officeDocument/2006/relationships/image" Target="../media/image260.png"/><Relationship Id="rId12" Type="http://schemas.openxmlformats.org/officeDocument/2006/relationships/image" Target="../media/image48.png"/><Relationship Id="rId2" Type="http://schemas.openxmlformats.org/officeDocument/2006/relationships/image" Target="../media/image6.png"/><Relationship Id="rId16"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customXml" Target="../ink/ink53.xml"/><Relationship Id="rId11" Type="http://schemas.openxmlformats.org/officeDocument/2006/relationships/customXml" Target="../ink/ink55.xml"/><Relationship Id="rId5" Type="http://schemas.openxmlformats.org/officeDocument/2006/relationships/customXml" Target="../ink/ink52.xml"/><Relationship Id="rId15" Type="http://schemas.openxmlformats.org/officeDocument/2006/relationships/customXml" Target="../ink/ink57.xml"/><Relationship Id="rId10" Type="http://schemas.openxmlformats.org/officeDocument/2006/relationships/image" Target="../media/image47.png"/><Relationship Id="rId4" Type="http://schemas.openxmlformats.org/officeDocument/2006/relationships/image" Target="../media/image250.png"/><Relationship Id="rId9" Type="http://schemas.openxmlformats.org/officeDocument/2006/relationships/customXml" Target="../ink/ink54.xml"/><Relationship Id="rId14" Type="http://schemas.openxmlformats.org/officeDocument/2006/relationships/image" Target="../media/image49.png"/></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fontScale="90000"/>
          </a:bodyPr>
          <a:lstStyle/>
          <a:p>
            <a:pPr algn="l"/>
            <a:r>
              <a:rPr lang="en-US" sz="4000" b="1" dirty="0">
                <a:solidFill>
                  <a:srgbClr val="C00000"/>
                </a:solidFill>
                <a:latin typeface="Open Sans" panose="020B0606030504020204" pitchFamily="34" charset="0"/>
              </a:rPr>
              <a:t>The Human Factor in Acquisitions: Cross-industry Labor Mobility and Corporate Diversification</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dirty="0"/>
              <a:t>Geoffrey Tate</a:t>
            </a:r>
            <a:endParaRPr lang="en-US" b="1" dirty="0"/>
          </a:p>
          <a:p>
            <a:pPr algn="l"/>
            <a:r>
              <a:rPr lang="en-US" dirty="0"/>
              <a:t>University of Maryland and NBER, USA</a:t>
            </a:r>
          </a:p>
          <a:p>
            <a:pPr algn="l"/>
            <a:r>
              <a:rPr lang="en-US" dirty="0"/>
              <a:t>Liu Yang</a:t>
            </a:r>
            <a:endParaRPr lang="en-US" b="1" dirty="0"/>
          </a:p>
          <a:p>
            <a:pPr algn="l"/>
            <a:r>
              <a:rPr lang="en-US" dirty="0"/>
              <a:t>University of Maryland, USA</a:t>
            </a:r>
          </a:p>
          <a:p>
            <a:pPr algn="l"/>
            <a:r>
              <a:rPr lang="en-US" dirty="0"/>
              <a:t>The Review of Financial Studies</a:t>
            </a:r>
          </a:p>
          <a:p>
            <a:pPr algn="l"/>
            <a:r>
              <a:rPr lang="en-US" dirty="0"/>
              <a:t>May 26, 2023</a:t>
            </a:r>
          </a:p>
          <a:p>
            <a:pPr algn="l"/>
            <a:r>
              <a:rPr lang="en-US" u="sng"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295400" y="1608668"/>
            <a:ext cx="10153261" cy="3370038"/>
          </a:xfrm>
        </p:spPr>
        <p:txBody>
          <a:bodyPr>
            <a:normAutofit/>
          </a:bodyPr>
          <a:lstStyle/>
          <a:p>
            <a:pPr algn="l"/>
            <a:r>
              <a:rPr lang="en-US" sz="2000" dirty="0"/>
              <a:t>How important is human capital for determining the boundaries of the firm? How the transferability of human capital affects the decision to diversify into new industries by acquisition. </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50"/>
            <a:ext cx="9144000"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Prior Literature</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846668"/>
            <a:ext cx="12191999" cy="4887383"/>
          </a:xfrm>
        </p:spPr>
        <p:txBody>
          <a:bodyPr>
            <a:normAutofit/>
          </a:bodyPr>
          <a:lstStyle/>
          <a:p>
            <a:pPr marL="342900" indent="-342900" algn="l">
              <a:buFontTx/>
              <a:buChar char="-"/>
            </a:pPr>
            <a:r>
              <a:rPr lang="en-US" b="1" dirty="0"/>
              <a:t>The motives for corporate diversification</a:t>
            </a:r>
            <a:r>
              <a:rPr lang="en-US" dirty="0"/>
              <a:t>: Stein 1997; Maksimovic and Phillips 2002; </a:t>
            </a:r>
            <a:r>
              <a:rPr lang="en-US" dirty="0" err="1"/>
              <a:t>Villalonga</a:t>
            </a:r>
            <a:r>
              <a:rPr lang="en-US" dirty="0"/>
              <a:t> 2004; </a:t>
            </a:r>
            <a:r>
              <a:rPr lang="en-US" dirty="0" err="1"/>
              <a:t>Ozbas</a:t>
            </a:r>
            <a:r>
              <a:rPr lang="en-US" dirty="0"/>
              <a:t> and </a:t>
            </a:r>
            <a:r>
              <a:rPr lang="en-US" dirty="0" err="1"/>
              <a:t>Scharfstein</a:t>
            </a:r>
            <a:r>
              <a:rPr lang="en-US" dirty="0"/>
              <a:t> 2010</a:t>
            </a:r>
          </a:p>
          <a:p>
            <a:pPr algn="l"/>
            <a:endParaRPr lang="en-US" b="1" dirty="0"/>
          </a:p>
          <a:p>
            <a:pPr marL="342900" indent="-342900" algn="l">
              <a:buFontTx/>
              <a:buChar char="-"/>
            </a:pPr>
            <a:r>
              <a:rPr lang="en-US" b="1" dirty="0"/>
              <a:t>The growing literature linking labor economics to corporate finance: </a:t>
            </a:r>
            <a:r>
              <a:rPr lang="en-US" dirty="0"/>
              <a:t>Agrawal and </a:t>
            </a:r>
            <a:r>
              <a:rPr lang="en-US" dirty="0" err="1"/>
              <a:t>Matsa</a:t>
            </a:r>
            <a:r>
              <a:rPr lang="en-US" dirty="0"/>
              <a:t> 2013; </a:t>
            </a:r>
            <a:r>
              <a:rPr lang="en-US" dirty="0" err="1"/>
              <a:t>Simintzi</a:t>
            </a:r>
            <a:r>
              <a:rPr lang="en-US" dirty="0"/>
              <a:t>, </a:t>
            </a:r>
            <a:r>
              <a:rPr lang="en-US" dirty="0" err="1"/>
              <a:t>Vig</a:t>
            </a:r>
            <a:r>
              <a:rPr lang="en-US" dirty="0"/>
              <a:t>, and </a:t>
            </a:r>
            <a:r>
              <a:rPr lang="en-US" dirty="0" err="1"/>
              <a:t>Volpin</a:t>
            </a:r>
            <a:r>
              <a:rPr lang="en-US" dirty="0"/>
              <a:t> 2015; Graham et al. 2016</a:t>
            </a:r>
          </a:p>
          <a:p>
            <a:pPr marL="342900" indent="-342900" algn="l">
              <a:buFontTx/>
              <a:buChar char="-"/>
            </a:pPr>
            <a:endParaRPr lang="en-US" dirty="0"/>
          </a:p>
          <a:p>
            <a:pPr marL="342900" indent="-342900" algn="l">
              <a:buFontTx/>
              <a:buChar char="-"/>
            </a:pPr>
            <a:r>
              <a:rPr lang="en-US" b="1" dirty="0"/>
              <a:t>The large literature on the determinants of merger decisions: </a:t>
            </a:r>
            <a:r>
              <a:rPr lang="en-US" dirty="0"/>
              <a:t>Ahern and Harford 2014; </a:t>
            </a:r>
            <a:r>
              <a:rPr lang="en-US" dirty="0" err="1"/>
              <a:t>Hoberg</a:t>
            </a:r>
            <a:r>
              <a:rPr lang="en-US" dirty="0"/>
              <a:t> and Phillips 2012</a:t>
            </a:r>
            <a:endParaRPr lang="en-US" b="1" dirty="0"/>
          </a:p>
          <a:p>
            <a:pPr marL="342900" indent="-342900" algn="l">
              <a:buFontTx/>
              <a:buChar char="-"/>
            </a:pPr>
            <a:endParaRPr lang="en-US" dirty="0"/>
          </a:p>
          <a:p>
            <a:pPr marL="342900" indent="-342900" algn="l">
              <a:buFontTx/>
              <a:buChar char="-"/>
            </a:pPr>
            <a:r>
              <a:rPr lang="en-US" b="1" dirty="0"/>
              <a:t>The growing set of literature exploiting worker firm matched data to study labor market mobility: </a:t>
            </a:r>
            <a:r>
              <a:rPr lang="en-US" dirty="0" err="1"/>
              <a:t>Bjelland</a:t>
            </a:r>
            <a:r>
              <a:rPr lang="en-US" dirty="0"/>
              <a:t> et al. 2011; </a:t>
            </a:r>
            <a:r>
              <a:rPr lang="en-US" dirty="0" err="1"/>
              <a:t>Papageorgiou</a:t>
            </a:r>
            <a:r>
              <a:rPr lang="en-US" dirty="0"/>
              <a:t> 2014; </a:t>
            </a:r>
            <a:r>
              <a:rPr lang="en-US" dirty="0" err="1"/>
              <a:t>Neffke</a:t>
            </a:r>
            <a:r>
              <a:rPr lang="en-US" dirty="0"/>
              <a:t>, Otto, and </a:t>
            </a:r>
            <a:r>
              <a:rPr lang="en-US" dirty="0" err="1"/>
              <a:t>Weyh</a:t>
            </a:r>
            <a:r>
              <a:rPr lang="en-US" dirty="0"/>
              <a:t> 2017</a:t>
            </a:r>
            <a:r>
              <a:rPr lang="en-US" b="1" dirty="0"/>
              <a:t>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305366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50"/>
            <a:ext cx="9144000"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Theoretical Motivation</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846668"/>
            <a:ext cx="12191999" cy="4887383"/>
          </a:xfrm>
        </p:spPr>
        <p:txBody>
          <a:bodyPr>
            <a:normAutofit/>
          </a:bodyPr>
          <a:lstStyle/>
          <a:p>
            <a:pPr marL="342900" indent="-342900" algn="l">
              <a:buFontTx/>
              <a:buChar char="-"/>
            </a:pPr>
            <a:r>
              <a:rPr lang="en-US" dirty="0"/>
              <a:t>Prediction 1. Diversifying mergers occur with a greater frequency between firms in industries between which there is higher transferability of human capital. </a:t>
            </a:r>
          </a:p>
          <a:p>
            <a:pPr marL="342900" indent="-342900" algn="l">
              <a:buFontTx/>
              <a:buChar char="-"/>
            </a:pPr>
            <a:endParaRPr lang="en-US" dirty="0"/>
          </a:p>
          <a:p>
            <a:pPr marL="342900" indent="-342900" algn="l">
              <a:buFontTx/>
              <a:buChar char="-"/>
            </a:pPr>
            <a:r>
              <a:rPr lang="en-US" dirty="0"/>
              <a:t>Prediction 2. The effect of human capital transferability on the frequency of diversifying deals is strongest among industries in which productivity shocks are less positively correlated.</a:t>
            </a:r>
          </a:p>
          <a:p>
            <a:pPr marL="342900" indent="-342900" algn="l">
              <a:buFontTx/>
              <a:buChar char="-"/>
            </a:pPr>
            <a:endParaRPr lang="en-US" b="1" dirty="0"/>
          </a:p>
          <a:p>
            <a:pPr marL="342900" indent="-342900" algn="l">
              <a:buFontTx/>
              <a:buChar char="-"/>
            </a:pPr>
            <a:r>
              <a:rPr lang="en-US" dirty="0"/>
              <a:t>Prediction 3. Among diversifying mergers, those in which the merging firms come from industries between which there is higher transferability of human capital achieve greater post-merger changes in productivity.</a:t>
            </a:r>
          </a:p>
          <a:p>
            <a:pPr marL="342900" indent="-342900" algn="l">
              <a:buFontTx/>
              <a:buChar char="-"/>
            </a:pPr>
            <a:endParaRPr lang="en-US" b="1" dirty="0"/>
          </a:p>
          <a:p>
            <a:pPr marL="342900" indent="-342900" algn="l">
              <a:buFontTx/>
              <a:buChar char="-"/>
            </a:pPr>
            <a:r>
              <a:rPr lang="en-US" dirty="0"/>
              <a:t>Prediction 4. Among diversifying mergers, those that combine firms from high human capital transferability industry pairs are followed by more internal worker transfers and higher retention rates of high-skill workers.</a:t>
            </a:r>
            <a:endParaRPr lang="en-US" b="1" dirty="0"/>
          </a:p>
          <a:p>
            <a:pPr marL="342900" indent="-342900" algn="l">
              <a:buFontTx/>
              <a:buChar char="-"/>
            </a:pPr>
            <a:endParaRPr lang="en-US" b="1" dirty="0"/>
          </a:p>
          <a:p>
            <a:pPr marL="342900" indent="-342900" algn="l">
              <a:buFontTx/>
              <a:buChar char="-"/>
            </a:pPr>
            <a:endParaRPr lang="en-US" b="1"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253947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Data</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3D038E1D-65B3-F1E2-BC8E-8F5F9F4E3812}"/>
              </a:ext>
            </a:extLst>
          </p:cNvPr>
          <p:cNvSpPr txBox="1"/>
          <p:nvPr/>
        </p:nvSpPr>
        <p:spPr>
          <a:xfrm>
            <a:off x="287867" y="778933"/>
            <a:ext cx="11133666" cy="2862322"/>
          </a:xfrm>
          <a:prstGeom prst="rect">
            <a:avLst/>
          </a:prstGeom>
          <a:noFill/>
        </p:spPr>
        <p:txBody>
          <a:bodyPr wrap="square">
            <a:spAutoFit/>
          </a:bodyPr>
          <a:lstStyle/>
          <a:p>
            <a:r>
              <a:rPr lang="en-US" b="1" dirty="0"/>
              <a:t>The U.S. Census Bureau’s Longitudinal Business Database (LBD): </a:t>
            </a:r>
            <a:r>
              <a:rPr lang="en-US" dirty="0"/>
              <a:t>changes in ownership.</a:t>
            </a:r>
          </a:p>
          <a:p>
            <a:endParaRPr lang="en-US" dirty="0"/>
          </a:p>
          <a:p>
            <a:r>
              <a:rPr lang="en-US" b="1" dirty="0"/>
              <a:t>Longitudinal Employer-Household Dynamics (LEHD) program: </a:t>
            </a:r>
            <a:r>
              <a:rPr lang="en-US" dirty="0"/>
              <a:t>worker-level information</a:t>
            </a:r>
          </a:p>
          <a:p>
            <a:endParaRPr lang="en-US" b="1" dirty="0"/>
          </a:p>
          <a:p>
            <a:r>
              <a:rPr lang="en-US" b="1" dirty="0"/>
              <a:t>Diversifying Acquisition:  </a:t>
            </a:r>
            <a:r>
              <a:rPr lang="en-US" dirty="0"/>
              <a:t>if there is no overlap in the </a:t>
            </a:r>
            <a:r>
              <a:rPr lang="en-US" dirty="0" err="1"/>
              <a:t>Fama</a:t>
            </a:r>
            <a:r>
              <a:rPr lang="en-US" dirty="0"/>
              <a:t>-French 49 industry codes of the acquiring and target firms’ establishments prior to the deal. It excludes cases in which acquirers seek to expand their operations in the overlapping industries rather than to take advantage of human capital synergies across industries</a:t>
            </a:r>
          </a:p>
          <a:p>
            <a:endParaRPr lang="en-US" b="1" dirty="0"/>
          </a:p>
          <a:p>
            <a:endParaRPr lang="en-US" b="1" dirty="0"/>
          </a:p>
          <a:p>
            <a:r>
              <a:rPr lang="en-US" b="1" dirty="0"/>
              <a:t>Final Sample: </a:t>
            </a:r>
            <a:r>
              <a:rPr lang="en-US" dirty="0"/>
              <a:t>4,000 diversifying acquisitions from 1995 to 2007</a:t>
            </a:r>
            <a:endParaRPr lang="en-US" b="1" dirty="0"/>
          </a:p>
        </p:txBody>
      </p:sp>
    </p:spTree>
    <p:extLst>
      <p:ext uri="{BB962C8B-B14F-4D97-AF65-F5344CB8AC3E}">
        <p14:creationId xmlns:p14="http://schemas.microsoft.com/office/powerpoint/2010/main" val="39364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Longitudinal Employer-Household Dynamics (LEHD)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E34B2128-3B6F-E108-CF77-9ECE8FDFDD10}"/>
              </a:ext>
            </a:extLst>
          </p:cNvPr>
          <p:cNvPicPr>
            <a:picLocks noChangeAspect="1"/>
          </p:cNvPicPr>
          <p:nvPr/>
        </p:nvPicPr>
        <p:blipFill>
          <a:blip r:embed="rId3"/>
          <a:stretch>
            <a:fillRect/>
          </a:stretch>
        </p:blipFill>
        <p:spPr>
          <a:xfrm>
            <a:off x="-1" y="807523"/>
            <a:ext cx="6578857" cy="4926528"/>
          </a:xfrm>
          <a:prstGeom prst="rect">
            <a:avLst/>
          </a:prstGeom>
        </p:spPr>
      </p:pic>
      <p:sp>
        <p:nvSpPr>
          <p:cNvPr id="13" name="TextBox 12">
            <a:extLst>
              <a:ext uri="{FF2B5EF4-FFF2-40B4-BE49-F238E27FC236}">
                <a16:creationId xmlns:a16="http://schemas.microsoft.com/office/drawing/2014/main" id="{6112C193-23E4-3288-8ADE-59B80B19C6BD}"/>
              </a:ext>
            </a:extLst>
          </p:cNvPr>
          <p:cNvSpPr txBox="1"/>
          <p:nvPr/>
        </p:nvSpPr>
        <p:spPr>
          <a:xfrm>
            <a:off x="6714067" y="867548"/>
            <a:ext cx="3871926" cy="1015663"/>
          </a:xfrm>
          <a:prstGeom prst="rect">
            <a:avLst/>
          </a:prstGeom>
          <a:noFill/>
        </p:spPr>
        <p:txBody>
          <a:bodyPr wrap="square">
            <a:spAutoFit/>
          </a:bodyPr>
          <a:lstStyle/>
          <a:p>
            <a:r>
              <a:rPr lang="en-US" sz="2000" dirty="0"/>
              <a:t>Quarterly employer-employee matched observations for 31 states in the country</a:t>
            </a:r>
          </a:p>
        </p:txBody>
      </p:sp>
      <p:sp>
        <p:nvSpPr>
          <p:cNvPr id="15" name="TextBox 14">
            <a:extLst>
              <a:ext uri="{FF2B5EF4-FFF2-40B4-BE49-F238E27FC236}">
                <a16:creationId xmlns:a16="http://schemas.microsoft.com/office/drawing/2014/main" id="{CA69F0EB-A987-6D9C-2E66-82C8BD043821}"/>
              </a:ext>
            </a:extLst>
          </p:cNvPr>
          <p:cNvSpPr txBox="1"/>
          <p:nvPr/>
        </p:nvSpPr>
        <p:spPr>
          <a:xfrm>
            <a:off x="6714067" y="1956452"/>
            <a:ext cx="4456125" cy="2031325"/>
          </a:xfrm>
          <a:prstGeom prst="rect">
            <a:avLst/>
          </a:prstGeom>
          <a:noFill/>
        </p:spPr>
        <p:txBody>
          <a:bodyPr wrap="square">
            <a:spAutoFit/>
          </a:bodyPr>
          <a:lstStyle/>
          <a:p>
            <a:r>
              <a:rPr lang="en-US" b="1" dirty="0">
                <a:solidFill>
                  <a:srgbClr val="0070C0"/>
                </a:solidFill>
              </a:rPr>
              <a:t>Two purposes of using this data: </a:t>
            </a:r>
          </a:p>
          <a:p>
            <a:endParaRPr lang="en-US" dirty="0"/>
          </a:p>
          <a:p>
            <a:r>
              <a:rPr lang="en-US" dirty="0"/>
              <a:t>- to construct a measure of human capital transferability (HCT) across industries.</a:t>
            </a:r>
          </a:p>
          <a:p>
            <a:endParaRPr lang="en-US" dirty="0"/>
          </a:p>
          <a:p>
            <a:r>
              <a:rPr lang="en-US" dirty="0"/>
              <a:t>- to measure the consequences of mergers at the worker level.</a:t>
            </a:r>
          </a:p>
        </p:txBody>
      </p:sp>
    </p:spTree>
    <p:extLst>
      <p:ext uri="{BB962C8B-B14F-4D97-AF65-F5344CB8AC3E}">
        <p14:creationId xmlns:p14="http://schemas.microsoft.com/office/powerpoint/2010/main" val="1125156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Human capital transferability (HCT) across industries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ECC94BD6-B51D-2C92-E2EF-C4BA1E946E37}"/>
              </a:ext>
            </a:extLst>
          </p:cNvPr>
          <p:cNvSpPr txBox="1"/>
          <p:nvPr/>
        </p:nvSpPr>
        <p:spPr>
          <a:xfrm>
            <a:off x="389466" y="795867"/>
            <a:ext cx="11345333" cy="3970318"/>
          </a:xfrm>
          <a:prstGeom prst="rect">
            <a:avLst/>
          </a:prstGeom>
          <a:noFill/>
        </p:spPr>
        <p:txBody>
          <a:bodyPr wrap="square">
            <a:spAutoFit/>
          </a:bodyPr>
          <a:lstStyle/>
          <a:p>
            <a:r>
              <a:rPr lang="en-US" b="1" dirty="0">
                <a:solidFill>
                  <a:srgbClr val="0070C0"/>
                </a:solidFill>
              </a:rPr>
              <a:t>The broader transferability of workers’ skills across industries: </a:t>
            </a:r>
            <a:r>
              <a:rPr lang="en-US" dirty="0"/>
              <a:t>proxied by worker job-to-job flows</a:t>
            </a:r>
          </a:p>
          <a:p>
            <a:endParaRPr lang="en-US" dirty="0"/>
          </a:p>
          <a:p>
            <a:r>
              <a:rPr lang="en-US" b="1" dirty="0">
                <a:solidFill>
                  <a:srgbClr val="0070C0"/>
                </a:solidFill>
              </a:rPr>
              <a:t>The HCT index: </a:t>
            </a:r>
            <a:r>
              <a:rPr lang="en-US" dirty="0"/>
              <a:t>an economywide index of worker mobility between </a:t>
            </a:r>
            <a:r>
              <a:rPr lang="en-US" dirty="0" err="1"/>
              <a:t>Fama</a:t>
            </a:r>
            <a:r>
              <a:rPr lang="en-US" dirty="0"/>
              <a:t>-French industry groups. </a:t>
            </a:r>
          </a:p>
          <a:p>
            <a:r>
              <a:rPr lang="en-US" dirty="0"/>
              <a:t>11.5 million external job changes</a:t>
            </a:r>
          </a:p>
          <a:p>
            <a:pPr marL="285750" indent="-285750">
              <a:buFontTx/>
              <a:buChar char="-"/>
            </a:pPr>
            <a:r>
              <a:rPr lang="en-US" dirty="0"/>
              <a:t>exclude workers with less than 1 year of tenure in their </a:t>
            </a:r>
            <a:r>
              <a:rPr lang="en-US" dirty="0" err="1"/>
              <a:t>prejob</a:t>
            </a:r>
            <a:r>
              <a:rPr lang="en-US" dirty="0"/>
              <a:t> change firms to limit the effect of temporary workers on the analysis</a:t>
            </a:r>
          </a:p>
          <a:p>
            <a:pPr marL="285750" indent="-285750">
              <a:buFontTx/>
              <a:buChar char="-"/>
            </a:pPr>
            <a:r>
              <a:rPr lang="en-US" dirty="0"/>
              <a:t>exclude workers in counties with fewer than 10 industries so that it’s more likely to capture industry changes that reflect workers’ </a:t>
            </a:r>
            <a:r>
              <a:rPr lang="en-US"/>
              <a:t>preferences, not </a:t>
            </a:r>
            <a:r>
              <a:rPr lang="en-US" dirty="0"/>
              <a:t>location constraints</a:t>
            </a:r>
          </a:p>
          <a:p>
            <a:r>
              <a:rPr lang="en-US" dirty="0"/>
              <a:t>-    exclude large synchronized moves in which more than 10 workers from the same existing firm move to the same new firm during the same quarter because such worker flows might be themselves driven by ownership changes in the existing firm</a:t>
            </a:r>
          </a:p>
          <a:p>
            <a:endParaRPr lang="en-US" dirty="0"/>
          </a:p>
          <a:p>
            <a:r>
              <a:rPr lang="en-US" b="1" dirty="0">
                <a:solidFill>
                  <a:srgbClr val="0070C0"/>
                </a:solidFill>
              </a:rPr>
              <a:t>A nondirectional measure of human capital transferability </a:t>
            </a:r>
            <a:r>
              <a:rPr lang="en-US" dirty="0"/>
              <a:t>= the average of the fraction of workers from each industry that move to the other industry in the pair.</a:t>
            </a:r>
          </a:p>
        </p:txBody>
      </p:sp>
    </p:spTree>
    <p:extLst>
      <p:ext uri="{BB962C8B-B14F-4D97-AF65-F5344CB8AC3E}">
        <p14:creationId xmlns:p14="http://schemas.microsoft.com/office/powerpoint/2010/main" val="1552380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Summary statistics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55AAFED3-8796-3364-AE63-1DD7E1359515}"/>
              </a:ext>
            </a:extLst>
          </p:cNvPr>
          <p:cNvPicPr>
            <a:picLocks noChangeAspect="1"/>
          </p:cNvPicPr>
          <p:nvPr/>
        </p:nvPicPr>
        <p:blipFill>
          <a:blip r:embed="rId3"/>
          <a:stretch>
            <a:fillRect/>
          </a:stretch>
        </p:blipFill>
        <p:spPr>
          <a:xfrm>
            <a:off x="0" y="579513"/>
            <a:ext cx="8268854" cy="5048955"/>
          </a:xfrm>
          <a:prstGeom prst="rect">
            <a:avLst/>
          </a:prstGeom>
        </p:spPr>
      </p:pic>
      <p:sp>
        <p:nvSpPr>
          <p:cNvPr id="7" name="TextBox 6">
            <a:extLst>
              <a:ext uri="{FF2B5EF4-FFF2-40B4-BE49-F238E27FC236}">
                <a16:creationId xmlns:a16="http://schemas.microsoft.com/office/drawing/2014/main" id="{3118E13E-6C9B-2739-D806-9C14A659146E}"/>
              </a:ext>
            </a:extLst>
          </p:cNvPr>
          <p:cNvSpPr txBox="1"/>
          <p:nvPr/>
        </p:nvSpPr>
        <p:spPr>
          <a:xfrm>
            <a:off x="8627533" y="1126068"/>
            <a:ext cx="2724829" cy="923330"/>
          </a:xfrm>
          <a:prstGeom prst="rect">
            <a:avLst/>
          </a:prstGeom>
          <a:noFill/>
        </p:spPr>
        <p:txBody>
          <a:bodyPr wrap="square">
            <a:spAutoFit/>
          </a:bodyPr>
          <a:lstStyle/>
          <a:p>
            <a:r>
              <a:rPr lang="en-US" dirty="0" err="1">
                <a:solidFill>
                  <a:srgbClr val="0070C0"/>
                </a:solidFill>
              </a:rPr>
              <a:t>HCT_adj</a:t>
            </a:r>
            <a:r>
              <a:rPr lang="en-US" dirty="0">
                <a:solidFill>
                  <a:srgbClr val="0070C0"/>
                </a:solidFill>
              </a:rPr>
              <a:t>: </a:t>
            </a:r>
            <a:r>
              <a:rPr lang="en-US" dirty="0"/>
              <a:t>the industry-size-adjusted version of index</a:t>
            </a:r>
          </a:p>
        </p:txBody>
      </p:sp>
    </p:spTree>
    <p:extLst>
      <p:ext uri="{BB962C8B-B14F-4D97-AF65-F5344CB8AC3E}">
        <p14:creationId xmlns:p14="http://schemas.microsoft.com/office/powerpoint/2010/main" val="1126042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Summary statistics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77D0D45C-29B9-D26F-063D-9135F5E04BC6}"/>
              </a:ext>
            </a:extLst>
          </p:cNvPr>
          <p:cNvPicPr>
            <a:picLocks noChangeAspect="1"/>
          </p:cNvPicPr>
          <p:nvPr/>
        </p:nvPicPr>
        <p:blipFill>
          <a:blip r:embed="rId3"/>
          <a:stretch>
            <a:fillRect/>
          </a:stretch>
        </p:blipFill>
        <p:spPr>
          <a:xfrm>
            <a:off x="262428" y="757978"/>
            <a:ext cx="8145012" cy="4563112"/>
          </a:xfrm>
          <a:prstGeom prst="rect">
            <a:avLst/>
          </a:prstGeom>
        </p:spPr>
      </p:pic>
    </p:spTree>
    <p:extLst>
      <p:ext uri="{BB962C8B-B14F-4D97-AF65-F5344CB8AC3E}">
        <p14:creationId xmlns:p14="http://schemas.microsoft.com/office/powerpoint/2010/main" val="1367317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Summary statistics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C1039B16-E669-09A8-9E95-0D4A0CAF07C5}"/>
              </a:ext>
            </a:extLst>
          </p:cNvPr>
          <p:cNvPicPr>
            <a:picLocks noChangeAspect="1"/>
          </p:cNvPicPr>
          <p:nvPr/>
        </p:nvPicPr>
        <p:blipFill>
          <a:blip r:embed="rId3"/>
          <a:stretch>
            <a:fillRect/>
          </a:stretch>
        </p:blipFill>
        <p:spPr>
          <a:xfrm>
            <a:off x="62396" y="579513"/>
            <a:ext cx="8240275" cy="5611008"/>
          </a:xfrm>
          <a:prstGeom prst="rect">
            <a:avLst/>
          </a:prstGeom>
        </p:spPr>
      </p:pic>
    </p:spTree>
    <p:extLst>
      <p:ext uri="{BB962C8B-B14F-4D97-AF65-F5344CB8AC3E}">
        <p14:creationId xmlns:p14="http://schemas.microsoft.com/office/powerpoint/2010/main" val="1146265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Summary statistics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7220AA78-F952-380F-DEA4-19DDB588308E}"/>
              </a:ext>
            </a:extLst>
          </p:cNvPr>
          <p:cNvPicPr>
            <a:picLocks noChangeAspect="1"/>
          </p:cNvPicPr>
          <p:nvPr/>
        </p:nvPicPr>
        <p:blipFill>
          <a:blip r:embed="rId3"/>
          <a:stretch>
            <a:fillRect/>
          </a:stretch>
        </p:blipFill>
        <p:spPr>
          <a:xfrm>
            <a:off x="0" y="609871"/>
            <a:ext cx="10329333" cy="5093821"/>
          </a:xfrm>
          <a:prstGeom prst="rect">
            <a:avLst/>
          </a:prstGeom>
        </p:spPr>
      </p:pic>
      <p:sp>
        <p:nvSpPr>
          <p:cNvPr id="7" name="TextBox 6">
            <a:extLst>
              <a:ext uri="{FF2B5EF4-FFF2-40B4-BE49-F238E27FC236}">
                <a16:creationId xmlns:a16="http://schemas.microsoft.com/office/drawing/2014/main" id="{3439511C-1DF2-31F3-DDCC-7F83F26A12C4}"/>
              </a:ext>
            </a:extLst>
          </p:cNvPr>
          <p:cNvSpPr txBox="1"/>
          <p:nvPr/>
        </p:nvSpPr>
        <p:spPr>
          <a:xfrm>
            <a:off x="10329334" y="1028468"/>
            <a:ext cx="1735666" cy="3139321"/>
          </a:xfrm>
          <a:prstGeom prst="rect">
            <a:avLst/>
          </a:prstGeom>
          <a:noFill/>
        </p:spPr>
        <p:txBody>
          <a:bodyPr wrap="square">
            <a:spAutoFit/>
          </a:bodyPr>
          <a:lstStyle/>
          <a:p>
            <a:r>
              <a:rPr lang="en-US" dirty="0"/>
              <a:t>Table2 list pairs of industries between which we see a high frequency of worker movement using the industry-size-adjusted HCT index.</a:t>
            </a:r>
          </a:p>
        </p:txBody>
      </p:sp>
      <p:sp>
        <p:nvSpPr>
          <p:cNvPr id="9" name="TextBox 8">
            <a:extLst>
              <a:ext uri="{FF2B5EF4-FFF2-40B4-BE49-F238E27FC236}">
                <a16:creationId xmlns:a16="http://schemas.microsoft.com/office/drawing/2014/main" id="{080D6BC8-A758-F816-4305-DB7473556517}"/>
              </a:ext>
            </a:extLst>
          </p:cNvPr>
          <p:cNvSpPr txBox="1"/>
          <p:nvPr/>
        </p:nvSpPr>
        <p:spPr>
          <a:xfrm>
            <a:off x="10515600" y="4671219"/>
            <a:ext cx="1490133" cy="923330"/>
          </a:xfrm>
          <a:prstGeom prst="rect">
            <a:avLst/>
          </a:prstGeom>
          <a:noFill/>
        </p:spPr>
        <p:txBody>
          <a:bodyPr wrap="square">
            <a:spAutoFit/>
          </a:bodyPr>
          <a:lstStyle/>
          <a:p>
            <a:r>
              <a:rPr lang="en-US" dirty="0"/>
              <a:t>Product market connections</a:t>
            </a: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C94194C7-437F-DCC1-5B57-9C1C268454A6}"/>
                  </a:ext>
                </a:extLst>
              </p14:cNvPr>
              <p14:cNvContentPartPr/>
              <p14:nvPr/>
            </p14:nvContentPartPr>
            <p14:xfrm>
              <a:off x="9380733" y="5299253"/>
              <a:ext cx="732600" cy="14760"/>
            </p14:xfrm>
          </p:contentPart>
        </mc:Choice>
        <mc:Fallback xmlns="">
          <p:pic>
            <p:nvPicPr>
              <p:cNvPr id="10" name="Ink 9">
                <a:extLst>
                  <a:ext uri="{FF2B5EF4-FFF2-40B4-BE49-F238E27FC236}">
                    <a16:creationId xmlns:a16="http://schemas.microsoft.com/office/drawing/2014/main" id="{C94194C7-437F-DCC1-5B57-9C1C268454A6}"/>
                  </a:ext>
                </a:extLst>
              </p:cNvPr>
              <p:cNvPicPr/>
              <p:nvPr/>
            </p:nvPicPr>
            <p:blipFill>
              <a:blip r:embed="rId5"/>
              <a:stretch>
                <a:fillRect/>
              </a:stretch>
            </p:blipFill>
            <p:spPr>
              <a:xfrm>
                <a:off x="9363093" y="5263253"/>
                <a:ext cx="7682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22178A5A-293B-67A1-CBC6-5EAE433F970F}"/>
                  </a:ext>
                </a:extLst>
              </p14:cNvPr>
              <p14:cNvContentPartPr/>
              <p14:nvPr/>
            </p14:nvContentPartPr>
            <p14:xfrm>
              <a:off x="118293" y="5384213"/>
              <a:ext cx="5784480" cy="111240"/>
            </p14:xfrm>
          </p:contentPart>
        </mc:Choice>
        <mc:Fallback xmlns="">
          <p:pic>
            <p:nvPicPr>
              <p:cNvPr id="11" name="Ink 10">
                <a:extLst>
                  <a:ext uri="{FF2B5EF4-FFF2-40B4-BE49-F238E27FC236}">
                    <a16:creationId xmlns:a16="http://schemas.microsoft.com/office/drawing/2014/main" id="{22178A5A-293B-67A1-CBC6-5EAE433F970F}"/>
                  </a:ext>
                </a:extLst>
              </p:cNvPr>
              <p:cNvPicPr/>
              <p:nvPr/>
            </p:nvPicPr>
            <p:blipFill>
              <a:blip r:embed="rId7"/>
              <a:stretch>
                <a:fillRect/>
              </a:stretch>
            </p:blipFill>
            <p:spPr>
              <a:xfrm>
                <a:off x="100653" y="5348573"/>
                <a:ext cx="58201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2D444608-FDF8-2D0A-7EB5-DCC9BE220E6E}"/>
                  </a:ext>
                </a:extLst>
              </p14:cNvPr>
              <p14:cNvContentPartPr/>
              <p14:nvPr/>
            </p14:nvContentPartPr>
            <p14:xfrm>
              <a:off x="5452413" y="5393213"/>
              <a:ext cx="4575960" cy="110160"/>
            </p14:xfrm>
          </p:contentPart>
        </mc:Choice>
        <mc:Fallback xmlns="">
          <p:pic>
            <p:nvPicPr>
              <p:cNvPr id="12" name="Ink 11">
                <a:extLst>
                  <a:ext uri="{FF2B5EF4-FFF2-40B4-BE49-F238E27FC236}">
                    <a16:creationId xmlns:a16="http://schemas.microsoft.com/office/drawing/2014/main" id="{2D444608-FDF8-2D0A-7EB5-DCC9BE220E6E}"/>
                  </a:ext>
                </a:extLst>
              </p:cNvPr>
              <p:cNvPicPr/>
              <p:nvPr/>
            </p:nvPicPr>
            <p:blipFill>
              <a:blip r:embed="rId9"/>
              <a:stretch>
                <a:fillRect/>
              </a:stretch>
            </p:blipFill>
            <p:spPr>
              <a:xfrm>
                <a:off x="5434773" y="5357213"/>
                <a:ext cx="461160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A7539354-0746-D573-6409-94A11AC38794}"/>
                  </a:ext>
                </a:extLst>
              </p14:cNvPr>
              <p14:cNvContentPartPr/>
              <p14:nvPr/>
            </p14:nvContentPartPr>
            <p14:xfrm>
              <a:off x="211533" y="5604533"/>
              <a:ext cx="1472760" cy="9360"/>
            </p14:xfrm>
          </p:contentPart>
        </mc:Choice>
        <mc:Fallback xmlns="">
          <p:pic>
            <p:nvPicPr>
              <p:cNvPr id="13" name="Ink 12">
                <a:extLst>
                  <a:ext uri="{FF2B5EF4-FFF2-40B4-BE49-F238E27FC236}">
                    <a16:creationId xmlns:a16="http://schemas.microsoft.com/office/drawing/2014/main" id="{A7539354-0746-D573-6409-94A11AC38794}"/>
                  </a:ext>
                </a:extLst>
              </p:cNvPr>
              <p:cNvPicPr/>
              <p:nvPr/>
            </p:nvPicPr>
            <p:blipFill>
              <a:blip r:embed="rId11"/>
              <a:stretch>
                <a:fillRect/>
              </a:stretch>
            </p:blipFill>
            <p:spPr>
              <a:xfrm>
                <a:off x="193893" y="5568533"/>
                <a:ext cx="150840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9CA65C12-14A4-9C41-3E8D-839F8C97134A}"/>
                  </a:ext>
                </a:extLst>
              </p14:cNvPr>
              <p14:cNvContentPartPr/>
              <p14:nvPr/>
            </p14:nvContentPartPr>
            <p14:xfrm>
              <a:off x="5257653" y="5443613"/>
              <a:ext cx="1066680" cy="27360"/>
            </p14:xfrm>
          </p:contentPart>
        </mc:Choice>
        <mc:Fallback xmlns="">
          <p:pic>
            <p:nvPicPr>
              <p:cNvPr id="14" name="Ink 13">
                <a:extLst>
                  <a:ext uri="{FF2B5EF4-FFF2-40B4-BE49-F238E27FC236}">
                    <a16:creationId xmlns:a16="http://schemas.microsoft.com/office/drawing/2014/main" id="{9CA65C12-14A4-9C41-3E8D-839F8C97134A}"/>
                  </a:ext>
                </a:extLst>
              </p:cNvPr>
              <p:cNvPicPr/>
              <p:nvPr/>
            </p:nvPicPr>
            <p:blipFill>
              <a:blip r:embed="rId13"/>
              <a:stretch>
                <a:fillRect/>
              </a:stretch>
            </p:blipFill>
            <p:spPr>
              <a:xfrm>
                <a:off x="5239653" y="5407973"/>
                <a:ext cx="11023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2D14EBF9-C4C9-BD95-7673-7207DB3CAD6F}"/>
                  </a:ext>
                </a:extLst>
              </p14:cNvPr>
              <p14:cNvContentPartPr/>
              <p14:nvPr/>
            </p14:nvContentPartPr>
            <p14:xfrm>
              <a:off x="5401653" y="5460893"/>
              <a:ext cx="1010160" cy="78480"/>
            </p14:xfrm>
          </p:contentPart>
        </mc:Choice>
        <mc:Fallback xmlns="">
          <p:pic>
            <p:nvPicPr>
              <p:cNvPr id="15" name="Ink 14">
                <a:extLst>
                  <a:ext uri="{FF2B5EF4-FFF2-40B4-BE49-F238E27FC236}">
                    <a16:creationId xmlns:a16="http://schemas.microsoft.com/office/drawing/2014/main" id="{2D14EBF9-C4C9-BD95-7673-7207DB3CAD6F}"/>
                  </a:ext>
                </a:extLst>
              </p:cNvPr>
              <p:cNvPicPr/>
              <p:nvPr/>
            </p:nvPicPr>
            <p:blipFill>
              <a:blip r:embed="rId15"/>
              <a:stretch>
                <a:fillRect/>
              </a:stretch>
            </p:blipFill>
            <p:spPr>
              <a:xfrm>
                <a:off x="5383653" y="5424893"/>
                <a:ext cx="1045800" cy="150120"/>
              </a:xfrm>
              <a:prstGeom prst="rect">
                <a:avLst/>
              </a:prstGeom>
            </p:spPr>
          </p:pic>
        </mc:Fallback>
      </mc:AlternateContent>
    </p:spTree>
    <p:extLst>
      <p:ext uri="{BB962C8B-B14F-4D97-AF65-F5344CB8AC3E}">
        <p14:creationId xmlns:p14="http://schemas.microsoft.com/office/powerpoint/2010/main" val="3720453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Prediction 1: HCT and industry choices in diversifying deals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8" name="Picture 7">
            <a:extLst>
              <a:ext uri="{FF2B5EF4-FFF2-40B4-BE49-F238E27FC236}">
                <a16:creationId xmlns:a16="http://schemas.microsoft.com/office/drawing/2014/main" id="{89CD484A-C48A-2CE3-2EC0-BFAE749CE5AC}"/>
              </a:ext>
            </a:extLst>
          </p:cNvPr>
          <p:cNvPicPr>
            <a:picLocks noChangeAspect="1"/>
          </p:cNvPicPr>
          <p:nvPr/>
        </p:nvPicPr>
        <p:blipFill>
          <a:blip r:embed="rId3"/>
          <a:stretch>
            <a:fillRect/>
          </a:stretch>
        </p:blipFill>
        <p:spPr>
          <a:xfrm>
            <a:off x="1035676" y="1205939"/>
            <a:ext cx="6192114" cy="466790"/>
          </a:xfrm>
          <a:prstGeom prst="rect">
            <a:avLst/>
          </a:prstGeom>
        </p:spPr>
      </p:pic>
      <p:sp>
        <p:nvSpPr>
          <p:cNvPr id="11" name="TextBox 10">
            <a:extLst>
              <a:ext uri="{FF2B5EF4-FFF2-40B4-BE49-F238E27FC236}">
                <a16:creationId xmlns:a16="http://schemas.microsoft.com/office/drawing/2014/main" id="{FC05D9E0-2F62-45A3-B10D-6F98C9AEBA41}"/>
              </a:ext>
            </a:extLst>
          </p:cNvPr>
          <p:cNvSpPr txBox="1"/>
          <p:nvPr/>
        </p:nvSpPr>
        <p:spPr>
          <a:xfrm>
            <a:off x="1131789" y="2046870"/>
            <a:ext cx="9341477" cy="3416320"/>
          </a:xfrm>
          <a:prstGeom prst="rect">
            <a:avLst/>
          </a:prstGeom>
          <a:noFill/>
        </p:spPr>
        <p:txBody>
          <a:bodyPr wrap="square">
            <a:spAutoFit/>
          </a:bodyPr>
          <a:lstStyle/>
          <a:p>
            <a:r>
              <a:rPr lang="en-US" dirty="0"/>
              <a:t>Y measures the intensity with which acquirers in industry </a:t>
            </a:r>
            <a:r>
              <a:rPr lang="en-US" dirty="0" err="1"/>
              <a:t>i</a:t>
            </a:r>
            <a:r>
              <a:rPr lang="en-US" dirty="0"/>
              <a:t> diversify into industry j (for </a:t>
            </a:r>
            <a:r>
              <a:rPr lang="en-US" dirty="0" err="1"/>
              <a:t>i</a:t>
            </a:r>
            <a:r>
              <a:rPr lang="en-US" dirty="0"/>
              <a:t>=j) in sample year t</a:t>
            </a:r>
          </a:p>
          <a:p>
            <a:endParaRPr lang="en-US" dirty="0"/>
          </a:p>
          <a:p>
            <a:r>
              <a:rPr lang="en-US" dirty="0"/>
              <a:t>HCT is the human capital transferability index between industries </a:t>
            </a:r>
            <a:r>
              <a:rPr lang="en-US" dirty="0" err="1"/>
              <a:t>i</a:t>
            </a:r>
            <a:r>
              <a:rPr lang="en-US" dirty="0"/>
              <a:t> and j measured over a 5-year window ending at t −1</a:t>
            </a:r>
          </a:p>
          <a:p>
            <a:endParaRPr lang="en-US" dirty="0"/>
          </a:p>
          <a:p>
            <a:r>
              <a:rPr lang="en-US" dirty="0"/>
              <a:t>X is a vector of controls in year t.  Including control for product market linkages across industries</a:t>
            </a:r>
          </a:p>
          <a:p>
            <a:endParaRPr lang="en-US" dirty="0"/>
          </a:p>
          <a:p>
            <a:r>
              <a:rPr lang="en-US" dirty="0"/>
              <a:t>They include all of the 48 by 47 cross-industry pairs in the period between 1995 and 2007 for which the researchers can define the HCT index</a:t>
            </a:r>
          </a:p>
          <a:p>
            <a:endParaRPr lang="en-US" dirty="0"/>
          </a:p>
        </p:txBody>
      </p:sp>
    </p:spTree>
    <p:extLst>
      <p:ext uri="{BB962C8B-B14F-4D97-AF65-F5344CB8AC3E}">
        <p14:creationId xmlns:p14="http://schemas.microsoft.com/office/powerpoint/2010/main" val="3256825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Prediction 1: HCT and industry choices in diversifying deals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69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8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2893" y="4947533"/>
                <a:ext cx="39240" cy="75600"/>
              </a:xfrm>
              <a:prstGeom prst="rect">
                <a:avLst/>
              </a:prstGeom>
            </p:spPr>
          </p:pic>
        </mc:Fallback>
      </mc:AlternateContent>
      <p:pic>
        <p:nvPicPr>
          <p:cNvPr id="7" name="Picture 6">
            <a:extLst>
              <a:ext uri="{FF2B5EF4-FFF2-40B4-BE49-F238E27FC236}">
                <a16:creationId xmlns:a16="http://schemas.microsoft.com/office/drawing/2014/main" id="{BA36538C-DAF6-8372-33E9-D28F277D68E6}"/>
              </a:ext>
            </a:extLst>
          </p:cNvPr>
          <p:cNvPicPr>
            <a:picLocks noChangeAspect="1"/>
          </p:cNvPicPr>
          <p:nvPr/>
        </p:nvPicPr>
        <p:blipFill>
          <a:blip r:embed="rId8"/>
          <a:stretch>
            <a:fillRect/>
          </a:stretch>
        </p:blipFill>
        <p:spPr>
          <a:xfrm>
            <a:off x="0" y="479810"/>
            <a:ext cx="5731933" cy="5262103"/>
          </a:xfrm>
          <a:prstGeom prst="rect">
            <a:avLst/>
          </a:prstGeom>
        </p:spPr>
      </p:pic>
      <p:sp>
        <p:nvSpPr>
          <p:cNvPr id="10" name="TextBox 9">
            <a:extLst>
              <a:ext uri="{FF2B5EF4-FFF2-40B4-BE49-F238E27FC236}">
                <a16:creationId xmlns:a16="http://schemas.microsoft.com/office/drawing/2014/main" id="{D482E079-0B8A-46C4-7F62-D76E52BF9F11}"/>
              </a:ext>
            </a:extLst>
          </p:cNvPr>
          <p:cNvSpPr txBox="1"/>
          <p:nvPr/>
        </p:nvSpPr>
        <p:spPr>
          <a:xfrm>
            <a:off x="6096000" y="1002905"/>
            <a:ext cx="6096000" cy="2585323"/>
          </a:xfrm>
          <a:prstGeom prst="rect">
            <a:avLst/>
          </a:prstGeom>
          <a:noFill/>
        </p:spPr>
        <p:txBody>
          <a:bodyPr wrap="square">
            <a:spAutoFit/>
          </a:bodyPr>
          <a:lstStyle/>
          <a:p>
            <a:r>
              <a:rPr lang="en-US" dirty="0"/>
              <a:t>1-3 Use the employment-based dependent variable to measure acquisition frequency</a:t>
            </a:r>
          </a:p>
          <a:p>
            <a:endParaRPr lang="en-US" dirty="0"/>
          </a:p>
          <a:p>
            <a:r>
              <a:rPr lang="en-US" dirty="0"/>
              <a:t>4-6 use the number of firms involved in transactions</a:t>
            </a:r>
          </a:p>
          <a:p>
            <a:endParaRPr lang="en-US" dirty="0"/>
          </a:p>
          <a:p>
            <a:endParaRPr lang="en-US" dirty="0"/>
          </a:p>
          <a:p>
            <a:r>
              <a:rPr lang="en-US" dirty="0"/>
              <a:t>High human capital transferability between a target industry and an acquirer’s existing industries predicts significantly more diversification into that industry.</a:t>
            </a:r>
          </a:p>
        </p:txBody>
      </p:sp>
    </p:spTree>
    <p:extLst>
      <p:ext uri="{BB962C8B-B14F-4D97-AF65-F5344CB8AC3E}">
        <p14:creationId xmlns:p14="http://schemas.microsoft.com/office/powerpoint/2010/main" val="1526363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Prediction 2: Correlation in growth opportunities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8" name="Picture 7">
            <a:extLst>
              <a:ext uri="{FF2B5EF4-FFF2-40B4-BE49-F238E27FC236}">
                <a16:creationId xmlns:a16="http://schemas.microsoft.com/office/drawing/2014/main" id="{DDB36295-E7C8-8242-BC84-A201F01A4856}"/>
              </a:ext>
            </a:extLst>
          </p:cNvPr>
          <p:cNvPicPr>
            <a:picLocks noChangeAspect="1"/>
          </p:cNvPicPr>
          <p:nvPr/>
        </p:nvPicPr>
        <p:blipFill>
          <a:blip r:embed="rId8"/>
          <a:stretch>
            <a:fillRect/>
          </a:stretch>
        </p:blipFill>
        <p:spPr>
          <a:xfrm>
            <a:off x="70393" y="579513"/>
            <a:ext cx="10515600" cy="4709441"/>
          </a:xfrm>
          <a:prstGeom prst="rect">
            <a:avLst/>
          </a:prstGeom>
        </p:spPr>
      </p:pic>
      <p:sp>
        <p:nvSpPr>
          <p:cNvPr id="9" name="TextBox 8">
            <a:extLst>
              <a:ext uri="{FF2B5EF4-FFF2-40B4-BE49-F238E27FC236}">
                <a16:creationId xmlns:a16="http://schemas.microsoft.com/office/drawing/2014/main" id="{8137E63F-E8EC-FF57-CEC5-50B22170DA9B}"/>
              </a:ext>
            </a:extLst>
          </p:cNvPr>
          <p:cNvSpPr txBox="1"/>
          <p:nvPr/>
        </p:nvSpPr>
        <p:spPr>
          <a:xfrm>
            <a:off x="70393" y="5288954"/>
            <a:ext cx="12192000" cy="369332"/>
          </a:xfrm>
          <a:prstGeom prst="rect">
            <a:avLst/>
          </a:prstGeom>
          <a:noFill/>
        </p:spPr>
        <p:txBody>
          <a:bodyPr wrap="square" rtlCol="0">
            <a:spAutoFit/>
          </a:bodyPr>
          <a:lstStyle/>
          <a:p>
            <a:r>
              <a:rPr lang="en-US" dirty="0"/>
              <a:t>The correlation of employment between each pair of industries. Correlations are higher among the top-20 high-HCT pairs </a:t>
            </a:r>
          </a:p>
        </p:txBody>
      </p:sp>
    </p:spTree>
    <p:extLst>
      <p:ext uri="{BB962C8B-B14F-4D97-AF65-F5344CB8AC3E}">
        <p14:creationId xmlns:p14="http://schemas.microsoft.com/office/powerpoint/2010/main" val="2681502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Prediction 2: Correlation in growth opportunities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7" name="Picture 6">
            <a:extLst>
              <a:ext uri="{FF2B5EF4-FFF2-40B4-BE49-F238E27FC236}">
                <a16:creationId xmlns:a16="http://schemas.microsoft.com/office/drawing/2014/main" id="{A99D63CC-0382-5100-89DF-9A44DEEEA41F}"/>
              </a:ext>
            </a:extLst>
          </p:cNvPr>
          <p:cNvPicPr>
            <a:picLocks noChangeAspect="1"/>
          </p:cNvPicPr>
          <p:nvPr/>
        </p:nvPicPr>
        <p:blipFill>
          <a:blip r:embed="rId8"/>
          <a:stretch>
            <a:fillRect/>
          </a:stretch>
        </p:blipFill>
        <p:spPr>
          <a:xfrm>
            <a:off x="96460" y="579513"/>
            <a:ext cx="7173105" cy="6582186"/>
          </a:xfrm>
          <a:prstGeom prst="rect">
            <a:avLst/>
          </a:prstGeom>
        </p:spPr>
      </p:pic>
      <p:sp>
        <p:nvSpPr>
          <p:cNvPr id="11" name="TextBox 10">
            <a:extLst>
              <a:ext uri="{FF2B5EF4-FFF2-40B4-BE49-F238E27FC236}">
                <a16:creationId xmlns:a16="http://schemas.microsoft.com/office/drawing/2014/main" id="{F194FD12-6F62-1701-67DF-90A8E60BF7B2}"/>
              </a:ext>
            </a:extLst>
          </p:cNvPr>
          <p:cNvSpPr txBox="1"/>
          <p:nvPr/>
        </p:nvSpPr>
        <p:spPr>
          <a:xfrm>
            <a:off x="7366025" y="687209"/>
            <a:ext cx="4263592" cy="1477328"/>
          </a:xfrm>
          <a:prstGeom prst="rect">
            <a:avLst/>
          </a:prstGeom>
          <a:noFill/>
        </p:spPr>
        <p:txBody>
          <a:bodyPr wrap="square">
            <a:spAutoFit/>
          </a:bodyPr>
          <a:lstStyle/>
          <a:p>
            <a:r>
              <a:rPr lang="en-US" dirty="0"/>
              <a:t>The HCT index has a significantly stronger association with the frequency of diversifying deals among industry pairs with the least correlated employment shocks. </a:t>
            </a:r>
          </a:p>
        </p:txBody>
      </p:sp>
      <p:sp>
        <p:nvSpPr>
          <p:cNvPr id="13" name="TextBox 12">
            <a:extLst>
              <a:ext uri="{FF2B5EF4-FFF2-40B4-BE49-F238E27FC236}">
                <a16:creationId xmlns:a16="http://schemas.microsoft.com/office/drawing/2014/main" id="{415928B4-8A06-7B7E-04D1-F023AE0B920E}"/>
              </a:ext>
            </a:extLst>
          </p:cNvPr>
          <p:cNvSpPr txBox="1"/>
          <p:nvPr/>
        </p:nvSpPr>
        <p:spPr>
          <a:xfrm>
            <a:off x="7427343" y="2458528"/>
            <a:ext cx="4390846" cy="2585323"/>
          </a:xfrm>
          <a:prstGeom prst="rect">
            <a:avLst/>
          </a:prstGeom>
          <a:noFill/>
        </p:spPr>
        <p:txBody>
          <a:bodyPr wrap="square">
            <a:spAutoFit/>
          </a:bodyPr>
          <a:lstStyle/>
          <a:p>
            <a:r>
              <a:rPr lang="en-US" dirty="0"/>
              <a:t>If the industries that define the divisions experience less correlated shocks, it is more likely that workers from the division with bad opportunities who are transferred to the division with good opportunities do not need to be replaced in their original jobs, preserving maximal adjustment cost savings for the firm. </a:t>
            </a:r>
          </a:p>
          <a:p>
            <a:endParaRPr lang="en-US" dirty="0"/>
          </a:p>
        </p:txBody>
      </p:sp>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56C8957F-EEF6-AA9B-8990-5FFFE466178D}"/>
                  </a:ext>
                </a:extLst>
              </p14:cNvPr>
              <p14:cNvContentPartPr/>
              <p14:nvPr/>
            </p14:nvContentPartPr>
            <p14:xfrm>
              <a:off x="245373" y="2623947"/>
              <a:ext cx="1300680" cy="51840"/>
            </p14:xfrm>
          </p:contentPart>
        </mc:Choice>
        <mc:Fallback>
          <p:pic>
            <p:nvPicPr>
              <p:cNvPr id="6" name="Ink 5">
                <a:extLst>
                  <a:ext uri="{FF2B5EF4-FFF2-40B4-BE49-F238E27FC236}">
                    <a16:creationId xmlns:a16="http://schemas.microsoft.com/office/drawing/2014/main" id="{56C8957F-EEF6-AA9B-8990-5FFFE466178D}"/>
                  </a:ext>
                </a:extLst>
              </p:cNvPr>
              <p:cNvPicPr/>
              <p:nvPr/>
            </p:nvPicPr>
            <p:blipFill>
              <a:blip r:embed="rId10"/>
              <a:stretch>
                <a:fillRect/>
              </a:stretch>
            </p:blipFill>
            <p:spPr>
              <a:xfrm>
                <a:off x="227733" y="2587947"/>
                <a:ext cx="133632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423F6865-90A0-46E8-E0CD-E5257CF73609}"/>
                  </a:ext>
                </a:extLst>
              </p14:cNvPr>
              <p14:cNvContentPartPr/>
              <p14:nvPr/>
            </p14:nvContentPartPr>
            <p14:xfrm>
              <a:off x="253653" y="3307947"/>
              <a:ext cx="1246320" cy="53280"/>
            </p14:xfrm>
          </p:contentPart>
        </mc:Choice>
        <mc:Fallback>
          <p:pic>
            <p:nvPicPr>
              <p:cNvPr id="8" name="Ink 7">
                <a:extLst>
                  <a:ext uri="{FF2B5EF4-FFF2-40B4-BE49-F238E27FC236}">
                    <a16:creationId xmlns:a16="http://schemas.microsoft.com/office/drawing/2014/main" id="{423F6865-90A0-46E8-E0CD-E5257CF73609}"/>
                  </a:ext>
                </a:extLst>
              </p:cNvPr>
              <p:cNvPicPr/>
              <p:nvPr/>
            </p:nvPicPr>
            <p:blipFill>
              <a:blip r:embed="rId12"/>
              <a:stretch>
                <a:fillRect/>
              </a:stretch>
            </p:blipFill>
            <p:spPr>
              <a:xfrm>
                <a:off x="236013" y="3271947"/>
                <a:ext cx="128196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7492C22B-CA6E-7AE1-8ED8-9851E2D06441}"/>
                  </a:ext>
                </a:extLst>
              </p14:cNvPr>
              <p14:cNvContentPartPr/>
              <p14:nvPr/>
            </p14:nvContentPartPr>
            <p14:xfrm>
              <a:off x="3293493" y="3343947"/>
              <a:ext cx="360" cy="360"/>
            </p14:xfrm>
          </p:contentPart>
        </mc:Choice>
        <mc:Fallback>
          <p:pic>
            <p:nvPicPr>
              <p:cNvPr id="9" name="Ink 8">
                <a:extLst>
                  <a:ext uri="{FF2B5EF4-FFF2-40B4-BE49-F238E27FC236}">
                    <a16:creationId xmlns:a16="http://schemas.microsoft.com/office/drawing/2014/main" id="{7492C22B-CA6E-7AE1-8ED8-9851E2D06441}"/>
                  </a:ext>
                </a:extLst>
              </p:cNvPr>
              <p:cNvPicPr/>
              <p:nvPr/>
            </p:nvPicPr>
            <p:blipFill>
              <a:blip r:embed="rId14"/>
              <a:stretch>
                <a:fillRect/>
              </a:stretch>
            </p:blipFill>
            <p:spPr>
              <a:xfrm>
                <a:off x="3275493" y="3308307"/>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41082E99-3EA4-140D-1BCA-E6D7C23FA2F8}"/>
                  </a:ext>
                </a:extLst>
              </p14:cNvPr>
              <p14:cNvContentPartPr/>
              <p14:nvPr/>
            </p14:nvContentPartPr>
            <p14:xfrm>
              <a:off x="3217173" y="3318387"/>
              <a:ext cx="406800" cy="9360"/>
            </p14:xfrm>
          </p:contentPart>
        </mc:Choice>
        <mc:Fallback>
          <p:pic>
            <p:nvPicPr>
              <p:cNvPr id="10" name="Ink 9">
                <a:extLst>
                  <a:ext uri="{FF2B5EF4-FFF2-40B4-BE49-F238E27FC236}">
                    <a16:creationId xmlns:a16="http://schemas.microsoft.com/office/drawing/2014/main" id="{41082E99-3EA4-140D-1BCA-E6D7C23FA2F8}"/>
                  </a:ext>
                </a:extLst>
              </p:cNvPr>
              <p:cNvPicPr/>
              <p:nvPr/>
            </p:nvPicPr>
            <p:blipFill>
              <a:blip r:embed="rId16"/>
              <a:stretch>
                <a:fillRect/>
              </a:stretch>
            </p:blipFill>
            <p:spPr>
              <a:xfrm>
                <a:off x="3199533" y="3282747"/>
                <a:ext cx="44244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D24462FB-0119-6BE9-B0FA-FDC61A70E0A5}"/>
                  </a:ext>
                </a:extLst>
              </p14:cNvPr>
              <p14:cNvContentPartPr/>
              <p14:nvPr/>
            </p14:nvContentPartPr>
            <p14:xfrm>
              <a:off x="5808093" y="3318747"/>
              <a:ext cx="491040" cy="9360"/>
            </p14:xfrm>
          </p:contentPart>
        </mc:Choice>
        <mc:Fallback>
          <p:pic>
            <p:nvPicPr>
              <p:cNvPr id="12" name="Ink 11">
                <a:extLst>
                  <a:ext uri="{FF2B5EF4-FFF2-40B4-BE49-F238E27FC236}">
                    <a16:creationId xmlns:a16="http://schemas.microsoft.com/office/drawing/2014/main" id="{D24462FB-0119-6BE9-B0FA-FDC61A70E0A5}"/>
                  </a:ext>
                </a:extLst>
              </p:cNvPr>
              <p:cNvPicPr/>
              <p:nvPr/>
            </p:nvPicPr>
            <p:blipFill>
              <a:blip r:embed="rId18"/>
              <a:stretch>
                <a:fillRect/>
              </a:stretch>
            </p:blipFill>
            <p:spPr>
              <a:xfrm>
                <a:off x="5790093" y="3282747"/>
                <a:ext cx="52668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D4CB17BF-5A75-65C4-0587-46F2F805860C}"/>
                  </a:ext>
                </a:extLst>
              </p14:cNvPr>
              <p14:cNvContentPartPr/>
              <p14:nvPr/>
            </p14:nvContentPartPr>
            <p14:xfrm>
              <a:off x="3090093" y="2640867"/>
              <a:ext cx="705600" cy="9360"/>
            </p14:xfrm>
          </p:contentPart>
        </mc:Choice>
        <mc:Fallback>
          <p:pic>
            <p:nvPicPr>
              <p:cNvPr id="14" name="Ink 13">
                <a:extLst>
                  <a:ext uri="{FF2B5EF4-FFF2-40B4-BE49-F238E27FC236}">
                    <a16:creationId xmlns:a16="http://schemas.microsoft.com/office/drawing/2014/main" id="{D4CB17BF-5A75-65C4-0587-46F2F805860C}"/>
                  </a:ext>
                </a:extLst>
              </p:cNvPr>
              <p:cNvPicPr/>
              <p:nvPr/>
            </p:nvPicPr>
            <p:blipFill>
              <a:blip r:embed="rId20"/>
              <a:stretch>
                <a:fillRect/>
              </a:stretch>
            </p:blipFill>
            <p:spPr>
              <a:xfrm>
                <a:off x="3072453" y="2605227"/>
                <a:ext cx="74124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33377F1B-23EC-21C2-3CE6-7D3B951FBACC}"/>
                  </a:ext>
                </a:extLst>
              </p14:cNvPr>
              <p14:cNvContentPartPr/>
              <p14:nvPr/>
            </p14:nvContentPartPr>
            <p14:xfrm>
              <a:off x="5765613" y="2623587"/>
              <a:ext cx="519120" cy="18000"/>
            </p14:xfrm>
          </p:contentPart>
        </mc:Choice>
        <mc:Fallback>
          <p:pic>
            <p:nvPicPr>
              <p:cNvPr id="15" name="Ink 14">
                <a:extLst>
                  <a:ext uri="{FF2B5EF4-FFF2-40B4-BE49-F238E27FC236}">
                    <a16:creationId xmlns:a16="http://schemas.microsoft.com/office/drawing/2014/main" id="{33377F1B-23EC-21C2-3CE6-7D3B951FBACC}"/>
                  </a:ext>
                </a:extLst>
              </p:cNvPr>
              <p:cNvPicPr/>
              <p:nvPr/>
            </p:nvPicPr>
            <p:blipFill>
              <a:blip r:embed="rId22"/>
              <a:stretch>
                <a:fillRect/>
              </a:stretch>
            </p:blipFill>
            <p:spPr>
              <a:xfrm>
                <a:off x="5747973" y="2587947"/>
                <a:ext cx="554760" cy="89640"/>
              </a:xfrm>
              <a:prstGeom prst="rect">
                <a:avLst/>
              </a:prstGeom>
            </p:spPr>
          </p:pic>
        </mc:Fallback>
      </mc:AlternateContent>
    </p:spTree>
    <p:extLst>
      <p:ext uri="{BB962C8B-B14F-4D97-AF65-F5344CB8AC3E}">
        <p14:creationId xmlns:p14="http://schemas.microsoft.com/office/powerpoint/2010/main" val="654943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Prediction3: HCT and post deal changes in labor productivity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8" name="Picture 7">
            <a:extLst>
              <a:ext uri="{FF2B5EF4-FFF2-40B4-BE49-F238E27FC236}">
                <a16:creationId xmlns:a16="http://schemas.microsoft.com/office/drawing/2014/main" id="{6D4F8264-2293-1A26-377C-6EC3302E542F}"/>
              </a:ext>
            </a:extLst>
          </p:cNvPr>
          <p:cNvPicPr>
            <a:picLocks noChangeAspect="1"/>
          </p:cNvPicPr>
          <p:nvPr/>
        </p:nvPicPr>
        <p:blipFill>
          <a:blip r:embed="rId8"/>
          <a:stretch>
            <a:fillRect/>
          </a:stretch>
        </p:blipFill>
        <p:spPr>
          <a:xfrm>
            <a:off x="888935" y="1591153"/>
            <a:ext cx="3724795" cy="571580"/>
          </a:xfrm>
          <a:prstGeom prst="rect">
            <a:avLst/>
          </a:prstGeom>
        </p:spPr>
      </p:pic>
      <p:sp>
        <p:nvSpPr>
          <p:cNvPr id="10" name="TextBox 9">
            <a:extLst>
              <a:ext uri="{FF2B5EF4-FFF2-40B4-BE49-F238E27FC236}">
                <a16:creationId xmlns:a16="http://schemas.microsoft.com/office/drawing/2014/main" id="{C71A9D05-F615-7D66-ABA5-C05394358C25}"/>
              </a:ext>
            </a:extLst>
          </p:cNvPr>
          <p:cNvSpPr txBox="1"/>
          <p:nvPr/>
        </p:nvSpPr>
        <p:spPr>
          <a:xfrm>
            <a:off x="5207425" y="1257007"/>
            <a:ext cx="6045200" cy="1477328"/>
          </a:xfrm>
          <a:prstGeom prst="rect">
            <a:avLst/>
          </a:prstGeom>
          <a:noFill/>
        </p:spPr>
        <p:txBody>
          <a:bodyPr wrap="square">
            <a:spAutoFit/>
          </a:bodyPr>
          <a:lstStyle/>
          <a:p>
            <a:r>
              <a:rPr lang="en-US" dirty="0"/>
              <a:t>acquiring and target firms can operate in multiple industries, we compute a deal-level HCT index for each diversifying deal as a double weighted average of the HCT index between each pair of industries operated by the acquiring and target firms</a:t>
            </a:r>
          </a:p>
        </p:txBody>
      </p:sp>
      <p:pic>
        <p:nvPicPr>
          <p:cNvPr id="14" name="Picture 13">
            <a:extLst>
              <a:ext uri="{FF2B5EF4-FFF2-40B4-BE49-F238E27FC236}">
                <a16:creationId xmlns:a16="http://schemas.microsoft.com/office/drawing/2014/main" id="{2F39220B-3744-68FD-47B9-A16971022115}"/>
              </a:ext>
            </a:extLst>
          </p:cNvPr>
          <p:cNvPicPr>
            <a:picLocks noChangeAspect="1"/>
          </p:cNvPicPr>
          <p:nvPr/>
        </p:nvPicPr>
        <p:blipFill>
          <a:blip r:embed="rId9"/>
          <a:stretch>
            <a:fillRect/>
          </a:stretch>
        </p:blipFill>
        <p:spPr>
          <a:xfrm>
            <a:off x="584135" y="3071032"/>
            <a:ext cx="6763694" cy="438211"/>
          </a:xfrm>
          <a:prstGeom prst="rect">
            <a:avLst/>
          </a:prstGeom>
        </p:spPr>
      </p:pic>
      <p:sp>
        <p:nvSpPr>
          <p:cNvPr id="16" name="TextBox 15">
            <a:extLst>
              <a:ext uri="{FF2B5EF4-FFF2-40B4-BE49-F238E27FC236}">
                <a16:creationId xmlns:a16="http://schemas.microsoft.com/office/drawing/2014/main" id="{947E472F-4514-8F45-BBB4-7589C27E298C}"/>
              </a:ext>
            </a:extLst>
          </p:cNvPr>
          <p:cNvSpPr txBox="1"/>
          <p:nvPr/>
        </p:nvSpPr>
        <p:spPr>
          <a:xfrm>
            <a:off x="368300" y="3624147"/>
            <a:ext cx="11455399" cy="1754326"/>
          </a:xfrm>
          <a:prstGeom prst="rect">
            <a:avLst/>
          </a:prstGeom>
          <a:noFill/>
        </p:spPr>
        <p:txBody>
          <a:bodyPr wrap="square">
            <a:spAutoFit/>
          </a:bodyPr>
          <a:lstStyle/>
          <a:p>
            <a:r>
              <a:rPr lang="en-US" b="1" dirty="0">
                <a:solidFill>
                  <a:srgbClr val="00B0F0"/>
                </a:solidFill>
              </a:rPr>
              <a:t>Y: </a:t>
            </a:r>
            <a:r>
              <a:rPr lang="en-US" dirty="0"/>
              <a:t>labor productivity change</a:t>
            </a:r>
          </a:p>
          <a:p>
            <a:r>
              <a:rPr lang="en-US" b="1" dirty="0">
                <a:solidFill>
                  <a:srgbClr val="00B0F0"/>
                </a:solidFill>
              </a:rPr>
              <a:t>Divers: </a:t>
            </a:r>
            <a:r>
              <a:rPr lang="en-US" dirty="0"/>
              <a:t>an indicator variable that takes the value of one for diversifying deals; </a:t>
            </a:r>
          </a:p>
          <a:p>
            <a:r>
              <a:rPr lang="en-US" b="1" dirty="0" err="1">
                <a:solidFill>
                  <a:srgbClr val="00B0F0"/>
                </a:solidFill>
              </a:rPr>
              <a:t>High_HCT</a:t>
            </a:r>
            <a:r>
              <a:rPr lang="en-US" b="1" dirty="0">
                <a:solidFill>
                  <a:srgbClr val="00B0F0"/>
                </a:solidFill>
              </a:rPr>
              <a:t>: </a:t>
            </a:r>
            <a:r>
              <a:rPr lang="en-US" dirty="0"/>
              <a:t>an indicator variable equal to one if the value of the HCT index is in the top quartile in our sample; </a:t>
            </a:r>
            <a:r>
              <a:rPr lang="en-US" b="1" dirty="0">
                <a:solidFill>
                  <a:srgbClr val="00B0F0"/>
                </a:solidFill>
              </a:rPr>
              <a:t>Three groups: </a:t>
            </a:r>
            <a:r>
              <a:rPr lang="en-US" dirty="0"/>
              <a:t>within-industry deals (Divers=0 and </a:t>
            </a:r>
            <a:r>
              <a:rPr lang="en-US" dirty="0" err="1"/>
              <a:t>Divers×High_HCT</a:t>
            </a:r>
            <a:r>
              <a:rPr lang="en-US" dirty="0"/>
              <a:t>=0), </a:t>
            </a:r>
          </a:p>
          <a:p>
            <a:r>
              <a:rPr lang="en-US" dirty="0"/>
              <a:t>                          low HCT diversifying deals (Divers=1 and </a:t>
            </a:r>
            <a:r>
              <a:rPr lang="en-US" dirty="0" err="1"/>
              <a:t>Divers×High_HCT</a:t>
            </a:r>
            <a:r>
              <a:rPr lang="en-US" dirty="0"/>
              <a:t>=0), </a:t>
            </a:r>
          </a:p>
          <a:p>
            <a:r>
              <a:rPr lang="en-US" dirty="0"/>
              <a:t>                          and high HCT diversifying deals (Divers=1 and </a:t>
            </a:r>
            <a:r>
              <a:rPr lang="en-US" dirty="0" err="1"/>
              <a:t>Divers×High_HCT</a:t>
            </a:r>
            <a:r>
              <a:rPr lang="en-US" dirty="0"/>
              <a:t>=1).</a:t>
            </a:r>
          </a:p>
        </p:txBody>
      </p:sp>
    </p:spTree>
    <p:extLst>
      <p:ext uri="{BB962C8B-B14F-4D97-AF65-F5344CB8AC3E}">
        <p14:creationId xmlns:p14="http://schemas.microsoft.com/office/powerpoint/2010/main" val="577293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Prediction3: HCT and post deal changes in labor productivity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7" name="Picture 6">
            <a:extLst>
              <a:ext uri="{FF2B5EF4-FFF2-40B4-BE49-F238E27FC236}">
                <a16:creationId xmlns:a16="http://schemas.microsoft.com/office/drawing/2014/main" id="{BFA05117-2989-D6D2-4A7E-D7E3A23EC767}"/>
              </a:ext>
            </a:extLst>
          </p:cNvPr>
          <p:cNvPicPr>
            <a:picLocks noChangeAspect="1"/>
          </p:cNvPicPr>
          <p:nvPr/>
        </p:nvPicPr>
        <p:blipFill>
          <a:blip r:embed="rId8"/>
          <a:stretch>
            <a:fillRect/>
          </a:stretch>
        </p:blipFill>
        <p:spPr>
          <a:xfrm>
            <a:off x="0" y="579513"/>
            <a:ext cx="7068536" cy="6058746"/>
          </a:xfrm>
          <a:prstGeom prst="rect">
            <a:avLst/>
          </a:prstGeom>
        </p:spPr>
      </p:pic>
      <p:sp>
        <p:nvSpPr>
          <p:cNvPr id="11" name="TextBox 10">
            <a:extLst>
              <a:ext uri="{FF2B5EF4-FFF2-40B4-BE49-F238E27FC236}">
                <a16:creationId xmlns:a16="http://schemas.microsoft.com/office/drawing/2014/main" id="{14C7E561-1E9E-01A6-069C-F6AD0B121937}"/>
              </a:ext>
            </a:extLst>
          </p:cNvPr>
          <p:cNvSpPr txBox="1"/>
          <p:nvPr/>
        </p:nvSpPr>
        <p:spPr>
          <a:xfrm>
            <a:off x="7237562" y="715992"/>
            <a:ext cx="4451230" cy="923330"/>
          </a:xfrm>
          <a:prstGeom prst="rect">
            <a:avLst/>
          </a:prstGeom>
          <a:noFill/>
        </p:spPr>
        <p:txBody>
          <a:bodyPr wrap="square">
            <a:spAutoFit/>
          </a:bodyPr>
          <a:lstStyle/>
          <a:p>
            <a:r>
              <a:rPr lang="en-US" dirty="0">
                <a:solidFill>
                  <a:srgbClr val="00B0F0"/>
                </a:solidFill>
              </a:rPr>
              <a:t>Relative size and ln(Employment):</a:t>
            </a:r>
          </a:p>
          <a:p>
            <a:r>
              <a:rPr lang="en-US" dirty="0"/>
              <a:t>Significant negative; higher costs of integrating new workers in larger deals</a:t>
            </a:r>
          </a:p>
        </p:txBody>
      </p:sp>
      <p:sp>
        <p:nvSpPr>
          <p:cNvPr id="13" name="TextBox 12">
            <a:extLst>
              <a:ext uri="{FF2B5EF4-FFF2-40B4-BE49-F238E27FC236}">
                <a16:creationId xmlns:a16="http://schemas.microsoft.com/office/drawing/2014/main" id="{2BCAC7A2-AE6E-8213-7D94-F6F378505588}"/>
              </a:ext>
            </a:extLst>
          </p:cNvPr>
          <p:cNvSpPr txBox="1"/>
          <p:nvPr/>
        </p:nvSpPr>
        <p:spPr>
          <a:xfrm>
            <a:off x="7321398" y="1924215"/>
            <a:ext cx="4617740" cy="923330"/>
          </a:xfrm>
          <a:prstGeom prst="rect">
            <a:avLst/>
          </a:prstGeom>
          <a:noFill/>
        </p:spPr>
        <p:txBody>
          <a:bodyPr wrap="square">
            <a:spAutoFit/>
          </a:bodyPr>
          <a:lstStyle/>
          <a:p>
            <a:r>
              <a:rPr lang="en-US" dirty="0"/>
              <a:t>High-HCT deals have an 18.4-percentage-point larger increase in labor productivity than other diversifying deals</a:t>
            </a:r>
          </a:p>
        </p:txBody>
      </p:sp>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02E4FC5A-DEED-C9D4-7F88-92934B41F1C2}"/>
                  </a:ext>
                </a:extLst>
              </p14:cNvPr>
              <p14:cNvContentPartPr/>
              <p14:nvPr/>
            </p14:nvContentPartPr>
            <p14:xfrm>
              <a:off x="67533" y="2979413"/>
              <a:ext cx="6409440" cy="64080"/>
            </p14:xfrm>
          </p:contentPart>
        </mc:Choice>
        <mc:Fallback>
          <p:pic>
            <p:nvPicPr>
              <p:cNvPr id="6" name="Ink 5">
                <a:extLst>
                  <a:ext uri="{FF2B5EF4-FFF2-40B4-BE49-F238E27FC236}">
                    <a16:creationId xmlns:a16="http://schemas.microsoft.com/office/drawing/2014/main" id="{02E4FC5A-DEED-C9D4-7F88-92934B41F1C2}"/>
                  </a:ext>
                </a:extLst>
              </p:cNvPr>
              <p:cNvPicPr/>
              <p:nvPr/>
            </p:nvPicPr>
            <p:blipFill>
              <a:blip r:embed="rId10"/>
              <a:stretch>
                <a:fillRect/>
              </a:stretch>
            </p:blipFill>
            <p:spPr>
              <a:xfrm>
                <a:off x="49893" y="2943773"/>
                <a:ext cx="64450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9E4611BF-797A-2DE7-FD09-BA789B1FE711}"/>
                  </a:ext>
                </a:extLst>
              </p14:cNvPr>
              <p14:cNvContentPartPr/>
              <p14:nvPr/>
            </p14:nvContentPartPr>
            <p14:xfrm>
              <a:off x="50613" y="3352733"/>
              <a:ext cx="6429240" cy="61560"/>
            </p14:xfrm>
          </p:contentPart>
        </mc:Choice>
        <mc:Fallback>
          <p:pic>
            <p:nvPicPr>
              <p:cNvPr id="8" name="Ink 7">
                <a:extLst>
                  <a:ext uri="{FF2B5EF4-FFF2-40B4-BE49-F238E27FC236}">
                    <a16:creationId xmlns:a16="http://schemas.microsoft.com/office/drawing/2014/main" id="{9E4611BF-797A-2DE7-FD09-BA789B1FE711}"/>
                  </a:ext>
                </a:extLst>
              </p:cNvPr>
              <p:cNvPicPr/>
              <p:nvPr/>
            </p:nvPicPr>
            <p:blipFill>
              <a:blip r:embed="rId12"/>
              <a:stretch>
                <a:fillRect/>
              </a:stretch>
            </p:blipFill>
            <p:spPr>
              <a:xfrm>
                <a:off x="32613" y="3316733"/>
                <a:ext cx="6464880" cy="133200"/>
              </a:xfrm>
              <a:prstGeom prst="rect">
                <a:avLst/>
              </a:prstGeom>
            </p:spPr>
          </p:pic>
        </mc:Fallback>
      </mc:AlternateContent>
    </p:spTree>
    <p:extLst>
      <p:ext uri="{BB962C8B-B14F-4D97-AF65-F5344CB8AC3E}">
        <p14:creationId xmlns:p14="http://schemas.microsoft.com/office/powerpoint/2010/main" val="2689134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558800" y="39671"/>
            <a:ext cx="11223199" cy="397396"/>
          </a:xfrm>
        </p:spPr>
        <p:txBody>
          <a:bodyPr>
            <a:noAutofit/>
          </a:bodyPr>
          <a:lstStyle/>
          <a:p>
            <a:r>
              <a:rPr lang="en-US" sz="2400" b="1" dirty="0">
                <a:solidFill>
                  <a:srgbClr val="FF0000"/>
                </a:solidFill>
              </a:rPr>
              <a:t>Identification: Variation in the enforcement of noncompete agreements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8" name="Picture 7">
            <a:extLst>
              <a:ext uri="{FF2B5EF4-FFF2-40B4-BE49-F238E27FC236}">
                <a16:creationId xmlns:a16="http://schemas.microsoft.com/office/drawing/2014/main" id="{CA709985-11F0-81E3-08B5-5761837D1055}"/>
              </a:ext>
            </a:extLst>
          </p:cNvPr>
          <p:cNvPicPr>
            <a:picLocks noChangeAspect="1"/>
          </p:cNvPicPr>
          <p:nvPr/>
        </p:nvPicPr>
        <p:blipFill>
          <a:blip r:embed="rId8"/>
          <a:stretch>
            <a:fillRect/>
          </a:stretch>
        </p:blipFill>
        <p:spPr>
          <a:xfrm>
            <a:off x="131252" y="875623"/>
            <a:ext cx="7306695" cy="4858428"/>
          </a:xfrm>
          <a:prstGeom prst="rect">
            <a:avLst/>
          </a:prstGeom>
        </p:spPr>
      </p:pic>
      <p:sp>
        <p:nvSpPr>
          <p:cNvPr id="10" name="TextBox 9">
            <a:extLst>
              <a:ext uri="{FF2B5EF4-FFF2-40B4-BE49-F238E27FC236}">
                <a16:creationId xmlns:a16="http://schemas.microsoft.com/office/drawing/2014/main" id="{9D7BAAE3-51BA-AE86-EA2A-2540B8767E82}"/>
              </a:ext>
            </a:extLst>
          </p:cNvPr>
          <p:cNvSpPr txBox="1"/>
          <p:nvPr/>
        </p:nvSpPr>
        <p:spPr>
          <a:xfrm>
            <a:off x="7569199" y="1206894"/>
            <a:ext cx="4212800" cy="923330"/>
          </a:xfrm>
          <a:prstGeom prst="rect">
            <a:avLst/>
          </a:prstGeom>
          <a:noFill/>
        </p:spPr>
        <p:txBody>
          <a:bodyPr wrap="square">
            <a:spAutoFit/>
          </a:bodyPr>
          <a:lstStyle/>
          <a:p>
            <a:r>
              <a:rPr lang="en-US" dirty="0"/>
              <a:t>Stronger enforcement of NCAs (noncompete agreements) decreases worker mobility in external labor markets</a:t>
            </a:r>
          </a:p>
        </p:txBody>
      </p:sp>
    </p:spTree>
    <p:extLst>
      <p:ext uri="{BB962C8B-B14F-4D97-AF65-F5344CB8AC3E}">
        <p14:creationId xmlns:p14="http://schemas.microsoft.com/office/powerpoint/2010/main" val="402461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558800" y="39671"/>
            <a:ext cx="11223199" cy="397396"/>
          </a:xfrm>
        </p:spPr>
        <p:txBody>
          <a:bodyPr>
            <a:noAutofit/>
          </a:bodyPr>
          <a:lstStyle/>
          <a:p>
            <a:r>
              <a:rPr lang="en-US" sz="2400" b="1" dirty="0">
                <a:solidFill>
                  <a:srgbClr val="FF0000"/>
                </a:solidFill>
              </a:rPr>
              <a:t>Identification: Variation in the enforcement of noncompete agreements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7" name="Picture 6">
            <a:extLst>
              <a:ext uri="{FF2B5EF4-FFF2-40B4-BE49-F238E27FC236}">
                <a16:creationId xmlns:a16="http://schemas.microsoft.com/office/drawing/2014/main" id="{57F48F0F-C96D-E902-89A9-DE60CB16AED0}"/>
              </a:ext>
            </a:extLst>
          </p:cNvPr>
          <p:cNvPicPr>
            <a:picLocks noChangeAspect="1"/>
          </p:cNvPicPr>
          <p:nvPr/>
        </p:nvPicPr>
        <p:blipFill>
          <a:blip r:embed="rId8"/>
          <a:stretch>
            <a:fillRect/>
          </a:stretch>
        </p:blipFill>
        <p:spPr>
          <a:xfrm>
            <a:off x="217560" y="409437"/>
            <a:ext cx="5556707" cy="5886590"/>
          </a:xfrm>
          <a:prstGeom prst="rect">
            <a:avLst/>
          </a:prstGeom>
        </p:spPr>
      </p:pic>
      <p:sp>
        <p:nvSpPr>
          <p:cNvPr id="10" name="TextBox 9">
            <a:extLst>
              <a:ext uri="{FF2B5EF4-FFF2-40B4-BE49-F238E27FC236}">
                <a16:creationId xmlns:a16="http://schemas.microsoft.com/office/drawing/2014/main" id="{CD4EC35E-56C7-DE92-5C2A-8FC31AEF5481}"/>
              </a:ext>
            </a:extLst>
          </p:cNvPr>
          <p:cNvSpPr txBox="1"/>
          <p:nvPr/>
        </p:nvSpPr>
        <p:spPr>
          <a:xfrm>
            <a:off x="7035800" y="1230015"/>
            <a:ext cx="4233333" cy="1200329"/>
          </a:xfrm>
          <a:prstGeom prst="rect">
            <a:avLst/>
          </a:prstGeom>
          <a:noFill/>
        </p:spPr>
        <p:txBody>
          <a:bodyPr wrap="square">
            <a:spAutoFit/>
          </a:bodyPr>
          <a:lstStyle/>
          <a:p>
            <a:r>
              <a:rPr lang="en-US" dirty="0"/>
              <a:t>significantly larger increases in labor productivity in high-HCT deals among acquirers operating in high NCA enforceability regimes</a:t>
            </a:r>
          </a:p>
        </p:txBody>
      </p:sp>
    </p:spTree>
    <p:extLst>
      <p:ext uri="{BB962C8B-B14F-4D97-AF65-F5344CB8AC3E}">
        <p14:creationId xmlns:p14="http://schemas.microsoft.com/office/powerpoint/2010/main" val="4206570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484400" y="158895"/>
            <a:ext cx="11223199" cy="397396"/>
          </a:xfrm>
          <a:effectLst>
            <a:outerShdw blurRad="25400" dir="17880000">
              <a:srgbClr val="000000">
                <a:alpha val="46000"/>
              </a:srgbClr>
            </a:outerShdw>
          </a:effectLst>
        </p:spPr>
        <p:txBody>
          <a:bodyPr vert="horz" lIns="91440" tIns="45720" rIns="91440" bIns="45720" rtlCol="0" anchor="b">
            <a:noAutofit/>
          </a:bodyPr>
          <a:lstStyle/>
          <a:p>
            <a:r>
              <a:rPr lang="en-US" sz="2400" b="1" dirty="0">
                <a:solidFill>
                  <a:srgbClr val="FF0000"/>
                </a:solidFill>
              </a:rPr>
              <a:t>Alternative performance measure: Stock market reactions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8" name="Picture 7">
            <a:extLst>
              <a:ext uri="{FF2B5EF4-FFF2-40B4-BE49-F238E27FC236}">
                <a16:creationId xmlns:a16="http://schemas.microsoft.com/office/drawing/2014/main" id="{DD2E7ADB-296C-C561-CA27-50EBC93A2B0A}"/>
              </a:ext>
            </a:extLst>
          </p:cNvPr>
          <p:cNvPicPr>
            <a:picLocks noChangeAspect="1"/>
          </p:cNvPicPr>
          <p:nvPr/>
        </p:nvPicPr>
        <p:blipFill>
          <a:blip r:embed="rId8"/>
          <a:stretch>
            <a:fillRect/>
          </a:stretch>
        </p:blipFill>
        <p:spPr>
          <a:xfrm>
            <a:off x="0" y="465666"/>
            <a:ext cx="6895425" cy="6858000"/>
          </a:xfrm>
          <a:prstGeom prst="rect">
            <a:avLst/>
          </a:prstGeom>
        </p:spPr>
      </p:pic>
      <p:sp>
        <p:nvSpPr>
          <p:cNvPr id="11" name="TextBox 10">
            <a:extLst>
              <a:ext uri="{FF2B5EF4-FFF2-40B4-BE49-F238E27FC236}">
                <a16:creationId xmlns:a16="http://schemas.microsoft.com/office/drawing/2014/main" id="{B4C18BF3-4E0C-CB5E-F3FD-89205E3DF52D}"/>
              </a:ext>
            </a:extLst>
          </p:cNvPr>
          <p:cNvSpPr txBox="1"/>
          <p:nvPr/>
        </p:nvSpPr>
        <p:spPr>
          <a:xfrm>
            <a:off x="7222065" y="702684"/>
            <a:ext cx="4485534" cy="1200329"/>
          </a:xfrm>
          <a:prstGeom prst="rect">
            <a:avLst/>
          </a:prstGeom>
          <a:noFill/>
        </p:spPr>
        <p:txBody>
          <a:bodyPr wrap="square">
            <a:spAutoFit/>
          </a:bodyPr>
          <a:lstStyle/>
          <a:p>
            <a:r>
              <a:rPr lang="en-US" dirty="0"/>
              <a:t>The combined CARs at the announcement are higher among high-HCT than among low-HCT deals.</a:t>
            </a:r>
          </a:p>
          <a:p>
            <a:endParaRPr lang="en-US" dirty="0"/>
          </a:p>
        </p:txBody>
      </p:sp>
    </p:spTree>
    <p:extLst>
      <p:ext uri="{BB962C8B-B14F-4D97-AF65-F5344CB8AC3E}">
        <p14:creationId xmlns:p14="http://schemas.microsoft.com/office/powerpoint/2010/main" val="2244236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484400" y="158895"/>
            <a:ext cx="11223199" cy="397396"/>
          </a:xfrm>
          <a:effectLst>
            <a:outerShdw blurRad="25400" dir="17880000">
              <a:srgbClr val="000000">
                <a:alpha val="46000"/>
              </a:srgbClr>
            </a:outerShdw>
          </a:effectLst>
        </p:spPr>
        <p:txBody>
          <a:bodyPr vert="horz" lIns="91440" tIns="45720" rIns="91440" bIns="45720" rtlCol="0" anchor="b">
            <a:noAutofit/>
          </a:bodyPr>
          <a:lstStyle/>
          <a:p>
            <a:r>
              <a:rPr lang="en-US" sz="2400" b="1" dirty="0">
                <a:solidFill>
                  <a:srgbClr val="FF0000"/>
                </a:solidFill>
              </a:rPr>
              <a:t>Prediction4: Human Capital Transferability and Worker Outcomes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7" name="Picture 6">
            <a:extLst>
              <a:ext uri="{FF2B5EF4-FFF2-40B4-BE49-F238E27FC236}">
                <a16:creationId xmlns:a16="http://schemas.microsoft.com/office/drawing/2014/main" id="{A030A3EA-573F-38B6-0BA9-3D6D7F52CAEA}"/>
              </a:ext>
            </a:extLst>
          </p:cNvPr>
          <p:cNvPicPr>
            <a:picLocks noChangeAspect="1"/>
          </p:cNvPicPr>
          <p:nvPr/>
        </p:nvPicPr>
        <p:blipFill>
          <a:blip r:embed="rId8"/>
          <a:stretch>
            <a:fillRect/>
          </a:stretch>
        </p:blipFill>
        <p:spPr>
          <a:xfrm>
            <a:off x="1359319" y="1113028"/>
            <a:ext cx="6849431" cy="1276528"/>
          </a:xfrm>
          <a:prstGeom prst="rect">
            <a:avLst/>
          </a:prstGeom>
        </p:spPr>
      </p:pic>
      <p:sp>
        <p:nvSpPr>
          <p:cNvPr id="10" name="TextBox 9">
            <a:extLst>
              <a:ext uri="{FF2B5EF4-FFF2-40B4-BE49-F238E27FC236}">
                <a16:creationId xmlns:a16="http://schemas.microsoft.com/office/drawing/2014/main" id="{8FB4A54D-6CA1-AF42-8755-EEFE92EA9C29}"/>
              </a:ext>
            </a:extLst>
          </p:cNvPr>
          <p:cNvSpPr txBox="1"/>
          <p:nvPr/>
        </p:nvSpPr>
        <p:spPr>
          <a:xfrm>
            <a:off x="612250" y="2878215"/>
            <a:ext cx="11370366" cy="2031325"/>
          </a:xfrm>
          <a:prstGeom prst="rect">
            <a:avLst/>
          </a:prstGeom>
          <a:noFill/>
        </p:spPr>
        <p:txBody>
          <a:bodyPr wrap="square">
            <a:spAutoFit/>
          </a:bodyPr>
          <a:lstStyle/>
          <a:p>
            <a:r>
              <a:rPr lang="en-US" b="1" dirty="0">
                <a:solidFill>
                  <a:srgbClr val="0070C0"/>
                </a:solidFill>
              </a:rPr>
              <a:t>Divers: </a:t>
            </a:r>
            <a:r>
              <a:rPr lang="en-US" dirty="0"/>
              <a:t>an indicator variable equal to one if the acquirer and target do not operate in any common </a:t>
            </a:r>
            <a:r>
              <a:rPr lang="en-US" dirty="0" err="1"/>
              <a:t>Fama</a:t>
            </a:r>
            <a:r>
              <a:rPr lang="en-US" dirty="0"/>
              <a:t>-French industry groups prior to the acquisition. </a:t>
            </a:r>
          </a:p>
          <a:p>
            <a:r>
              <a:rPr lang="en-US" b="1" dirty="0">
                <a:solidFill>
                  <a:srgbClr val="0070C0"/>
                </a:solidFill>
              </a:rPr>
              <a:t>Low HCT and High HCT: </a:t>
            </a:r>
            <a:r>
              <a:rPr lang="en-US" dirty="0"/>
              <a:t>indicator variables that equal one if the value of the HCT index measured one year prior to the deal is below or above the median, respectively. </a:t>
            </a:r>
          </a:p>
          <a:p>
            <a:r>
              <a:rPr lang="en-US" b="1" dirty="0">
                <a:solidFill>
                  <a:srgbClr val="0070C0"/>
                </a:solidFill>
              </a:rPr>
              <a:t>Three groups : </a:t>
            </a:r>
            <a:r>
              <a:rPr lang="en-US" dirty="0"/>
              <a:t>within-industry acquisitions (Divers × </a:t>
            </a:r>
            <a:r>
              <a:rPr lang="en-US" dirty="0" err="1"/>
              <a:t>LowHCT</a:t>
            </a:r>
            <a:r>
              <a:rPr lang="en-US" dirty="0"/>
              <a:t> =0andDivers×HighHCT =0),</a:t>
            </a:r>
          </a:p>
          <a:p>
            <a:r>
              <a:rPr lang="en-US" dirty="0"/>
              <a:t>                       diversifying acquisitions with low-HCT (Divers × Low HCT =1 and Divers × High HCT =0), </a:t>
            </a:r>
          </a:p>
          <a:p>
            <a:r>
              <a:rPr lang="en-US" dirty="0"/>
              <a:t>                       and diversifying acquisitions with high-HCT (Divers × Low HCT =0 and Divers × High HCT =1).</a:t>
            </a:r>
          </a:p>
        </p:txBody>
      </p:sp>
    </p:spTree>
    <p:extLst>
      <p:ext uri="{BB962C8B-B14F-4D97-AF65-F5344CB8AC3E}">
        <p14:creationId xmlns:p14="http://schemas.microsoft.com/office/powerpoint/2010/main" val="4103948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484400" y="158895"/>
            <a:ext cx="11223199" cy="397396"/>
          </a:xfrm>
          <a:effectLst>
            <a:outerShdw blurRad="25400" dir="17880000">
              <a:srgbClr val="000000">
                <a:alpha val="46000"/>
              </a:srgbClr>
            </a:outerShdw>
          </a:effectLst>
        </p:spPr>
        <p:txBody>
          <a:bodyPr vert="horz" lIns="91440" tIns="45720" rIns="91440" bIns="45720" rtlCol="0" anchor="b">
            <a:noAutofit/>
          </a:bodyPr>
          <a:lstStyle/>
          <a:p>
            <a:r>
              <a:rPr lang="en-US" sz="2400" b="1" dirty="0">
                <a:solidFill>
                  <a:srgbClr val="FF0000"/>
                </a:solidFill>
              </a:rPr>
              <a:t>Prediction4: Human Capital Transferability and Worker Outcomes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8" name="Picture 7">
            <a:extLst>
              <a:ext uri="{FF2B5EF4-FFF2-40B4-BE49-F238E27FC236}">
                <a16:creationId xmlns:a16="http://schemas.microsoft.com/office/drawing/2014/main" id="{CF8F4AAF-84CF-8751-F952-D9BF99E41C29}"/>
              </a:ext>
            </a:extLst>
          </p:cNvPr>
          <p:cNvPicPr>
            <a:picLocks noChangeAspect="1"/>
          </p:cNvPicPr>
          <p:nvPr/>
        </p:nvPicPr>
        <p:blipFill>
          <a:blip r:embed="rId8"/>
          <a:stretch>
            <a:fillRect/>
          </a:stretch>
        </p:blipFill>
        <p:spPr>
          <a:xfrm>
            <a:off x="111318" y="491938"/>
            <a:ext cx="5287617" cy="5832880"/>
          </a:xfrm>
          <a:prstGeom prst="rect">
            <a:avLst/>
          </a:prstGeom>
        </p:spPr>
      </p:pic>
      <p:sp>
        <p:nvSpPr>
          <p:cNvPr id="11" name="TextBox 10">
            <a:extLst>
              <a:ext uri="{FF2B5EF4-FFF2-40B4-BE49-F238E27FC236}">
                <a16:creationId xmlns:a16="http://schemas.microsoft.com/office/drawing/2014/main" id="{CFBCA4F6-FE04-68A8-F475-2217B6257B16}"/>
              </a:ext>
            </a:extLst>
          </p:cNvPr>
          <p:cNvSpPr txBox="1"/>
          <p:nvPr/>
        </p:nvSpPr>
        <p:spPr>
          <a:xfrm>
            <a:off x="5612925" y="635652"/>
            <a:ext cx="6094674" cy="2585323"/>
          </a:xfrm>
          <a:prstGeom prst="rect">
            <a:avLst/>
          </a:prstGeom>
          <a:noFill/>
        </p:spPr>
        <p:txBody>
          <a:bodyPr wrap="square">
            <a:spAutoFit/>
          </a:bodyPr>
          <a:lstStyle/>
          <a:p>
            <a:endParaRPr lang="en-US" dirty="0"/>
          </a:p>
          <a:p>
            <a:r>
              <a:rPr lang="en-US" dirty="0"/>
              <a:t>The marginal effect of high human capital transferability on the likelihood of retaining high-skilled workers is positive and significant </a:t>
            </a:r>
          </a:p>
          <a:p>
            <a:endParaRPr lang="en-US" dirty="0"/>
          </a:p>
          <a:p>
            <a:endParaRPr lang="en-US" dirty="0"/>
          </a:p>
          <a:p>
            <a:r>
              <a:rPr lang="en-US" dirty="0"/>
              <a:t>Female workers, higher-wage workers, and workers with more experience (age, tenure) are more likely to remain with the merged firm. Managers are unlikely to be retained. </a:t>
            </a:r>
          </a:p>
        </p:txBody>
      </p:sp>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18D925B6-D83E-DFBD-8601-3A7EDAFF89D4}"/>
                  </a:ext>
                </a:extLst>
              </p14:cNvPr>
              <p14:cNvContentPartPr/>
              <p14:nvPr/>
            </p14:nvContentPartPr>
            <p14:xfrm>
              <a:off x="2675373" y="2310893"/>
              <a:ext cx="2377800" cy="111240"/>
            </p14:xfrm>
          </p:contentPart>
        </mc:Choice>
        <mc:Fallback>
          <p:pic>
            <p:nvPicPr>
              <p:cNvPr id="6" name="Ink 5">
                <a:extLst>
                  <a:ext uri="{FF2B5EF4-FFF2-40B4-BE49-F238E27FC236}">
                    <a16:creationId xmlns:a16="http://schemas.microsoft.com/office/drawing/2014/main" id="{18D925B6-D83E-DFBD-8601-3A7EDAFF89D4}"/>
                  </a:ext>
                </a:extLst>
              </p:cNvPr>
              <p:cNvPicPr/>
              <p:nvPr/>
            </p:nvPicPr>
            <p:blipFill>
              <a:blip r:embed="rId10"/>
              <a:stretch>
                <a:fillRect/>
              </a:stretch>
            </p:blipFill>
            <p:spPr>
              <a:xfrm>
                <a:off x="2657373" y="2274893"/>
                <a:ext cx="241344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519855C4-8A0F-1E09-CBE3-DA61D857598D}"/>
                  </a:ext>
                </a:extLst>
              </p14:cNvPr>
              <p14:cNvContentPartPr/>
              <p14:nvPr/>
            </p14:nvContentPartPr>
            <p14:xfrm>
              <a:off x="177693" y="2278133"/>
              <a:ext cx="1271880" cy="16560"/>
            </p14:xfrm>
          </p:contentPart>
        </mc:Choice>
        <mc:Fallback>
          <p:pic>
            <p:nvPicPr>
              <p:cNvPr id="7" name="Ink 6">
                <a:extLst>
                  <a:ext uri="{FF2B5EF4-FFF2-40B4-BE49-F238E27FC236}">
                    <a16:creationId xmlns:a16="http://schemas.microsoft.com/office/drawing/2014/main" id="{519855C4-8A0F-1E09-CBE3-DA61D857598D}"/>
                  </a:ext>
                </a:extLst>
              </p:cNvPr>
              <p:cNvPicPr/>
              <p:nvPr/>
            </p:nvPicPr>
            <p:blipFill>
              <a:blip r:embed="rId12"/>
              <a:stretch>
                <a:fillRect/>
              </a:stretch>
            </p:blipFill>
            <p:spPr>
              <a:xfrm>
                <a:off x="159693" y="2242133"/>
                <a:ext cx="1307520" cy="88200"/>
              </a:xfrm>
              <a:prstGeom prst="rect">
                <a:avLst/>
              </a:prstGeom>
            </p:spPr>
          </p:pic>
        </mc:Fallback>
      </mc:AlternateContent>
    </p:spTree>
    <p:extLst>
      <p:ext uri="{BB962C8B-B14F-4D97-AF65-F5344CB8AC3E}">
        <p14:creationId xmlns:p14="http://schemas.microsoft.com/office/powerpoint/2010/main" val="1855597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484400" y="158895"/>
            <a:ext cx="11223199" cy="397396"/>
          </a:xfrm>
          <a:effectLst>
            <a:outerShdw blurRad="25400" dir="17880000">
              <a:srgbClr val="000000">
                <a:alpha val="46000"/>
              </a:srgbClr>
            </a:outerShdw>
          </a:effectLst>
        </p:spPr>
        <p:txBody>
          <a:bodyPr vert="horz" lIns="91440" tIns="45720" rIns="91440" bIns="45720" rtlCol="0" anchor="b">
            <a:noAutofit/>
          </a:bodyPr>
          <a:lstStyle/>
          <a:p>
            <a:r>
              <a:rPr lang="en-US" sz="2400" b="1" dirty="0">
                <a:solidFill>
                  <a:srgbClr val="FF0000"/>
                </a:solidFill>
              </a:rPr>
              <a:t>Worker internal movement</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7" name="Picture 6">
            <a:extLst>
              <a:ext uri="{FF2B5EF4-FFF2-40B4-BE49-F238E27FC236}">
                <a16:creationId xmlns:a16="http://schemas.microsoft.com/office/drawing/2014/main" id="{86B567EF-D4C5-4E4B-AC8B-FFF57CB29C07}"/>
              </a:ext>
            </a:extLst>
          </p:cNvPr>
          <p:cNvPicPr>
            <a:picLocks noChangeAspect="1"/>
          </p:cNvPicPr>
          <p:nvPr/>
        </p:nvPicPr>
        <p:blipFill>
          <a:blip r:embed="rId8"/>
          <a:stretch>
            <a:fillRect/>
          </a:stretch>
        </p:blipFill>
        <p:spPr>
          <a:xfrm>
            <a:off x="6390228" y="2254833"/>
            <a:ext cx="5506218" cy="371527"/>
          </a:xfrm>
          <a:prstGeom prst="rect">
            <a:avLst/>
          </a:prstGeom>
        </p:spPr>
      </p:pic>
      <p:pic>
        <p:nvPicPr>
          <p:cNvPr id="10" name="Picture 9">
            <a:extLst>
              <a:ext uri="{FF2B5EF4-FFF2-40B4-BE49-F238E27FC236}">
                <a16:creationId xmlns:a16="http://schemas.microsoft.com/office/drawing/2014/main" id="{7AF1AE03-EF75-03FD-BAB8-9B47FA660E1C}"/>
              </a:ext>
            </a:extLst>
          </p:cNvPr>
          <p:cNvPicPr>
            <a:picLocks noChangeAspect="1"/>
          </p:cNvPicPr>
          <p:nvPr/>
        </p:nvPicPr>
        <p:blipFill>
          <a:blip r:embed="rId9"/>
          <a:stretch>
            <a:fillRect/>
          </a:stretch>
        </p:blipFill>
        <p:spPr>
          <a:xfrm>
            <a:off x="35956" y="484045"/>
            <a:ext cx="6060043" cy="5889909"/>
          </a:xfrm>
          <a:prstGeom prst="rect">
            <a:avLst/>
          </a:prstGeom>
        </p:spPr>
      </p:pic>
      <p:sp>
        <p:nvSpPr>
          <p:cNvPr id="13" name="TextBox 12">
            <a:extLst>
              <a:ext uri="{FF2B5EF4-FFF2-40B4-BE49-F238E27FC236}">
                <a16:creationId xmlns:a16="http://schemas.microsoft.com/office/drawing/2014/main" id="{7C9992FD-2F7A-217C-D58B-B265E35B9E6D}"/>
              </a:ext>
            </a:extLst>
          </p:cNvPr>
          <p:cNvSpPr txBox="1"/>
          <p:nvPr/>
        </p:nvSpPr>
        <p:spPr>
          <a:xfrm>
            <a:off x="6233073" y="956472"/>
            <a:ext cx="6094674" cy="923330"/>
          </a:xfrm>
          <a:prstGeom prst="rect">
            <a:avLst/>
          </a:prstGeom>
          <a:noFill/>
        </p:spPr>
        <p:txBody>
          <a:bodyPr wrap="square">
            <a:spAutoFit/>
          </a:bodyPr>
          <a:lstStyle/>
          <a:p>
            <a:r>
              <a:rPr lang="en-US" dirty="0"/>
              <a:t>This table presents, estimates from linear probability models on the sample of workers from target firms  who were retained following diversifying acquisitions.</a:t>
            </a:r>
          </a:p>
        </p:txBody>
      </p:sp>
      <p:sp>
        <p:nvSpPr>
          <p:cNvPr id="15" name="TextBox 14">
            <a:extLst>
              <a:ext uri="{FF2B5EF4-FFF2-40B4-BE49-F238E27FC236}">
                <a16:creationId xmlns:a16="http://schemas.microsoft.com/office/drawing/2014/main" id="{F4DF6783-D15D-AAFD-7E5B-C02DC2FCBCBD}"/>
              </a:ext>
            </a:extLst>
          </p:cNvPr>
          <p:cNvSpPr txBox="1"/>
          <p:nvPr/>
        </p:nvSpPr>
        <p:spPr>
          <a:xfrm>
            <a:off x="6355561" y="2834295"/>
            <a:ext cx="6170212" cy="923330"/>
          </a:xfrm>
          <a:prstGeom prst="rect">
            <a:avLst/>
          </a:prstGeom>
          <a:noFill/>
        </p:spPr>
        <p:txBody>
          <a:bodyPr wrap="square">
            <a:spAutoFit/>
          </a:bodyPr>
          <a:lstStyle/>
          <a:p>
            <a:r>
              <a:rPr lang="en-US" dirty="0"/>
              <a:t>Move is an indicator variable equal to one if the worker moved to one of the acquirer’s </a:t>
            </a:r>
            <a:r>
              <a:rPr lang="en-US" dirty="0" err="1"/>
              <a:t>predeal</a:t>
            </a:r>
            <a:r>
              <a:rPr lang="en-US" dirty="0"/>
              <a:t> reporting units after the acquisition, thereby changing industries</a:t>
            </a:r>
          </a:p>
        </p:txBody>
      </p:sp>
      <p:sp>
        <p:nvSpPr>
          <p:cNvPr id="17" name="TextBox 16">
            <a:extLst>
              <a:ext uri="{FF2B5EF4-FFF2-40B4-BE49-F238E27FC236}">
                <a16:creationId xmlns:a16="http://schemas.microsoft.com/office/drawing/2014/main" id="{3042A6B5-5DA2-1CE2-9B03-2E28E0BF93C3}"/>
              </a:ext>
            </a:extLst>
          </p:cNvPr>
          <p:cNvSpPr txBox="1"/>
          <p:nvPr/>
        </p:nvSpPr>
        <p:spPr>
          <a:xfrm>
            <a:off x="6355561" y="4060203"/>
            <a:ext cx="4875656" cy="1200329"/>
          </a:xfrm>
          <a:prstGeom prst="rect">
            <a:avLst/>
          </a:prstGeom>
          <a:noFill/>
        </p:spPr>
        <p:txBody>
          <a:bodyPr wrap="square">
            <a:spAutoFit/>
          </a:bodyPr>
          <a:lstStyle/>
          <a:p>
            <a:r>
              <a:rPr lang="en-US" dirty="0"/>
              <a:t>the workers from the targets in high-HCT deals are more likely to move to the acquirer’s units following the merger</a:t>
            </a:r>
          </a:p>
          <a:p>
            <a:endParaRPr lang="en-US" dirty="0"/>
          </a:p>
        </p:txBody>
      </p:sp>
    </p:spTree>
    <p:extLst>
      <p:ext uri="{BB962C8B-B14F-4D97-AF65-F5344CB8AC3E}">
        <p14:creationId xmlns:p14="http://schemas.microsoft.com/office/powerpoint/2010/main" val="4007553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484400" y="158895"/>
            <a:ext cx="11223199" cy="397396"/>
          </a:xfrm>
          <a:effectLst>
            <a:outerShdw blurRad="25400" dir="17880000">
              <a:srgbClr val="000000">
                <a:alpha val="46000"/>
              </a:srgbClr>
            </a:outerShdw>
          </a:effectLst>
        </p:spPr>
        <p:txBody>
          <a:bodyPr vert="horz" lIns="91440" tIns="45720" rIns="91440" bIns="45720" rtlCol="0" anchor="b">
            <a:noAutofit/>
          </a:bodyPr>
          <a:lstStyle/>
          <a:p>
            <a:r>
              <a:rPr lang="en-US" sz="2400" b="1" dirty="0">
                <a:solidFill>
                  <a:srgbClr val="FF0000"/>
                </a:solidFill>
              </a:rPr>
              <a:t>Human Capital Transferability and Firm Composition</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0447EF-FCD1-8B8D-4252-239C2A534306}"/>
                  </a:ext>
                </a:extLst>
              </p14:cNvPr>
              <p14:cNvContentPartPr/>
              <p14:nvPr/>
            </p14:nvContentPartPr>
            <p14:xfrm>
              <a:off x="2751333" y="2946293"/>
              <a:ext cx="360" cy="360"/>
            </p14:xfrm>
          </p:contentPart>
        </mc:Choice>
        <mc:Fallback xmlns="">
          <p:pic>
            <p:nvPicPr>
              <p:cNvPr id="2" name="Ink 1">
                <a:extLst>
                  <a:ext uri="{FF2B5EF4-FFF2-40B4-BE49-F238E27FC236}">
                    <a16:creationId xmlns:a16="http://schemas.microsoft.com/office/drawing/2014/main" id="{580447EF-FCD1-8B8D-4252-239C2A534306}"/>
                  </a:ext>
                </a:extLst>
              </p:cNvPr>
              <p:cNvPicPr/>
              <p:nvPr/>
            </p:nvPicPr>
            <p:blipFill>
              <a:blip r:embed="rId4"/>
              <a:stretch>
                <a:fillRect/>
              </a:stretch>
            </p:blipFill>
            <p:spPr>
              <a:xfrm>
                <a:off x="2733333" y="2910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397F8F-5775-E892-A298-EF6697F44A7D}"/>
                  </a:ext>
                </a:extLst>
              </p14:cNvPr>
              <p14:cNvContentPartPr/>
              <p14:nvPr/>
            </p14:nvContentPartPr>
            <p14:xfrm>
              <a:off x="3683013" y="4317533"/>
              <a:ext cx="360" cy="360"/>
            </p14:xfrm>
          </p:contentPart>
        </mc:Choice>
        <mc:Fallback xmlns="">
          <p:pic>
            <p:nvPicPr>
              <p:cNvPr id="3" name="Ink 2">
                <a:extLst>
                  <a:ext uri="{FF2B5EF4-FFF2-40B4-BE49-F238E27FC236}">
                    <a16:creationId xmlns:a16="http://schemas.microsoft.com/office/drawing/2014/main" id="{AC397F8F-5775-E892-A298-EF6697F44A7D}"/>
                  </a:ext>
                </a:extLst>
              </p:cNvPr>
              <p:cNvPicPr/>
              <p:nvPr/>
            </p:nvPicPr>
            <p:blipFill>
              <a:blip r:embed="rId4"/>
              <a:stretch>
                <a:fillRect/>
              </a:stretch>
            </p:blipFill>
            <p:spPr>
              <a:xfrm>
                <a:off x="3665013" y="428153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0BD9D90-4B32-8847-E894-2EB644186756}"/>
                  </a:ext>
                </a:extLst>
              </p14:cNvPr>
              <p14:cNvContentPartPr/>
              <p14:nvPr/>
            </p14:nvContentPartPr>
            <p14:xfrm>
              <a:off x="4720893" y="4983533"/>
              <a:ext cx="3600" cy="3960"/>
            </p14:xfrm>
          </p:contentPart>
        </mc:Choice>
        <mc:Fallback xmlns="">
          <p:pic>
            <p:nvPicPr>
              <p:cNvPr id="4" name="Ink 3">
                <a:extLst>
                  <a:ext uri="{FF2B5EF4-FFF2-40B4-BE49-F238E27FC236}">
                    <a16:creationId xmlns:a16="http://schemas.microsoft.com/office/drawing/2014/main" id="{F0BD9D90-4B32-8847-E894-2EB644186756}"/>
                  </a:ext>
                </a:extLst>
              </p:cNvPr>
              <p:cNvPicPr/>
              <p:nvPr/>
            </p:nvPicPr>
            <p:blipFill>
              <a:blip r:embed="rId7"/>
              <a:stretch>
                <a:fillRect/>
              </a:stretch>
            </p:blipFill>
            <p:spPr>
              <a:xfrm>
                <a:off x="4704529" y="4947533"/>
                <a:ext cx="36000" cy="75600"/>
              </a:xfrm>
              <a:prstGeom prst="rect">
                <a:avLst/>
              </a:prstGeom>
            </p:spPr>
          </p:pic>
        </mc:Fallback>
      </mc:AlternateContent>
      <p:pic>
        <p:nvPicPr>
          <p:cNvPr id="8" name="Picture 7">
            <a:extLst>
              <a:ext uri="{FF2B5EF4-FFF2-40B4-BE49-F238E27FC236}">
                <a16:creationId xmlns:a16="http://schemas.microsoft.com/office/drawing/2014/main" id="{CEF6AE38-9DF0-04ED-4D2C-2CB7191D211F}"/>
              </a:ext>
            </a:extLst>
          </p:cNvPr>
          <p:cNvPicPr>
            <a:picLocks noChangeAspect="1"/>
          </p:cNvPicPr>
          <p:nvPr/>
        </p:nvPicPr>
        <p:blipFill>
          <a:blip r:embed="rId8"/>
          <a:stretch>
            <a:fillRect/>
          </a:stretch>
        </p:blipFill>
        <p:spPr>
          <a:xfrm>
            <a:off x="0" y="626488"/>
            <a:ext cx="7249537" cy="4286848"/>
          </a:xfrm>
          <a:prstGeom prst="rect">
            <a:avLst/>
          </a:prstGeom>
        </p:spPr>
      </p:pic>
      <p:sp>
        <p:nvSpPr>
          <p:cNvPr id="11" name="TextBox 10">
            <a:extLst>
              <a:ext uri="{FF2B5EF4-FFF2-40B4-BE49-F238E27FC236}">
                <a16:creationId xmlns:a16="http://schemas.microsoft.com/office/drawing/2014/main" id="{21C4678B-DA7F-FF75-0B64-A913FE809268}"/>
              </a:ext>
            </a:extLst>
          </p:cNvPr>
          <p:cNvSpPr txBox="1"/>
          <p:nvPr/>
        </p:nvSpPr>
        <p:spPr>
          <a:xfrm>
            <a:off x="7249537" y="776841"/>
            <a:ext cx="4599167" cy="3693319"/>
          </a:xfrm>
          <a:prstGeom prst="rect">
            <a:avLst/>
          </a:prstGeom>
          <a:noFill/>
        </p:spPr>
        <p:txBody>
          <a:bodyPr wrap="square">
            <a:spAutoFit/>
          </a:bodyPr>
          <a:lstStyle/>
          <a:p>
            <a:r>
              <a:rPr lang="en-US" dirty="0"/>
              <a:t>Measure the frequency with which each industry pair is jointly operated by existing diversified firms.</a:t>
            </a:r>
          </a:p>
          <a:p>
            <a:endParaRPr lang="en-US" dirty="0"/>
          </a:p>
          <a:p>
            <a:r>
              <a:rPr lang="en-US" dirty="0"/>
              <a:t>a strong and significant positive relation between human capital transferability and the industries that are jointly operated by diversified firms. </a:t>
            </a:r>
          </a:p>
          <a:p>
            <a:endParaRPr lang="en-US" dirty="0"/>
          </a:p>
          <a:p>
            <a:r>
              <a:rPr lang="en-US" dirty="0"/>
              <a:t>Human capital transferability has more explanatory power for the composition of diversified firms than the product market relatedness of the industries</a:t>
            </a:r>
          </a:p>
        </p:txBody>
      </p:sp>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A06A3541-701B-319F-A1FB-9EA34AD6B06E}"/>
                  </a:ext>
                </a:extLst>
              </p14:cNvPr>
              <p14:cNvContentPartPr/>
              <p14:nvPr/>
            </p14:nvContentPartPr>
            <p14:xfrm>
              <a:off x="3056253" y="2104253"/>
              <a:ext cx="418320" cy="55080"/>
            </p14:xfrm>
          </p:contentPart>
        </mc:Choice>
        <mc:Fallback>
          <p:pic>
            <p:nvPicPr>
              <p:cNvPr id="6" name="Ink 5">
                <a:extLst>
                  <a:ext uri="{FF2B5EF4-FFF2-40B4-BE49-F238E27FC236}">
                    <a16:creationId xmlns:a16="http://schemas.microsoft.com/office/drawing/2014/main" id="{A06A3541-701B-319F-A1FB-9EA34AD6B06E}"/>
                  </a:ext>
                </a:extLst>
              </p:cNvPr>
              <p:cNvPicPr/>
              <p:nvPr/>
            </p:nvPicPr>
            <p:blipFill>
              <a:blip r:embed="rId10"/>
              <a:stretch>
                <a:fillRect/>
              </a:stretch>
            </p:blipFill>
            <p:spPr>
              <a:xfrm>
                <a:off x="3038613" y="2068253"/>
                <a:ext cx="45396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49BDF413-5951-AF73-0AFD-6B196E7B65EE}"/>
                  </a:ext>
                </a:extLst>
              </p14:cNvPr>
              <p14:cNvContentPartPr/>
              <p14:nvPr/>
            </p14:nvContentPartPr>
            <p14:xfrm>
              <a:off x="3132573" y="1735613"/>
              <a:ext cx="402840" cy="25560"/>
            </p14:xfrm>
          </p:contentPart>
        </mc:Choice>
        <mc:Fallback>
          <p:pic>
            <p:nvPicPr>
              <p:cNvPr id="7" name="Ink 6">
                <a:extLst>
                  <a:ext uri="{FF2B5EF4-FFF2-40B4-BE49-F238E27FC236}">
                    <a16:creationId xmlns:a16="http://schemas.microsoft.com/office/drawing/2014/main" id="{49BDF413-5951-AF73-0AFD-6B196E7B65EE}"/>
                  </a:ext>
                </a:extLst>
              </p:cNvPr>
              <p:cNvPicPr/>
              <p:nvPr/>
            </p:nvPicPr>
            <p:blipFill>
              <a:blip r:embed="rId12"/>
              <a:stretch>
                <a:fillRect/>
              </a:stretch>
            </p:blipFill>
            <p:spPr>
              <a:xfrm>
                <a:off x="3114573" y="1699973"/>
                <a:ext cx="43848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F9EA371F-5F4E-AA70-9243-921BB2EBC22E}"/>
                  </a:ext>
                </a:extLst>
              </p14:cNvPr>
              <p14:cNvContentPartPr/>
              <p14:nvPr/>
            </p14:nvContentPartPr>
            <p14:xfrm>
              <a:off x="5892333" y="1717613"/>
              <a:ext cx="433440" cy="27000"/>
            </p14:xfrm>
          </p:contentPart>
        </mc:Choice>
        <mc:Fallback>
          <p:pic>
            <p:nvPicPr>
              <p:cNvPr id="9" name="Ink 8">
                <a:extLst>
                  <a:ext uri="{FF2B5EF4-FFF2-40B4-BE49-F238E27FC236}">
                    <a16:creationId xmlns:a16="http://schemas.microsoft.com/office/drawing/2014/main" id="{F9EA371F-5F4E-AA70-9243-921BB2EBC22E}"/>
                  </a:ext>
                </a:extLst>
              </p:cNvPr>
              <p:cNvPicPr/>
              <p:nvPr/>
            </p:nvPicPr>
            <p:blipFill>
              <a:blip r:embed="rId14"/>
              <a:stretch>
                <a:fillRect/>
              </a:stretch>
            </p:blipFill>
            <p:spPr>
              <a:xfrm>
                <a:off x="5874693" y="1681613"/>
                <a:ext cx="4690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7B163F86-8D9D-42C5-0153-6DF67778FF42}"/>
                  </a:ext>
                </a:extLst>
              </p14:cNvPr>
              <p14:cNvContentPartPr/>
              <p14:nvPr/>
            </p14:nvContentPartPr>
            <p14:xfrm>
              <a:off x="5825013" y="2048093"/>
              <a:ext cx="494640" cy="85680"/>
            </p14:xfrm>
          </p:contentPart>
        </mc:Choice>
        <mc:Fallback>
          <p:pic>
            <p:nvPicPr>
              <p:cNvPr id="10" name="Ink 9">
                <a:extLst>
                  <a:ext uri="{FF2B5EF4-FFF2-40B4-BE49-F238E27FC236}">
                    <a16:creationId xmlns:a16="http://schemas.microsoft.com/office/drawing/2014/main" id="{7B163F86-8D9D-42C5-0153-6DF67778FF42}"/>
                  </a:ext>
                </a:extLst>
              </p:cNvPr>
              <p:cNvPicPr/>
              <p:nvPr/>
            </p:nvPicPr>
            <p:blipFill>
              <a:blip r:embed="rId16"/>
              <a:stretch>
                <a:fillRect/>
              </a:stretch>
            </p:blipFill>
            <p:spPr>
              <a:xfrm>
                <a:off x="5807013" y="2012093"/>
                <a:ext cx="530280" cy="157320"/>
              </a:xfrm>
              <a:prstGeom prst="rect">
                <a:avLst/>
              </a:prstGeom>
            </p:spPr>
          </p:pic>
        </mc:Fallback>
      </mc:AlternateContent>
    </p:spTree>
    <p:extLst>
      <p:ext uri="{BB962C8B-B14F-4D97-AF65-F5344CB8AC3E}">
        <p14:creationId xmlns:p14="http://schemas.microsoft.com/office/powerpoint/2010/main" val="353821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1762"/>
            <a:ext cx="9144000" cy="508336"/>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76200" y="685800"/>
            <a:ext cx="11652381" cy="4753947"/>
          </a:xfrm>
        </p:spPr>
        <p:txBody>
          <a:bodyPr>
            <a:normAutofit/>
          </a:bodyPr>
          <a:lstStyle/>
          <a:p>
            <a:pPr marL="571500" indent="-571500" algn="l">
              <a:buFont typeface="Arial" panose="020B0604020202020204" pitchFamily="34" charset="0"/>
              <a:buChar char="•"/>
            </a:pPr>
            <a:r>
              <a:rPr lang="en-US" dirty="0"/>
              <a:t>Human capital transferability not only predicts the intensity with which firms diversify into other industries but also predicts the intensity more strongly than measures of product market relatedness. Moreover, it predicts the industry composition of diversified firms in the cross-section. </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Firms that acquire industries with greater human capital transferability with their existing industries enjoy larger increases in labor productivity and are less likely to divest their newly acquired industries subsequently. </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Acquiring firms that diversify into industries with high human capital transferability with their existing operations are more likely to retain skilled workers following the deal and to transfer workers from the target firm to other industries in the merged firm.</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6277</TotalTime>
  <Words>1610</Words>
  <Application>Microsoft Office PowerPoint</Application>
  <PresentationFormat>Widescreen</PresentationFormat>
  <Paragraphs>125</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Calisto MT</vt:lpstr>
      <vt:lpstr>Open Sans</vt:lpstr>
      <vt:lpstr>Wingdings 2</vt:lpstr>
      <vt:lpstr>Slate</vt:lpstr>
      <vt:lpstr>The Human Factor in Acquisitions: Cross-industry Labor Mobility and Corporate Diversification</vt:lpstr>
      <vt:lpstr>Research Question:</vt:lpstr>
      <vt:lpstr>Prior Literature</vt:lpstr>
      <vt:lpstr>Theoretical Motivation</vt:lpstr>
      <vt:lpstr>Data</vt:lpstr>
      <vt:lpstr>Longitudinal Employer-Household Dynamics (LEHD) </vt:lpstr>
      <vt:lpstr>Human capital transferability (HCT) across industries</vt:lpstr>
      <vt:lpstr>Summary statistics</vt:lpstr>
      <vt:lpstr>Summary statistics</vt:lpstr>
      <vt:lpstr>Summary statistics</vt:lpstr>
      <vt:lpstr>Summary statistics</vt:lpstr>
      <vt:lpstr>Prediction 1: HCT and industry choices in diversifying deals</vt:lpstr>
      <vt:lpstr>Prediction 1: HCT and industry choices in diversifying deals</vt:lpstr>
      <vt:lpstr>Prediction 2: Correlation in growth opportunities</vt:lpstr>
      <vt:lpstr>Prediction 2: Correlation in growth opportunities</vt:lpstr>
      <vt:lpstr>Prediction3: HCT and post deal changes in labor productivity</vt:lpstr>
      <vt:lpstr>Prediction3: HCT and post deal changes in labor productivity</vt:lpstr>
      <vt:lpstr>Identification: Variation in the enforcement of noncompete agreements</vt:lpstr>
      <vt:lpstr>Identification: Variation in the enforcement of noncompete agreements</vt:lpstr>
      <vt:lpstr>Alternative performance measure: Stock market reactions</vt:lpstr>
      <vt:lpstr>Prediction4: Human Capital Transferability and Worker Outcomes</vt:lpstr>
      <vt:lpstr>Prediction4: Human Capital Transferability and Worker Outcomes</vt:lpstr>
      <vt:lpstr>Worker internal movement</vt:lpstr>
      <vt:lpstr>Human Capital Transferability and Firm Composition</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353</cp:revision>
  <dcterms:created xsi:type="dcterms:W3CDTF">2024-01-18T13:26:59Z</dcterms:created>
  <dcterms:modified xsi:type="dcterms:W3CDTF">2024-10-07T21:29:17Z</dcterms:modified>
</cp:coreProperties>
</file>