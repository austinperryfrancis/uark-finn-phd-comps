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58" r:id="rId4"/>
    <p:sldId id="259" r:id="rId5"/>
    <p:sldId id="274" r:id="rId6"/>
    <p:sldId id="261" r:id="rId7"/>
    <p:sldId id="262" r:id="rId8"/>
    <p:sldId id="264" r:id="rId9"/>
    <p:sldId id="263" r:id="rId10"/>
    <p:sldId id="265" r:id="rId11"/>
    <p:sldId id="266" r:id="rId12"/>
    <p:sldId id="267" r:id="rId13"/>
    <p:sldId id="269" r:id="rId14"/>
    <p:sldId id="268" r:id="rId15"/>
    <p:sldId id="270" r:id="rId16"/>
    <p:sldId id="271" r:id="rId17"/>
    <p:sldId id="272" r:id="rId18"/>
    <p:sldId id="273" r:id="rId19"/>
    <p:sldId id="26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342C21-DA6F-0F7E-10DC-CF1B545AFC9B}" v="522" dt="2024-08-27T09:20:51.9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20" d="100"/>
          <a:sy n="120" d="100"/>
        </p:scale>
        <p:origin x="1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D53816-115E-48FA-A15B-C5A5D1E89FA5}" type="datetimeFigureOut">
              <a:rPr lang="en-US" smtClean="0"/>
              <a:t>8/27/2024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862E25-1859-4C6D-A33A-2E50BC93E725}" type="slidenum">
              <a:rPr lang="en-US" smtClean="0"/>
              <a:t>‹#›</a:t>
            </a:fld>
            <a:endParaRPr lang="en-US"/>
          </a:p>
        </p:txBody>
      </p:sp>
    </p:spTree>
    <p:extLst>
      <p:ext uri="{BB962C8B-B14F-4D97-AF65-F5344CB8AC3E}">
        <p14:creationId xmlns:p14="http://schemas.microsoft.com/office/powerpoint/2010/main" val="1610058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862E25-1859-4C6D-A33A-2E50BC93E725}" type="slidenum">
              <a:rPr lang="en-US" smtClean="0"/>
              <a:t>1</a:t>
            </a:fld>
            <a:endParaRPr lang="en-US"/>
          </a:p>
        </p:txBody>
      </p:sp>
    </p:spTree>
    <p:extLst>
      <p:ext uri="{BB962C8B-B14F-4D97-AF65-F5344CB8AC3E}">
        <p14:creationId xmlns:p14="http://schemas.microsoft.com/office/powerpoint/2010/main" val="47078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862E25-1859-4C6D-A33A-2E50BC93E725}" type="slidenum">
              <a:rPr lang="en-US" smtClean="0"/>
              <a:t>2</a:t>
            </a:fld>
            <a:endParaRPr lang="en-US"/>
          </a:p>
        </p:txBody>
      </p:sp>
    </p:spTree>
    <p:extLst>
      <p:ext uri="{BB962C8B-B14F-4D97-AF65-F5344CB8AC3E}">
        <p14:creationId xmlns:p14="http://schemas.microsoft.com/office/powerpoint/2010/main" val="2153733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862E25-1859-4C6D-A33A-2E50BC93E725}" type="slidenum">
              <a:rPr lang="en-US" smtClean="0"/>
              <a:t>3</a:t>
            </a:fld>
            <a:endParaRPr lang="en-US"/>
          </a:p>
        </p:txBody>
      </p:sp>
    </p:spTree>
    <p:extLst>
      <p:ext uri="{BB962C8B-B14F-4D97-AF65-F5344CB8AC3E}">
        <p14:creationId xmlns:p14="http://schemas.microsoft.com/office/powerpoint/2010/main" val="3882621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862E25-1859-4C6D-A33A-2E50BC93E725}" type="slidenum">
              <a:rPr lang="en-US" smtClean="0"/>
              <a:t>4</a:t>
            </a:fld>
            <a:endParaRPr lang="en-US"/>
          </a:p>
        </p:txBody>
      </p:sp>
    </p:spTree>
    <p:extLst>
      <p:ext uri="{BB962C8B-B14F-4D97-AF65-F5344CB8AC3E}">
        <p14:creationId xmlns:p14="http://schemas.microsoft.com/office/powerpoint/2010/main" val="2054632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dirty="0"/>
              <a:t>The four direct measures of adverse selection (red dots) are from the market microstructure literature.</a:t>
            </a:r>
          </a:p>
          <a:p>
            <a:pPr marL="171450" indent="-171450">
              <a:buFont typeface="Arial"/>
              <a:buChar char="•"/>
            </a:pPr>
            <a:r>
              <a:rPr lang="en-US" dirty="0"/>
              <a:t>The three broader measures of market liquidity (blue dots) are more widely available, but not driven exclusively by adverse selection (they also depend on order processing and inventory).</a:t>
            </a:r>
          </a:p>
          <a:p>
            <a:pPr marL="171450" indent="-171450">
              <a:buFont typeface="Arial"/>
              <a:buChar char="•"/>
            </a:pPr>
            <a:r>
              <a:rPr lang="en-US" dirty="0"/>
              <a:t>Utilizing principal component analysis to weigh each feature enables the authors to retain more datapoints.</a:t>
            </a:r>
          </a:p>
        </p:txBody>
      </p:sp>
      <p:sp>
        <p:nvSpPr>
          <p:cNvPr id="4" name="Slide Number Placeholder 3"/>
          <p:cNvSpPr>
            <a:spLocks noGrp="1"/>
          </p:cNvSpPr>
          <p:nvPr>
            <p:ph type="sldNum" sz="quarter" idx="5"/>
          </p:nvPr>
        </p:nvSpPr>
        <p:spPr/>
        <p:txBody>
          <a:bodyPr/>
          <a:lstStyle/>
          <a:p>
            <a:fld id="{31862E25-1859-4C6D-A33A-2E50BC93E725}" type="slidenum">
              <a:rPr lang="en-US" smtClean="0"/>
              <a:t>5</a:t>
            </a:fld>
            <a:endParaRPr lang="en-US"/>
          </a:p>
        </p:txBody>
      </p:sp>
    </p:spTree>
    <p:extLst>
      <p:ext uri="{BB962C8B-B14F-4D97-AF65-F5344CB8AC3E}">
        <p14:creationId xmlns:p14="http://schemas.microsoft.com/office/powerpoint/2010/main" val="2740902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dirty="0"/>
              <a:t>Observations for direct measures of information asymmetry are fewer than for indirect, which is the reason principal component analysis is useful to retain datapoints.</a:t>
            </a:r>
          </a:p>
          <a:p>
            <a:pPr marL="171450" indent="-171450">
              <a:buFont typeface="Arial"/>
              <a:buChar char="•"/>
            </a:pPr>
            <a:r>
              <a:rPr lang="en-US" dirty="0"/>
              <a:t>Signs for the means are all as expected, which implies information asymmetry is present.</a:t>
            </a:r>
          </a:p>
          <a:p>
            <a:pPr marL="171450" indent="-171450">
              <a:buFont typeface="Arial"/>
              <a:buChar char="•"/>
            </a:pPr>
            <a:r>
              <a:rPr lang="en-US" dirty="0"/>
              <a:t>The information asymmetry index mean is set to zero because it is relative for each year.</a:t>
            </a:r>
          </a:p>
        </p:txBody>
      </p:sp>
      <p:sp>
        <p:nvSpPr>
          <p:cNvPr id="4" name="Slide Number Placeholder 3"/>
          <p:cNvSpPr>
            <a:spLocks noGrp="1"/>
          </p:cNvSpPr>
          <p:nvPr>
            <p:ph type="sldNum" sz="quarter" idx="5"/>
          </p:nvPr>
        </p:nvSpPr>
        <p:spPr/>
        <p:txBody>
          <a:bodyPr/>
          <a:lstStyle/>
          <a:p>
            <a:fld id="{31862E25-1859-4C6D-A33A-2E50BC93E725}" type="slidenum">
              <a:rPr lang="en-US" smtClean="0"/>
              <a:t>6</a:t>
            </a:fld>
            <a:endParaRPr lang="en-US"/>
          </a:p>
        </p:txBody>
      </p:sp>
    </p:spTree>
    <p:extLst>
      <p:ext uri="{BB962C8B-B14F-4D97-AF65-F5344CB8AC3E}">
        <p14:creationId xmlns:p14="http://schemas.microsoft.com/office/powerpoint/2010/main" val="2455234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t>The standardized proxies are mostly positively correlated with each other (excluding </a:t>
            </a:r>
            <a:r>
              <a:rPr lang="en-US" err="1"/>
              <a:t>Z_RADi</a:t>
            </a:r>
            <a:r>
              <a:rPr lang="el-GR" dirty="0"/>
              <a:t>τ</a:t>
            </a:r>
            <a:r>
              <a:rPr lang="en-US" dirty="0"/>
              <a:t> and </a:t>
            </a:r>
            <a:r>
              <a:rPr lang="en-US" err="1"/>
              <a:t>Z_ΔRADi</a:t>
            </a:r>
            <a:r>
              <a:rPr lang="el-GR" dirty="0"/>
              <a:t>τ</a:t>
            </a:r>
            <a:r>
              <a:rPr lang="en-US" dirty="0"/>
              <a:t>).</a:t>
            </a:r>
            <a:endParaRPr lang="en-US"/>
          </a:p>
          <a:p>
            <a:pPr marL="171450" indent="-171450">
              <a:buFont typeface="Arial"/>
              <a:buChar char="•"/>
            </a:pPr>
            <a:r>
              <a:rPr lang="en-US"/>
              <a:t>The highest correlation with level of the index, and the three highest correlations with change in the index, are direct measures.</a:t>
            </a:r>
          </a:p>
          <a:p>
            <a:pPr marL="171450" indent="-171450">
              <a:buFont typeface="Arial"/>
              <a:buChar char="•"/>
            </a:pPr>
            <a:r>
              <a:rPr lang="en-US"/>
              <a:t>The paper specifies that the index loads on at least three of the direct measures in each of the fiscal years of the sample.</a:t>
            </a:r>
            <a:endParaRPr lang="el-GR"/>
          </a:p>
        </p:txBody>
      </p:sp>
      <p:sp>
        <p:nvSpPr>
          <p:cNvPr id="4" name="Slide Number Placeholder 3"/>
          <p:cNvSpPr>
            <a:spLocks noGrp="1"/>
          </p:cNvSpPr>
          <p:nvPr>
            <p:ph type="sldNum" sz="quarter" idx="5"/>
          </p:nvPr>
        </p:nvSpPr>
        <p:spPr/>
        <p:txBody>
          <a:bodyPr/>
          <a:lstStyle/>
          <a:p>
            <a:fld id="{31862E25-1859-4C6D-A33A-2E50BC93E725}" type="slidenum">
              <a:rPr lang="en-US" smtClean="0"/>
              <a:t>7</a:t>
            </a:fld>
            <a:endParaRPr lang="en-US"/>
          </a:p>
        </p:txBody>
      </p:sp>
    </p:spTree>
    <p:extLst>
      <p:ext uri="{BB962C8B-B14F-4D97-AF65-F5344CB8AC3E}">
        <p14:creationId xmlns:p14="http://schemas.microsoft.com/office/powerpoint/2010/main" val="2694057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t>Q ratio negatively correlates with both level of and change in information asymmetry.</a:t>
            </a:r>
          </a:p>
          <a:p>
            <a:pPr marL="171450" indent="-171450">
              <a:buFont typeface="Arial"/>
              <a:buChar char="•"/>
            </a:pPr>
            <a:r>
              <a:rPr lang="en-US"/>
              <a:t>Size and sales negatively correlate with level of information asymmetry.</a:t>
            </a:r>
          </a:p>
          <a:p>
            <a:pPr marL="171450" indent="-171450">
              <a:buFont typeface="Arial"/>
              <a:buChar char="•"/>
            </a:pPr>
            <a:r>
              <a:rPr lang="en-US"/>
              <a:t>Change in insider trading positively correlates with change in information asymmetry.</a:t>
            </a:r>
          </a:p>
          <a:p>
            <a:pPr marL="171450" indent="-171450">
              <a:buFont typeface="Arial"/>
              <a:buChar char="•"/>
            </a:pPr>
            <a:r>
              <a:rPr lang="en-US"/>
              <a:t>Conclusion: The index mostly agrees with the ex ante firm characteristics often used as proxies for information asymmetry, but has the added benefit of capturing the dynamic component.</a:t>
            </a:r>
          </a:p>
        </p:txBody>
      </p:sp>
      <p:sp>
        <p:nvSpPr>
          <p:cNvPr id="4" name="Slide Number Placeholder 3"/>
          <p:cNvSpPr>
            <a:spLocks noGrp="1"/>
          </p:cNvSpPr>
          <p:nvPr>
            <p:ph type="sldNum" sz="quarter" idx="5"/>
          </p:nvPr>
        </p:nvSpPr>
        <p:spPr/>
        <p:txBody>
          <a:bodyPr/>
          <a:lstStyle/>
          <a:p>
            <a:fld id="{31862E25-1859-4C6D-A33A-2E50BC93E725}" type="slidenum">
              <a:rPr lang="en-US" smtClean="0"/>
              <a:t>8</a:t>
            </a:fld>
            <a:endParaRPr lang="en-US"/>
          </a:p>
        </p:txBody>
      </p:sp>
    </p:spTree>
    <p:extLst>
      <p:ext uri="{BB962C8B-B14F-4D97-AF65-F5344CB8AC3E}">
        <p14:creationId xmlns:p14="http://schemas.microsoft.com/office/powerpoint/2010/main" val="3421833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Mostly, industry doesn’t relate to adverse selection. However, manufacturing firms are more likely, and shops firms less likely, to fall into high information asymmetry deciles.</a:t>
            </a:r>
          </a:p>
        </p:txBody>
      </p:sp>
      <p:sp>
        <p:nvSpPr>
          <p:cNvPr id="4" name="Slide Number Placeholder 3"/>
          <p:cNvSpPr>
            <a:spLocks noGrp="1"/>
          </p:cNvSpPr>
          <p:nvPr>
            <p:ph type="sldNum" sz="quarter" idx="5"/>
          </p:nvPr>
        </p:nvSpPr>
        <p:spPr/>
        <p:txBody>
          <a:bodyPr/>
          <a:lstStyle/>
          <a:p>
            <a:fld id="{31862E25-1859-4C6D-A33A-2E50BC93E725}" type="slidenum">
              <a:rPr lang="en-US" smtClean="0"/>
              <a:t>9</a:t>
            </a:fld>
            <a:endParaRPr lang="en-US"/>
          </a:p>
        </p:txBody>
      </p:sp>
    </p:spTree>
    <p:extLst>
      <p:ext uri="{BB962C8B-B14F-4D97-AF65-F5344CB8AC3E}">
        <p14:creationId xmlns:p14="http://schemas.microsoft.com/office/powerpoint/2010/main" val="13708020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latin typeface="Calibri"/>
                <a:ea typeface="Calibri"/>
                <a:cs typeface="Calibri"/>
              </a:rPr>
              <a:t>Strict pecking order theory implies that the regression coefficient β in Equation (1) is close to one because firms use stock issuances as a last resort.</a:t>
            </a:r>
            <a:endParaRPr lang="en-US">
              <a:latin typeface="Aptos" panose="02110004020202020204"/>
              <a:ea typeface="Calibri"/>
              <a:cs typeface="Calibri"/>
            </a:endParaRPr>
          </a:p>
          <a:p>
            <a:pPr marL="171450" indent="-171450">
              <a:buFont typeface="Arial"/>
              <a:buChar char="•"/>
            </a:pPr>
            <a:r>
              <a:rPr lang="en-US">
                <a:latin typeface="Calibri"/>
                <a:ea typeface="Calibri"/>
                <a:cs typeface="Calibri"/>
              </a:rPr>
              <a:t>Modified pecking order theory, recognizing the tradeoff between adverse selection costs and financial distress when too much debt is issued, instead predicts a greater coefficient for firms with higher information asymmetry.</a:t>
            </a:r>
            <a:endParaRPr lang="en-US"/>
          </a:p>
          <a:p>
            <a:pPr marL="171450" indent="-171450">
              <a:buFont typeface="Arial"/>
              <a:buChar char="•"/>
            </a:pPr>
            <a:r>
              <a:rPr lang="en-US">
                <a:latin typeface="Calibri"/>
                <a:ea typeface="Calibri"/>
                <a:cs typeface="Calibri"/>
              </a:rPr>
              <a:t>Equation (3) includes an interaction term of </a:t>
            </a:r>
            <a:r>
              <a:rPr lang="en-US" err="1">
                <a:latin typeface="Calibri"/>
                <a:ea typeface="Calibri"/>
                <a:cs typeface="Calibri"/>
              </a:rPr>
              <a:t>DEFi</a:t>
            </a:r>
            <a:r>
              <a:rPr lang="el-GR" dirty="0">
                <a:latin typeface="Calibri"/>
                <a:ea typeface="Calibri"/>
                <a:cs typeface="Calibri"/>
              </a:rPr>
              <a:t>τ</a:t>
            </a:r>
            <a:r>
              <a:rPr lang="en-US" dirty="0">
                <a:latin typeface="Calibri"/>
                <a:ea typeface="Calibri"/>
                <a:cs typeface="Calibri"/>
              </a:rPr>
              <a:t> and </a:t>
            </a:r>
            <a:r>
              <a:rPr lang="en-US" err="1">
                <a:latin typeface="Calibri"/>
                <a:ea typeface="Calibri"/>
                <a:cs typeface="Calibri"/>
              </a:rPr>
              <a:t>ASYi</a:t>
            </a:r>
            <a:r>
              <a:rPr lang="el-GR" dirty="0">
                <a:latin typeface="Calibri"/>
                <a:ea typeface="Calibri"/>
                <a:cs typeface="Calibri"/>
              </a:rPr>
              <a:t>τ</a:t>
            </a:r>
            <a:r>
              <a:rPr lang="en-US" dirty="0">
                <a:latin typeface="Calibri"/>
                <a:ea typeface="Calibri"/>
                <a:cs typeface="Calibri"/>
              </a:rPr>
              <a:t> (γ).</a:t>
            </a:r>
            <a:endParaRPr lang="en-US"/>
          </a:p>
        </p:txBody>
      </p:sp>
      <p:sp>
        <p:nvSpPr>
          <p:cNvPr id="4" name="Slide Number Placeholder 3"/>
          <p:cNvSpPr>
            <a:spLocks noGrp="1"/>
          </p:cNvSpPr>
          <p:nvPr>
            <p:ph type="sldNum" sz="quarter" idx="5"/>
          </p:nvPr>
        </p:nvSpPr>
        <p:spPr/>
        <p:txBody>
          <a:bodyPr/>
          <a:lstStyle/>
          <a:p>
            <a:fld id="{31862E25-1859-4C6D-A33A-2E50BC93E725}" type="slidenum">
              <a:rPr lang="en-US" smtClean="0"/>
              <a:t>10</a:t>
            </a:fld>
            <a:endParaRPr lang="en-US"/>
          </a:p>
        </p:txBody>
      </p:sp>
    </p:spTree>
    <p:extLst>
      <p:ext uri="{BB962C8B-B14F-4D97-AF65-F5344CB8AC3E}">
        <p14:creationId xmlns:p14="http://schemas.microsoft.com/office/powerpoint/2010/main" val="38518861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dirty="0">
                <a:latin typeface="Aptos"/>
                <a:ea typeface="Calibri"/>
                <a:cs typeface="Calibri"/>
              </a:rPr>
              <a:t>Positive and statistically significant slope statistics indicate that the </a:t>
            </a:r>
            <a:r>
              <a:rPr lang="en-US" dirty="0"/>
              <a:t>β coefficients are nearly monotonically increasing in the severity of firms' information asymmetry.</a:t>
            </a:r>
            <a:endParaRPr lang="en-US"/>
          </a:p>
          <a:p>
            <a:pPr marL="171450" indent="-171450">
              <a:buFont typeface="Arial"/>
              <a:buChar char="•"/>
            </a:pPr>
            <a:r>
              <a:rPr lang="en-US" dirty="0"/>
              <a:t>γ=0.021 implies that, on average, for every dollar of financing deficit to cover in a fiscal year, firms whose adverse selection index is a unit greater than the mean that year issue two cents more of debt.</a:t>
            </a:r>
          </a:p>
          <a:p>
            <a:pPr marL="171450" indent="-171450">
              <a:buFont typeface="Arial"/>
              <a:buChar char="•"/>
            </a:pPr>
            <a:r>
              <a:rPr lang="en-US" dirty="0"/>
              <a:t>High-low=0.296 implies that, on average, for every dollar of financing deficit to cover, firms in the highest </a:t>
            </a:r>
            <a:r>
              <a:rPr lang="en-US" dirty="0" err="1"/>
              <a:t>ASYi</a:t>
            </a:r>
            <a:r>
              <a:rPr lang="el-GR" dirty="0"/>
              <a:t>τ </a:t>
            </a:r>
            <a:r>
              <a:rPr lang="en-US" dirty="0"/>
              <a:t>decile issue 30 cents more of debt more than firms in the lowest </a:t>
            </a:r>
            <a:r>
              <a:rPr lang="en-US" dirty="0" err="1"/>
              <a:t>ASYi</a:t>
            </a:r>
            <a:r>
              <a:rPr lang="el-GR" dirty="0"/>
              <a:t>τ</a:t>
            </a:r>
            <a:r>
              <a:rPr lang="en-US" dirty="0"/>
              <a:t> decile.</a:t>
            </a:r>
          </a:p>
          <a:p>
            <a:pPr marL="171450" indent="-171450">
              <a:buFont typeface="Arial"/>
              <a:buChar char="•"/>
            </a:pPr>
            <a:r>
              <a:rPr lang="en-US" dirty="0"/>
              <a:t>These trends hold up across decades, albeit less so in the 1990s, and in similar directions for both level of and change in adverse selection.</a:t>
            </a:r>
          </a:p>
        </p:txBody>
      </p:sp>
      <p:sp>
        <p:nvSpPr>
          <p:cNvPr id="4" name="Slide Number Placeholder 3"/>
          <p:cNvSpPr>
            <a:spLocks noGrp="1"/>
          </p:cNvSpPr>
          <p:nvPr>
            <p:ph type="sldNum" sz="quarter" idx="5"/>
          </p:nvPr>
        </p:nvSpPr>
        <p:spPr/>
        <p:txBody>
          <a:bodyPr/>
          <a:lstStyle/>
          <a:p>
            <a:fld id="{31862E25-1859-4C6D-A33A-2E50BC93E725}" type="slidenum">
              <a:rPr lang="en-US" smtClean="0"/>
              <a:t>11</a:t>
            </a:fld>
            <a:endParaRPr lang="en-US"/>
          </a:p>
        </p:txBody>
      </p:sp>
    </p:spTree>
    <p:extLst>
      <p:ext uri="{BB962C8B-B14F-4D97-AF65-F5344CB8AC3E}">
        <p14:creationId xmlns:p14="http://schemas.microsoft.com/office/powerpoint/2010/main" val="2798541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Incorporates firm fixed effects and other factors that drive leverage to ensure information asymmetry index has incremental value in predicting leverage</a:t>
            </a:r>
          </a:p>
        </p:txBody>
      </p:sp>
      <p:sp>
        <p:nvSpPr>
          <p:cNvPr id="4" name="Slide Number Placeholder 3"/>
          <p:cNvSpPr>
            <a:spLocks noGrp="1"/>
          </p:cNvSpPr>
          <p:nvPr>
            <p:ph type="sldNum" sz="quarter" idx="5"/>
          </p:nvPr>
        </p:nvSpPr>
        <p:spPr/>
        <p:txBody>
          <a:bodyPr/>
          <a:lstStyle/>
          <a:p>
            <a:fld id="{31862E25-1859-4C6D-A33A-2E50BC93E725}" type="slidenum">
              <a:rPr lang="en-US" smtClean="0"/>
              <a:t>12</a:t>
            </a:fld>
            <a:endParaRPr lang="en-US"/>
          </a:p>
        </p:txBody>
      </p:sp>
    </p:spTree>
    <p:extLst>
      <p:ext uri="{BB962C8B-B14F-4D97-AF65-F5344CB8AC3E}">
        <p14:creationId xmlns:p14="http://schemas.microsoft.com/office/powerpoint/2010/main" val="839557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31862E25-1859-4C6D-A33A-2E50BC93E725}" type="slidenum">
              <a:rPr lang="en-US" smtClean="0"/>
              <a:t>13</a:t>
            </a:fld>
            <a:endParaRPr lang="en-US"/>
          </a:p>
        </p:txBody>
      </p:sp>
    </p:spTree>
    <p:extLst>
      <p:ext uri="{BB962C8B-B14F-4D97-AF65-F5344CB8AC3E}">
        <p14:creationId xmlns:p14="http://schemas.microsoft.com/office/powerpoint/2010/main" val="16830243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dirty="0">
                <a:latin typeface="Calibri"/>
                <a:ea typeface="Calibri"/>
                <a:cs typeface="Calibri"/>
              </a:rPr>
              <a:t>Coefficients of conventional leverage factors are of the correct sign and significant, but so is the information asymmetry variable in all OLS models shown. Interpretation: The inclusion of the adverse selection proxy does not supersede conventional variables, but still helps to explain the cross-sectional variation in firms' capital structures.</a:t>
            </a:r>
            <a:endParaRPr lang="en-US" dirty="0"/>
          </a:p>
          <a:p>
            <a:pPr marL="171450" indent="-171450">
              <a:buFont typeface="Arial"/>
              <a:buChar char="•"/>
            </a:pPr>
            <a:r>
              <a:rPr lang="en-US" dirty="0">
                <a:latin typeface="Calibri"/>
                <a:ea typeface="Calibri"/>
                <a:cs typeface="Calibri"/>
              </a:rPr>
              <a:t>Note: The inference is the same even when including turnover and volatility (noninformational drivers of stock liquidity), insider trading, or an interaction term of the Q ratio and </a:t>
            </a:r>
            <a:r>
              <a:rPr lang="en-US" dirty="0" err="1"/>
              <a:t>ASYi</a:t>
            </a:r>
            <a:r>
              <a:rPr lang="el-GR" dirty="0"/>
              <a:t>τ.</a:t>
            </a:r>
          </a:p>
          <a:p>
            <a:pPr marL="171450" indent="-171450">
              <a:buFont typeface="Arial"/>
              <a:buChar char="•"/>
            </a:pPr>
            <a:r>
              <a:rPr lang="en-US" dirty="0">
                <a:latin typeface="Calibri"/>
                <a:ea typeface="Calibri"/>
                <a:cs typeface="Calibri"/>
              </a:rPr>
              <a:t>Note: The relationship holds less in the 1970s, especially for </a:t>
            </a:r>
            <a:r>
              <a:rPr lang="en-US" dirty="0" err="1"/>
              <a:t>ΔASYi</a:t>
            </a:r>
            <a:r>
              <a:rPr lang="el-GR" dirty="0"/>
              <a:t>τ.</a:t>
            </a:r>
          </a:p>
        </p:txBody>
      </p:sp>
      <p:sp>
        <p:nvSpPr>
          <p:cNvPr id="4" name="Slide Number Placeholder 3"/>
          <p:cNvSpPr>
            <a:spLocks noGrp="1"/>
          </p:cNvSpPr>
          <p:nvPr>
            <p:ph type="sldNum" sz="quarter" idx="5"/>
          </p:nvPr>
        </p:nvSpPr>
        <p:spPr/>
        <p:txBody>
          <a:bodyPr/>
          <a:lstStyle/>
          <a:p>
            <a:fld id="{31862E25-1859-4C6D-A33A-2E50BC93E725}" type="slidenum">
              <a:rPr lang="en-US" smtClean="0"/>
              <a:t>14</a:t>
            </a:fld>
            <a:endParaRPr lang="en-US"/>
          </a:p>
        </p:txBody>
      </p:sp>
    </p:spTree>
    <p:extLst>
      <p:ext uri="{BB962C8B-B14F-4D97-AF65-F5344CB8AC3E}">
        <p14:creationId xmlns:p14="http://schemas.microsoft.com/office/powerpoint/2010/main" val="4246372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dirty="0">
                <a:latin typeface="Calibri"/>
                <a:ea typeface="Calibri"/>
                <a:cs typeface="Calibri"/>
              </a:rPr>
              <a:t>Two-way sorts suggest the relationship previously described still holds: High-low</a:t>
            </a:r>
            <a:r>
              <a:rPr lang="en-US" dirty="0">
                <a:latin typeface="Aptos"/>
                <a:ea typeface="Calibri"/>
                <a:cs typeface="Calibri"/>
              </a:rPr>
              <a:t> </a:t>
            </a:r>
            <a:r>
              <a:rPr lang="en-US" dirty="0"/>
              <a:t>debt-deficit coefficients β are generally increasing in adverse selection deciles in all of the volatility and turnover terciles. For instance, column </a:t>
            </a:r>
            <a:r>
              <a:rPr lang="en-US" err="1"/>
              <a:t>b^OLS</a:t>
            </a:r>
            <a:r>
              <a:rPr lang="en-US" dirty="0"/>
              <a:t> indicates that, on average, for every dollar of financing deficit to cover, firms in each turnover tercile issue nearly two additional cents of debt more than firms in the same turnover tercile but in the next lower information asymmetry decile.</a:t>
            </a:r>
            <a:endParaRPr lang="en-US"/>
          </a:p>
          <a:p>
            <a:pPr marL="171450" indent="-171450">
              <a:buFont typeface="Arial"/>
              <a:buChar char="•"/>
            </a:pPr>
            <a:r>
              <a:rPr lang="en-US" dirty="0"/>
              <a:t>The idea is to 1) correct for volatility and turnover that is wrapped up in the liquidity measures, 2) account for findings that small firms and firms with less tangible assets have greater information asymmetry, yet take on less debt, 3) show that information asymmetry matters more when there are greater assets in place, and 4) mitigate the concern that propensity of insider trading is a better proxy than the index.</a:t>
            </a:r>
          </a:p>
        </p:txBody>
      </p:sp>
      <p:sp>
        <p:nvSpPr>
          <p:cNvPr id="4" name="Slide Number Placeholder 3"/>
          <p:cNvSpPr>
            <a:spLocks noGrp="1"/>
          </p:cNvSpPr>
          <p:nvPr>
            <p:ph type="sldNum" sz="quarter" idx="5"/>
          </p:nvPr>
        </p:nvSpPr>
        <p:spPr/>
        <p:txBody>
          <a:bodyPr/>
          <a:lstStyle/>
          <a:p>
            <a:fld id="{31862E25-1859-4C6D-A33A-2E50BC93E725}" type="slidenum">
              <a:rPr lang="en-US" smtClean="0"/>
              <a:t>15</a:t>
            </a:fld>
            <a:endParaRPr lang="en-US"/>
          </a:p>
        </p:txBody>
      </p:sp>
    </p:spTree>
    <p:extLst>
      <p:ext uri="{BB962C8B-B14F-4D97-AF65-F5344CB8AC3E}">
        <p14:creationId xmlns:p14="http://schemas.microsoft.com/office/powerpoint/2010/main" val="1468230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This accounts for firms with no growth opportunities not issuing debt because they have no investment opportunities by separating out the investments component.</a:t>
            </a:r>
          </a:p>
        </p:txBody>
      </p:sp>
      <p:sp>
        <p:nvSpPr>
          <p:cNvPr id="4" name="Slide Number Placeholder 3"/>
          <p:cNvSpPr>
            <a:spLocks noGrp="1"/>
          </p:cNvSpPr>
          <p:nvPr>
            <p:ph type="sldNum" sz="quarter" idx="5"/>
          </p:nvPr>
        </p:nvSpPr>
        <p:spPr/>
        <p:txBody>
          <a:bodyPr/>
          <a:lstStyle/>
          <a:p>
            <a:fld id="{31862E25-1859-4C6D-A33A-2E50BC93E725}" type="slidenum">
              <a:rPr lang="en-US" smtClean="0"/>
              <a:t>16</a:t>
            </a:fld>
            <a:endParaRPr lang="en-US"/>
          </a:p>
        </p:txBody>
      </p:sp>
    </p:spTree>
    <p:extLst>
      <p:ext uri="{BB962C8B-B14F-4D97-AF65-F5344CB8AC3E}">
        <p14:creationId xmlns:p14="http://schemas.microsoft.com/office/powerpoint/2010/main" val="673944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dirty="0"/>
              <a:t>A and B: Previous inference unaffected when only using the four market microstructure measures at the cost of smaller sample coverage.</a:t>
            </a:r>
          </a:p>
          <a:p>
            <a:pPr marL="171450" indent="-171450">
              <a:buFont typeface="Arial"/>
              <a:buChar char="•"/>
            </a:pPr>
            <a:r>
              <a:rPr lang="en-US" dirty="0"/>
              <a:t>C and D: β1, β2, and |B3| show that the relationship holds even when deficits are broken into individual components.</a:t>
            </a:r>
            <a:endParaRPr lang="en-US" dirty="0">
              <a:cs typeface="+mn-lt"/>
            </a:endParaRPr>
          </a:p>
        </p:txBody>
      </p:sp>
      <p:sp>
        <p:nvSpPr>
          <p:cNvPr id="4" name="Slide Number Placeholder 3"/>
          <p:cNvSpPr>
            <a:spLocks noGrp="1"/>
          </p:cNvSpPr>
          <p:nvPr>
            <p:ph type="sldNum" sz="quarter" idx="5"/>
          </p:nvPr>
        </p:nvSpPr>
        <p:spPr/>
        <p:txBody>
          <a:bodyPr/>
          <a:lstStyle/>
          <a:p>
            <a:fld id="{31862E25-1859-4C6D-A33A-2E50BC93E725}" type="slidenum">
              <a:rPr lang="en-US" smtClean="0"/>
              <a:t>17</a:t>
            </a:fld>
            <a:endParaRPr lang="en-US"/>
          </a:p>
        </p:txBody>
      </p:sp>
    </p:spTree>
    <p:extLst>
      <p:ext uri="{BB962C8B-B14F-4D97-AF65-F5344CB8AC3E}">
        <p14:creationId xmlns:p14="http://schemas.microsoft.com/office/powerpoint/2010/main" val="1295229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Previous inference unaffected when only using the four market microstructure measures at the cost of smaller sample coverage. Also, note that most of the metrics perform reasonably well individually, but not as well as the index.</a:t>
            </a:r>
          </a:p>
        </p:txBody>
      </p:sp>
      <p:sp>
        <p:nvSpPr>
          <p:cNvPr id="4" name="Slide Number Placeholder 3"/>
          <p:cNvSpPr>
            <a:spLocks noGrp="1"/>
          </p:cNvSpPr>
          <p:nvPr>
            <p:ph type="sldNum" sz="quarter" idx="5"/>
          </p:nvPr>
        </p:nvSpPr>
        <p:spPr/>
        <p:txBody>
          <a:bodyPr/>
          <a:lstStyle/>
          <a:p>
            <a:fld id="{31862E25-1859-4C6D-A33A-2E50BC93E725}" type="slidenum">
              <a:rPr lang="en-US" smtClean="0"/>
              <a:t>18</a:t>
            </a:fld>
            <a:endParaRPr lang="en-US"/>
          </a:p>
        </p:txBody>
      </p:sp>
    </p:spTree>
    <p:extLst>
      <p:ext uri="{BB962C8B-B14F-4D97-AF65-F5344CB8AC3E}">
        <p14:creationId xmlns:p14="http://schemas.microsoft.com/office/powerpoint/2010/main" val="29157329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862E25-1859-4C6D-A33A-2E50BC93E725}" type="slidenum">
              <a:rPr lang="en-US" smtClean="0"/>
              <a:t>19</a:t>
            </a:fld>
            <a:endParaRPr lang="en-US"/>
          </a:p>
        </p:txBody>
      </p:sp>
    </p:spTree>
    <p:extLst>
      <p:ext uri="{BB962C8B-B14F-4D97-AF65-F5344CB8AC3E}">
        <p14:creationId xmlns:p14="http://schemas.microsoft.com/office/powerpoint/2010/main" val="4092352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4A46292-2AA4-4009-B971-B8B018ABF87C}"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F4B12-2201-45D2-A066-C01B985EF3A6}" type="slidenum">
              <a:rPr lang="en-US" smtClean="0"/>
              <a:t>‹#›</a:t>
            </a:fld>
            <a:endParaRPr lang="en-US"/>
          </a:p>
        </p:txBody>
      </p:sp>
    </p:spTree>
    <p:extLst>
      <p:ext uri="{BB962C8B-B14F-4D97-AF65-F5344CB8AC3E}">
        <p14:creationId xmlns:p14="http://schemas.microsoft.com/office/powerpoint/2010/main" val="3334326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1"/>
            <a:ext cx="10972800" cy="42519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A46292-2AA4-4009-B971-B8B018ABF87C}"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F4B12-2201-45D2-A066-C01B985EF3A6}" type="slidenum">
              <a:rPr lang="en-US" smtClean="0"/>
              <a:t>‹#›</a:t>
            </a:fld>
            <a:endParaRPr lang="en-US"/>
          </a:p>
        </p:txBody>
      </p:sp>
    </p:spTree>
    <p:extLst>
      <p:ext uri="{BB962C8B-B14F-4D97-AF65-F5344CB8AC3E}">
        <p14:creationId xmlns:p14="http://schemas.microsoft.com/office/powerpoint/2010/main" val="2339568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A46292-2AA4-4009-B971-B8B018ABF87C}"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F4B12-2201-45D2-A066-C01B985EF3A6}" type="slidenum">
              <a:rPr lang="en-US" smtClean="0"/>
              <a:t>‹#›</a:t>
            </a:fld>
            <a:endParaRPr lang="en-US"/>
          </a:p>
        </p:txBody>
      </p:sp>
    </p:spTree>
    <p:extLst>
      <p:ext uri="{BB962C8B-B14F-4D97-AF65-F5344CB8AC3E}">
        <p14:creationId xmlns:p14="http://schemas.microsoft.com/office/powerpoint/2010/main" val="123900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A46292-2AA4-4009-B971-B8B018ABF87C}" type="datetimeFigureOut">
              <a:rPr lang="en-US" smtClean="0"/>
              <a:t>8/27/2024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EF4B12-2201-45D2-A066-C01B985EF3A6}" type="slidenum">
              <a:rPr lang="en-US" smtClean="0"/>
              <a:t>‹#›</a:t>
            </a:fld>
            <a:endParaRPr lang="en-US"/>
          </a:p>
        </p:txBody>
      </p:sp>
    </p:spTree>
    <p:extLst>
      <p:ext uri="{BB962C8B-B14F-4D97-AF65-F5344CB8AC3E}">
        <p14:creationId xmlns:p14="http://schemas.microsoft.com/office/powerpoint/2010/main" val="121183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A46292-2AA4-4009-B971-B8B018ABF87C}" type="datetimeFigureOut">
              <a:rPr lang="en-US" smtClean="0"/>
              <a:t>8/27/2024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EF4B12-2201-45D2-A066-C01B985EF3A6}" type="slidenum">
              <a:rPr lang="en-US" smtClean="0"/>
              <a:t>‹#›</a:t>
            </a:fld>
            <a:endParaRPr lang="en-US"/>
          </a:p>
        </p:txBody>
      </p:sp>
    </p:spTree>
    <p:extLst>
      <p:ext uri="{BB962C8B-B14F-4D97-AF65-F5344CB8AC3E}">
        <p14:creationId xmlns:p14="http://schemas.microsoft.com/office/powerpoint/2010/main" val="1120037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A46292-2AA4-4009-B971-B8B018ABF87C}" type="datetimeFigureOut">
              <a:rPr lang="en-US" smtClean="0"/>
              <a:t>8/27/2024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EF4B12-2201-45D2-A066-C01B985EF3A6}" type="slidenum">
              <a:rPr lang="en-US" smtClean="0"/>
              <a:t>‹#›</a:t>
            </a:fld>
            <a:endParaRPr lang="en-US"/>
          </a:p>
        </p:txBody>
      </p:sp>
    </p:spTree>
    <p:extLst>
      <p:ext uri="{BB962C8B-B14F-4D97-AF65-F5344CB8AC3E}">
        <p14:creationId xmlns:p14="http://schemas.microsoft.com/office/powerpoint/2010/main" val="519515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A46292-2AA4-4009-B971-B8B018ABF87C}" type="datetimeFigureOut">
              <a:rPr lang="en-US" smtClean="0"/>
              <a:t>8/27/2024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EF4B12-2201-45D2-A066-C01B985EF3A6}" type="slidenum">
              <a:rPr lang="en-US" smtClean="0"/>
              <a:t>‹#›</a:t>
            </a:fld>
            <a:endParaRPr lang="en-US"/>
          </a:p>
        </p:txBody>
      </p:sp>
    </p:spTree>
    <p:extLst>
      <p:ext uri="{BB962C8B-B14F-4D97-AF65-F5344CB8AC3E}">
        <p14:creationId xmlns:p14="http://schemas.microsoft.com/office/powerpoint/2010/main" val="357722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4A46292-2AA4-4009-B971-B8B018ABF87C}" type="datetimeFigureOut">
              <a:rPr lang="en-US" smtClean="0"/>
              <a:t>8/27/2024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EF4B12-2201-45D2-A066-C01B985EF3A6}" type="slidenum">
              <a:rPr lang="en-US" smtClean="0"/>
              <a:t>‹#›</a:t>
            </a:fld>
            <a:endParaRPr lang="en-US"/>
          </a:p>
        </p:txBody>
      </p:sp>
    </p:spTree>
    <p:extLst>
      <p:ext uri="{BB962C8B-B14F-4D97-AF65-F5344CB8AC3E}">
        <p14:creationId xmlns:p14="http://schemas.microsoft.com/office/powerpoint/2010/main" val="3976948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4A46292-2AA4-4009-B971-B8B018ABF87C}" type="datetimeFigureOut">
              <a:rPr lang="en-US" smtClean="0"/>
              <a:t>8/27/2024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EF4B12-2201-45D2-A066-C01B985EF3A6}" type="slidenum">
              <a:rPr lang="en-US" smtClean="0"/>
              <a:t>‹#›</a:t>
            </a:fld>
            <a:endParaRPr lang="en-US"/>
          </a:p>
        </p:txBody>
      </p:sp>
    </p:spTree>
    <p:extLst>
      <p:ext uri="{BB962C8B-B14F-4D97-AF65-F5344CB8AC3E}">
        <p14:creationId xmlns:p14="http://schemas.microsoft.com/office/powerpoint/2010/main" val="1751335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A46292-2AA4-4009-B971-B8B018ABF87C}"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F4B12-2201-45D2-A066-C01B985EF3A6}" type="slidenum">
              <a:rPr lang="en-US" smtClean="0"/>
              <a:t>‹#›</a:t>
            </a:fld>
            <a:endParaRPr lang="en-US"/>
          </a:p>
        </p:txBody>
      </p:sp>
    </p:spTree>
    <p:extLst>
      <p:ext uri="{BB962C8B-B14F-4D97-AF65-F5344CB8AC3E}">
        <p14:creationId xmlns:p14="http://schemas.microsoft.com/office/powerpoint/2010/main" val="1708485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A46292-2AA4-4009-B971-B8B018ABF87C}"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F4B12-2201-45D2-A066-C01B985EF3A6}" type="slidenum">
              <a:rPr lang="en-US" smtClean="0"/>
              <a:t>‹#›</a:t>
            </a:fld>
            <a:endParaRPr lang="en-US"/>
          </a:p>
        </p:txBody>
      </p:sp>
    </p:spTree>
    <p:extLst>
      <p:ext uri="{BB962C8B-B14F-4D97-AF65-F5344CB8AC3E}">
        <p14:creationId xmlns:p14="http://schemas.microsoft.com/office/powerpoint/2010/main" val="3249304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5863649"/>
            <a:ext cx="12204192" cy="1009897"/>
          </a:xfrm>
          <a:prstGeom prst="rect">
            <a:avLst/>
          </a:prstGeom>
        </p:spPr>
      </p:pic>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44A46292-2AA4-4009-B971-B8B018ABF87C}" type="datetimeFigureOut">
              <a:rPr lang="en-US" smtClean="0"/>
              <a:t>8/27/2024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4EF4B12-2201-45D2-A066-C01B985EF3A6}" type="slidenum">
              <a:rPr lang="en-US" smtClean="0"/>
              <a:t>‹#›</a:t>
            </a:fld>
            <a:endParaRPr lang="en-US"/>
          </a:p>
        </p:txBody>
      </p:sp>
    </p:spTree>
    <p:extLst>
      <p:ext uri="{BB962C8B-B14F-4D97-AF65-F5344CB8AC3E}">
        <p14:creationId xmlns:p14="http://schemas.microsoft.com/office/powerpoint/2010/main" val="11845047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A850D-EBFB-D514-19BB-8F22E83E0E13}"/>
              </a:ext>
            </a:extLst>
          </p:cNvPr>
          <p:cNvSpPr>
            <a:spLocks noGrp="1"/>
          </p:cNvSpPr>
          <p:nvPr>
            <p:ph type="ctrTitle"/>
          </p:nvPr>
        </p:nvSpPr>
        <p:spPr/>
        <p:txBody>
          <a:bodyPr>
            <a:normAutofit fontScale="90000"/>
          </a:bodyPr>
          <a:lstStyle/>
          <a:p>
            <a:r>
              <a:rPr lang="en-US" sz="5850" dirty="0"/>
              <a:t>Does Asymmetric Information Drive Capital Structure Decisions?</a:t>
            </a:r>
          </a:p>
        </p:txBody>
      </p:sp>
      <p:sp>
        <p:nvSpPr>
          <p:cNvPr id="3" name="Subtitle 2">
            <a:extLst>
              <a:ext uri="{FF2B5EF4-FFF2-40B4-BE49-F238E27FC236}">
                <a16:creationId xmlns:a16="http://schemas.microsoft.com/office/drawing/2014/main" id="{8130DA63-F39A-A952-E490-7E230939FB41}"/>
              </a:ext>
            </a:extLst>
          </p:cNvPr>
          <p:cNvSpPr>
            <a:spLocks noGrp="1"/>
          </p:cNvSpPr>
          <p:nvPr>
            <p:ph type="subTitle" idx="1"/>
          </p:nvPr>
        </p:nvSpPr>
        <p:spPr/>
        <p:txBody>
          <a:bodyPr>
            <a:normAutofit/>
          </a:bodyPr>
          <a:lstStyle/>
          <a:p>
            <a:r>
              <a:rPr lang="en-US" dirty="0"/>
              <a:t>Bharath, </a:t>
            </a:r>
            <a:r>
              <a:rPr lang="en-US" dirty="0" err="1"/>
              <a:t>Pasquariello</a:t>
            </a:r>
            <a:r>
              <a:rPr lang="en-US" dirty="0"/>
              <a:t>, &amp; Wu (2009)</a:t>
            </a:r>
          </a:p>
          <a:p>
            <a:r>
              <a:rPr lang="en-US" dirty="0"/>
              <a:t>Presented by Nicholas Thompson</a:t>
            </a:r>
          </a:p>
        </p:txBody>
      </p:sp>
    </p:spTree>
    <p:extLst>
      <p:ext uri="{BB962C8B-B14F-4D97-AF65-F5344CB8AC3E}">
        <p14:creationId xmlns:p14="http://schemas.microsoft.com/office/powerpoint/2010/main" val="2336219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43CC2-657F-1783-2C6B-48CC9A4A334C}"/>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F094E230-15A3-4463-9D72-DADF80237905}"/>
              </a:ext>
            </a:extLst>
          </p:cNvPr>
          <p:cNvSpPr>
            <a:spLocks noGrp="1"/>
          </p:cNvSpPr>
          <p:nvPr>
            <p:ph idx="1"/>
          </p:nvPr>
        </p:nvSpPr>
        <p:spPr/>
        <p:txBody>
          <a:bodyPr/>
          <a:lstStyle/>
          <a:p>
            <a:r>
              <a:rPr lang="en-US" dirty="0"/>
              <a:t>Does asymmetric information drive capital structure decisions?</a:t>
            </a:r>
          </a:p>
        </p:txBody>
      </p:sp>
    </p:spTree>
    <p:extLst>
      <p:ext uri="{BB962C8B-B14F-4D97-AF65-F5344CB8AC3E}">
        <p14:creationId xmlns:p14="http://schemas.microsoft.com/office/powerpoint/2010/main" val="3157045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FA9DA-7ACA-7FA7-3DE0-4ED8DCB97B4B}"/>
              </a:ext>
            </a:extLst>
          </p:cNvPr>
          <p:cNvSpPr>
            <a:spLocks noGrp="1"/>
          </p:cNvSpPr>
          <p:nvPr>
            <p:ph type="title"/>
          </p:nvPr>
        </p:nvSpPr>
        <p:spPr/>
        <p:txBody>
          <a:bodyPr/>
          <a:lstStyle/>
          <a:p>
            <a:r>
              <a:rPr lang="en-US" dirty="0"/>
              <a:t>Prior Literature</a:t>
            </a:r>
          </a:p>
        </p:txBody>
      </p:sp>
      <p:sp>
        <p:nvSpPr>
          <p:cNvPr id="3" name="Content Placeholder 2">
            <a:extLst>
              <a:ext uri="{FF2B5EF4-FFF2-40B4-BE49-F238E27FC236}">
                <a16:creationId xmlns:a16="http://schemas.microsoft.com/office/drawing/2014/main" id="{01A29012-94EA-77C2-E8AF-4363B75B8191}"/>
              </a:ext>
            </a:extLst>
          </p:cNvPr>
          <p:cNvSpPr>
            <a:spLocks noGrp="1"/>
          </p:cNvSpPr>
          <p:nvPr>
            <p:ph idx="1"/>
          </p:nvPr>
        </p:nvSpPr>
        <p:spPr/>
        <p:txBody>
          <a:bodyPr vert="horz" lIns="91440" tIns="45720" rIns="91440" bIns="45720" rtlCol="0" anchor="t">
            <a:normAutofit fontScale="62500" lnSpcReduction="20000"/>
          </a:bodyPr>
          <a:lstStyle/>
          <a:p>
            <a:pPr marL="456565" indent="-456565"/>
            <a:r>
              <a:rPr lang="en-US" dirty="0"/>
              <a:t>Myers (1984) argues that, assuming managers know more about their firm’s value than the market, the market will penalize stock issuances, resulting in “pecking order theory,” the prediction that firms will use stock issuances to cover financing deficits only as a last resort after exhausting cheaper, less information-sensitive alternatives like internal cash or debt.</a:t>
            </a:r>
            <a:endParaRPr lang="en-US"/>
          </a:p>
          <a:p>
            <a:pPr marL="456565" indent="-456565"/>
            <a:r>
              <a:rPr lang="en-US" sz="4250" dirty="0"/>
              <a:t>Tests of the prediction are mixed. This paper instead tests the underlying assumption, information asymmetry, by constructing a novel index of it.</a:t>
            </a:r>
            <a:endParaRPr lang="en-US" sz="4250" dirty="0">
              <a:ea typeface="Calibri"/>
              <a:cs typeface="Calibri"/>
            </a:endParaRPr>
          </a:p>
          <a:p>
            <a:pPr marL="456565" indent="-456565"/>
            <a:r>
              <a:rPr lang="en-US" sz="4250" dirty="0"/>
              <a:t>The market microstructure literature contains direct measures of adverse selection, such as the adverse selection portions of both the quoted and Roll’s (1984) effective bid-ask spread (as in George, Kaul, &amp; </a:t>
            </a:r>
            <a:r>
              <a:rPr lang="en-US" sz="4250" dirty="0" err="1"/>
              <a:t>Nimalendran</a:t>
            </a:r>
            <a:r>
              <a:rPr lang="en-US" sz="4250" dirty="0"/>
              <a:t>, 1991), the return volume coefficient of Llorente et al. (2002), and the probability of informed trading of Easley et al. (1996).</a:t>
            </a:r>
            <a:endParaRPr lang="en-US" sz="4250" dirty="0">
              <a:ea typeface="Calibri"/>
              <a:cs typeface="Calibri"/>
            </a:endParaRPr>
          </a:p>
        </p:txBody>
      </p:sp>
    </p:spTree>
    <p:extLst>
      <p:ext uri="{BB962C8B-B14F-4D97-AF65-F5344CB8AC3E}">
        <p14:creationId xmlns:p14="http://schemas.microsoft.com/office/powerpoint/2010/main" val="2187111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2B19E-3A3C-B7C2-69F0-18BC63F011A0}"/>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A4974CE8-395D-546F-5935-CD1CC4B18DCE}"/>
              </a:ext>
            </a:extLst>
          </p:cNvPr>
          <p:cNvSpPr>
            <a:spLocks noGrp="1"/>
          </p:cNvSpPr>
          <p:nvPr>
            <p:ph idx="1"/>
          </p:nvPr>
        </p:nvSpPr>
        <p:spPr/>
        <p:txBody>
          <a:bodyPr vert="horz" lIns="91440" tIns="45720" rIns="91440" bIns="45720" rtlCol="0" anchor="t">
            <a:normAutofit fontScale="85000" lnSpcReduction="20000"/>
          </a:bodyPr>
          <a:lstStyle/>
          <a:p>
            <a:pPr marL="456565" indent="-456565"/>
            <a:r>
              <a:rPr lang="en-US" sz="4250" dirty="0"/>
              <a:t>Firm data: Each firm in COMPUSTAT database within each fiscal year between 1972 and 2002 (excluding financial firms, regulated utilities, firms involved in major mergers, firms with missing book value of assets, and firms that report format codes 4, 5, or 6)</a:t>
            </a:r>
            <a:endParaRPr lang="en-US" dirty="0">
              <a:ea typeface="Calibri"/>
              <a:cs typeface="Calibri"/>
            </a:endParaRPr>
          </a:p>
          <a:p>
            <a:pPr marL="456565" indent="-456565"/>
            <a:r>
              <a:rPr lang="en-US" sz="4250" dirty="0"/>
              <a:t>Stock price data: CRSP</a:t>
            </a:r>
            <a:endParaRPr lang="en-US" sz="4250" dirty="0">
              <a:ea typeface="Calibri"/>
              <a:cs typeface="Calibri"/>
            </a:endParaRPr>
          </a:p>
          <a:p>
            <a:pPr marL="456565" indent="-456565"/>
            <a:r>
              <a:rPr lang="en-US" dirty="0"/>
              <a:t>Insider trading data: Securities and Exchange Commission (SEC) Ownership Reporting System (ORS)</a:t>
            </a:r>
            <a:endParaRPr lang="en-US" dirty="0">
              <a:ea typeface="Calibri"/>
              <a:cs typeface="Calibri"/>
            </a:endParaRPr>
          </a:p>
          <a:p>
            <a:pPr marL="456565" indent="-456565"/>
            <a:endParaRPr lang="en-US" sz="4250" dirty="0">
              <a:ea typeface="Calibri"/>
              <a:cs typeface="Calibri"/>
            </a:endParaRPr>
          </a:p>
        </p:txBody>
      </p:sp>
    </p:spTree>
    <p:extLst>
      <p:ext uri="{BB962C8B-B14F-4D97-AF65-F5344CB8AC3E}">
        <p14:creationId xmlns:p14="http://schemas.microsoft.com/office/powerpoint/2010/main" val="4235161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4B5F0-9DF1-9BE3-631E-3E364B72E9BA}"/>
              </a:ext>
            </a:extLst>
          </p:cNvPr>
          <p:cNvSpPr>
            <a:spLocks noGrp="1"/>
          </p:cNvSpPr>
          <p:nvPr>
            <p:ph type="title"/>
          </p:nvPr>
        </p:nvSpPr>
        <p:spPr>
          <a:xfrm>
            <a:off x="609600" y="274639"/>
            <a:ext cx="10972800" cy="1143000"/>
          </a:xfrm>
        </p:spPr>
        <p:txBody>
          <a:bodyPr anchor="ctr">
            <a:normAutofit/>
          </a:bodyPr>
          <a:lstStyle/>
          <a:p>
            <a:r>
              <a:rPr lang="en-US" dirty="0"/>
              <a:t>Index Constituents</a:t>
            </a:r>
          </a:p>
        </p:txBody>
      </p:sp>
      <p:pic>
        <p:nvPicPr>
          <p:cNvPr id="9" name="Picture 8">
            <a:extLst>
              <a:ext uri="{FF2B5EF4-FFF2-40B4-BE49-F238E27FC236}">
                <a16:creationId xmlns:a16="http://schemas.microsoft.com/office/drawing/2014/main" id="{DC815BEC-0C61-C8C3-8C23-B5A385E3F3ED}"/>
              </a:ext>
            </a:extLst>
          </p:cNvPr>
          <p:cNvPicPr>
            <a:picLocks noChangeAspect="1"/>
          </p:cNvPicPr>
          <p:nvPr/>
        </p:nvPicPr>
        <p:blipFill>
          <a:blip r:embed="rId3"/>
          <a:stretch>
            <a:fillRect/>
          </a:stretch>
        </p:blipFill>
        <p:spPr>
          <a:xfrm>
            <a:off x="365734" y="1417639"/>
            <a:ext cx="1581506" cy="4274342"/>
          </a:xfrm>
          <a:prstGeom prst="rect">
            <a:avLst/>
          </a:prstGeom>
          <a:noFill/>
        </p:spPr>
      </p:pic>
      <p:sp>
        <p:nvSpPr>
          <p:cNvPr id="10" name="TextBox 9">
            <a:extLst>
              <a:ext uri="{FF2B5EF4-FFF2-40B4-BE49-F238E27FC236}">
                <a16:creationId xmlns:a16="http://schemas.microsoft.com/office/drawing/2014/main" id="{FE58C239-D5E2-2589-56C8-B307E5798432}"/>
              </a:ext>
            </a:extLst>
          </p:cNvPr>
          <p:cNvSpPr txBox="1"/>
          <p:nvPr/>
        </p:nvSpPr>
        <p:spPr>
          <a:xfrm>
            <a:off x="1975134" y="2891399"/>
            <a:ext cx="4948406" cy="369332"/>
          </a:xfrm>
          <a:prstGeom prst="rect">
            <a:avLst/>
          </a:prstGeom>
          <a:noFill/>
        </p:spPr>
        <p:txBody>
          <a:bodyPr wrap="none" rtlCol="0">
            <a:spAutoFit/>
          </a:bodyPr>
          <a:lstStyle/>
          <a:p>
            <a:r>
              <a:rPr lang="en-US" dirty="0"/>
              <a:t>Probability of informed trading (Easley et al., 1996)</a:t>
            </a:r>
          </a:p>
        </p:txBody>
      </p:sp>
      <p:sp>
        <p:nvSpPr>
          <p:cNvPr id="13" name="TextBox 12">
            <a:extLst>
              <a:ext uri="{FF2B5EF4-FFF2-40B4-BE49-F238E27FC236}">
                <a16:creationId xmlns:a16="http://schemas.microsoft.com/office/drawing/2014/main" id="{E367D77D-734C-5883-0EFE-3BAC27CB8CEA}"/>
              </a:ext>
            </a:extLst>
          </p:cNvPr>
          <p:cNvSpPr txBox="1"/>
          <p:nvPr/>
        </p:nvSpPr>
        <p:spPr>
          <a:xfrm>
            <a:off x="1975134" y="2438126"/>
            <a:ext cx="7755906" cy="369332"/>
          </a:xfrm>
          <a:prstGeom prst="rect">
            <a:avLst/>
          </a:prstGeom>
          <a:noFill/>
        </p:spPr>
        <p:txBody>
          <a:bodyPr wrap="none" lIns="91440" tIns="45720" rIns="91440" bIns="45720" rtlCol="0" anchor="t">
            <a:spAutoFit/>
          </a:bodyPr>
          <a:lstStyle/>
          <a:p>
            <a:r>
              <a:rPr lang="en-US" dirty="0"/>
              <a:t>Adverse selection portion of quoted spread (George, Kaul, &amp; </a:t>
            </a:r>
            <a:r>
              <a:rPr lang="en-US" dirty="0" err="1"/>
              <a:t>Nimalendran</a:t>
            </a:r>
            <a:r>
              <a:rPr lang="en-US" dirty="0"/>
              <a:t>, 1991)</a:t>
            </a:r>
          </a:p>
        </p:txBody>
      </p:sp>
      <p:sp>
        <p:nvSpPr>
          <p:cNvPr id="15" name="TextBox 14">
            <a:extLst>
              <a:ext uri="{FF2B5EF4-FFF2-40B4-BE49-F238E27FC236}">
                <a16:creationId xmlns:a16="http://schemas.microsoft.com/office/drawing/2014/main" id="{E138161E-5B76-FB05-FF06-328072D33FC9}"/>
              </a:ext>
            </a:extLst>
          </p:cNvPr>
          <p:cNvSpPr txBox="1"/>
          <p:nvPr/>
        </p:nvSpPr>
        <p:spPr>
          <a:xfrm>
            <a:off x="1975134" y="1531580"/>
            <a:ext cx="9081782" cy="369332"/>
          </a:xfrm>
          <a:prstGeom prst="rect">
            <a:avLst/>
          </a:prstGeom>
          <a:noFill/>
        </p:spPr>
        <p:txBody>
          <a:bodyPr wrap="none" lIns="91440" tIns="45720" rIns="91440" bIns="45720" rtlCol="0" anchor="t">
            <a:spAutoFit/>
          </a:bodyPr>
          <a:lstStyle/>
          <a:p>
            <a:r>
              <a:rPr lang="en-US" dirty="0"/>
              <a:t>Adverse selection portion of Roll’s (1984) effective spread (George, Kaul, &amp; </a:t>
            </a:r>
            <a:r>
              <a:rPr lang="en-US" dirty="0" err="1"/>
              <a:t>Nimalendran</a:t>
            </a:r>
            <a:r>
              <a:rPr lang="en-US" dirty="0"/>
              <a:t>, 1991)</a:t>
            </a:r>
          </a:p>
        </p:txBody>
      </p:sp>
      <p:sp>
        <p:nvSpPr>
          <p:cNvPr id="17" name="TextBox 16">
            <a:extLst>
              <a:ext uri="{FF2B5EF4-FFF2-40B4-BE49-F238E27FC236}">
                <a16:creationId xmlns:a16="http://schemas.microsoft.com/office/drawing/2014/main" id="{AA68E400-2DB7-FD5F-90CD-B7D1C8D43B1E}"/>
              </a:ext>
            </a:extLst>
          </p:cNvPr>
          <p:cNvSpPr txBox="1"/>
          <p:nvPr/>
        </p:nvSpPr>
        <p:spPr>
          <a:xfrm>
            <a:off x="1975134" y="3336205"/>
            <a:ext cx="3050387" cy="369332"/>
          </a:xfrm>
          <a:prstGeom prst="rect">
            <a:avLst/>
          </a:prstGeom>
          <a:noFill/>
        </p:spPr>
        <p:txBody>
          <a:bodyPr wrap="none" rtlCol="0">
            <a:spAutoFit/>
          </a:bodyPr>
          <a:lstStyle/>
          <a:p>
            <a:r>
              <a:rPr lang="en-US" dirty="0"/>
              <a:t>Illiquidity ratio (</a:t>
            </a:r>
            <a:r>
              <a:rPr lang="en-US" dirty="0" err="1"/>
              <a:t>Amihud</a:t>
            </a:r>
            <a:r>
              <a:rPr lang="en-US" dirty="0"/>
              <a:t>, 2002)</a:t>
            </a:r>
          </a:p>
        </p:txBody>
      </p:sp>
      <p:sp>
        <p:nvSpPr>
          <p:cNvPr id="21" name="TextBox 20">
            <a:extLst>
              <a:ext uri="{FF2B5EF4-FFF2-40B4-BE49-F238E27FC236}">
                <a16:creationId xmlns:a16="http://schemas.microsoft.com/office/drawing/2014/main" id="{4F93C106-9932-3503-ED8B-F67FB90B4EA7}"/>
              </a:ext>
            </a:extLst>
          </p:cNvPr>
          <p:cNvSpPr txBox="1"/>
          <p:nvPr/>
        </p:nvSpPr>
        <p:spPr>
          <a:xfrm>
            <a:off x="1975134" y="3789478"/>
            <a:ext cx="4886018" cy="369332"/>
          </a:xfrm>
          <a:prstGeom prst="rect">
            <a:avLst/>
          </a:prstGeom>
          <a:noFill/>
        </p:spPr>
        <p:txBody>
          <a:bodyPr wrap="none" rtlCol="0">
            <a:spAutoFit/>
          </a:bodyPr>
          <a:lstStyle/>
          <a:p>
            <a:r>
              <a:rPr lang="en-US" dirty="0"/>
              <a:t>Reversal coefficient (Pastor and Stambaugh, 2003)</a:t>
            </a:r>
          </a:p>
        </p:txBody>
      </p:sp>
      <p:sp>
        <p:nvSpPr>
          <p:cNvPr id="23" name="TextBox 22">
            <a:extLst>
              <a:ext uri="{FF2B5EF4-FFF2-40B4-BE49-F238E27FC236}">
                <a16:creationId xmlns:a16="http://schemas.microsoft.com/office/drawing/2014/main" id="{3A24F20E-DA08-E6A5-693D-A303EAEC0008}"/>
              </a:ext>
            </a:extLst>
          </p:cNvPr>
          <p:cNvSpPr txBox="1"/>
          <p:nvPr/>
        </p:nvSpPr>
        <p:spPr>
          <a:xfrm>
            <a:off x="1975134" y="4242750"/>
            <a:ext cx="9401035" cy="369332"/>
          </a:xfrm>
          <a:prstGeom prst="rect">
            <a:avLst/>
          </a:prstGeom>
          <a:noFill/>
        </p:spPr>
        <p:txBody>
          <a:bodyPr wrap="none" lIns="91440" tIns="45720" rIns="91440" bIns="45720" rtlCol="0" anchor="t">
            <a:spAutoFit/>
          </a:bodyPr>
          <a:lstStyle/>
          <a:p>
            <a:r>
              <a:rPr lang="en-US" dirty="0"/>
              <a:t>Amivest liquidity ratio (Cooper, Groth, &amp; Avera, 1985; </a:t>
            </a:r>
            <a:r>
              <a:rPr lang="en-US" dirty="0" err="1"/>
              <a:t>Amihud</a:t>
            </a:r>
            <a:r>
              <a:rPr lang="en-US" dirty="0"/>
              <a:t>, Mendelson, &amp; Lauterbach, 1997)</a:t>
            </a:r>
          </a:p>
        </p:txBody>
      </p:sp>
      <p:sp>
        <p:nvSpPr>
          <p:cNvPr id="25" name="TextBox 24">
            <a:extLst>
              <a:ext uri="{FF2B5EF4-FFF2-40B4-BE49-F238E27FC236}">
                <a16:creationId xmlns:a16="http://schemas.microsoft.com/office/drawing/2014/main" id="{00B83913-232E-2D31-E4B4-EF6E8FF1B4CA}"/>
              </a:ext>
            </a:extLst>
          </p:cNvPr>
          <p:cNvSpPr txBox="1"/>
          <p:nvPr/>
        </p:nvSpPr>
        <p:spPr>
          <a:xfrm>
            <a:off x="1975134" y="1984853"/>
            <a:ext cx="4693401" cy="369332"/>
          </a:xfrm>
          <a:prstGeom prst="rect">
            <a:avLst/>
          </a:prstGeom>
          <a:noFill/>
        </p:spPr>
        <p:txBody>
          <a:bodyPr wrap="none" rtlCol="0">
            <a:spAutoFit/>
          </a:bodyPr>
          <a:lstStyle/>
          <a:p>
            <a:r>
              <a:rPr lang="en-US" dirty="0"/>
              <a:t>Return-volume coefficient (</a:t>
            </a:r>
            <a:r>
              <a:rPr lang="en-US" dirty="0" err="1"/>
              <a:t>Llorente</a:t>
            </a:r>
            <a:r>
              <a:rPr lang="en-US" dirty="0"/>
              <a:t> et al., 2002)</a:t>
            </a:r>
          </a:p>
        </p:txBody>
      </p:sp>
      <p:sp>
        <p:nvSpPr>
          <p:cNvPr id="26" name="Oval 25">
            <a:extLst>
              <a:ext uri="{FF2B5EF4-FFF2-40B4-BE49-F238E27FC236}">
                <a16:creationId xmlns:a16="http://schemas.microsoft.com/office/drawing/2014/main" id="{B8A746E2-E6F2-155F-9A4F-0863E07B844A}"/>
              </a:ext>
            </a:extLst>
          </p:cNvPr>
          <p:cNvSpPr/>
          <p:nvPr/>
        </p:nvSpPr>
        <p:spPr>
          <a:xfrm>
            <a:off x="241909" y="3459782"/>
            <a:ext cx="123825" cy="12220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B83218B-8A7E-E317-9540-C68BBA6D633F}"/>
              </a:ext>
            </a:extLst>
          </p:cNvPr>
          <p:cNvSpPr/>
          <p:nvPr/>
        </p:nvSpPr>
        <p:spPr>
          <a:xfrm>
            <a:off x="241909" y="3905391"/>
            <a:ext cx="123825" cy="12220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4F3177C-0B1C-55D5-3FA6-7919540AC1A2}"/>
              </a:ext>
            </a:extLst>
          </p:cNvPr>
          <p:cNvSpPr/>
          <p:nvPr/>
        </p:nvSpPr>
        <p:spPr>
          <a:xfrm>
            <a:off x="241909" y="4351000"/>
            <a:ext cx="123825" cy="12220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30EA483A-8058-0A50-5387-76881A0B9D3E}"/>
              </a:ext>
            </a:extLst>
          </p:cNvPr>
          <p:cNvSpPr/>
          <p:nvPr/>
        </p:nvSpPr>
        <p:spPr>
          <a:xfrm>
            <a:off x="241909" y="3005707"/>
            <a:ext cx="123825" cy="122207"/>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B1E9884-2573-8AA8-72D9-C8D8CD5FD52A}"/>
              </a:ext>
            </a:extLst>
          </p:cNvPr>
          <p:cNvSpPr/>
          <p:nvPr/>
        </p:nvSpPr>
        <p:spPr>
          <a:xfrm>
            <a:off x="241909" y="2560098"/>
            <a:ext cx="123825" cy="122207"/>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DA20DFF-0057-B933-352F-8CFFB53D4F3F}"/>
              </a:ext>
            </a:extLst>
          </p:cNvPr>
          <p:cNvSpPr/>
          <p:nvPr/>
        </p:nvSpPr>
        <p:spPr>
          <a:xfrm>
            <a:off x="241909" y="2106023"/>
            <a:ext cx="123825" cy="122207"/>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69EABC7-ECE2-CC89-E3A7-29D124FA373A}"/>
              </a:ext>
            </a:extLst>
          </p:cNvPr>
          <p:cNvSpPr/>
          <p:nvPr/>
        </p:nvSpPr>
        <p:spPr>
          <a:xfrm>
            <a:off x="241909" y="1651947"/>
            <a:ext cx="123825" cy="122207"/>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186D955-956F-62D8-08B2-F732B27BEBAD}"/>
              </a:ext>
            </a:extLst>
          </p:cNvPr>
          <p:cNvSpPr txBox="1"/>
          <p:nvPr/>
        </p:nvSpPr>
        <p:spPr>
          <a:xfrm>
            <a:off x="1975134" y="4696023"/>
            <a:ext cx="8510600" cy="369332"/>
          </a:xfrm>
          <a:prstGeom prst="rect">
            <a:avLst/>
          </a:prstGeom>
          <a:noFill/>
        </p:spPr>
        <p:txBody>
          <a:bodyPr wrap="none" lIns="91440" tIns="45720" rIns="91440" bIns="45720" rtlCol="0" anchor="t">
            <a:spAutoFit/>
          </a:bodyPr>
          <a:lstStyle/>
          <a:p>
            <a:r>
              <a:rPr lang="en-US" dirty="0"/>
              <a:t>Adverse selection index—the first principal component of available proxies in each year</a:t>
            </a:r>
          </a:p>
        </p:txBody>
      </p:sp>
      <p:sp>
        <p:nvSpPr>
          <p:cNvPr id="35" name="TextBox 34">
            <a:extLst>
              <a:ext uri="{FF2B5EF4-FFF2-40B4-BE49-F238E27FC236}">
                <a16:creationId xmlns:a16="http://schemas.microsoft.com/office/drawing/2014/main" id="{E49ACFA9-1824-7E20-38E7-7A9E7C0692FA}"/>
              </a:ext>
            </a:extLst>
          </p:cNvPr>
          <p:cNvSpPr txBox="1"/>
          <p:nvPr/>
        </p:nvSpPr>
        <p:spPr>
          <a:xfrm>
            <a:off x="1975134" y="5149296"/>
            <a:ext cx="4683783" cy="369332"/>
          </a:xfrm>
          <a:prstGeom prst="rect">
            <a:avLst/>
          </a:prstGeom>
          <a:noFill/>
        </p:spPr>
        <p:txBody>
          <a:bodyPr wrap="none" rtlCol="0">
            <a:spAutoFit/>
          </a:bodyPr>
          <a:lstStyle/>
          <a:p>
            <a:r>
              <a:rPr lang="en-US" dirty="0"/>
              <a:t>Year on year change in adverse selection index</a:t>
            </a:r>
          </a:p>
        </p:txBody>
      </p:sp>
    </p:spTree>
    <p:extLst>
      <p:ext uri="{BB962C8B-B14F-4D97-AF65-F5344CB8AC3E}">
        <p14:creationId xmlns:p14="http://schemas.microsoft.com/office/powerpoint/2010/main" val="2642789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76164BF-3948-F751-8A08-89A9F53D6E99}"/>
              </a:ext>
            </a:extLst>
          </p:cNvPr>
          <p:cNvPicPr>
            <a:picLocks noGrp="1" noChangeAspect="1"/>
          </p:cNvPicPr>
          <p:nvPr>
            <p:ph idx="1"/>
          </p:nvPr>
        </p:nvPicPr>
        <p:blipFill>
          <a:blip r:embed="rId3"/>
          <a:stretch>
            <a:fillRect/>
          </a:stretch>
        </p:blipFill>
        <p:spPr>
          <a:xfrm>
            <a:off x="846666" y="591533"/>
            <a:ext cx="10498667" cy="4251959"/>
          </a:xfrm>
          <a:noFill/>
        </p:spPr>
      </p:pic>
      <p:sp>
        <p:nvSpPr>
          <p:cNvPr id="12" name="Rectangle 11">
            <a:extLst>
              <a:ext uri="{FF2B5EF4-FFF2-40B4-BE49-F238E27FC236}">
                <a16:creationId xmlns:a16="http://schemas.microsoft.com/office/drawing/2014/main" id="{55EF36EB-F36E-2673-F075-4F62396AB835}"/>
              </a:ext>
            </a:extLst>
          </p:cNvPr>
          <p:cNvSpPr/>
          <p:nvPr/>
        </p:nvSpPr>
        <p:spPr>
          <a:xfrm>
            <a:off x="5562600" y="1152525"/>
            <a:ext cx="971550" cy="3162300"/>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7D26E4C-F37B-3B24-A707-8E854C14D0D9}"/>
              </a:ext>
            </a:extLst>
          </p:cNvPr>
          <p:cNvSpPr/>
          <p:nvPr/>
        </p:nvSpPr>
        <p:spPr>
          <a:xfrm>
            <a:off x="3185160" y="1152525"/>
            <a:ext cx="971550" cy="3162300"/>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3810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C3F7861-98C3-F7EA-337E-F5BE99D998BB}"/>
              </a:ext>
            </a:extLst>
          </p:cNvPr>
          <p:cNvPicPr>
            <a:picLocks noChangeAspect="1"/>
          </p:cNvPicPr>
          <p:nvPr/>
        </p:nvPicPr>
        <p:blipFill>
          <a:blip r:embed="rId3"/>
          <a:stretch>
            <a:fillRect/>
          </a:stretch>
        </p:blipFill>
        <p:spPr>
          <a:xfrm>
            <a:off x="2384369" y="179542"/>
            <a:ext cx="7423261" cy="5474655"/>
          </a:xfrm>
          <a:prstGeom prst="rect">
            <a:avLst/>
          </a:prstGeom>
          <a:noFill/>
        </p:spPr>
      </p:pic>
      <p:sp>
        <p:nvSpPr>
          <p:cNvPr id="10" name="Rectangle 9">
            <a:extLst>
              <a:ext uri="{FF2B5EF4-FFF2-40B4-BE49-F238E27FC236}">
                <a16:creationId xmlns:a16="http://schemas.microsoft.com/office/drawing/2014/main" id="{DFC0914B-2F36-DED6-3F71-A6FA92A7CEA3}"/>
              </a:ext>
            </a:extLst>
          </p:cNvPr>
          <p:cNvSpPr/>
          <p:nvPr/>
        </p:nvSpPr>
        <p:spPr>
          <a:xfrm>
            <a:off x="2384369" y="2025015"/>
            <a:ext cx="1537703" cy="169545"/>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2CF7BE2-FAAD-C2FD-FCF3-75E51E8038C2}"/>
              </a:ext>
            </a:extLst>
          </p:cNvPr>
          <p:cNvSpPr/>
          <p:nvPr/>
        </p:nvSpPr>
        <p:spPr>
          <a:xfrm>
            <a:off x="2384368" y="3752060"/>
            <a:ext cx="1537703" cy="567478"/>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18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E2974AB-E8BD-4BD4-AE59-66AAFBA852D0}"/>
              </a:ext>
            </a:extLst>
          </p:cNvPr>
          <p:cNvPicPr>
            <a:picLocks noChangeAspect="1"/>
          </p:cNvPicPr>
          <p:nvPr/>
        </p:nvPicPr>
        <p:blipFill>
          <a:blip r:embed="rId3"/>
          <a:stretch>
            <a:fillRect/>
          </a:stretch>
        </p:blipFill>
        <p:spPr>
          <a:xfrm>
            <a:off x="3462528" y="0"/>
            <a:ext cx="5266944" cy="5852160"/>
          </a:xfrm>
          <a:prstGeom prst="rect">
            <a:avLst/>
          </a:prstGeom>
          <a:noFill/>
        </p:spPr>
      </p:pic>
      <p:sp>
        <p:nvSpPr>
          <p:cNvPr id="11" name="Rectangle 10">
            <a:extLst>
              <a:ext uri="{FF2B5EF4-FFF2-40B4-BE49-F238E27FC236}">
                <a16:creationId xmlns:a16="http://schemas.microsoft.com/office/drawing/2014/main" id="{66C12541-9C10-7071-CEA0-2157260F1A8C}"/>
              </a:ext>
            </a:extLst>
          </p:cNvPr>
          <p:cNvSpPr/>
          <p:nvPr/>
        </p:nvSpPr>
        <p:spPr>
          <a:xfrm>
            <a:off x="4145279" y="2436495"/>
            <a:ext cx="472441" cy="260985"/>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590722B-ED8F-B034-ECBB-606904B71825}"/>
              </a:ext>
            </a:extLst>
          </p:cNvPr>
          <p:cNvSpPr/>
          <p:nvPr/>
        </p:nvSpPr>
        <p:spPr>
          <a:xfrm>
            <a:off x="5775959" y="2436495"/>
            <a:ext cx="472441" cy="260985"/>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3C332A9-5745-8F17-137A-E8BFB385B455}"/>
              </a:ext>
            </a:extLst>
          </p:cNvPr>
          <p:cNvSpPr/>
          <p:nvPr/>
        </p:nvSpPr>
        <p:spPr>
          <a:xfrm>
            <a:off x="6515099" y="2436494"/>
            <a:ext cx="472441" cy="260985"/>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A635874-049A-E326-15DF-22B17E92DA93}"/>
              </a:ext>
            </a:extLst>
          </p:cNvPr>
          <p:cNvSpPr/>
          <p:nvPr/>
        </p:nvSpPr>
        <p:spPr>
          <a:xfrm>
            <a:off x="5776805" y="4910666"/>
            <a:ext cx="472441" cy="268394"/>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549EB77F-68E8-FE87-F542-8FD0223326C0}"/>
              </a:ext>
            </a:extLst>
          </p:cNvPr>
          <p:cNvSpPr/>
          <p:nvPr/>
        </p:nvSpPr>
        <p:spPr>
          <a:xfrm>
            <a:off x="8164405" y="4910666"/>
            <a:ext cx="472441" cy="268394"/>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8813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5A430F05-AE62-D3F7-4DB9-F42C2BA90779}"/>
              </a:ext>
            </a:extLst>
          </p:cNvPr>
          <p:cNvPicPr>
            <a:picLocks noGrp="1" noChangeAspect="1"/>
          </p:cNvPicPr>
          <p:nvPr>
            <p:ph idx="1"/>
          </p:nvPr>
        </p:nvPicPr>
        <p:blipFill>
          <a:blip r:embed="rId3"/>
          <a:stretch>
            <a:fillRect/>
          </a:stretch>
        </p:blipFill>
        <p:spPr>
          <a:xfrm>
            <a:off x="3513931" y="0"/>
            <a:ext cx="5164138" cy="5847259"/>
          </a:xfrm>
          <a:noFill/>
        </p:spPr>
      </p:pic>
      <p:sp>
        <p:nvSpPr>
          <p:cNvPr id="12" name="Rectangle 11">
            <a:extLst>
              <a:ext uri="{FF2B5EF4-FFF2-40B4-BE49-F238E27FC236}">
                <a16:creationId xmlns:a16="http://schemas.microsoft.com/office/drawing/2014/main" id="{0EE738DD-262A-381B-3928-294B0082AD75}"/>
              </a:ext>
            </a:extLst>
          </p:cNvPr>
          <p:cNvSpPr/>
          <p:nvPr/>
        </p:nvSpPr>
        <p:spPr>
          <a:xfrm>
            <a:off x="4991100" y="2438400"/>
            <a:ext cx="400050" cy="281939"/>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58A4E45-0F7E-090E-6966-D1E42C40B2EE}"/>
              </a:ext>
            </a:extLst>
          </p:cNvPr>
          <p:cNvSpPr/>
          <p:nvPr/>
        </p:nvSpPr>
        <p:spPr>
          <a:xfrm>
            <a:off x="7216140" y="2430779"/>
            <a:ext cx="400050" cy="281939"/>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D5A1755-FD48-6DF9-D71B-2B71C0D21F2F}"/>
              </a:ext>
            </a:extLst>
          </p:cNvPr>
          <p:cNvSpPr/>
          <p:nvPr/>
        </p:nvSpPr>
        <p:spPr>
          <a:xfrm>
            <a:off x="4991100" y="4927689"/>
            <a:ext cx="400050" cy="281939"/>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C09F4C4-4C5F-F599-0604-2AB6B4D1742F}"/>
              </a:ext>
            </a:extLst>
          </p:cNvPr>
          <p:cNvSpPr/>
          <p:nvPr/>
        </p:nvSpPr>
        <p:spPr>
          <a:xfrm>
            <a:off x="7216140" y="4927688"/>
            <a:ext cx="400050" cy="281939"/>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6364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480258A-2919-40A5-6B94-63447C8BF1E6}"/>
              </a:ext>
            </a:extLst>
          </p:cNvPr>
          <p:cNvPicPr>
            <a:picLocks noGrp="1" noChangeAspect="1"/>
          </p:cNvPicPr>
          <p:nvPr>
            <p:ph idx="1"/>
          </p:nvPr>
        </p:nvPicPr>
        <p:blipFill>
          <a:blip r:embed="rId3"/>
          <a:stretch>
            <a:fillRect/>
          </a:stretch>
        </p:blipFill>
        <p:spPr>
          <a:xfrm>
            <a:off x="609600" y="312169"/>
            <a:ext cx="10972800" cy="4169663"/>
          </a:xfrm>
          <a:noFill/>
        </p:spPr>
      </p:pic>
      <p:pic>
        <p:nvPicPr>
          <p:cNvPr id="9" name="Picture 8">
            <a:extLst>
              <a:ext uri="{FF2B5EF4-FFF2-40B4-BE49-F238E27FC236}">
                <a16:creationId xmlns:a16="http://schemas.microsoft.com/office/drawing/2014/main" id="{D187BBC6-1B8B-E6C7-4F79-B591A7B6BBDF}"/>
              </a:ext>
            </a:extLst>
          </p:cNvPr>
          <p:cNvPicPr>
            <a:picLocks noChangeAspect="1"/>
          </p:cNvPicPr>
          <p:nvPr/>
        </p:nvPicPr>
        <p:blipFill>
          <a:blip r:embed="rId4"/>
          <a:stretch>
            <a:fillRect/>
          </a:stretch>
        </p:blipFill>
        <p:spPr>
          <a:xfrm>
            <a:off x="507044" y="4570724"/>
            <a:ext cx="10808018" cy="774274"/>
          </a:xfrm>
          <a:prstGeom prst="rect">
            <a:avLst/>
          </a:prstGeom>
        </p:spPr>
      </p:pic>
    </p:spTree>
    <p:extLst>
      <p:ext uri="{BB962C8B-B14F-4D97-AF65-F5344CB8AC3E}">
        <p14:creationId xmlns:p14="http://schemas.microsoft.com/office/powerpoint/2010/main" val="2228455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D078E65-1BA9-A791-1EAD-F2D030184F88}"/>
              </a:ext>
            </a:extLst>
          </p:cNvPr>
          <p:cNvPicPr>
            <a:picLocks noGrp="1" noChangeAspect="1"/>
          </p:cNvPicPr>
          <p:nvPr>
            <p:ph idx="1"/>
          </p:nvPr>
        </p:nvPicPr>
        <p:blipFill>
          <a:blip r:embed="rId3"/>
          <a:stretch>
            <a:fillRect/>
          </a:stretch>
        </p:blipFill>
        <p:spPr>
          <a:xfrm>
            <a:off x="2124671" y="0"/>
            <a:ext cx="7942658" cy="5854964"/>
          </a:xfrm>
          <a:noFill/>
        </p:spPr>
      </p:pic>
      <p:sp>
        <p:nvSpPr>
          <p:cNvPr id="3" name="Rectangle 2">
            <a:extLst>
              <a:ext uri="{FF2B5EF4-FFF2-40B4-BE49-F238E27FC236}">
                <a16:creationId xmlns:a16="http://schemas.microsoft.com/office/drawing/2014/main" id="{6560EAD8-A4F2-523C-DC93-47263A30491D}"/>
              </a:ext>
            </a:extLst>
          </p:cNvPr>
          <p:cNvSpPr/>
          <p:nvPr/>
        </p:nvSpPr>
        <p:spPr>
          <a:xfrm>
            <a:off x="2893119" y="1389206"/>
            <a:ext cx="7016311" cy="194646"/>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1653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13C7928-0126-79C6-CB47-FBC42E989F74}"/>
              </a:ext>
            </a:extLst>
          </p:cNvPr>
          <p:cNvPicPr>
            <a:picLocks noGrp="1" noChangeAspect="1"/>
          </p:cNvPicPr>
          <p:nvPr>
            <p:ph idx="1"/>
          </p:nvPr>
        </p:nvPicPr>
        <p:blipFill>
          <a:blip r:embed="rId3"/>
          <a:stretch>
            <a:fillRect/>
          </a:stretch>
        </p:blipFill>
        <p:spPr>
          <a:xfrm>
            <a:off x="609600" y="2012277"/>
            <a:ext cx="10972800" cy="2139696"/>
          </a:xfrm>
          <a:noFill/>
        </p:spPr>
      </p:pic>
      <p:sp>
        <p:nvSpPr>
          <p:cNvPr id="6" name="Rectangle 5">
            <a:extLst>
              <a:ext uri="{FF2B5EF4-FFF2-40B4-BE49-F238E27FC236}">
                <a16:creationId xmlns:a16="http://schemas.microsoft.com/office/drawing/2014/main" id="{A3A52102-BE52-1194-7F30-B199F9E4A4AF}"/>
              </a:ext>
            </a:extLst>
          </p:cNvPr>
          <p:cNvSpPr/>
          <p:nvPr/>
        </p:nvSpPr>
        <p:spPr>
          <a:xfrm>
            <a:off x="4130034" y="3758263"/>
            <a:ext cx="7352907" cy="393710"/>
          </a:xfrm>
          <a:prstGeom prst="rect">
            <a:avLst/>
          </a:prstGeom>
          <a:solidFill>
            <a:schemeClr val="bg1"/>
          </a:solidFill>
          <a:ln>
            <a:noFill/>
          </a:ln>
          <a:effectLst/>
          <a:scene3d>
            <a:camera prst="orthographicFront">
              <a:rot lat="0" lon="0" rev="0"/>
            </a:camera>
            <a:lightRig rig="contrasting" dir="t">
              <a:rot lat="0" lon="0" rev="7800000"/>
            </a:lightRig>
          </a:scene3d>
          <a:sp3d>
            <a:bevelT w="139700" h="1397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613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D166CD-DA25-1758-3523-B54ADA850E91}"/>
              </a:ext>
            </a:extLst>
          </p:cNvPr>
          <p:cNvPicPr>
            <a:picLocks noGrp="1" noChangeAspect="1"/>
          </p:cNvPicPr>
          <p:nvPr>
            <p:ph idx="1"/>
          </p:nvPr>
        </p:nvPicPr>
        <p:blipFill>
          <a:blip r:embed="rId3"/>
          <a:stretch>
            <a:fillRect/>
          </a:stretch>
        </p:blipFill>
        <p:spPr>
          <a:xfrm>
            <a:off x="609600" y="2229629"/>
            <a:ext cx="10972800" cy="1673351"/>
          </a:xfrm>
          <a:noFill/>
        </p:spPr>
      </p:pic>
    </p:spTree>
    <p:extLst>
      <p:ext uri="{BB962C8B-B14F-4D97-AF65-F5344CB8AC3E}">
        <p14:creationId xmlns:p14="http://schemas.microsoft.com/office/powerpoint/2010/main" val="3643709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CA82E9-3C12-28E3-24DE-58989DCECE22}"/>
              </a:ext>
            </a:extLst>
          </p:cNvPr>
          <p:cNvPicPr>
            <a:picLocks noChangeAspect="1"/>
          </p:cNvPicPr>
          <p:nvPr/>
        </p:nvPicPr>
        <p:blipFill>
          <a:blip r:embed="rId3"/>
          <a:stretch>
            <a:fillRect/>
          </a:stretch>
        </p:blipFill>
        <p:spPr>
          <a:xfrm>
            <a:off x="2804160" y="0"/>
            <a:ext cx="6583679" cy="6858000"/>
          </a:xfrm>
          <a:prstGeom prst="rect">
            <a:avLst/>
          </a:prstGeom>
          <a:noFill/>
        </p:spPr>
      </p:pic>
      <p:sp>
        <p:nvSpPr>
          <p:cNvPr id="3" name="Rectangle 2">
            <a:extLst>
              <a:ext uri="{FF2B5EF4-FFF2-40B4-BE49-F238E27FC236}">
                <a16:creationId xmlns:a16="http://schemas.microsoft.com/office/drawing/2014/main" id="{3D0F6639-26CB-ECF5-1ECE-CAF0617F2DFA}"/>
              </a:ext>
            </a:extLst>
          </p:cNvPr>
          <p:cNvSpPr/>
          <p:nvPr/>
        </p:nvSpPr>
        <p:spPr>
          <a:xfrm>
            <a:off x="2871514" y="1117689"/>
            <a:ext cx="6348905" cy="185596"/>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3236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85E5C9-D28D-6372-6AAA-1E54EB686CDF}"/>
              </a:ext>
            </a:extLst>
          </p:cNvPr>
          <p:cNvPicPr>
            <a:picLocks noChangeAspect="1"/>
          </p:cNvPicPr>
          <p:nvPr/>
        </p:nvPicPr>
        <p:blipFill>
          <a:blip r:embed="rId3"/>
          <a:stretch>
            <a:fillRect/>
          </a:stretch>
        </p:blipFill>
        <p:spPr>
          <a:xfrm>
            <a:off x="3040042" y="0"/>
            <a:ext cx="6111916" cy="5852160"/>
          </a:xfrm>
          <a:prstGeom prst="rect">
            <a:avLst/>
          </a:prstGeom>
          <a:noFill/>
        </p:spPr>
      </p:pic>
      <p:sp>
        <p:nvSpPr>
          <p:cNvPr id="3" name="Rectangle 2">
            <a:extLst>
              <a:ext uri="{FF2B5EF4-FFF2-40B4-BE49-F238E27FC236}">
                <a16:creationId xmlns:a16="http://schemas.microsoft.com/office/drawing/2014/main" id="{7327C305-008E-80FD-1145-C723815C9E07}"/>
              </a:ext>
            </a:extLst>
          </p:cNvPr>
          <p:cNvSpPr/>
          <p:nvPr/>
        </p:nvSpPr>
        <p:spPr>
          <a:xfrm>
            <a:off x="4162793" y="1008837"/>
            <a:ext cx="577544" cy="3466641"/>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BC65607-91DA-2D0F-E287-3A6EBB73263F}"/>
              </a:ext>
            </a:extLst>
          </p:cNvPr>
          <p:cNvSpPr/>
          <p:nvPr/>
        </p:nvSpPr>
        <p:spPr>
          <a:xfrm>
            <a:off x="6580171" y="1008836"/>
            <a:ext cx="577544" cy="3466641"/>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1896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E15111-365B-FC52-7F0F-F7A971BC2891}"/>
              </a:ext>
            </a:extLst>
          </p:cNvPr>
          <p:cNvPicPr>
            <a:picLocks noGrp="1" noChangeAspect="1"/>
          </p:cNvPicPr>
          <p:nvPr>
            <p:ph idx="1"/>
          </p:nvPr>
        </p:nvPicPr>
        <p:blipFill>
          <a:blip r:embed="rId3"/>
          <a:stretch>
            <a:fillRect/>
          </a:stretch>
        </p:blipFill>
        <p:spPr>
          <a:xfrm>
            <a:off x="609600" y="1771062"/>
            <a:ext cx="10972800" cy="2194558"/>
          </a:xfrm>
          <a:noFill/>
        </p:spPr>
      </p:pic>
      <p:sp>
        <p:nvSpPr>
          <p:cNvPr id="6" name="Rectangle 5">
            <a:extLst>
              <a:ext uri="{FF2B5EF4-FFF2-40B4-BE49-F238E27FC236}">
                <a16:creationId xmlns:a16="http://schemas.microsoft.com/office/drawing/2014/main" id="{34B9AC75-9658-D0E7-B8A3-5BC814733265}"/>
              </a:ext>
            </a:extLst>
          </p:cNvPr>
          <p:cNvSpPr/>
          <p:nvPr/>
        </p:nvSpPr>
        <p:spPr>
          <a:xfrm>
            <a:off x="3592706" y="3606553"/>
            <a:ext cx="7989694" cy="393710"/>
          </a:xfrm>
          <a:prstGeom prst="rect">
            <a:avLst/>
          </a:prstGeom>
          <a:solidFill>
            <a:schemeClr val="bg1"/>
          </a:solidFill>
          <a:ln>
            <a:noFill/>
          </a:ln>
          <a:effectLst/>
          <a:scene3d>
            <a:camera prst="orthographicFront">
              <a:rot lat="0" lon="0" rev="0"/>
            </a:camera>
            <a:lightRig rig="contrasting" dir="t">
              <a:rot lat="0" lon="0" rev="7800000"/>
            </a:lightRig>
          </a:scene3d>
          <a:sp3d>
            <a:bevelT w="139700" h="1397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9978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0972FA-ABE8-EF02-5392-DA8FB1E4373E}"/>
              </a:ext>
            </a:extLst>
          </p:cNvPr>
          <p:cNvPicPr>
            <a:picLocks noChangeAspect="1"/>
          </p:cNvPicPr>
          <p:nvPr/>
        </p:nvPicPr>
        <p:blipFill>
          <a:blip r:embed="rId3"/>
          <a:stretch>
            <a:fillRect/>
          </a:stretch>
        </p:blipFill>
        <p:spPr>
          <a:xfrm>
            <a:off x="2032000" y="0"/>
            <a:ext cx="8127999" cy="5852160"/>
          </a:xfrm>
          <a:prstGeom prst="rect">
            <a:avLst/>
          </a:prstGeom>
          <a:noFill/>
        </p:spPr>
      </p:pic>
      <p:sp>
        <p:nvSpPr>
          <p:cNvPr id="6" name="Rectangle 5">
            <a:extLst>
              <a:ext uri="{FF2B5EF4-FFF2-40B4-BE49-F238E27FC236}">
                <a16:creationId xmlns:a16="http://schemas.microsoft.com/office/drawing/2014/main" id="{CAE86EBE-6D4F-FE7D-2376-953FB2E510B6}"/>
              </a:ext>
            </a:extLst>
          </p:cNvPr>
          <p:cNvSpPr/>
          <p:nvPr/>
        </p:nvSpPr>
        <p:spPr>
          <a:xfrm>
            <a:off x="2145101" y="1280355"/>
            <a:ext cx="7650713" cy="216609"/>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493970-B6E0-8144-A734-55F94B997A52}"/>
              </a:ext>
            </a:extLst>
          </p:cNvPr>
          <p:cNvSpPr/>
          <p:nvPr/>
        </p:nvSpPr>
        <p:spPr>
          <a:xfrm>
            <a:off x="2813966" y="3119664"/>
            <a:ext cx="682647" cy="567538"/>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D354D12-EB7B-FEF9-4C6B-F48CBE0548D7}"/>
              </a:ext>
            </a:extLst>
          </p:cNvPr>
          <p:cNvSpPr/>
          <p:nvPr/>
        </p:nvSpPr>
        <p:spPr>
          <a:xfrm>
            <a:off x="6711552" y="3119665"/>
            <a:ext cx="682647" cy="567538"/>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0217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8D8F6E-2A85-8355-216C-EEE77FA6B31C}"/>
              </a:ext>
            </a:extLst>
          </p:cNvPr>
          <p:cNvPicPr>
            <a:picLocks noChangeAspect="1"/>
          </p:cNvPicPr>
          <p:nvPr/>
        </p:nvPicPr>
        <p:blipFill>
          <a:blip r:embed="rId3"/>
          <a:stretch>
            <a:fillRect/>
          </a:stretch>
        </p:blipFill>
        <p:spPr>
          <a:xfrm>
            <a:off x="1662545" y="0"/>
            <a:ext cx="8866909" cy="5852160"/>
          </a:xfrm>
          <a:prstGeom prst="rect">
            <a:avLst/>
          </a:prstGeom>
          <a:noFill/>
        </p:spPr>
      </p:pic>
      <p:sp>
        <p:nvSpPr>
          <p:cNvPr id="4" name="Rectangle 3">
            <a:extLst>
              <a:ext uri="{FF2B5EF4-FFF2-40B4-BE49-F238E27FC236}">
                <a16:creationId xmlns:a16="http://schemas.microsoft.com/office/drawing/2014/main" id="{07FB51F5-105D-EC80-7DD6-696277B07CC5}"/>
              </a:ext>
            </a:extLst>
          </p:cNvPr>
          <p:cNvSpPr/>
          <p:nvPr/>
        </p:nvSpPr>
        <p:spPr>
          <a:xfrm>
            <a:off x="1925582" y="1397965"/>
            <a:ext cx="8135664" cy="246029"/>
          </a:xfrm>
          <a:prstGeom prst="rect">
            <a:avLst/>
          </a:prstGeom>
          <a:noFill/>
          <a:ln w="19050">
            <a:solidFill>
              <a:srgbClr val="FF0000"/>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7054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72FB-0759-12AB-3424-C78FF07F1E22}"/>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4B819C1-ED78-D8E8-F592-8FB9166D8DDC}"/>
              </a:ext>
            </a:extLst>
          </p:cNvPr>
          <p:cNvSpPr>
            <a:spLocks noGrp="1"/>
          </p:cNvSpPr>
          <p:nvPr>
            <p:ph idx="1"/>
          </p:nvPr>
        </p:nvSpPr>
        <p:spPr/>
        <p:txBody>
          <a:bodyPr vert="horz" lIns="91440" tIns="45720" rIns="91440" bIns="45720" rtlCol="0" anchor="t">
            <a:normAutofit fontScale="62500" lnSpcReduction="20000"/>
          </a:bodyPr>
          <a:lstStyle/>
          <a:p>
            <a:pPr marL="456565" indent="-456565"/>
            <a:r>
              <a:rPr lang="en-US" sz="4250" dirty="0"/>
              <a:t>The authors use a novel information asymmetry index based on level of or change in adverse selection to reexamine pecking order theory, relying on measures of the market’s assessment of adverse selection from the market microstructure literature rather than ex ante firm characteristics.</a:t>
            </a:r>
            <a:endParaRPr lang="en-US" sz="4250"/>
          </a:p>
          <a:p>
            <a:pPr marL="456565" indent="-456565"/>
            <a:r>
              <a:rPr lang="en-US" sz="4250" dirty="0"/>
              <a:t>Asymmetric information is an important determinant of the cross section of level and change in leverage of U.S. firms over the period.</a:t>
            </a:r>
            <a:endParaRPr lang="en-US" sz="4250" dirty="0">
              <a:ea typeface="Calibri"/>
              <a:cs typeface="Calibri"/>
            </a:endParaRPr>
          </a:p>
          <a:p>
            <a:pPr marL="456565" indent="-456565"/>
            <a:r>
              <a:rPr lang="en-US" sz="4250" dirty="0"/>
              <a:t>The results do not corroborate a strict interpretation of pecking order theory; rather, they indicate that a modified pecking order theory finds the greatest support when its assumption of adverse selection holds.</a:t>
            </a:r>
            <a:endParaRPr lang="en-US" sz="4250" dirty="0">
              <a:ea typeface="Calibri"/>
              <a:cs typeface="Calibri"/>
            </a:endParaRPr>
          </a:p>
        </p:txBody>
      </p:sp>
    </p:spTree>
    <p:extLst>
      <p:ext uri="{BB962C8B-B14F-4D97-AF65-F5344CB8AC3E}">
        <p14:creationId xmlns:p14="http://schemas.microsoft.com/office/powerpoint/2010/main" val="343699019"/>
      </p:ext>
    </p:extLst>
  </p:cSld>
  <p:clrMapOvr>
    <a:masterClrMapping/>
  </p:clrMapOvr>
</p:sld>
</file>

<file path=ppt/theme/theme1.xml><?xml version="1.0" encoding="utf-8"?>
<a:theme xmlns:a="http://schemas.openxmlformats.org/drawingml/2006/main" name="WCOB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COB Theme" id="{DF967ADD-BC05-483B-AB52-67CF82BC061D}" vid="{FC698281-B06B-48E0-B35B-6E92E503CB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emplate>WCOB Theme</Template>
  <TotalTime>1457</TotalTime>
  <Words>1419</Words>
  <Application>Microsoft Office PowerPoint</Application>
  <PresentationFormat>Widescreen</PresentationFormat>
  <Paragraphs>77</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Calibri</vt:lpstr>
      <vt:lpstr>WCOB Theme</vt:lpstr>
      <vt:lpstr>Does Asymmetric Information Drive Capital Structure Decisions?</vt:lpstr>
      <vt:lpstr>Research Question</vt:lpstr>
      <vt:lpstr>Prior Literature</vt:lpstr>
      <vt:lpstr>Data</vt:lpstr>
      <vt:lpstr>Index Constituents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Asymmetric Information Drive Capital Structure Decisions?</dc:title>
  <dc:creator>Nicholas Thompson</dc:creator>
  <cp:lastModifiedBy>Nicholas Thompson</cp:lastModifiedBy>
  <cp:revision>321</cp:revision>
  <dcterms:created xsi:type="dcterms:W3CDTF">2024-08-21T20:38:22Z</dcterms:created>
  <dcterms:modified xsi:type="dcterms:W3CDTF">2024-08-27T13:57:59Z</dcterms:modified>
</cp:coreProperties>
</file>