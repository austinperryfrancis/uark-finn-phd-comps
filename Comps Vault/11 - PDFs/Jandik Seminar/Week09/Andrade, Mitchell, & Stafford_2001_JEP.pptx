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14"/>
  </p:notesMasterIdLst>
  <p:sldIdLst>
    <p:sldId id="291" r:id="rId2"/>
    <p:sldId id="292" r:id="rId3"/>
    <p:sldId id="388" r:id="rId4"/>
    <p:sldId id="428" r:id="rId5"/>
    <p:sldId id="429" r:id="rId6"/>
    <p:sldId id="430" r:id="rId7"/>
    <p:sldId id="431" r:id="rId8"/>
    <p:sldId id="433" r:id="rId9"/>
    <p:sldId id="434" r:id="rId10"/>
    <p:sldId id="435" r:id="rId11"/>
    <p:sldId id="293" r:id="rId12"/>
    <p:sldId id="29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388"/>
            <p14:sldId id="428"/>
            <p14:sldId id="429"/>
            <p14:sldId id="430"/>
            <p14:sldId id="431"/>
            <p14:sldId id="433"/>
            <p14:sldId id="434"/>
            <p14:sldId id="435"/>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3FD9-75E6-48B4-8622-40F229F05D29}" v="7" dt="2024-09-11T21:25:49.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84888" autoAdjust="0"/>
  </p:normalViewPr>
  <p:slideViewPr>
    <p:cSldViewPr snapToGrid="0">
      <p:cViewPr varScale="1">
        <p:scale>
          <a:sx n="96" d="100"/>
          <a:sy n="96" d="100"/>
        </p:scale>
        <p:origin x="10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12T23:09:25.9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1 196,'1054'0,"-1024"-1,-1-2,1-2,41-10,37-7,42 11,204 10,-144 4,1173-3,-1354-2,0-1,0-1,48-15,-47 11,0 1,1 2,48-3,375 10,-428-4,1-1,-1-1,-1-2,1 0,35-15,-33 11,1 1,0 2,0 1,30-3,398 6,-233 5,-192-2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12T23:09:28.60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59,'345'24,"-75"0,850-14,-645-13,-207 17,7 0,-102-28,-6-1,-121 15,201-9,-194 5,-1-3,85-22,-64 5,-50 16,0 0,1 1,0 2,43-6,327 10,-184 4,-161-1,54 10,38 2,-86-10,0 3,0 2,85 25,-107-23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12T23:09:30.58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1,'2431'0,"-2405"0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solidFill>
                  <a:schemeClr val="bg1"/>
                </a:solidFill>
              </a:rPr>
              <a:t>There are three major waves of takeover activity since the early 1960s: the 1960s wave contained many more deals; On a value-weighted basis, the 1980s were truly a period of massive asset reallocation via merger; the merger and acquisition activity in the 1990s seems to be even more dramatic and widespread, with number of deals comparable to the 1960s, and values similar to the 1980s.</a:t>
            </a:r>
          </a:p>
        </p:txBody>
      </p:sp>
      <p:sp>
        <p:nvSpPr>
          <p:cNvPr id="4" name="Slide Number Placeholder 3"/>
          <p:cNvSpPr>
            <a:spLocks noGrp="1"/>
          </p:cNvSpPr>
          <p:nvPr>
            <p:ph type="sldNum" sz="quarter" idx="5"/>
          </p:nvPr>
        </p:nvSpPr>
        <p:spPr/>
        <p:txBody>
          <a:bodyPr/>
          <a:lstStyle/>
          <a:p>
            <a:fld id="{CE022B8F-EECA-4068-B343-503A0100A33C}" type="slidenum">
              <a:rPr lang="en-US" smtClean="0"/>
              <a:t>3</a:t>
            </a:fld>
            <a:endParaRPr lang="en-US"/>
          </a:p>
        </p:txBody>
      </p:sp>
    </p:spTree>
    <p:extLst>
      <p:ext uri="{BB962C8B-B14F-4D97-AF65-F5344CB8AC3E}">
        <p14:creationId xmlns:p14="http://schemas.microsoft.com/office/powerpoint/2010/main" val="2997247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solidFill>
                  <a:schemeClr val="bg1"/>
                </a:solidFill>
              </a:rPr>
              <a:t>The first key distinction </a:t>
            </a:r>
            <a:r>
              <a:rPr lang="en-US" sz="1400" b="0" dirty="0">
                <a:solidFill>
                  <a:schemeClr val="bg1"/>
                </a:solidFill>
              </a:rPr>
              <a:t>is the overwhelming use of stock as a method of payment during the latter decade. About 70 percent of all deals in the 1990s involved stock compensation, with 58 percent entirely stock financed. These numbers are approximately 50 percent more than in the 1980s.</a:t>
            </a:r>
          </a:p>
          <a:p>
            <a:r>
              <a:rPr lang="en-US" sz="1400" b="1" kern="1200" dirty="0">
                <a:solidFill>
                  <a:schemeClr val="bg1"/>
                </a:solidFill>
                <a:latin typeface="+mn-lt"/>
                <a:ea typeface="+mn-ea"/>
                <a:cs typeface="+mn-cs"/>
              </a:rPr>
              <a:t>The second distinction </a:t>
            </a:r>
            <a:r>
              <a:rPr lang="en-US" sz="1400" b="0" kern="1200" dirty="0">
                <a:solidFill>
                  <a:schemeClr val="bg1"/>
                </a:solidFill>
                <a:latin typeface="+mn-lt"/>
                <a:ea typeface="+mn-ea"/>
                <a:cs typeface="+mn-cs"/>
              </a:rPr>
              <a:t>is the disappearance of hostility in the takeover market</a:t>
            </a:r>
          </a:p>
          <a:p>
            <a:r>
              <a:rPr lang="en-US" sz="1400" b="0" kern="1200" dirty="0">
                <a:solidFill>
                  <a:schemeClr val="bg1"/>
                </a:solidFill>
                <a:latin typeface="+mn-lt"/>
                <a:ea typeface="+mn-ea"/>
                <a:cs typeface="+mn-cs"/>
              </a:rPr>
              <a:t>Consistent with the more friendly atmosphere, the average transaction in the 1990s involved only one bidder, and 1.2 rounds of bidding, far less than during the 1980s.</a:t>
            </a:r>
          </a:p>
          <a:p>
            <a:pPr marL="0" algn="l" defTabSz="914400" rtl="0" eaLnBrk="1" latinLnBrk="0" hangingPunct="1"/>
            <a:r>
              <a:rPr lang="en-US" sz="1400" b="1" kern="1200" dirty="0">
                <a:solidFill>
                  <a:schemeClr val="bg1"/>
                </a:solidFill>
                <a:latin typeface="+mn-lt"/>
                <a:ea typeface="+mn-ea"/>
                <a:cs typeface="+mn-cs"/>
              </a:rPr>
              <a:t>The third distinction </a:t>
            </a:r>
            <a:r>
              <a:rPr lang="en-US" sz="1400" b="0" kern="1200" dirty="0">
                <a:solidFill>
                  <a:schemeClr val="bg1"/>
                </a:solidFill>
                <a:latin typeface="+mn-lt"/>
                <a:ea typeface="+mn-ea"/>
                <a:cs typeface="+mn-cs"/>
              </a:rPr>
              <a:t>is the trend that both parties are in the same industry</a:t>
            </a:r>
          </a:p>
        </p:txBody>
      </p:sp>
      <p:sp>
        <p:nvSpPr>
          <p:cNvPr id="4" name="Slide Number Placeholder 3"/>
          <p:cNvSpPr>
            <a:spLocks noGrp="1"/>
          </p:cNvSpPr>
          <p:nvPr>
            <p:ph type="sldNum" sz="quarter" idx="5"/>
          </p:nvPr>
        </p:nvSpPr>
        <p:spPr/>
        <p:txBody>
          <a:bodyPr/>
          <a:lstStyle/>
          <a:p>
            <a:fld id="{CE022B8F-EECA-4068-B343-503A0100A33C}" type="slidenum">
              <a:rPr lang="en-US" smtClean="0"/>
              <a:t>4</a:t>
            </a:fld>
            <a:endParaRPr lang="en-US"/>
          </a:p>
        </p:txBody>
      </p:sp>
    </p:spTree>
    <p:extLst>
      <p:ext uri="{BB962C8B-B14F-4D97-AF65-F5344CB8AC3E}">
        <p14:creationId xmlns:p14="http://schemas.microsoft.com/office/powerpoint/2010/main" val="2304310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There is no overlap between the top five industries, ranked by merger values, of the 1980s and 1990s</a:t>
            </a:r>
          </a:p>
          <a:p>
            <a:r>
              <a:rPr lang="en-US" sz="2000" b="1" dirty="0"/>
              <a:t>If rank industries in each decade by the market values of all acquired firms, and then correlate these ranking across decades, the authors find that the correlations are negligible - that is, industries that exhibit high levels of merger activity in one decade, are no more likely to do so in other decades. </a:t>
            </a:r>
          </a:p>
        </p:txBody>
      </p:sp>
      <p:sp>
        <p:nvSpPr>
          <p:cNvPr id="4" name="Slide Number Placeholder 3"/>
          <p:cNvSpPr>
            <a:spLocks noGrp="1"/>
          </p:cNvSpPr>
          <p:nvPr>
            <p:ph type="sldNum" sz="quarter" idx="5"/>
          </p:nvPr>
        </p:nvSpPr>
        <p:spPr/>
        <p:txBody>
          <a:bodyPr/>
          <a:lstStyle/>
          <a:p>
            <a:fld id="{CE022B8F-EECA-4068-B343-503A0100A33C}" type="slidenum">
              <a:rPr lang="en-US" smtClean="0"/>
              <a:t>5</a:t>
            </a:fld>
            <a:endParaRPr lang="en-US"/>
          </a:p>
        </p:txBody>
      </p:sp>
    </p:spTree>
    <p:extLst>
      <p:ext uri="{BB962C8B-B14F-4D97-AF65-F5344CB8AC3E}">
        <p14:creationId xmlns:p14="http://schemas.microsoft.com/office/powerpoint/2010/main" val="147557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Industries having undergone substantial deregulation since 1973: airlines (1978), broadcasting (1984 and 1996), entertainment (1984), natural gas (1978), trucking (1980), banks and thrifts (1994), utilities (1992) and telecommunications (1996). </a:t>
            </a:r>
          </a:p>
          <a:p>
            <a:endParaRPr lang="en-US" dirty="0"/>
          </a:p>
          <a:p>
            <a:r>
              <a:rPr lang="en-US" dirty="0"/>
              <a:t>The authors define a ten-year period around each of these events (three years before to six years after) as a ªderegulation window. </a:t>
            </a:r>
            <a:r>
              <a:rPr lang="en-US" sz="1200" b="1" dirty="0"/>
              <a:t>During most of the 1980s, this percentage hovers around 10±15 percent. After 1988, however, deregulated industries account for nearly half of all annual deal volume, on average. This is consistent with the evidence in Table 2 that banking and media/telecommunications are two of the most active industries in the 1990s.</a:t>
            </a:r>
          </a:p>
          <a:p>
            <a:r>
              <a:rPr lang="en-US" sz="1200" dirty="0"/>
              <a:t>Deregulation was a key driver of merger activity over the last ten years.</a:t>
            </a:r>
            <a:endParaRPr lang="en-US" sz="1000" b="1" dirty="0"/>
          </a:p>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6</a:t>
            </a:fld>
            <a:endParaRPr lang="en-US"/>
          </a:p>
        </p:txBody>
      </p:sp>
    </p:spTree>
    <p:extLst>
      <p:ext uri="{BB962C8B-B14F-4D97-AF65-F5344CB8AC3E}">
        <p14:creationId xmlns:p14="http://schemas.microsoft.com/office/powerpoint/2010/main" val="3619377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The combined average abnormal returns are fairly similar across decades, </a:t>
            </a:r>
            <a:r>
              <a:rPr lang="en-US" sz="1400" dirty="0"/>
              <a:t>ranging from 1.4 percent to 2.6 percent, and averaging 1.8 percent overall for 3,688 completed mergers.</a:t>
            </a:r>
            <a:r>
              <a:rPr lang="en-US" sz="1400" b="1" dirty="0"/>
              <a:t>. And they are over this event window are reliably positive, suggesting that mergers do create shareholder value on average. </a:t>
            </a:r>
          </a:p>
          <a:p>
            <a:endParaRPr lang="en-US" sz="1400" b="1" dirty="0"/>
          </a:p>
          <a:p>
            <a:r>
              <a:rPr lang="en-US" sz="1400" dirty="0"/>
              <a:t>When the event window is expanded to begin 20 days prior to the merger announcement and end on the merger closing date, the combined average announcement period abnormal return is essentially identical at 1.9 percent.</a:t>
            </a:r>
            <a:endParaRPr lang="en-US" sz="1400" b="1" dirty="0"/>
          </a:p>
        </p:txBody>
      </p:sp>
      <p:sp>
        <p:nvSpPr>
          <p:cNvPr id="4" name="Slide Number Placeholder 3"/>
          <p:cNvSpPr>
            <a:spLocks noGrp="1"/>
          </p:cNvSpPr>
          <p:nvPr>
            <p:ph type="sldNum" sz="quarter" idx="5"/>
          </p:nvPr>
        </p:nvSpPr>
        <p:spPr/>
        <p:txBody>
          <a:bodyPr/>
          <a:lstStyle/>
          <a:p>
            <a:fld id="{CE022B8F-EECA-4068-B343-503A0100A33C}" type="slidenum">
              <a:rPr lang="en-US" smtClean="0"/>
              <a:t>7</a:t>
            </a:fld>
            <a:endParaRPr lang="en-US"/>
          </a:p>
        </p:txBody>
      </p:sp>
    </p:spTree>
    <p:extLst>
      <p:ext uri="{BB962C8B-B14F-4D97-AF65-F5344CB8AC3E}">
        <p14:creationId xmlns:p14="http://schemas.microsoft.com/office/powerpoint/2010/main" val="1639473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acquiring firm and target firm do better when there is no equity financing</a:t>
            </a:r>
          </a:p>
          <a:p>
            <a:endParaRPr lang="en-US" dirty="0"/>
          </a:p>
          <a:p>
            <a:r>
              <a:rPr lang="en-US" dirty="0"/>
              <a:t>The combined average 3 day abnormal returns for stock-financed mergers are close to zero, suggesting that this subset of mergers do not increase overall shareholder value. On the other hand, the combined three-day abnormal returns for mergers financed without any stock are reliably positive at 3.6 percent.</a:t>
            </a:r>
          </a:p>
          <a:p>
            <a:endParaRPr lang="en-US" dirty="0"/>
          </a:p>
          <a:p>
            <a:r>
              <a:rPr lang="en-US" dirty="0"/>
              <a:t>*Overall, mergers create value on behalf of the shareholders of the combined firms</a:t>
            </a:r>
          </a:p>
        </p:txBody>
      </p:sp>
      <p:sp>
        <p:nvSpPr>
          <p:cNvPr id="4" name="Slide Number Placeholder 3"/>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2327016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previous literature shows big abnormal returns.  For example, Loughran and </a:t>
            </a:r>
            <a:r>
              <a:rPr lang="en-US" dirty="0" err="1"/>
              <a:t>Vijh</a:t>
            </a:r>
            <a:r>
              <a:rPr lang="en-US" dirty="0"/>
              <a:t> (1997) find that acquiring firms using stock financing have abnormal returns of -24.2 percent over the five-year period after the merger, whereas the abnormal return is 18.5 percent for cash mergers. Using the value/growth distinction, Rau and Vermaelen (1998) calculate three-year abnormal returns of -17.3 percent for growth acquirers </a:t>
            </a:r>
            <a:r>
              <a:rPr lang="en-US" b="1" dirty="0"/>
              <a:t>(book to market) </a:t>
            </a:r>
            <a:r>
              <a:rPr lang="en-US" dirty="0"/>
              <a:t>and 7.6 percent for value acquirers over the period 1980-1991. The abnormal return estimates shown in Table 5 are considerably closer to zero than in most studies that use samples covering shorter time periods, and the dramatic differences in performance based on financing and the value/ growth distinction are greatly reduced. </a:t>
            </a:r>
          </a:p>
          <a:p>
            <a:endParaRPr lang="en-US" dirty="0"/>
          </a:p>
          <a:p>
            <a:r>
              <a:rPr lang="en-US" dirty="0"/>
              <a:t>Significant abnormal returns are only found for the equal-weight portfolios, suggesting that post-merger abnormal stock price performance is limited to the smallest acquirers.</a:t>
            </a:r>
          </a:p>
        </p:txBody>
      </p:sp>
      <p:sp>
        <p:nvSpPr>
          <p:cNvPr id="4" name="Slide Number Placeholder 3"/>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3279157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replicates the main findings of Healy, Palepu and </a:t>
            </a:r>
            <a:r>
              <a:rPr lang="en-US" dirty="0" err="1"/>
              <a:t>Ruback</a:t>
            </a:r>
            <a:r>
              <a:rPr lang="en-US" dirty="0"/>
              <a:t> (1992) that post-merger operating margins (cash flow to sales) are on average improved relative </a:t>
            </a:r>
            <a:r>
              <a:rPr lang="en-US" b="1" dirty="0"/>
              <a:t>to industry benchmarks.</a:t>
            </a:r>
          </a:p>
          <a:p>
            <a:endParaRPr lang="en-US" b="1" dirty="0"/>
          </a:p>
          <a:p>
            <a:r>
              <a:rPr lang="en-US" dirty="0"/>
              <a:t>The second row: regress the post-merger abnormal operating performance measure on the pre-merger abnormal operating performance measure. On average, there is an improvement in operating margins following the merger, on the order of 1 percent, which is statistically significant at the 1 percent level.</a:t>
            </a:r>
          </a:p>
          <a:p>
            <a:endParaRPr lang="en-US" dirty="0"/>
          </a:p>
          <a:p>
            <a:r>
              <a:rPr lang="en-US" dirty="0"/>
              <a:t> The improvement in post-merger cash flow performance is consistent with the positive announcement-period stock market returns to the combined target and acquirer firms.</a:t>
            </a:r>
          </a:p>
        </p:txBody>
      </p:sp>
      <p:sp>
        <p:nvSpPr>
          <p:cNvPr id="4" name="Slide Number Placeholder 3"/>
          <p:cNvSpPr>
            <a:spLocks noGrp="1"/>
          </p:cNvSpPr>
          <p:nvPr>
            <p:ph type="sldNum" sz="quarter" idx="5"/>
          </p:nvPr>
        </p:nvSpPr>
        <p:spPr/>
        <p:txBody>
          <a:bodyPr/>
          <a:lstStyle/>
          <a:p>
            <a:fld id="{CE022B8F-EECA-4068-B343-503A0100A33C}" type="slidenum">
              <a:rPr lang="en-US" smtClean="0"/>
              <a:t>10</a:t>
            </a:fld>
            <a:endParaRPr lang="en-US"/>
          </a:p>
        </p:txBody>
      </p:sp>
    </p:spTree>
    <p:extLst>
      <p:ext uri="{BB962C8B-B14F-4D97-AF65-F5344CB8AC3E}">
        <p14:creationId xmlns:p14="http://schemas.microsoft.com/office/powerpoint/2010/main" val="4275113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10/21/2024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customXml" Target="../ink/ink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ustomXml" Target="../ink/ink1.xml"/><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customXml" Target="../ink/ink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New Evidence and Perspectives on Mergers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Gregor Andrade</a:t>
            </a:r>
            <a:endParaRPr lang="en-US" b="1" dirty="0"/>
          </a:p>
          <a:p>
            <a:pPr algn="l"/>
            <a:r>
              <a:rPr lang="en-US" dirty="0"/>
              <a:t>Mark Mitchell</a:t>
            </a:r>
          </a:p>
          <a:p>
            <a:pPr algn="l"/>
            <a:r>
              <a:rPr lang="en-US" dirty="0"/>
              <a:t>Erik Stafford</a:t>
            </a:r>
          </a:p>
          <a:p>
            <a:pPr algn="l"/>
            <a:r>
              <a:rPr lang="en-US" dirty="0"/>
              <a:t>Journal of Economic Perspectives</a:t>
            </a:r>
          </a:p>
          <a:p>
            <a:pPr algn="l"/>
            <a:r>
              <a:rPr lang="en-US" dirty="0"/>
              <a:t>Spring 2001</a:t>
            </a:r>
          </a:p>
          <a:p>
            <a:pPr algn="l"/>
            <a:r>
              <a:rPr lang="en-US" u="sng"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295400" y="1608668"/>
            <a:ext cx="10153261" cy="3370038"/>
          </a:xfrm>
        </p:spPr>
        <p:txBody>
          <a:bodyPr>
            <a:normAutofit/>
          </a:bodyPr>
          <a:lstStyle/>
          <a:p>
            <a:pPr algn="l"/>
            <a:r>
              <a:rPr lang="en-US" dirty="0"/>
              <a:t>why do mergers occur?</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09330"/>
            <a:ext cx="9144000" cy="556592"/>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Mergers in the 1990s: What’s New?</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3BE4A0FD-4D77-9F5F-1BC5-5E5AD9FD6517}"/>
              </a:ext>
            </a:extLst>
          </p:cNvPr>
          <p:cNvPicPr>
            <a:picLocks noChangeAspect="1"/>
          </p:cNvPicPr>
          <p:nvPr/>
        </p:nvPicPr>
        <p:blipFill>
          <a:blip r:embed="rId4"/>
          <a:stretch>
            <a:fillRect/>
          </a:stretch>
        </p:blipFill>
        <p:spPr>
          <a:xfrm>
            <a:off x="0" y="742102"/>
            <a:ext cx="9665208" cy="5096515"/>
          </a:xfrm>
          <a:prstGeom prst="rect">
            <a:avLst/>
          </a:prstGeom>
        </p:spPr>
      </p:pic>
    </p:spTree>
    <p:extLst>
      <p:ext uri="{BB962C8B-B14F-4D97-AF65-F5344CB8AC3E}">
        <p14:creationId xmlns:p14="http://schemas.microsoft.com/office/powerpoint/2010/main" val="305366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7F9F-D2CA-281A-A6C2-801FF1D950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833AD7-8416-FBB0-FF90-40791C9508C9}"/>
              </a:ext>
            </a:extLst>
          </p:cNvPr>
          <p:cNvSpPr>
            <a:spLocks noGrp="1"/>
          </p:cNvSpPr>
          <p:nvPr>
            <p:ph type="ctrTitle"/>
          </p:nvPr>
        </p:nvSpPr>
        <p:spPr>
          <a:xfrm>
            <a:off x="1524000" y="289250"/>
            <a:ext cx="9144000" cy="4363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Mergers in the 1990s: What’s New?</a:t>
            </a:r>
          </a:p>
        </p:txBody>
      </p:sp>
      <p:pic>
        <p:nvPicPr>
          <p:cNvPr id="20" name="Picture 19">
            <a:extLst>
              <a:ext uri="{FF2B5EF4-FFF2-40B4-BE49-F238E27FC236}">
                <a16:creationId xmlns:a16="http://schemas.microsoft.com/office/drawing/2014/main" id="{803660A5-6944-670E-0CDD-88BCC9C07C65}"/>
              </a:ext>
            </a:extLst>
          </p:cNvPr>
          <p:cNvPicPr>
            <a:picLocks noChangeAspect="1"/>
          </p:cNvPicPr>
          <p:nvPr/>
        </p:nvPicPr>
        <p:blipFill>
          <a:blip r:embed="rId3"/>
          <a:stretch>
            <a:fillRect/>
          </a:stretch>
        </p:blipFill>
        <p:spPr>
          <a:xfrm>
            <a:off x="0" y="5993295"/>
            <a:ext cx="12192000" cy="864705"/>
          </a:xfrm>
          <a:prstGeom prst="rect">
            <a:avLst/>
          </a:prstGeom>
        </p:spPr>
      </p:pic>
      <p:pic>
        <p:nvPicPr>
          <p:cNvPr id="3" name="Picture 2">
            <a:extLst>
              <a:ext uri="{FF2B5EF4-FFF2-40B4-BE49-F238E27FC236}">
                <a16:creationId xmlns:a16="http://schemas.microsoft.com/office/drawing/2014/main" id="{E3B5A082-525E-4267-43A4-3E9D1884337C}"/>
              </a:ext>
            </a:extLst>
          </p:cNvPr>
          <p:cNvPicPr>
            <a:picLocks noChangeAspect="1"/>
          </p:cNvPicPr>
          <p:nvPr/>
        </p:nvPicPr>
        <p:blipFill>
          <a:blip r:embed="rId4"/>
          <a:stretch>
            <a:fillRect/>
          </a:stretch>
        </p:blipFill>
        <p:spPr>
          <a:xfrm>
            <a:off x="0" y="725557"/>
            <a:ext cx="7409420" cy="5267738"/>
          </a:xfrm>
          <a:prstGeom prst="rect">
            <a:avLst/>
          </a:prstGeom>
        </p:spPr>
      </p:pic>
    </p:spTree>
    <p:extLst>
      <p:ext uri="{BB962C8B-B14F-4D97-AF65-F5344CB8AC3E}">
        <p14:creationId xmlns:p14="http://schemas.microsoft.com/office/powerpoint/2010/main" val="1331823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D3680-DE81-1C62-2099-3F252858E4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20AD8D-2C4C-2802-736D-BEFEE3024BA9}"/>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Mergers in the 1990s: What’s New?</a:t>
            </a:r>
          </a:p>
        </p:txBody>
      </p:sp>
      <p:pic>
        <p:nvPicPr>
          <p:cNvPr id="20" name="Picture 19">
            <a:extLst>
              <a:ext uri="{FF2B5EF4-FFF2-40B4-BE49-F238E27FC236}">
                <a16:creationId xmlns:a16="http://schemas.microsoft.com/office/drawing/2014/main" id="{D2BAA199-4E82-A0B5-CA62-5CD85A63C86F}"/>
              </a:ext>
            </a:extLst>
          </p:cNvPr>
          <p:cNvPicPr>
            <a:picLocks noChangeAspect="1"/>
          </p:cNvPicPr>
          <p:nvPr/>
        </p:nvPicPr>
        <p:blipFill>
          <a:blip r:embed="rId3"/>
          <a:stretch>
            <a:fillRect/>
          </a:stretch>
        </p:blipFill>
        <p:spPr>
          <a:xfrm>
            <a:off x="0" y="5929963"/>
            <a:ext cx="12192000" cy="928038"/>
          </a:xfrm>
          <a:prstGeom prst="rect">
            <a:avLst/>
          </a:prstGeom>
        </p:spPr>
      </p:pic>
      <p:pic>
        <p:nvPicPr>
          <p:cNvPr id="4" name="Picture 3">
            <a:extLst>
              <a:ext uri="{FF2B5EF4-FFF2-40B4-BE49-F238E27FC236}">
                <a16:creationId xmlns:a16="http://schemas.microsoft.com/office/drawing/2014/main" id="{C74A478D-1F27-2DA0-0DE2-967FA6D72098}"/>
              </a:ext>
            </a:extLst>
          </p:cNvPr>
          <p:cNvPicPr>
            <a:picLocks noChangeAspect="1"/>
          </p:cNvPicPr>
          <p:nvPr/>
        </p:nvPicPr>
        <p:blipFill>
          <a:blip r:embed="rId4"/>
          <a:stretch>
            <a:fillRect/>
          </a:stretch>
        </p:blipFill>
        <p:spPr>
          <a:xfrm>
            <a:off x="92962" y="928037"/>
            <a:ext cx="11711501" cy="5001926"/>
          </a:xfrm>
          <a:prstGeom prst="rect">
            <a:avLst/>
          </a:prstGeom>
        </p:spPr>
      </p:pic>
    </p:spTree>
    <p:extLst>
      <p:ext uri="{BB962C8B-B14F-4D97-AF65-F5344CB8AC3E}">
        <p14:creationId xmlns:p14="http://schemas.microsoft.com/office/powerpoint/2010/main" val="870502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0CACD-292A-E04D-539C-EDDC03E22B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E8C675-952C-D28B-30D8-16876801BE5F}"/>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Mergers in the 1990s: What’s New?</a:t>
            </a:r>
          </a:p>
        </p:txBody>
      </p:sp>
      <p:pic>
        <p:nvPicPr>
          <p:cNvPr id="20" name="Picture 19">
            <a:extLst>
              <a:ext uri="{FF2B5EF4-FFF2-40B4-BE49-F238E27FC236}">
                <a16:creationId xmlns:a16="http://schemas.microsoft.com/office/drawing/2014/main" id="{B21084C7-7940-0B6E-112E-215A1939AC09}"/>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7069FB01-2581-F721-E662-55206D39389E}"/>
              </a:ext>
            </a:extLst>
          </p:cNvPr>
          <p:cNvPicPr>
            <a:picLocks noChangeAspect="1"/>
          </p:cNvPicPr>
          <p:nvPr/>
        </p:nvPicPr>
        <p:blipFill>
          <a:blip r:embed="rId4"/>
          <a:stretch>
            <a:fillRect/>
          </a:stretch>
        </p:blipFill>
        <p:spPr>
          <a:xfrm>
            <a:off x="136176" y="949988"/>
            <a:ext cx="6902805" cy="4216617"/>
          </a:xfrm>
          <a:prstGeom prst="rect">
            <a:avLst/>
          </a:prstGeom>
        </p:spPr>
      </p:pic>
    </p:spTree>
    <p:extLst>
      <p:ext uri="{BB962C8B-B14F-4D97-AF65-F5344CB8AC3E}">
        <p14:creationId xmlns:p14="http://schemas.microsoft.com/office/powerpoint/2010/main" val="833563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D0EC8-3238-F2B5-B539-09CB16F126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42C62B-A8B1-F353-2412-BFF54AFD024C}"/>
              </a:ext>
            </a:extLst>
          </p:cNvPr>
          <p:cNvSpPr>
            <a:spLocks noGrp="1"/>
          </p:cNvSpPr>
          <p:nvPr>
            <p:ph type="ctrTitle"/>
          </p:nvPr>
        </p:nvSpPr>
        <p:spPr>
          <a:xfrm>
            <a:off x="457200" y="289250"/>
            <a:ext cx="11111948"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Stock Market Reaction to Merger Announcements</a:t>
            </a:r>
          </a:p>
        </p:txBody>
      </p:sp>
      <p:pic>
        <p:nvPicPr>
          <p:cNvPr id="20" name="Picture 19">
            <a:extLst>
              <a:ext uri="{FF2B5EF4-FFF2-40B4-BE49-F238E27FC236}">
                <a16:creationId xmlns:a16="http://schemas.microsoft.com/office/drawing/2014/main" id="{21AFB192-A88E-DA49-D0B3-15B2F3F06378}"/>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90A154A8-D99F-F286-00E1-66ACF0DB8F6C}"/>
              </a:ext>
            </a:extLst>
          </p:cNvPr>
          <p:cNvPicPr>
            <a:picLocks noChangeAspect="1"/>
          </p:cNvPicPr>
          <p:nvPr/>
        </p:nvPicPr>
        <p:blipFill>
          <a:blip r:embed="rId4"/>
          <a:stretch>
            <a:fillRect/>
          </a:stretch>
        </p:blipFill>
        <p:spPr>
          <a:xfrm>
            <a:off x="0" y="819811"/>
            <a:ext cx="9775353" cy="4914240"/>
          </a:xfrm>
          <a:prstGeom prst="rect">
            <a:avLst/>
          </a:prstGeom>
        </p:spPr>
      </p:pic>
    </p:spTree>
    <p:extLst>
      <p:ext uri="{BB962C8B-B14F-4D97-AF65-F5344CB8AC3E}">
        <p14:creationId xmlns:p14="http://schemas.microsoft.com/office/powerpoint/2010/main" val="3895909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1693-D1EA-AB4E-2185-3D91BDCD80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A1BBA8-5BCE-CB9D-2BE1-5945E8B22C8C}"/>
              </a:ext>
            </a:extLst>
          </p:cNvPr>
          <p:cNvSpPr>
            <a:spLocks noGrp="1"/>
          </p:cNvSpPr>
          <p:nvPr>
            <p:ph type="ctrTitle"/>
          </p:nvPr>
        </p:nvSpPr>
        <p:spPr>
          <a:xfrm>
            <a:off x="636104" y="289250"/>
            <a:ext cx="10031896"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Stock Market Reaction to Merger Announcements</a:t>
            </a:r>
          </a:p>
        </p:txBody>
      </p:sp>
      <p:pic>
        <p:nvPicPr>
          <p:cNvPr id="20" name="Picture 19">
            <a:extLst>
              <a:ext uri="{FF2B5EF4-FFF2-40B4-BE49-F238E27FC236}">
                <a16:creationId xmlns:a16="http://schemas.microsoft.com/office/drawing/2014/main" id="{C3B70801-EE8C-D8A6-3D23-7CA39774493B}"/>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F1DA3D66-CEC2-E717-150A-4F5C0B8EB34E}"/>
              </a:ext>
            </a:extLst>
          </p:cNvPr>
          <p:cNvPicPr>
            <a:picLocks noChangeAspect="1"/>
          </p:cNvPicPr>
          <p:nvPr/>
        </p:nvPicPr>
        <p:blipFill>
          <a:blip r:embed="rId4"/>
          <a:stretch>
            <a:fillRect/>
          </a:stretch>
        </p:blipFill>
        <p:spPr>
          <a:xfrm>
            <a:off x="161279" y="846668"/>
            <a:ext cx="6179885" cy="4877547"/>
          </a:xfrm>
          <a:prstGeom prst="rect">
            <a:avLst/>
          </a:prstGeom>
        </p:spPr>
      </p:pic>
    </p:spTree>
    <p:extLst>
      <p:ext uri="{BB962C8B-B14F-4D97-AF65-F5344CB8AC3E}">
        <p14:creationId xmlns:p14="http://schemas.microsoft.com/office/powerpoint/2010/main" val="3088032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22F9-0216-63BF-461C-E2ADEF3486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84734-32A6-984B-CE78-CD094FFC76EF}"/>
              </a:ext>
            </a:extLst>
          </p:cNvPr>
          <p:cNvSpPr>
            <a:spLocks noGrp="1"/>
          </p:cNvSpPr>
          <p:nvPr>
            <p:ph type="ctrTitle"/>
          </p:nvPr>
        </p:nvSpPr>
        <p:spPr>
          <a:xfrm>
            <a:off x="1524000" y="129210"/>
            <a:ext cx="9144000" cy="45720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Long-Term Abnormal Returns</a:t>
            </a:r>
          </a:p>
        </p:txBody>
      </p:sp>
      <p:pic>
        <p:nvPicPr>
          <p:cNvPr id="20" name="Picture 19">
            <a:extLst>
              <a:ext uri="{FF2B5EF4-FFF2-40B4-BE49-F238E27FC236}">
                <a16:creationId xmlns:a16="http://schemas.microsoft.com/office/drawing/2014/main" id="{DFF6DEB7-6A6E-3E05-8E15-966505892A24}"/>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FF2EF4F0-DD34-9ACF-7D55-7A003868CE8A}"/>
              </a:ext>
            </a:extLst>
          </p:cNvPr>
          <p:cNvPicPr>
            <a:picLocks noChangeAspect="1"/>
          </p:cNvPicPr>
          <p:nvPr/>
        </p:nvPicPr>
        <p:blipFill>
          <a:blip r:embed="rId4"/>
          <a:stretch>
            <a:fillRect/>
          </a:stretch>
        </p:blipFill>
        <p:spPr>
          <a:xfrm>
            <a:off x="0" y="701485"/>
            <a:ext cx="7186600" cy="4933175"/>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705E4EE-FDB2-8E4B-D390-DCF39D94887A}"/>
                  </a:ext>
                </a:extLst>
              </p14:cNvPr>
              <p14:cNvContentPartPr/>
              <p14:nvPr/>
            </p14:nvContentPartPr>
            <p14:xfrm>
              <a:off x="168699" y="1718233"/>
              <a:ext cx="1902960" cy="70920"/>
            </p14:xfrm>
          </p:contentPart>
        </mc:Choice>
        <mc:Fallback xmlns="">
          <p:pic>
            <p:nvPicPr>
              <p:cNvPr id="2" name="Ink 1">
                <a:extLst>
                  <a:ext uri="{FF2B5EF4-FFF2-40B4-BE49-F238E27FC236}">
                    <a16:creationId xmlns:a16="http://schemas.microsoft.com/office/drawing/2014/main" id="{3705E4EE-FDB2-8E4B-D390-DCF39D94887A}"/>
                  </a:ext>
                </a:extLst>
              </p:cNvPr>
              <p:cNvPicPr/>
              <p:nvPr/>
            </p:nvPicPr>
            <p:blipFill>
              <a:blip r:embed="rId6"/>
              <a:stretch>
                <a:fillRect/>
              </a:stretch>
            </p:blipFill>
            <p:spPr>
              <a:xfrm>
                <a:off x="151059" y="1682593"/>
                <a:ext cx="19386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7EB94497-A483-4740-C37D-192237711272}"/>
                  </a:ext>
                </a:extLst>
              </p14:cNvPr>
              <p14:cNvContentPartPr/>
              <p14:nvPr/>
            </p14:nvContentPartPr>
            <p14:xfrm>
              <a:off x="297939" y="1777993"/>
              <a:ext cx="1835280" cy="51480"/>
            </p14:xfrm>
          </p:contentPart>
        </mc:Choice>
        <mc:Fallback xmlns="">
          <p:pic>
            <p:nvPicPr>
              <p:cNvPr id="3" name="Ink 2">
                <a:extLst>
                  <a:ext uri="{FF2B5EF4-FFF2-40B4-BE49-F238E27FC236}">
                    <a16:creationId xmlns:a16="http://schemas.microsoft.com/office/drawing/2014/main" id="{7EB94497-A483-4740-C37D-192237711272}"/>
                  </a:ext>
                </a:extLst>
              </p:cNvPr>
              <p:cNvPicPr/>
              <p:nvPr/>
            </p:nvPicPr>
            <p:blipFill>
              <a:blip r:embed="rId8"/>
              <a:stretch>
                <a:fillRect/>
              </a:stretch>
            </p:blipFill>
            <p:spPr>
              <a:xfrm>
                <a:off x="279939" y="1741993"/>
                <a:ext cx="1870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5BB8F934-22BE-05B0-DC42-7A02EF93C9FF}"/>
                  </a:ext>
                </a:extLst>
              </p14:cNvPr>
              <p14:cNvContentPartPr/>
              <p14:nvPr/>
            </p14:nvContentPartPr>
            <p14:xfrm>
              <a:off x="1321419" y="1818673"/>
              <a:ext cx="884880" cy="360"/>
            </p14:xfrm>
          </p:contentPart>
        </mc:Choice>
        <mc:Fallback xmlns="">
          <p:pic>
            <p:nvPicPr>
              <p:cNvPr id="6" name="Ink 5">
                <a:extLst>
                  <a:ext uri="{FF2B5EF4-FFF2-40B4-BE49-F238E27FC236}">
                    <a16:creationId xmlns:a16="http://schemas.microsoft.com/office/drawing/2014/main" id="{5BB8F934-22BE-05B0-DC42-7A02EF93C9FF}"/>
                  </a:ext>
                </a:extLst>
              </p:cNvPr>
              <p:cNvPicPr/>
              <p:nvPr/>
            </p:nvPicPr>
            <p:blipFill>
              <a:blip r:embed="rId10"/>
              <a:stretch>
                <a:fillRect/>
              </a:stretch>
            </p:blipFill>
            <p:spPr>
              <a:xfrm>
                <a:off x="1303779" y="1783033"/>
                <a:ext cx="920520" cy="72000"/>
              </a:xfrm>
              <a:prstGeom prst="rect">
                <a:avLst/>
              </a:prstGeom>
            </p:spPr>
          </p:pic>
        </mc:Fallback>
      </mc:AlternateContent>
    </p:spTree>
    <p:extLst>
      <p:ext uri="{BB962C8B-B14F-4D97-AF65-F5344CB8AC3E}">
        <p14:creationId xmlns:p14="http://schemas.microsoft.com/office/powerpoint/2010/main" val="305818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032E4-B6F0-EC1F-BEA8-DE7C6DF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AB523C-A79D-A619-A839-7A769994CA36}"/>
              </a:ext>
            </a:extLst>
          </p:cNvPr>
          <p:cNvSpPr>
            <a:spLocks noGrp="1"/>
          </p:cNvSpPr>
          <p:nvPr>
            <p:ph type="ctrTitle"/>
          </p:nvPr>
        </p:nvSpPr>
        <p:spPr>
          <a:xfrm>
            <a:off x="1524000" y="289250"/>
            <a:ext cx="9144000" cy="55741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Pre- and Post-merger Profitability</a:t>
            </a:r>
          </a:p>
        </p:txBody>
      </p:sp>
      <p:pic>
        <p:nvPicPr>
          <p:cNvPr id="20" name="Picture 19">
            <a:extLst>
              <a:ext uri="{FF2B5EF4-FFF2-40B4-BE49-F238E27FC236}">
                <a16:creationId xmlns:a16="http://schemas.microsoft.com/office/drawing/2014/main" id="{74C3FEC0-0C7F-76B6-BC77-EBBE5A8518DB}"/>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ECD194F0-9288-8B8C-4D74-7E1F4E89D59B}"/>
              </a:ext>
            </a:extLst>
          </p:cNvPr>
          <p:cNvPicPr>
            <a:picLocks noChangeAspect="1"/>
          </p:cNvPicPr>
          <p:nvPr/>
        </p:nvPicPr>
        <p:blipFill>
          <a:blip r:embed="rId4"/>
          <a:stretch>
            <a:fillRect/>
          </a:stretch>
        </p:blipFill>
        <p:spPr>
          <a:xfrm>
            <a:off x="0" y="846668"/>
            <a:ext cx="5644301" cy="5244619"/>
          </a:xfrm>
          <a:prstGeom prst="rect">
            <a:avLst/>
          </a:prstGeom>
        </p:spPr>
      </p:pic>
      <p:sp>
        <p:nvSpPr>
          <p:cNvPr id="4" name="TextBox 3">
            <a:extLst>
              <a:ext uri="{FF2B5EF4-FFF2-40B4-BE49-F238E27FC236}">
                <a16:creationId xmlns:a16="http://schemas.microsoft.com/office/drawing/2014/main" id="{185CF8E6-06E5-EF32-93EF-B7327D35D5E7}"/>
              </a:ext>
            </a:extLst>
          </p:cNvPr>
          <p:cNvSpPr txBox="1"/>
          <p:nvPr/>
        </p:nvSpPr>
        <p:spPr>
          <a:xfrm>
            <a:off x="6547700" y="2414382"/>
            <a:ext cx="4882300" cy="400110"/>
          </a:xfrm>
          <a:prstGeom prst="rect">
            <a:avLst/>
          </a:prstGeom>
          <a:noFill/>
        </p:spPr>
        <p:txBody>
          <a:bodyPr wrap="square" rtlCol="0">
            <a:spAutoFit/>
          </a:bodyPr>
          <a:lstStyle/>
          <a:p>
            <a:r>
              <a:rPr lang="en-US" sz="2000" dirty="0"/>
              <a:t>Operating margin = cash flow to sales</a:t>
            </a:r>
          </a:p>
        </p:txBody>
      </p:sp>
    </p:spTree>
    <p:extLst>
      <p:ext uri="{BB962C8B-B14F-4D97-AF65-F5344CB8AC3E}">
        <p14:creationId xmlns:p14="http://schemas.microsoft.com/office/powerpoint/2010/main" val="432652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Prior literatures conclude that mergers create value for the stockholders of the combined firms, with the majority of the gains accruing to the stockholders of the target. The analysis of the immediate stock market response to more than 4,000 mergers completed during the 1973-1998 in this paper  concurs with these prior reviews.</a:t>
            </a:r>
          </a:p>
          <a:p>
            <a:pPr marL="571500" indent="-571500" algn="l">
              <a:buFont typeface="Arial" panose="020B0604020202020204" pitchFamily="34" charset="0"/>
              <a:buChar char="•"/>
            </a:pPr>
            <a:r>
              <a:rPr lang="en-US" dirty="0"/>
              <a:t>Prior literature conclude that the gains to shareholders must be real economic gains via the efficient rearrangement of resources. We are inclined to defend the traditional view that mergers improve efficiency and that the gains to shareholders at merger announcement accurately reflect improved expectations of future cash flow performance. But the conclusion must be defended from several recent challenges:</a:t>
            </a:r>
          </a:p>
          <a:p>
            <a:pPr marL="571500" indent="-571500" algn="l">
              <a:buFont typeface="Arial" panose="020B0604020202020204" pitchFamily="34" charset="0"/>
              <a:buChar char="•"/>
            </a:pPr>
            <a:r>
              <a:rPr lang="en-US" dirty="0"/>
              <a:t>- A negative drift in acquiring firm stock prices is found following merger transactions, which would imply that the gains from mergers are overstated or nonexistent</a:t>
            </a:r>
          </a:p>
          <a:p>
            <a:pPr marL="571500" indent="-571500" algn="l">
              <a:buFont typeface="Arial" panose="020B0604020202020204" pitchFamily="34" charset="0"/>
              <a:buChar char="•"/>
            </a:pPr>
            <a:r>
              <a:rPr lang="en-US" dirty="0"/>
              <a:t>- The underlying sources of the gains from mergers have not been identified</a:t>
            </a:r>
          </a:p>
          <a:p>
            <a:pPr marL="571500" indent="-571500" algn="l">
              <a:buFont typeface="Arial" panose="020B0604020202020204" pitchFamily="34" charset="0"/>
              <a:buChar char="•"/>
            </a:pPr>
            <a:r>
              <a:rPr lang="en-US" dirty="0"/>
              <a:t>- All of the gains from mergers seem to accrue to the target firm shareholders. what should the abnormal returns for acquiring firms be?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6619</TotalTime>
  <Words>1124</Words>
  <Application>Microsoft Office PowerPoint</Application>
  <PresentationFormat>Widescreen</PresentationFormat>
  <Paragraphs>60</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Calisto MT</vt:lpstr>
      <vt:lpstr>Open Sans</vt:lpstr>
      <vt:lpstr>Wingdings 2</vt:lpstr>
      <vt:lpstr>Slate</vt:lpstr>
      <vt:lpstr>New Evidence and Perspectives on Mergers</vt:lpstr>
      <vt:lpstr>Research Question:</vt:lpstr>
      <vt:lpstr>Mergers in the 1990s: What’s New?</vt:lpstr>
      <vt:lpstr>Mergers in the 1990s: What’s New?</vt:lpstr>
      <vt:lpstr>Mergers in the 1990s: What’s New?</vt:lpstr>
      <vt:lpstr>Mergers in the 1990s: What’s New?</vt:lpstr>
      <vt:lpstr>Stock Market Reaction to Merger Announcements</vt:lpstr>
      <vt:lpstr>Stock Market Reaction to Merger Announcements</vt:lpstr>
      <vt:lpstr>Long-Term Abnormal Returns</vt:lpstr>
      <vt:lpstr>Pre- and Post-merger Profitability</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387</cp:revision>
  <dcterms:created xsi:type="dcterms:W3CDTF">2024-01-18T13:26:59Z</dcterms:created>
  <dcterms:modified xsi:type="dcterms:W3CDTF">2024-10-21T16:28:51Z</dcterms:modified>
</cp:coreProperties>
</file>