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2"/>
  </p:notesMasterIdLst>
  <p:sldIdLst>
    <p:sldId id="256" r:id="rId5"/>
    <p:sldId id="315" r:id="rId6"/>
    <p:sldId id="346" r:id="rId7"/>
    <p:sldId id="553" r:id="rId8"/>
    <p:sldId id="530" r:id="rId9"/>
    <p:sldId id="531" r:id="rId10"/>
    <p:sldId id="551" r:id="rId11"/>
    <p:sldId id="533" r:id="rId12"/>
    <p:sldId id="534" r:id="rId13"/>
    <p:sldId id="535" r:id="rId14"/>
    <p:sldId id="536" r:id="rId15"/>
    <p:sldId id="538" r:id="rId16"/>
    <p:sldId id="539" r:id="rId17"/>
    <p:sldId id="537" r:id="rId18"/>
    <p:sldId id="540" r:id="rId19"/>
    <p:sldId id="541" r:id="rId20"/>
    <p:sldId id="542" r:id="rId21"/>
    <p:sldId id="543" r:id="rId22"/>
    <p:sldId id="544" r:id="rId23"/>
    <p:sldId id="545" r:id="rId24"/>
    <p:sldId id="546" r:id="rId25"/>
    <p:sldId id="547" r:id="rId26"/>
    <p:sldId id="548" r:id="rId27"/>
    <p:sldId id="549" r:id="rId28"/>
    <p:sldId id="550" r:id="rId29"/>
    <p:sldId id="515" r:id="rId30"/>
    <p:sldId id="552" r:id="rId31"/>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0ED9B7-CD5E-4565-9CB6-CF7B31D9F05F}">
          <p14:sldIdLst>
            <p14:sldId id="256"/>
            <p14:sldId id="315"/>
            <p14:sldId id="346"/>
            <p14:sldId id="553"/>
            <p14:sldId id="530"/>
            <p14:sldId id="531"/>
            <p14:sldId id="551"/>
            <p14:sldId id="533"/>
            <p14:sldId id="534"/>
            <p14:sldId id="535"/>
            <p14:sldId id="536"/>
            <p14:sldId id="538"/>
            <p14:sldId id="539"/>
            <p14:sldId id="537"/>
            <p14:sldId id="540"/>
            <p14:sldId id="541"/>
            <p14:sldId id="542"/>
            <p14:sldId id="543"/>
            <p14:sldId id="544"/>
            <p14:sldId id="545"/>
            <p14:sldId id="546"/>
            <p14:sldId id="547"/>
            <p14:sldId id="548"/>
            <p14:sldId id="549"/>
            <p14:sldId id="550"/>
            <p14:sldId id="515"/>
            <p14:sldId id="552"/>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B91C7E-832D-47AE-A518-104E08B5067E}" v="12" dt="2024-10-22T01:21:39.3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5" autoAdjust="0"/>
    <p:restoredTop sz="83529" autoAdjust="0"/>
  </p:normalViewPr>
  <p:slideViewPr>
    <p:cSldViewPr snapToGrid="0">
      <p:cViewPr varScale="1">
        <p:scale>
          <a:sx n="91" d="100"/>
          <a:sy n="91" d="100"/>
        </p:scale>
        <p:origin x="1123" y="6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4" tIns="48323" rIns="96644" bIns="48323"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44" tIns="48323" rIns="96644" bIns="48323" rtlCol="0"/>
          <a:lstStyle>
            <a:lvl1pPr algn="r">
              <a:defRPr sz="1200"/>
            </a:lvl1pPr>
          </a:lstStyle>
          <a:p>
            <a:fld id="{77EE0671-D154-4A0D-90F0-4F99050D0CF0}" type="datetimeFigureOut">
              <a:rPr lang="en-US" smtClean="0"/>
              <a:t>10/20/2024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4" tIns="48323" rIns="96644" bIns="48323"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4" tIns="48323" rIns="96644" bIns="483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4" tIns="48323" rIns="96644" bIns="48323"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4" tIns="48323" rIns="96644" bIns="48323" rtlCol="0" anchor="b"/>
          <a:lstStyle>
            <a:lvl1pPr algn="r">
              <a:defRPr sz="1200"/>
            </a:lvl1pPr>
          </a:lstStyle>
          <a:p>
            <a:fld id="{55CCDD01-DD87-4F55-A952-E63114553089}" type="slidenum">
              <a:rPr lang="en-US" smtClean="0"/>
              <a:t>‹#›</a:t>
            </a:fld>
            <a:endParaRPr lang="en-US"/>
          </a:p>
        </p:txBody>
      </p:sp>
    </p:spTree>
    <p:extLst>
      <p:ext uri="{BB962C8B-B14F-4D97-AF65-F5344CB8AC3E}">
        <p14:creationId xmlns:p14="http://schemas.microsoft.com/office/powerpoint/2010/main" val="173913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a:t>
            </a:fld>
            <a:endParaRPr lang="en-US"/>
          </a:p>
        </p:txBody>
      </p:sp>
    </p:spTree>
    <p:extLst>
      <p:ext uri="{BB962C8B-B14F-4D97-AF65-F5344CB8AC3E}">
        <p14:creationId xmlns:p14="http://schemas.microsoft.com/office/powerpoint/2010/main" val="120357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3</a:t>
            </a:fld>
            <a:endParaRPr lang="en-US"/>
          </a:p>
        </p:txBody>
      </p:sp>
    </p:spTree>
    <p:extLst>
      <p:ext uri="{BB962C8B-B14F-4D97-AF65-F5344CB8AC3E}">
        <p14:creationId xmlns:p14="http://schemas.microsoft.com/office/powerpoint/2010/main" val="1213616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5</a:t>
            </a:fld>
            <a:endParaRPr lang="en-US"/>
          </a:p>
        </p:txBody>
      </p:sp>
    </p:spTree>
    <p:extLst>
      <p:ext uri="{BB962C8B-B14F-4D97-AF65-F5344CB8AC3E}">
        <p14:creationId xmlns:p14="http://schemas.microsoft.com/office/powerpoint/2010/main" val="303408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6</a:t>
            </a:fld>
            <a:endParaRPr lang="en-US"/>
          </a:p>
        </p:txBody>
      </p:sp>
    </p:spTree>
    <p:extLst>
      <p:ext uri="{BB962C8B-B14F-4D97-AF65-F5344CB8AC3E}">
        <p14:creationId xmlns:p14="http://schemas.microsoft.com/office/powerpoint/2010/main" val="3662784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BA0FA-C69C-E19A-4196-446C245476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2E559-0A50-0D39-7E48-2F0BA88A33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A8650E-A0D6-0103-6931-988619FC2C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overall index is a weighted average of these components and is scaled to have a mean of 100 from 1985 to 2009.</a:t>
            </a:r>
          </a:p>
          <a:p>
            <a:endParaRPr lang="en-US" dirty="0"/>
          </a:p>
        </p:txBody>
      </p:sp>
      <p:sp>
        <p:nvSpPr>
          <p:cNvPr id="4" name="Slide Number Placeholder 3">
            <a:extLst>
              <a:ext uri="{FF2B5EF4-FFF2-40B4-BE49-F238E27FC236}">
                <a16:creationId xmlns:a16="http://schemas.microsoft.com/office/drawing/2014/main" id="{6B0C1E41-8C7B-DF29-81CF-6B74CB639990}"/>
              </a:ext>
            </a:extLst>
          </p:cNvPr>
          <p:cNvSpPr>
            <a:spLocks noGrp="1"/>
          </p:cNvSpPr>
          <p:nvPr>
            <p:ph type="sldNum" sz="quarter" idx="5"/>
          </p:nvPr>
        </p:nvSpPr>
        <p:spPr/>
        <p:txBody>
          <a:bodyPr/>
          <a:lstStyle/>
          <a:p>
            <a:fld id="{55CCDD01-DD87-4F55-A952-E63114553089}" type="slidenum">
              <a:rPr lang="en-US" smtClean="0"/>
              <a:t>7</a:t>
            </a:fld>
            <a:endParaRPr lang="en-US"/>
          </a:p>
        </p:txBody>
      </p:sp>
    </p:spTree>
    <p:extLst>
      <p:ext uri="{BB962C8B-B14F-4D97-AF65-F5344CB8AC3E}">
        <p14:creationId xmlns:p14="http://schemas.microsoft.com/office/powerpoint/2010/main" val="37926515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8</a:t>
            </a:fld>
            <a:endParaRPr lang="en-US"/>
          </a:p>
        </p:txBody>
      </p:sp>
    </p:spTree>
    <p:extLst>
      <p:ext uri="{BB962C8B-B14F-4D97-AF65-F5344CB8AC3E}">
        <p14:creationId xmlns:p14="http://schemas.microsoft.com/office/powerpoint/2010/main" val="2253414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STATS</a:t>
            </a:r>
            <a:br>
              <a:rPr lang="en-US" dirty="0"/>
            </a:br>
            <a:br>
              <a:rPr lang="en-US" dirty="0"/>
            </a:br>
            <a:r>
              <a:rPr lang="en-US" dirty="0"/>
              <a:t>Table 1: Policy Uncertainty Index and Components</a:t>
            </a:r>
          </a:p>
          <a:p>
            <a:endParaRPr lang="en-US" dirty="0"/>
          </a:p>
          <a:p>
            <a:r>
              <a:rPr lang="en-US" dirty="0"/>
              <a:t>The overall policy uncertainty index has a mean of 107.1 with significant volatility (standard deviation of 32.77).</a:t>
            </a:r>
          </a:p>
          <a:p>
            <a:endParaRPr lang="en-US" dirty="0"/>
          </a:p>
          <a:p>
            <a:r>
              <a:rPr lang="en-US" dirty="0"/>
              <a:t>The correlation between the news and overall index is 0.883, indicating a strong relationship between media coverage and policy uncertainty.</a:t>
            </a:r>
          </a:p>
        </p:txBody>
      </p:sp>
      <p:sp>
        <p:nvSpPr>
          <p:cNvPr id="4" name="Slide Number Placeholder 3"/>
          <p:cNvSpPr>
            <a:spLocks noGrp="1"/>
          </p:cNvSpPr>
          <p:nvPr>
            <p:ph type="sldNum" sz="quarter" idx="5"/>
          </p:nvPr>
        </p:nvSpPr>
        <p:spPr/>
        <p:txBody>
          <a:bodyPr/>
          <a:lstStyle/>
          <a:p>
            <a:fld id="{55CCDD01-DD87-4F55-A952-E63114553089}" type="slidenum">
              <a:rPr lang="en-US" smtClean="0"/>
              <a:t>10</a:t>
            </a:fld>
            <a:endParaRPr lang="en-US"/>
          </a:p>
        </p:txBody>
      </p:sp>
    </p:spTree>
    <p:extLst>
      <p:ext uri="{BB962C8B-B14F-4D97-AF65-F5344CB8AC3E}">
        <p14:creationId xmlns:p14="http://schemas.microsoft.com/office/powerpoint/2010/main" val="3822105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SUMMARY STATS</a:t>
            </a:r>
          </a:p>
          <a:p>
            <a:br>
              <a:rPr lang="en-US" b="1" dirty="0"/>
            </a:br>
            <a:r>
              <a:rPr lang="en-US" b="1" dirty="0"/>
              <a:t>Table 2: Merger and Acquisition Summary Statistics</a:t>
            </a:r>
            <a:br>
              <a:rPr lang="en-US" dirty="0"/>
            </a:br>
            <a:r>
              <a:rPr lang="en-US" dirty="0"/>
              <a:t>The sample includes 151,925 M&amp;A deals with a mean deal size of $266 million and a median deal size of $28 million.</a:t>
            </a:r>
            <a:br>
              <a:rPr lang="en-US" dirty="0"/>
            </a:br>
            <a:r>
              <a:rPr lang="en-US" dirty="0"/>
              <a:t>Public U.S. acquirers accounted for 41,050 deals, with an average deal size of $374 million.</a:t>
            </a:r>
          </a:p>
        </p:txBody>
      </p:sp>
      <p:sp>
        <p:nvSpPr>
          <p:cNvPr id="4" name="Slide Number Placeholder 3"/>
          <p:cNvSpPr>
            <a:spLocks noGrp="1"/>
          </p:cNvSpPr>
          <p:nvPr>
            <p:ph type="sldNum" sz="quarter" idx="5"/>
          </p:nvPr>
        </p:nvSpPr>
        <p:spPr/>
        <p:txBody>
          <a:bodyPr/>
          <a:lstStyle/>
          <a:p>
            <a:fld id="{55CCDD01-DD87-4F55-A952-E63114553089}" type="slidenum">
              <a:rPr lang="en-US" smtClean="0"/>
              <a:t>11</a:t>
            </a:fld>
            <a:endParaRPr lang="en-US"/>
          </a:p>
        </p:txBody>
      </p:sp>
    </p:spTree>
    <p:extLst>
      <p:ext uri="{BB962C8B-B14F-4D97-AF65-F5344CB8AC3E}">
        <p14:creationId xmlns:p14="http://schemas.microsoft.com/office/powerpoint/2010/main" val="28634228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Shaded area is recession. Line is the uncertainty index. See how they correlate</a:t>
            </a:r>
          </a:p>
        </p:txBody>
      </p:sp>
      <p:sp>
        <p:nvSpPr>
          <p:cNvPr id="4" name="Slide Number Placeholder 3"/>
          <p:cNvSpPr>
            <a:spLocks noGrp="1"/>
          </p:cNvSpPr>
          <p:nvPr>
            <p:ph type="sldNum" sz="quarter" idx="5"/>
          </p:nvPr>
        </p:nvSpPr>
        <p:spPr/>
        <p:txBody>
          <a:bodyPr/>
          <a:lstStyle/>
          <a:p>
            <a:fld id="{55CCDD01-DD87-4F55-A952-E63114553089}" type="slidenum">
              <a:rPr lang="en-US" smtClean="0"/>
              <a:t>12</a:t>
            </a:fld>
            <a:endParaRPr lang="en-US"/>
          </a:p>
        </p:txBody>
      </p:sp>
    </p:spTree>
    <p:extLst>
      <p:ext uri="{BB962C8B-B14F-4D97-AF65-F5344CB8AC3E}">
        <p14:creationId xmlns:p14="http://schemas.microsoft.com/office/powerpoint/2010/main" val="475644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GRAPH: </a:t>
            </a:r>
            <a:br>
              <a:rPr lang="en-US" dirty="0"/>
            </a:br>
            <a:br>
              <a:rPr lang="en-US" dirty="0"/>
            </a:br>
            <a:r>
              <a:rPr lang="en-US" dirty="0"/>
              <a:t>Deal value vs policy uncertainty </a:t>
            </a:r>
          </a:p>
          <a:p>
            <a:endParaRPr lang="en-US" dirty="0"/>
          </a:p>
          <a:p>
            <a:r>
              <a:rPr lang="en-US" dirty="0"/>
              <a:t>BOTTOM GRAPH: </a:t>
            </a:r>
          </a:p>
          <a:p>
            <a:endParaRPr lang="en-US" dirty="0"/>
          </a:p>
          <a:p>
            <a:r>
              <a:rPr lang="en-US" dirty="0"/>
              <a:t>Number of deals vs policy uncertainty</a:t>
            </a:r>
          </a:p>
        </p:txBody>
      </p:sp>
      <p:sp>
        <p:nvSpPr>
          <p:cNvPr id="4" name="Slide Number Placeholder 3"/>
          <p:cNvSpPr>
            <a:spLocks noGrp="1"/>
          </p:cNvSpPr>
          <p:nvPr>
            <p:ph type="sldNum" sz="quarter" idx="5"/>
          </p:nvPr>
        </p:nvSpPr>
        <p:spPr/>
        <p:txBody>
          <a:bodyPr/>
          <a:lstStyle/>
          <a:p>
            <a:fld id="{55CCDD01-DD87-4F55-A952-E63114553089}" type="slidenum">
              <a:rPr lang="en-US" smtClean="0"/>
              <a:t>13</a:t>
            </a:fld>
            <a:endParaRPr lang="en-US"/>
          </a:p>
        </p:txBody>
      </p:sp>
    </p:spTree>
    <p:extLst>
      <p:ext uri="{BB962C8B-B14F-4D97-AF65-F5344CB8AC3E}">
        <p14:creationId xmlns:p14="http://schemas.microsoft.com/office/powerpoint/2010/main" val="2364245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DEPENDENT VARIABLE IS ACQUISITION LIKELIHOOD</a:t>
            </a:r>
          </a:p>
          <a:p>
            <a:endParaRPr lang="en-US" b="1" dirty="0"/>
          </a:p>
          <a:p>
            <a:r>
              <a:rPr lang="en-US" b="1" dirty="0"/>
              <a:t>POLICY UNCERTAINTY NEGATIVELY IMPACTS ACQUISITION LIKELIHOOD</a:t>
            </a:r>
          </a:p>
          <a:p>
            <a:endParaRPr lang="en-US" b="1" dirty="0"/>
          </a:p>
          <a:p>
            <a:r>
              <a:rPr lang="en-US" b="1" dirty="0"/>
              <a:t>Table 3: Policy Uncertainty and Acquisition Likelihood</a:t>
            </a:r>
            <a:br>
              <a:rPr lang="en-US" dirty="0"/>
            </a:br>
            <a:r>
              <a:rPr lang="en-US" dirty="0"/>
              <a:t>A one standard deviation increase in policy uncertainty decreases the likelihood of a merger by 1.64%, which corresponds to an 11.74% relative decrease.</a:t>
            </a:r>
            <a:br>
              <a:rPr lang="en-US" dirty="0"/>
            </a:br>
            <a:r>
              <a:rPr lang="en-US" dirty="0"/>
              <a:t>Each component of the policy uncertainty Index (news, tax, government spending, CPI) negatively impacts merger activity.</a:t>
            </a:r>
            <a:br>
              <a:rPr lang="en-US" dirty="0"/>
            </a:br>
            <a:br>
              <a:rPr lang="en-US" dirty="0"/>
            </a:br>
            <a:br>
              <a:rPr lang="en-US" dirty="0"/>
            </a:br>
            <a:r>
              <a:rPr lang="en-US" dirty="0"/>
              <a:t>The results in Table 3 also reveal that each of the four components of the BBD policy uncertainty index contributes to the negative relation between policy uncertainty and M&amp;A activity. Converting our point estimates to marginal effects, a one standard deviation increase in the news, tax, government spending, and CPI components is associated with a 9.82%, 10.11%, 7.16% and 9.98% decrease</a:t>
            </a:r>
          </a:p>
        </p:txBody>
      </p:sp>
      <p:sp>
        <p:nvSpPr>
          <p:cNvPr id="4" name="Slide Number Placeholder 3"/>
          <p:cNvSpPr>
            <a:spLocks noGrp="1"/>
          </p:cNvSpPr>
          <p:nvPr>
            <p:ph type="sldNum" sz="quarter" idx="5"/>
          </p:nvPr>
        </p:nvSpPr>
        <p:spPr/>
        <p:txBody>
          <a:bodyPr/>
          <a:lstStyle/>
          <a:p>
            <a:fld id="{55CCDD01-DD87-4F55-A952-E63114553089}" type="slidenum">
              <a:rPr lang="en-US" smtClean="0"/>
              <a:t>14</a:t>
            </a:fld>
            <a:endParaRPr lang="en-US"/>
          </a:p>
        </p:txBody>
      </p:sp>
    </p:spTree>
    <p:extLst>
      <p:ext uri="{BB962C8B-B14F-4D97-AF65-F5344CB8AC3E}">
        <p14:creationId xmlns:p14="http://schemas.microsoft.com/office/powerpoint/2010/main" val="263442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EFFECT IS DELAYED OVER TIME. ONLY T+1 and 2</a:t>
            </a:r>
            <a:br>
              <a:rPr lang="en-US" b="1" dirty="0"/>
            </a:br>
            <a:br>
              <a:rPr lang="en-US" b="1" dirty="0"/>
            </a:br>
            <a:r>
              <a:rPr lang="en-US" b="1" dirty="0"/>
              <a:t>Table 4: Policy Uncertainty and Delayed M&amp;A Activity</a:t>
            </a:r>
            <a:br>
              <a:rPr lang="en-US" dirty="0"/>
            </a:br>
            <a:r>
              <a:rPr lang="en-US" dirty="0"/>
              <a:t>Policy uncertainty’s effect diminishes over time, showing a significant negative impact on acquisition likelihood in year t+1, but less so in t+3 and t+4.</a:t>
            </a:r>
          </a:p>
        </p:txBody>
      </p:sp>
      <p:sp>
        <p:nvSpPr>
          <p:cNvPr id="4" name="Slide Number Placeholder 3"/>
          <p:cNvSpPr>
            <a:spLocks noGrp="1"/>
          </p:cNvSpPr>
          <p:nvPr>
            <p:ph type="sldNum" sz="quarter" idx="5"/>
          </p:nvPr>
        </p:nvSpPr>
        <p:spPr/>
        <p:txBody>
          <a:bodyPr/>
          <a:lstStyle/>
          <a:p>
            <a:fld id="{55CCDD01-DD87-4F55-A952-E63114553089}" type="slidenum">
              <a:rPr lang="en-US" smtClean="0"/>
              <a:t>15</a:t>
            </a:fld>
            <a:endParaRPr lang="en-US"/>
          </a:p>
        </p:txBody>
      </p:sp>
    </p:spTree>
    <p:extLst>
      <p:ext uri="{BB962C8B-B14F-4D97-AF65-F5344CB8AC3E}">
        <p14:creationId xmlns:p14="http://schemas.microsoft.com/office/powerpoint/2010/main" val="10357446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UNCERTAINTY LEADS TO LESS MERGER WAVES.</a:t>
            </a:r>
            <a:br>
              <a:rPr lang="en-US" dirty="0"/>
            </a:br>
            <a:br>
              <a:rPr lang="en-US" dirty="0"/>
            </a:br>
            <a:br>
              <a:rPr lang="en-US" dirty="0"/>
            </a:br>
            <a:r>
              <a:rPr lang="en-US" dirty="0"/>
              <a:t>our dependent variable is now an indicator for the start of a merger wave within an industry, and we replace firm-level control variables with industry averages</a:t>
            </a:r>
          </a:p>
          <a:p>
            <a:endParaRPr lang="en-US" dirty="0"/>
          </a:p>
          <a:p>
            <a:r>
              <a:rPr lang="en-US" dirty="0"/>
              <a:t>Our results suggest that merger waves are less likely to begin in periods of high policy uncertainty.</a:t>
            </a:r>
          </a:p>
          <a:p>
            <a:endParaRPr lang="en-US" dirty="0"/>
          </a:p>
          <a:p>
            <a:r>
              <a:rPr lang="en-US" dirty="0"/>
              <a:t>a one standard deviation increase in the overall BBD policy uncertainty index (from its mean) corresponds to a 4.17% decrease in the likelihood of a wave commencing within the average industry. This represents an economically meaningful impact given that the start of merger waves occurs in our sample with 7.53% likelihood.</a:t>
            </a:r>
          </a:p>
        </p:txBody>
      </p:sp>
      <p:sp>
        <p:nvSpPr>
          <p:cNvPr id="4" name="Slide Number Placeholder 3"/>
          <p:cNvSpPr>
            <a:spLocks noGrp="1"/>
          </p:cNvSpPr>
          <p:nvPr>
            <p:ph type="sldNum" sz="quarter" idx="5"/>
          </p:nvPr>
        </p:nvSpPr>
        <p:spPr/>
        <p:txBody>
          <a:bodyPr/>
          <a:lstStyle/>
          <a:p>
            <a:fld id="{55CCDD01-DD87-4F55-A952-E63114553089}" type="slidenum">
              <a:rPr lang="en-US" smtClean="0"/>
              <a:t>16</a:t>
            </a:fld>
            <a:endParaRPr lang="en-US"/>
          </a:p>
        </p:txBody>
      </p:sp>
    </p:spTree>
    <p:extLst>
      <p:ext uri="{BB962C8B-B14F-4D97-AF65-F5344CB8AC3E}">
        <p14:creationId xmlns:p14="http://schemas.microsoft.com/office/powerpoint/2010/main" val="29143560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firms are less likely to acquire targets that represent irreversible investments when policy uncertainty is high</a:t>
            </a:r>
            <a:br>
              <a:rPr lang="en-US" dirty="0"/>
            </a:br>
            <a:br>
              <a:rPr lang="en-US" dirty="0"/>
            </a:br>
            <a:br>
              <a:rPr lang="en-US" dirty="0"/>
            </a:br>
            <a:r>
              <a:rPr lang="en-US" dirty="0"/>
              <a:t>The results in Panel A of Table 6 show how investment irreversibility interacts with the relation between policy uncertainty and M&amp;A activity. </a:t>
            </a:r>
          </a:p>
          <a:p>
            <a:endParaRPr lang="en-US" dirty="0"/>
          </a:p>
          <a:p>
            <a:r>
              <a:rPr lang="en-US" dirty="0"/>
              <a:t>Consistent with our predictions, across our four different measures of target irreversibility, we find that firms are less likely to acquire targets that represent irreversible investments when policy uncertainty is high</a:t>
            </a:r>
            <a:br>
              <a:rPr lang="en-US" dirty="0"/>
            </a:br>
            <a:br>
              <a:rPr lang="en-US" dirty="0"/>
            </a:br>
            <a:r>
              <a:rPr lang="en-US" dirty="0"/>
              <a:t>Panel B of Table 6 shows that, as policy uncertainty increases, targets are less likely to come from oligopolistic industries with high concentration or low deal volume. Industry concentration and deal volume should be related to the likelihood of strategic actions from competitors (such as competing bids for the target or its peers),</a:t>
            </a:r>
          </a:p>
        </p:txBody>
      </p:sp>
      <p:sp>
        <p:nvSpPr>
          <p:cNvPr id="4" name="Slide Number Placeholder 3"/>
          <p:cNvSpPr>
            <a:spLocks noGrp="1"/>
          </p:cNvSpPr>
          <p:nvPr>
            <p:ph type="sldNum" sz="quarter" idx="5"/>
          </p:nvPr>
        </p:nvSpPr>
        <p:spPr/>
        <p:txBody>
          <a:bodyPr/>
          <a:lstStyle/>
          <a:p>
            <a:fld id="{55CCDD01-DD87-4F55-A952-E63114553089}" type="slidenum">
              <a:rPr lang="en-US" smtClean="0"/>
              <a:t>17</a:t>
            </a:fld>
            <a:endParaRPr lang="en-US"/>
          </a:p>
        </p:txBody>
      </p:sp>
    </p:spTree>
    <p:extLst>
      <p:ext uri="{BB962C8B-B14F-4D97-AF65-F5344CB8AC3E}">
        <p14:creationId xmlns:p14="http://schemas.microsoft.com/office/powerpoint/2010/main" val="2452011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b="1" dirty="0"/>
              <a:t>Effect is weaker for firms operating in more competitive industries</a:t>
            </a:r>
          </a:p>
          <a:p>
            <a:endParaRPr lang="en-US" dirty="0"/>
          </a:p>
          <a:p>
            <a:r>
              <a:rPr lang="en-US" dirty="0"/>
              <a:t>We test if the effect of policy uncertainty on M&amp;As is weaker if the acquirer operates in a more competitive (less concentrated) industry or if many other firms in the same industry are engaging in acquisitions, thereby reducing a bidder’s ability to delay the deal.</a:t>
            </a:r>
          </a:p>
          <a:p>
            <a:endParaRPr lang="en-US" dirty="0"/>
          </a:p>
          <a:p>
            <a:r>
              <a:rPr lang="en-US" dirty="0"/>
              <a:t>Results reported in Table 7 suggest that—consistent the predictions of Grenadier (2002)—the relation between policy uncertainty and the likelihood of announcing an acquisition is weaker for firms operating in more competitive industries</a:t>
            </a:r>
          </a:p>
          <a:p>
            <a:endParaRPr lang="en-US" dirty="0"/>
          </a:p>
          <a:p>
            <a:r>
              <a:rPr lang="en-US" dirty="0"/>
              <a:t>Specifically, high policy uncertainty has a significantly more detrimental impact on the likelihood of announcing an acquisition for firms in more concentrated industries and in industries with low deal volume.20 To the extent that deals in oligopolistic industries are less costly to postpone (e.g., fear of a competitors acting strategically is lower), these results are consistent with the explanation that policy uncertainty decreases merger announcements primarily by increasing the value of the option to delay</a:t>
            </a:r>
          </a:p>
          <a:p>
            <a:endParaRPr lang="en-US" dirty="0"/>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18</a:t>
            </a:fld>
            <a:endParaRPr lang="en-US"/>
          </a:p>
        </p:txBody>
      </p:sp>
    </p:spTree>
    <p:extLst>
      <p:ext uri="{BB962C8B-B14F-4D97-AF65-F5344CB8AC3E}">
        <p14:creationId xmlns:p14="http://schemas.microsoft.com/office/powerpoint/2010/main" val="39010046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Table 8 we test if policy uncertainty operates primarily through the interim risk channel. We split our sample into high (above median) and low (below median) policy uncertainty periods and compare variables correlated with actual and expected interim risk. </a:t>
            </a:r>
          </a:p>
          <a:p>
            <a:endParaRPr lang="en-US" dirty="0"/>
          </a:p>
          <a:p>
            <a:r>
              <a:rPr lang="en-US" b="1" dirty="0"/>
              <a:t>these tests reveal no evidence that an increase in expected firm-level interim risk drives the relation between policy uncertainty and M&amp;A activity.</a:t>
            </a:r>
          </a:p>
          <a:p>
            <a:endParaRPr lang="en-US" b="1" dirty="0"/>
          </a:p>
          <a:p>
            <a:r>
              <a:rPr lang="en-US" b="1" dirty="0"/>
              <a:t>Interim risk</a:t>
            </a:r>
            <a:r>
              <a:rPr lang="en-US" dirty="0"/>
              <a:t> refers to the uncertainty or potential changes in a transaction's conditions during the time between when a deal is announced and when it is completed.</a:t>
            </a:r>
            <a:endParaRPr lang="en-US" b="1" dirty="0"/>
          </a:p>
        </p:txBody>
      </p:sp>
      <p:sp>
        <p:nvSpPr>
          <p:cNvPr id="4" name="Slide Number Placeholder 3"/>
          <p:cNvSpPr>
            <a:spLocks noGrp="1"/>
          </p:cNvSpPr>
          <p:nvPr>
            <p:ph type="sldNum" sz="quarter" idx="5"/>
          </p:nvPr>
        </p:nvSpPr>
        <p:spPr/>
        <p:txBody>
          <a:bodyPr/>
          <a:lstStyle/>
          <a:p>
            <a:fld id="{55CCDD01-DD87-4F55-A952-E63114553089}" type="slidenum">
              <a:rPr lang="en-US" smtClean="0"/>
              <a:t>19</a:t>
            </a:fld>
            <a:endParaRPr lang="en-US"/>
          </a:p>
        </p:txBody>
      </p:sp>
    </p:spTree>
    <p:extLst>
      <p:ext uri="{BB962C8B-B14F-4D97-AF65-F5344CB8AC3E}">
        <p14:creationId xmlns:p14="http://schemas.microsoft.com/office/powerpoint/2010/main" val="9791870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VIX = only public targets in short term. </a:t>
            </a:r>
          </a:p>
          <a:p>
            <a:endParaRPr lang="en-US" dirty="0"/>
          </a:p>
          <a:p>
            <a:r>
              <a:rPr lang="en-US" dirty="0"/>
              <a:t>POLICY = all targets in long term</a:t>
            </a:r>
            <a:br>
              <a:rPr lang="en-US" dirty="0"/>
            </a:br>
            <a:br>
              <a:rPr lang="en-US" dirty="0"/>
            </a:br>
            <a:br>
              <a:rPr lang="en-US" dirty="0"/>
            </a:br>
            <a:r>
              <a:rPr lang="en-US" dirty="0"/>
              <a:t>The results highlight that VIX affects short-term M&amp;A activity, while policy uncertainty influences longer-term M&amp;A decisions, suggesting that VIX impacts short-term risks (e.g., the seller’s put option), while policy uncertainty impacts longer-term decision-making (e.g., the option to delay).</a:t>
            </a:r>
          </a:p>
        </p:txBody>
      </p:sp>
      <p:sp>
        <p:nvSpPr>
          <p:cNvPr id="4" name="Slide Number Placeholder 3"/>
          <p:cNvSpPr>
            <a:spLocks noGrp="1"/>
          </p:cNvSpPr>
          <p:nvPr>
            <p:ph type="sldNum" sz="quarter" idx="5"/>
          </p:nvPr>
        </p:nvSpPr>
        <p:spPr/>
        <p:txBody>
          <a:bodyPr/>
          <a:lstStyle/>
          <a:p>
            <a:fld id="{55CCDD01-DD87-4F55-A952-E63114553089}" type="slidenum">
              <a:rPr lang="en-US" smtClean="0"/>
              <a:t>20</a:t>
            </a:fld>
            <a:endParaRPr lang="en-US"/>
          </a:p>
        </p:txBody>
      </p:sp>
    </p:spTree>
    <p:extLst>
      <p:ext uri="{BB962C8B-B14F-4D97-AF65-F5344CB8AC3E}">
        <p14:creationId xmlns:p14="http://schemas.microsoft.com/office/powerpoint/2010/main" val="24643638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NO DIFFERENCE IN RETURNS for periods of high or low uncertainty around acquisition announcements.</a:t>
            </a:r>
          </a:p>
          <a:p>
            <a:endParaRPr lang="en-US" dirty="0"/>
          </a:p>
          <a:p>
            <a:endParaRPr lang="en-US" dirty="0"/>
          </a:p>
          <a:p>
            <a:r>
              <a:rPr lang="en-US" dirty="0"/>
              <a:t>In Table 10 we present averages of proxies for value creation, operating performance, and sales growth for periods of low versus high policy uncertainty. We split the sample along the median policy uncertainty value throughout our time period. We then calculate three- and five-day cumulative abnormal returns (CARs) around acquisition announcements as the buy and hold return on the bidder’s stock net the buy and hold return on the value-weighted CRSP index. The results reveal no evidence of a meaningful difference between announcement CARs for periods of high and low policy uncertainty</a:t>
            </a:r>
          </a:p>
        </p:txBody>
      </p:sp>
      <p:sp>
        <p:nvSpPr>
          <p:cNvPr id="4" name="Slide Number Placeholder 3"/>
          <p:cNvSpPr>
            <a:spLocks noGrp="1"/>
          </p:cNvSpPr>
          <p:nvPr>
            <p:ph type="sldNum" sz="quarter" idx="5"/>
          </p:nvPr>
        </p:nvSpPr>
        <p:spPr/>
        <p:txBody>
          <a:bodyPr/>
          <a:lstStyle/>
          <a:p>
            <a:fld id="{55CCDD01-DD87-4F55-A952-E63114553089}" type="slidenum">
              <a:rPr lang="en-US" smtClean="0"/>
              <a:t>21</a:t>
            </a:fld>
            <a:endParaRPr lang="en-US"/>
          </a:p>
        </p:txBody>
      </p:sp>
    </p:spTree>
    <p:extLst>
      <p:ext uri="{BB962C8B-B14F-4D97-AF65-F5344CB8AC3E}">
        <p14:creationId xmlns:p14="http://schemas.microsoft.com/office/powerpoint/2010/main" val="10482095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effect does not depend on acquirers’ corporate governance qualities, or CEO qualities.</a:t>
            </a:r>
          </a:p>
          <a:p>
            <a:endParaRPr lang="en-US" dirty="0"/>
          </a:p>
          <a:p>
            <a:endParaRPr lang="en-US" dirty="0"/>
          </a:p>
          <a:p>
            <a:r>
              <a:rPr lang="en-US" dirty="0"/>
              <a:t>The results presented in the first six columns of Table 11 show that these interactions are not statistically significant, which indicates that the effect of policy uncertainty on merger activity does not depend on acquirers’ corporate governance quality (i.e., their ability to engage in empire-building)</a:t>
            </a:r>
          </a:p>
          <a:p>
            <a:endParaRPr lang="en-US" dirty="0"/>
          </a:p>
          <a:p>
            <a:r>
              <a:rPr lang="en-US" dirty="0"/>
              <a:t>The results, reported in the last three columns of Table 11 show that the interactions between our three proxies and the BBD index are all statistically insignificant. This finding suggests that the effect of policy uncertainty on merger activity is not meaningfully related to managers’ incentive or willingness to engage in empire-building. Overall, the tests described in this section show no evidence that policy uncertainty affects M&amp;A activity through an empire-building channel.</a:t>
            </a:r>
          </a:p>
        </p:txBody>
      </p:sp>
      <p:sp>
        <p:nvSpPr>
          <p:cNvPr id="4" name="Slide Number Placeholder 3"/>
          <p:cNvSpPr>
            <a:spLocks noGrp="1"/>
          </p:cNvSpPr>
          <p:nvPr>
            <p:ph type="sldNum" sz="quarter" idx="5"/>
          </p:nvPr>
        </p:nvSpPr>
        <p:spPr/>
        <p:txBody>
          <a:bodyPr/>
          <a:lstStyle/>
          <a:p>
            <a:fld id="{55CCDD01-DD87-4F55-A952-E63114553089}" type="slidenum">
              <a:rPr lang="en-US" smtClean="0"/>
              <a:t>22</a:t>
            </a:fld>
            <a:endParaRPr lang="en-US"/>
          </a:p>
        </p:txBody>
      </p:sp>
    </p:spTree>
    <p:extLst>
      <p:ext uri="{BB962C8B-B14F-4D97-AF65-F5344CB8AC3E}">
        <p14:creationId xmlns:p14="http://schemas.microsoft.com/office/powerpoint/2010/main" val="31038441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Heckman model is used to correct for selection bias in cases where the sample is not randomly selected. </a:t>
            </a:r>
          </a:p>
          <a:p>
            <a:endParaRPr lang="en-US" b="1" dirty="0"/>
          </a:p>
          <a:p>
            <a:r>
              <a:rPr lang="en-US" b="1" dirty="0"/>
              <a:t>, imply that the likelihood of vertical mergers increases as policy uncertainty increases. These findings are consistent with firms seeking to reduce firm level uncertainty during times of high policy uncertainty through vertical integration. </a:t>
            </a:r>
          </a:p>
          <a:p>
            <a:endParaRPr lang="en-US" b="1" dirty="0"/>
          </a:p>
          <a:p>
            <a:r>
              <a:rPr lang="en-US" b="1" dirty="0"/>
              <a:t>The are also more likely to search for a foreign target, to avoid domestic policy issues.</a:t>
            </a:r>
            <a:br>
              <a:rPr lang="en-US" dirty="0"/>
            </a:br>
            <a:br>
              <a:rPr lang="en-US" dirty="0"/>
            </a:br>
            <a:br>
              <a:rPr lang="en-US" dirty="0"/>
            </a:br>
            <a:r>
              <a:rPr lang="en-US" dirty="0"/>
              <a:t>Our results show that the likelihood of acquiring domestically versus abroad decreases as policy uncertainty increases. This finding is consistent with acquiring firms preferring to reduce their exposure to domestic policy risks by looking abroad for acquisitions.</a:t>
            </a:r>
          </a:p>
          <a:p>
            <a:endParaRPr lang="en-US" dirty="0"/>
          </a:p>
          <a:p>
            <a:r>
              <a:rPr lang="en-US" dirty="0"/>
              <a:t>Our results, presented in the second column of Table 12, imply that the likelihood of vertical mergers increases as policy uncertainty increases. These findings are consistent with firms seeking to reduce </a:t>
            </a:r>
            <a:r>
              <a:rPr lang="en-US" dirty="0" err="1"/>
              <a:t>firmlevel</a:t>
            </a:r>
            <a:r>
              <a:rPr lang="en-US" dirty="0"/>
              <a:t> uncertainty during times of high policy uncertainty through vertical integration. Hence, the results in this section suggest that operational hedging plays a role in how policy uncertainty affects certain types of merger decisions. Nevertheless, it is important to recognize that this risk management channel cannot be the primary mechanism through which policy uncertainty affects M&amp;A ac</a:t>
            </a:r>
          </a:p>
        </p:txBody>
      </p:sp>
      <p:sp>
        <p:nvSpPr>
          <p:cNvPr id="4" name="Slide Number Placeholder 3"/>
          <p:cNvSpPr>
            <a:spLocks noGrp="1"/>
          </p:cNvSpPr>
          <p:nvPr>
            <p:ph type="sldNum" sz="quarter" idx="5"/>
          </p:nvPr>
        </p:nvSpPr>
        <p:spPr/>
        <p:txBody>
          <a:bodyPr/>
          <a:lstStyle/>
          <a:p>
            <a:fld id="{55CCDD01-DD87-4F55-A952-E63114553089}" type="slidenum">
              <a:rPr lang="en-US" smtClean="0"/>
              <a:t>23</a:t>
            </a:fld>
            <a:endParaRPr lang="en-US"/>
          </a:p>
        </p:txBody>
      </p:sp>
    </p:spTree>
    <p:extLst>
      <p:ext uri="{BB962C8B-B14F-4D97-AF65-F5344CB8AC3E}">
        <p14:creationId xmlns:p14="http://schemas.microsoft.com/office/powerpoint/2010/main" val="41944833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TABLE 3, BUT DIFFERENT ASPECTS OF THE POLICY INDEX. MOSTLY ONLY FISCAL POLICY MATTERS.</a:t>
            </a:r>
          </a:p>
          <a:p>
            <a:endParaRPr lang="en-US" dirty="0"/>
          </a:p>
          <a:p>
            <a:r>
              <a:rPr lang="en-US" dirty="0"/>
              <a:t>In Table 13 we report logistic regressions of acquisition likelihood on policy uncertainty and controls. These tests are analogous to our baseline specifications from Table 3. Different from Table 3, however, each column uses a different category-specific policy uncertainty index. The first four columns reveal that the uncertainty related to fiscal policy (both taxes and government spending) and monetary policy are meaningfully negatively related to future M&amp;A activity</a:t>
            </a:r>
          </a:p>
        </p:txBody>
      </p:sp>
      <p:sp>
        <p:nvSpPr>
          <p:cNvPr id="4" name="Slide Number Placeholder 3"/>
          <p:cNvSpPr>
            <a:spLocks noGrp="1"/>
          </p:cNvSpPr>
          <p:nvPr>
            <p:ph type="sldNum" sz="quarter" idx="5"/>
          </p:nvPr>
        </p:nvSpPr>
        <p:spPr/>
        <p:txBody>
          <a:bodyPr/>
          <a:lstStyle/>
          <a:p>
            <a:fld id="{55CCDD01-DD87-4F55-A952-E63114553089}" type="slidenum">
              <a:rPr lang="en-US" smtClean="0"/>
              <a:t>24</a:t>
            </a:fld>
            <a:endParaRPr lang="en-US"/>
          </a:p>
        </p:txBody>
      </p:sp>
    </p:spTree>
    <p:extLst>
      <p:ext uri="{BB962C8B-B14F-4D97-AF65-F5344CB8AC3E}">
        <p14:creationId xmlns:p14="http://schemas.microsoft.com/office/powerpoint/2010/main" val="23286016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Increased Deal Premiums</a:t>
            </a:r>
            <a:r>
              <a:rPr lang="en-US" dirty="0"/>
              <a:t>: Higher policy uncertainty leads to significantly larger deal premiums, with a coefficient of </a:t>
            </a:r>
            <a:r>
              <a:rPr lang="en-US" b="1" dirty="0"/>
              <a:t>0.129</a:t>
            </a:r>
            <a:r>
              <a:rPr lang="en-US" dirty="0"/>
              <a:t>. This indicates that targets gain greater negotiating power, allowing them to secure higher payments during periods of high uncertainty.</a:t>
            </a:r>
          </a:p>
          <a:p>
            <a:r>
              <a:rPr lang="en-US" b="1" dirty="0"/>
              <a:t>Lower Termination Fees</a:t>
            </a:r>
            <a:r>
              <a:rPr lang="en-US" dirty="0"/>
              <a:t>: Policy uncertainty reduces both the amount and likelihood of target termination fees (coefficients of </a:t>
            </a:r>
            <a:r>
              <a:rPr lang="en-US" b="1" dirty="0"/>
              <a:t>-0.617</a:t>
            </a:r>
            <a:r>
              <a:rPr lang="en-US" dirty="0"/>
              <a:t> and </a:t>
            </a:r>
            <a:r>
              <a:rPr lang="en-US" b="1" dirty="0"/>
              <a:t>-0.489</a:t>
            </a:r>
            <a:r>
              <a:rPr lang="en-US" dirty="0"/>
              <a:t> respectively). This suggests that targets negotiate fewer or smaller exit fees, likely reflecting their stronger position during negotiations.</a:t>
            </a:r>
          </a:p>
          <a:p>
            <a:r>
              <a:rPr lang="en-US" b="1" dirty="0"/>
              <a:t>More MAC Exclusions</a:t>
            </a:r>
            <a:r>
              <a:rPr lang="en-US" dirty="0"/>
              <a:t>: Material Adverse Clause (MAC) exclusions, which limit an acquirer's ability to abandon a deal, increase with policy uncertainty (coefficient of </a:t>
            </a:r>
            <a:r>
              <a:rPr lang="en-US" b="1" dirty="0"/>
              <a:t>9.406</a:t>
            </a:r>
            <a:r>
              <a:rPr lang="en-US" dirty="0"/>
              <a:t>). This implies that targets secure greater protections, reducing the chances for acquirers to walk away from deals.</a:t>
            </a:r>
          </a:p>
          <a:p>
            <a:endParaRPr lang="en-US" dirty="0"/>
          </a:p>
          <a:p>
            <a:r>
              <a:rPr lang="en-US" dirty="0"/>
              <a:t>A </a:t>
            </a:r>
            <a:r>
              <a:rPr lang="en-US" b="1" dirty="0"/>
              <a:t>MAC exclusion</a:t>
            </a:r>
            <a:r>
              <a:rPr lang="en-US" dirty="0"/>
              <a:t> refers to specific contractual terms in a merger or acquisition agreement that limit the scenarios in which the acquirer can terminate the deal due to significant negative changes in the target's situation (e.g., financial performance or regulatory issues). These exclusions effectively remove the acquirer's option to back out of the deal under certain adverse conditions, making it harder for the acquirer to abandon the transaction.</a:t>
            </a:r>
          </a:p>
          <a:p>
            <a:endParaRPr lang="en-US" dirty="0"/>
          </a:p>
          <a:p>
            <a:endParaRPr lang="en-US" dirty="0"/>
          </a:p>
          <a:p>
            <a:endParaRPr lang="en-US" dirty="0"/>
          </a:p>
          <a:p>
            <a:endParaRPr lang="en-US" dirty="0"/>
          </a:p>
          <a:p>
            <a:r>
              <a:rPr lang="en-US" dirty="0"/>
              <a:t>, in Table 14 we model the relation between policy uncertainty and deal characteristics using two-stage Heckman models and present coefficients associated with policy uncertainty for second-stage models.</a:t>
            </a:r>
          </a:p>
          <a:p>
            <a:endParaRPr lang="en-US" dirty="0"/>
          </a:p>
          <a:p>
            <a:r>
              <a:rPr lang="en-US" b="1" dirty="0"/>
              <a:t>Column 1 in Table 14 shows that acquirers pay significantly higher premiums for targets as policy uncertainty increases</a:t>
            </a:r>
          </a:p>
          <a:p>
            <a:endParaRPr lang="en-US" dirty="0"/>
          </a:p>
          <a:p>
            <a:r>
              <a:rPr lang="en-US" b="1" dirty="0"/>
              <a:t>In the second and third columns of Table 14, we find that policy uncertainty is negatively associated with the amount of and likelihood of having a target termination fee, again consistent with increased negotiating power on the part of the target.</a:t>
            </a:r>
          </a:p>
          <a:p>
            <a:endParaRPr lang="en-US" dirty="0"/>
          </a:p>
          <a:p>
            <a:r>
              <a:rPr lang="en-US" b="1" dirty="0"/>
              <a:t>we find that the number of MAC exclusions increases with policy uncertainty, consistent with acquirers having fewer scenarios under which they can back out of the deal</a:t>
            </a:r>
          </a:p>
        </p:txBody>
      </p:sp>
      <p:sp>
        <p:nvSpPr>
          <p:cNvPr id="4" name="Slide Number Placeholder 3"/>
          <p:cNvSpPr>
            <a:spLocks noGrp="1"/>
          </p:cNvSpPr>
          <p:nvPr>
            <p:ph type="sldNum" sz="quarter" idx="5"/>
          </p:nvPr>
        </p:nvSpPr>
        <p:spPr/>
        <p:txBody>
          <a:bodyPr/>
          <a:lstStyle/>
          <a:p>
            <a:fld id="{55CCDD01-DD87-4F55-A952-E63114553089}" type="slidenum">
              <a:rPr lang="en-US" smtClean="0"/>
              <a:t>25</a:t>
            </a:fld>
            <a:endParaRPr lang="en-US"/>
          </a:p>
        </p:txBody>
      </p:sp>
    </p:spTree>
    <p:extLst>
      <p:ext uri="{BB962C8B-B14F-4D97-AF65-F5344CB8AC3E}">
        <p14:creationId xmlns:p14="http://schemas.microsoft.com/office/powerpoint/2010/main" val="39324435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26</a:t>
            </a:fld>
            <a:endParaRPr lang="en-US"/>
          </a:p>
        </p:txBody>
      </p:sp>
    </p:spTree>
    <p:extLst>
      <p:ext uri="{BB962C8B-B14F-4D97-AF65-F5344CB8AC3E}">
        <p14:creationId xmlns:p14="http://schemas.microsoft.com/office/powerpoint/2010/main" val="3882397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E038BA-856D-E640-9AF0-8E7AA133C933}" type="datetimeFigureOut">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52464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01227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4E038BA-856D-E640-9AF0-8E7AA133C933}" type="datetimeFigureOut">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30303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E038BA-856D-E640-9AF0-8E7AA133C933}" type="datetimeFigureOut">
              <a:rPr lang="en-US" smtClean="0"/>
              <a:t>10/20/2024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8544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E038BA-856D-E640-9AF0-8E7AA133C933}" type="datetimeFigureOut">
              <a:rPr lang="en-US" smtClean="0"/>
              <a:t>10/20/2024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87067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038BA-856D-E640-9AF0-8E7AA133C933}" type="datetimeFigureOut">
              <a:rPr lang="en-US" smtClean="0"/>
              <a:t>10/20/2024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00859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038BA-856D-E640-9AF0-8E7AA133C933}" type="datetimeFigureOut">
              <a:rPr lang="en-US" smtClean="0"/>
              <a:t>10/20/2024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21865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10/20/2024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20688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10/20/2024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57140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1098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400307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397736"/>
            <a:ext cx="9153144" cy="757423"/>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4E038BA-856D-E640-9AF0-8E7AA133C933}" type="datetimeFigureOut">
              <a:rPr lang="en-US" smtClean="0"/>
              <a:t>10/20/2024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70BBC46-B35C-FC4A-B901-4F9F5D11ECB6}" type="slidenum">
              <a:rPr lang="en-US" smtClean="0"/>
              <a:t>‹#›</a:t>
            </a:fld>
            <a:endParaRPr lang="en-US"/>
          </a:p>
        </p:txBody>
      </p:sp>
    </p:spTree>
    <p:extLst>
      <p:ext uri="{BB962C8B-B14F-4D97-AF65-F5344CB8AC3E}">
        <p14:creationId xmlns:p14="http://schemas.microsoft.com/office/powerpoint/2010/main" val="353738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8264"/>
            <a:ext cx="7772400" cy="1102519"/>
          </a:xfrm>
        </p:spPr>
        <p:txBody>
          <a:bodyPr>
            <a:normAutofit fontScale="90000"/>
          </a:bodyPr>
          <a:lstStyle/>
          <a:p>
            <a:r>
              <a:rPr lang="en-US" sz="3600" dirty="0">
                <a:ea typeface="+mj-lt"/>
                <a:cs typeface="+mj-lt"/>
              </a:rPr>
              <a:t>Does Policy Uncertainty Affect Mergers and Acquisitions?</a:t>
            </a:r>
          </a:p>
        </p:txBody>
      </p:sp>
      <p:sp>
        <p:nvSpPr>
          <p:cNvPr id="3" name="Subtitle 2"/>
          <p:cNvSpPr>
            <a:spLocks noGrp="1"/>
          </p:cNvSpPr>
          <p:nvPr>
            <p:ph type="subTitle" idx="1"/>
          </p:nvPr>
        </p:nvSpPr>
        <p:spPr>
          <a:xfrm>
            <a:off x="1073150" y="1589529"/>
            <a:ext cx="6997700" cy="2639787"/>
          </a:xfrm>
        </p:spPr>
        <p:txBody>
          <a:bodyPr vert="horz" lIns="91440" tIns="45720" rIns="91440" bIns="45720" rtlCol="0" anchor="t">
            <a:normAutofit fontScale="62500" lnSpcReduction="20000"/>
          </a:bodyPr>
          <a:lstStyle/>
          <a:p>
            <a:endParaRPr lang="en-US" sz="2900" b="1" dirty="0">
              <a:solidFill>
                <a:schemeClr val="tx1"/>
              </a:solidFill>
              <a:latin typeface="+mj-lt"/>
              <a:ea typeface="Calibri"/>
              <a:cs typeface="Times New Roman" panose="02020603050405020304" pitchFamily="18" charset="0"/>
            </a:endParaRPr>
          </a:p>
          <a:p>
            <a:r>
              <a:rPr lang="en-US" sz="2900" b="1" dirty="0">
                <a:solidFill>
                  <a:schemeClr val="tx1"/>
                </a:solidFill>
                <a:ea typeface="Calibri"/>
                <a:cs typeface="Calibri"/>
              </a:rPr>
              <a:t>Alice </a:t>
            </a:r>
            <a:r>
              <a:rPr lang="en-US" sz="2900" b="1" dirty="0" err="1">
                <a:solidFill>
                  <a:schemeClr val="tx1"/>
                </a:solidFill>
                <a:ea typeface="Calibri"/>
                <a:cs typeface="Calibri"/>
              </a:rPr>
              <a:t>Bonaime</a:t>
            </a:r>
            <a:br>
              <a:rPr lang="en-US" sz="2900" dirty="0">
                <a:solidFill>
                  <a:schemeClr val="tx1"/>
                </a:solidFill>
                <a:ea typeface="Calibri"/>
                <a:cs typeface="Calibri"/>
              </a:rPr>
            </a:br>
            <a:r>
              <a:rPr lang="en-US" sz="2900" dirty="0">
                <a:solidFill>
                  <a:schemeClr val="tx1"/>
                </a:solidFill>
                <a:ea typeface="Calibri"/>
                <a:cs typeface="Calibri"/>
              </a:rPr>
              <a:t>University of Arizona</a:t>
            </a:r>
          </a:p>
          <a:p>
            <a:br>
              <a:rPr lang="en-US" sz="2900" b="1" dirty="0">
                <a:ea typeface="Calibri"/>
                <a:cs typeface="Calibri"/>
              </a:rPr>
            </a:br>
            <a:r>
              <a:rPr lang="en-US" sz="2900" b="1" dirty="0" err="1">
                <a:solidFill>
                  <a:schemeClr val="tx1"/>
                </a:solidFill>
                <a:ea typeface="Calibri"/>
                <a:cs typeface="Calibri"/>
              </a:rPr>
              <a:t>Huseyin</a:t>
            </a:r>
            <a:r>
              <a:rPr lang="en-US" sz="2900" b="1" dirty="0">
                <a:solidFill>
                  <a:schemeClr val="tx1"/>
                </a:solidFill>
                <a:ea typeface="Calibri"/>
                <a:cs typeface="Calibri"/>
              </a:rPr>
              <a:t> Gulen</a:t>
            </a:r>
            <a:br>
              <a:rPr lang="en-US" sz="2900" dirty="0">
                <a:solidFill>
                  <a:schemeClr val="tx1"/>
                </a:solidFill>
                <a:ea typeface="Calibri"/>
                <a:cs typeface="Calibri"/>
              </a:rPr>
            </a:br>
            <a:r>
              <a:rPr lang="en-US" sz="2900" dirty="0">
                <a:solidFill>
                  <a:schemeClr val="tx1"/>
                </a:solidFill>
                <a:ea typeface="Calibri"/>
                <a:cs typeface="Calibri"/>
              </a:rPr>
              <a:t>Purdue University</a:t>
            </a:r>
          </a:p>
          <a:p>
            <a:br>
              <a:rPr lang="en-US" sz="2900" dirty="0">
                <a:solidFill>
                  <a:schemeClr val="tx1"/>
                </a:solidFill>
                <a:ea typeface="Calibri"/>
                <a:cs typeface="Calibri"/>
              </a:rPr>
            </a:br>
            <a:r>
              <a:rPr lang="en-US" sz="2900" b="1" dirty="0">
                <a:solidFill>
                  <a:schemeClr val="tx1"/>
                </a:solidFill>
                <a:ea typeface="Calibri"/>
                <a:cs typeface="Calibri"/>
              </a:rPr>
              <a:t>Philip E. Strahan</a:t>
            </a:r>
            <a:br>
              <a:rPr lang="en-US" sz="2900" b="1" dirty="0">
                <a:ea typeface="Calibri"/>
                <a:cs typeface="Calibri"/>
              </a:rPr>
            </a:br>
            <a:r>
              <a:rPr lang="en-US" sz="2900" dirty="0">
                <a:solidFill>
                  <a:schemeClr val="tx1"/>
                </a:solidFill>
                <a:ea typeface="Calibri"/>
                <a:cs typeface="Calibri"/>
              </a:rPr>
              <a:t>University of Arizona</a:t>
            </a:r>
          </a:p>
          <a:p>
            <a:endParaRPr lang="en-US" sz="2000" i="1" dirty="0">
              <a:solidFill>
                <a:schemeClr val="tx1"/>
              </a:solidFill>
              <a:latin typeface="+mj-lt"/>
              <a:ea typeface="Calibri"/>
              <a:cs typeface="Times New Roman" panose="02020603050405020304" pitchFamily="18" charset="0"/>
            </a:endParaRPr>
          </a:p>
          <a:p>
            <a:r>
              <a:rPr lang="en-US" sz="1800" dirty="0">
                <a:solidFill>
                  <a:schemeClr val="tx1"/>
                </a:solidFill>
                <a:latin typeface="+mj-lt"/>
                <a:cs typeface="Times New Roman"/>
              </a:rPr>
              <a:t>Presented by Austin Francis</a:t>
            </a:r>
            <a:endParaRPr lang="en-US" sz="1800" dirty="0">
              <a:solidFill>
                <a:schemeClr val="tx1"/>
              </a:solidFill>
              <a:latin typeface="+mj-lt"/>
              <a:ea typeface="Calibri"/>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95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lstStyle/>
          <a:p>
            <a:r>
              <a:rPr lang="en-US"/>
              <a:t>Research Question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p:txBody>
          <a:bodyPr vert="horz" lIns="91440" tIns="45720" rIns="91440" bIns="45720" rtlCol="0" anchor="t">
            <a:normAutofit/>
          </a:bodyPr>
          <a:lstStyle/>
          <a:p>
            <a:r>
              <a:rPr lang="en-US" sz="2800" dirty="0">
                <a:ea typeface="Calibri"/>
                <a:cs typeface="Times New Roman"/>
              </a:rPr>
              <a:t>Does policy uncertainty negatively affect merger and acquisition (M&amp;A) activity at the macro and firm levels?</a:t>
            </a:r>
          </a:p>
        </p:txBody>
      </p:sp>
    </p:spTree>
    <p:extLst>
      <p:ext uri="{BB962C8B-B14F-4D97-AF65-F5344CB8AC3E}">
        <p14:creationId xmlns:p14="http://schemas.microsoft.com/office/powerpoint/2010/main" val="71824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0"/>
            <a:ext cx="8229600" cy="681526"/>
          </a:xfrm>
        </p:spPr>
        <p:txBody>
          <a:bodyPr>
            <a:normAutofit fontScale="90000"/>
          </a:bodyPr>
          <a:lstStyle/>
          <a:p>
            <a:r>
              <a:rPr lang="en-US" dirty="0"/>
              <a:t>Prior Literature</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681526"/>
            <a:ext cx="8229600" cy="3803977"/>
          </a:xfrm>
        </p:spPr>
        <p:txBody>
          <a:bodyPr vert="horz" lIns="91440" tIns="45720" rIns="91440" bIns="45720" rtlCol="0" anchor="t">
            <a:noAutofit/>
          </a:bodyPr>
          <a:lstStyle/>
          <a:p>
            <a:pPr marL="342900" lvl="1" indent="-342900">
              <a:buFont typeface="Arial"/>
              <a:buChar char="•"/>
            </a:pPr>
            <a:r>
              <a:rPr lang="en-US" sz="2000" b="1" dirty="0"/>
              <a:t>Determinants of M&amp;A Activity</a:t>
            </a:r>
            <a:r>
              <a:rPr lang="en-US" sz="2000" dirty="0"/>
              <a:t>: Prior studies identify key factors influencing mergers, such as bidder/target valuations, business cycles, industry shocks, and corporate liquidity. M&amp;A activity is also influenced by CEO traits, risk management, and market conditions (Shleifer &amp; </a:t>
            </a:r>
            <a:r>
              <a:rPr lang="en-US" sz="2000" dirty="0" err="1"/>
              <a:t>Vishny</a:t>
            </a:r>
            <a:r>
              <a:rPr lang="en-US" sz="2000" dirty="0"/>
              <a:t>, 2003; Garfinkel &amp; Hankins, 2011).</a:t>
            </a:r>
          </a:p>
          <a:p>
            <a:pPr marL="342900" lvl="1" indent="-342900">
              <a:buFont typeface="Arial"/>
              <a:buChar char="•"/>
            </a:pPr>
            <a:r>
              <a:rPr lang="en-US" sz="2000" b="1" dirty="0"/>
              <a:t>Policy Uncertainty and Economic Outcomes</a:t>
            </a:r>
            <a:r>
              <a:rPr lang="en-US" sz="2000" dirty="0"/>
              <a:t>: Research shows that policy uncertainty increases stock price volatility, reduces industrial production, and impacts foreign direct investment (Baker et al., 2016; Julio &amp; </a:t>
            </a:r>
            <a:r>
              <a:rPr lang="en-US" sz="2000" dirty="0" err="1"/>
              <a:t>Yook</a:t>
            </a:r>
            <a:r>
              <a:rPr lang="en-US" sz="2000" dirty="0"/>
              <a:t>, 2016). Policy uncertainty is also linked to lower capital expenditures and decreased equity issuance (Colak et al., 2016).</a:t>
            </a:r>
          </a:p>
          <a:p>
            <a:pPr marL="342900" lvl="1" indent="-342900">
              <a:buFont typeface="Arial"/>
              <a:buChar char="•"/>
            </a:pPr>
            <a:endParaRPr lang="en-US" dirty="0">
              <a:ea typeface="Calibri"/>
              <a:cs typeface="Calibri"/>
            </a:endParaRPr>
          </a:p>
        </p:txBody>
      </p:sp>
    </p:spTree>
    <p:extLst>
      <p:ext uri="{BB962C8B-B14F-4D97-AF65-F5344CB8AC3E}">
        <p14:creationId xmlns:p14="http://schemas.microsoft.com/office/powerpoint/2010/main" val="869680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94176-7A09-6F50-7A70-81F18DD5CB4C}"/>
              </a:ext>
            </a:extLst>
          </p:cNvPr>
          <p:cNvSpPr>
            <a:spLocks noGrp="1"/>
          </p:cNvSpPr>
          <p:nvPr>
            <p:ph type="title"/>
          </p:nvPr>
        </p:nvSpPr>
        <p:spPr/>
        <p:txBody>
          <a:bodyPr/>
          <a:lstStyle/>
          <a:p>
            <a:r>
              <a:rPr lang="en-US" dirty="0"/>
              <a:t>Prior Literature</a:t>
            </a:r>
          </a:p>
        </p:txBody>
      </p:sp>
      <p:sp>
        <p:nvSpPr>
          <p:cNvPr id="3" name="Content Placeholder 2">
            <a:extLst>
              <a:ext uri="{FF2B5EF4-FFF2-40B4-BE49-F238E27FC236}">
                <a16:creationId xmlns:a16="http://schemas.microsoft.com/office/drawing/2014/main" id="{CE525766-50A3-CAAF-F24A-2B0931C083BF}"/>
              </a:ext>
            </a:extLst>
          </p:cNvPr>
          <p:cNvSpPr>
            <a:spLocks noGrp="1"/>
          </p:cNvSpPr>
          <p:nvPr>
            <p:ph idx="1"/>
          </p:nvPr>
        </p:nvSpPr>
        <p:spPr/>
        <p:txBody>
          <a:bodyPr>
            <a:normAutofit/>
          </a:bodyPr>
          <a:lstStyle/>
          <a:p>
            <a:r>
              <a:rPr lang="en-US" sz="2200" b="1" dirty="0"/>
              <a:t>Uncertainty and M&amp;A Activity</a:t>
            </a:r>
            <a:r>
              <a:rPr lang="en-US" sz="2200" dirty="0"/>
              <a:t>: Previous studies find that policy-related uncertainty, particularly macroeconomic shocks, deters M&amp;A activity. Real options theory suggests that uncertainty increases the incentive to delay acquisitions, with stronger effects on public targets and large deals (Bhagwat et al., 2016).</a:t>
            </a:r>
          </a:p>
          <a:p>
            <a:endParaRPr lang="en-US" dirty="0"/>
          </a:p>
        </p:txBody>
      </p:sp>
    </p:spTree>
    <p:extLst>
      <p:ext uri="{BB962C8B-B14F-4D97-AF65-F5344CB8AC3E}">
        <p14:creationId xmlns:p14="http://schemas.microsoft.com/office/powerpoint/2010/main" val="2394893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56A5-86C3-A8D8-A981-308591F1FD23}"/>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77B4ECBA-3526-6C84-D51B-7013452FF46B}"/>
              </a:ext>
            </a:extLst>
          </p:cNvPr>
          <p:cNvSpPr>
            <a:spLocks noGrp="1"/>
          </p:cNvSpPr>
          <p:nvPr>
            <p:ph idx="1"/>
          </p:nvPr>
        </p:nvSpPr>
        <p:spPr/>
        <p:txBody>
          <a:bodyPr/>
          <a:lstStyle/>
          <a:p>
            <a:r>
              <a:rPr lang="en-US" dirty="0"/>
              <a:t>Policy uncertainty has a strong negative effect on M&amp;A activity by increasing the value of the option to delay investments, especially in irreversible deals or those sensitive to policy uncertainty.</a:t>
            </a:r>
          </a:p>
        </p:txBody>
      </p:sp>
    </p:spTree>
    <p:extLst>
      <p:ext uri="{BB962C8B-B14F-4D97-AF65-F5344CB8AC3E}">
        <p14:creationId xmlns:p14="http://schemas.microsoft.com/office/powerpoint/2010/main" val="3996482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7CD4B-C4C6-9D72-EEB6-51AD7218BC16}"/>
              </a:ext>
            </a:extLst>
          </p:cNvPr>
          <p:cNvSpPr>
            <a:spLocks noGrp="1"/>
          </p:cNvSpPr>
          <p:nvPr>
            <p:ph type="title"/>
          </p:nvPr>
        </p:nvSpPr>
        <p:spPr/>
        <p:txBody>
          <a:bodyPr/>
          <a:lstStyle/>
          <a:p>
            <a:r>
              <a:rPr lang="en-US" dirty="0"/>
              <a:t>Key Metrics</a:t>
            </a:r>
          </a:p>
        </p:txBody>
      </p:sp>
      <p:sp>
        <p:nvSpPr>
          <p:cNvPr id="3" name="Content Placeholder 2">
            <a:extLst>
              <a:ext uri="{FF2B5EF4-FFF2-40B4-BE49-F238E27FC236}">
                <a16:creationId xmlns:a16="http://schemas.microsoft.com/office/drawing/2014/main" id="{EAB73B4E-31D4-F34C-B410-EB6A2B8EEEC3}"/>
              </a:ext>
            </a:extLst>
          </p:cNvPr>
          <p:cNvSpPr>
            <a:spLocks noGrp="1"/>
          </p:cNvSpPr>
          <p:nvPr>
            <p:ph idx="1"/>
          </p:nvPr>
        </p:nvSpPr>
        <p:spPr>
          <a:xfrm>
            <a:off x="457200" y="1063229"/>
            <a:ext cx="8229600" cy="3394472"/>
          </a:xfrm>
        </p:spPr>
        <p:txBody>
          <a:bodyPr>
            <a:normAutofit/>
          </a:bodyPr>
          <a:lstStyle/>
          <a:p>
            <a:r>
              <a:rPr lang="en-US" sz="2000" dirty="0"/>
              <a:t>Baker, Bloom, and Davis (BBD) Policy Uncertainty Index</a:t>
            </a:r>
          </a:p>
          <a:p>
            <a:r>
              <a:rPr lang="en-US" sz="2000" dirty="0"/>
              <a:t>Aggregate M&amp;A deal value and volume</a:t>
            </a:r>
          </a:p>
          <a:p>
            <a:r>
              <a:rPr lang="en-US" sz="2000" dirty="0"/>
              <a:t>Acquisition likelihood at the firm level</a:t>
            </a:r>
          </a:p>
          <a:p>
            <a:r>
              <a:rPr lang="en-US" sz="2000" dirty="0"/>
              <a:t>Real options, deal premiums, termination fees, and MAC clauses in M&amp;A contracts</a:t>
            </a:r>
          </a:p>
        </p:txBody>
      </p:sp>
    </p:spTree>
    <p:extLst>
      <p:ext uri="{BB962C8B-B14F-4D97-AF65-F5344CB8AC3E}">
        <p14:creationId xmlns:p14="http://schemas.microsoft.com/office/powerpoint/2010/main" val="144076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AB4D6-AFD9-4009-F7C6-817A8B7FD5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A1298-BED7-2C63-7A26-1D7A5BC79584}"/>
              </a:ext>
            </a:extLst>
          </p:cNvPr>
          <p:cNvSpPr>
            <a:spLocks noGrp="1"/>
          </p:cNvSpPr>
          <p:nvPr>
            <p:ph type="title"/>
          </p:nvPr>
        </p:nvSpPr>
        <p:spPr/>
        <p:txBody>
          <a:bodyPr/>
          <a:lstStyle/>
          <a:p>
            <a:r>
              <a:rPr lang="en-US" dirty="0"/>
              <a:t>Key Metrics – Policy Uncertainty</a:t>
            </a:r>
          </a:p>
        </p:txBody>
      </p:sp>
      <p:sp>
        <p:nvSpPr>
          <p:cNvPr id="3" name="Content Placeholder 2">
            <a:extLst>
              <a:ext uri="{FF2B5EF4-FFF2-40B4-BE49-F238E27FC236}">
                <a16:creationId xmlns:a16="http://schemas.microsoft.com/office/drawing/2014/main" id="{4E29AF27-84CE-197D-4D14-1433F5DBF3F1}"/>
              </a:ext>
            </a:extLst>
          </p:cNvPr>
          <p:cNvSpPr>
            <a:spLocks noGrp="1"/>
          </p:cNvSpPr>
          <p:nvPr>
            <p:ph idx="1"/>
          </p:nvPr>
        </p:nvSpPr>
        <p:spPr>
          <a:xfrm>
            <a:off x="457200" y="1063229"/>
            <a:ext cx="8229600" cy="3394472"/>
          </a:xfrm>
        </p:spPr>
        <p:txBody>
          <a:bodyPr>
            <a:noAutofit/>
          </a:bodyPr>
          <a:lstStyle/>
          <a:p>
            <a:pPr>
              <a:buFont typeface="Arial" panose="020B0604020202020204" pitchFamily="34" charset="0"/>
              <a:buChar char="•"/>
            </a:pPr>
            <a:r>
              <a:rPr lang="en-US" sz="1700" b="1" dirty="0"/>
              <a:t>News Component</a:t>
            </a:r>
            <a:r>
              <a:rPr lang="en-US" sz="1700" dirty="0"/>
              <a:t>: Automated searches in ten major U.S. newspapers count articles containing keywords like "uncertainty," "economic," "congress," and "Federal Reserve." The count is scaled by the total number of articles for each month, and then normalized to have a unit standard deviation. This news-based component is weighted at 50% in the overall index.</a:t>
            </a:r>
          </a:p>
          <a:p>
            <a:pPr>
              <a:buFont typeface="Arial" panose="020B0604020202020204" pitchFamily="34" charset="0"/>
              <a:buChar char="•"/>
            </a:pPr>
            <a:r>
              <a:rPr lang="en-US" sz="1700" b="1" dirty="0"/>
              <a:t>Tax Component</a:t>
            </a:r>
            <a:r>
              <a:rPr lang="en-US" sz="1700" dirty="0"/>
              <a:t>: Based on Congressional Budget Office data, this component estimates the discounted value of revenue effects from tax provisions set to expire within the next ten years. This component is weighted at 16.7% in the overall index.</a:t>
            </a:r>
          </a:p>
          <a:p>
            <a:pPr>
              <a:buFont typeface="Arial" panose="020B0604020202020204" pitchFamily="34" charset="0"/>
              <a:buChar char="•"/>
            </a:pPr>
            <a:r>
              <a:rPr lang="en-US" sz="1700" b="1" dirty="0"/>
              <a:t>Monetary and Fiscal Forecasts</a:t>
            </a:r>
            <a:r>
              <a:rPr lang="en-US" sz="1700" dirty="0"/>
              <a:t>: These components capture forecaster disagreement regarding future monetary and fiscal policies, using the interquartile range of forecasts from the Survey of Professional Forecasters. The two components—one for CPI forecasts and one for government spending forecasts—are each weighted at 16.7%.</a:t>
            </a:r>
          </a:p>
        </p:txBody>
      </p:sp>
    </p:spTree>
    <p:extLst>
      <p:ext uri="{BB962C8B-B14F-4D97-AF65-F5344CB8AC3E}">
        <p14:creationId xmlns:p14="http://schemas.microsoft.com/office/powerpoint/2010/main" val="2963026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C2FF-A745-F5D3-D8DB-B77CF69A33F4}"/>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AFB31E7E-BB03-7F85-9FA9-B35E5C0A08A1}"/>
              </a:ext>
            </a:extLst>
          </p:cNvPr>
          <p:cNvSpPr>
            <a:spLocks noGrp="1"/>
          </p:cNvSpPr>
          <p:nvPr>
            <p:ph idx="1"/>
          </p:nvPr>
        </p:nvSpPr>
        <p:spPr>
          <a:xfrm>
            <a:off x="457200" y="1063229"/>
            <a:ext cx="8229600" cy="3394472"/>
          </a:xfrm>
        </p:spPr>
        <p:txBody>
          <a:bodyPr>
            <a:normAutofit/>
          </a:bodyPr>
          <a:lstStyle/>
          <a:p>
            <a:r>
              <a:rPr lang="en-US" sz="2400" b="1" dirty="0"/>
              <a:t>Negative Impact of Policy Uncertainty</a:t>
            </a:r>
            <a:r>
              <a:rPr lang="en-US" sz="2400" dirty="0"/>
              <a:t>: A one standard deviation increase in policy uncertainty reduces M&amp;A deal value by 6.6% and the number of deals by 3.9%.</a:t>
            </a:r>
          </a:p>
          <a:p>
            <a:r>
              <a:rPr lang="en-US" sz="2400" b="1" dirty="0"/>
              <a:t>Firm-Level Effect</a:t>
            </a:r>
            <a:r>
              <a:rPr lang="en-US" sz="2400" dirty="0"/>
              <a:t>: Policy uncertainty lowers the likelihood of a firm announcing a merger by 1.1 percentage points, or 8.9% of the unconditional probability.</a:t>
            </a:r>
          </a:p>
        </p:txBody>
      </p:sp>
    </p:spTree>
    <p:extLst>
      <p:ext uri="{BB962C8B-B14F-4D97-AF65-F5344CB8AC3E}">
        <p14:creationId xmlns:p14="http://schemas.microsoft.com/office/powerpoint/2010/main" val="2280721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C7CF-9F86-8098-130C-FD3F046D2086}"/>
              </a:ext>
            </a:extLst>
          </p:cNvPr>
          <p:cNvSpPr>
            <a:spLocks noGrp="1"/>
          </p:cNvSpPr>
          <p:nvPr>
            <p:ph type="title"/>
          </p:nvPr>
        </p:nvSpPr>
        <p:spPr/>
        <p:txBody>
          <a:bodyPr/>
          <a:lstStyle/>
          <a:p>
            <a:r>
              <a:rPr lang="en-US" dirty="0"/>
              <a:t>Data Collection</a:t>
            </a:r>
          </a:p>
        </p:txBody>
      </p:sp>
      <p:sp>
        <p:nvSpPr>
          <p:cNvPr id="3" name="Content Placeholder 2">
            <a:extLst>
              <a:ext uri="{FF2B5EF4-FFF2-40B4-BE49-F238E27FC236}">
                <a16:creationId xmlns:a16="http://schemas.microsoft.com/office/drawing/2014/main" id="{15D56D45-BDC3-3D0B-671F-78DDB007EF2F}"/>
              </a:ext>
            </a:extLst>
          </p:cNvPr>
          <p:cNvSpPr>
            <a:spLocks noGrp="1"/>
          </p:cNvSpPr>
          <p:nvPr>
            <p:ph idx="1"/>
          </p:nvPr>
        </p:nvSpPr>
        <p:spPr/>
        <p:txBody>
          <a:bodyPr>
            <a:normAutofit fontScale="92500" lnSpcReduction="10000"/>
          </a:bodyPr>
          <a:lstStyle/>
          <a:p>
            <a:r>
              <a:rPr lang="en-US" dirty="0"/>
              <a:t>Baker et al. (2016) Policy Uncertainty Index</a:t>
            </a:r>
          </a:p>
          <a:p>
            <a:r>
              <a:rPr lang="en-US" dirty="0"/>
              <a:t>Securities Data Company (SDC) for M&amp;A data</a:t>
            </a:r>
          </a:p>
          <a:p>
            <a:r>
              <a:rPr lang="en-US" dirty="0"/>
              <a:t>CRSP and </a:t>
            </a:r>
            <a:r>
              <a:rPr lang="en-US" dirty="0" err="1"/>
              <a:t>Compustat</a:t>
            </a:r>
            <a:r>
              <a:rPr lang="en-US" dirty="0"/>
              <a:t> for firm-level data</a:t>
            </a:r>
          </a:p>
          <a:p>
            <a:r>
              <a:rPr lang="en-US" dirty="0"/>
              <a:t>Additional macroeconomic variables from various sources like the Bureau of Economic Analysis (BEA), St. Louis Federal Reserve, and University of Michigan.</a:t>
            </a:r>
          </a:p>
        </p:txBody>
      </p:sp>
    </p:spTree>
    <p:extLst>
      <p:ext uri="{BB962C8B-B14F-4D97-AF65-F5344CB8AC3E}">
        <p14:creationId xmlns:p14="http://schemas.microsoft.com/office/powerpoint/2010/main" val="102931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F2CE3-64C1-DF31-BD67-37E40F2EF1EC}"/>
              </a:ext>
            </a:extLst>
          </p:cNvPr>
          <p:cNvSpPr>
            <a:spLocks noGrp="1"/>
          </p:cNvSpPr>
          <p:nvPr>
            <p:ph type="title"/>
          </p:nvPr>
        </p:nvSpPr>
        <p:spPr>
          <a:xfrm>
            <a:off x="457200" y="63104"/>
            <a:ext cx="8229600" cy="857250"/>
          </a:xfrm>
        </p:spPr>
        <p:txBody>
          <a:bodyPr/>
          <a:lstStyle/>
          <a:p>
            <a:r>
              <a:rPr lang="en-US" dirty="0"/>
              <a:t>Table 1</a:t>
            </a:r>
          </a:p>
        </p:txBody>
      </p:sp>
      <p:pic>
        <p:nvPicPr>
          <p:cNvPr id="9" name="Content Placeholder 8">
            <a:extLst>
              <a:ext uri="{FF2B5EF4-FFF2-40B4-BE49-F238E27FC236}">
                <a16:creationId xmlns:a16="http://schemas.microsoft.com/office/drawing/2014/main" id="{43848F8D-6B04-5E2B-B923-385964E153DE}"/>
              </a:ext>
            </a:extLst>
          </p:cNvPr>
          <p:cNvPicPr>
            <a:picLocks noGrp="1" noChangeAspect="1"/>
          </p:cNvPicPr>
          <p:nvPr>
            <p:ph idx="1"/>
          </p:nvPr>
        </p:nvPicPr>
        <p:blipFill>
          <a:blip r:embed="rId3"/>
          <a:stretch>
            <a:fillRect/>
          </a:stretch>
        </p:blipFill>
        <p:spPr>
          <a:xfrm>
            <a:off x="1000125" y="758429"/>
            <a:ext cx="7143750" cy="4024648"/>
          </a:xfrm>
        </p:spPr>
      </p:pic>
    </p:spTree>
    <p:extLst>
      <p:ext uri="{BB962C8B-B14F-4D97-AF65-F5344CB8AC3E}">
        <p14:creationId xmlns:p14="http://schemas.microsoft.com/office/powerpoint/2010/main" val="3239777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A6622-4D6D-6146-0B19-7BB6B403C48D}"/>
              </a:ext>
            </a:extLst>
          </p:cNvPr>
          <p:cNvSpPr>
            <a:spLocks noGrp="1"/>
          </p:cNvSpPr>
          <p:nvPr>
            <p:ph type="title"/>
          </p:nvPr>
        </p:nvSpPr>
        <p:spPr/>
        <p:txBody>
          <a:bodyPr/>
          <a:lstStyle/>
          <a:p>
            <a:r>
              <a:rPr lang="en-US" dirty="0"/>
              <a:t>Table 2</a:t>
            </a:r>
          </a:p>
        </p:txBody>
      </p:sp>
      <p:pic>
        <p:nvPicPr>
          <p:cNvPr id="9" name="Content Placeholder 8">
            <a:extLst>
              <a:ext uri="{FF2B5EF4-FFF2-40B4-BE49-F238E27FC236}">
                <a16:creationId xmlns:a16="http://schemas.microsoft.com/office/drawing/2014/main" id="{A15D867D-3A3B-86F7-DA42-D72D80D177A6}"/>
              </a:ext>
            </a:extLst>
          </p:cNvPr>
          <p:cNvPicPr>
            <a:picLocks noGrp="1" noChangeAspect="1"/>
          </p:cNvPicPr>
          <p:nvPr>
            <p:ph idx="1"/>
          </p:nvPr>
        </p:nvPicPr>
        <p:blipFill>
          <a:blip r:embed="rId3"/>
          <a:stretch>
            <a:fillRect/>
          </a:stretch>
        </p:blipFill>
        <p:spPr>
          <a:xfrm>
            <a:off x="173477" y="1063229"/>
            <a:ext cx="8797045" cy="3292802"/>
          </a:xfrm>
        </p:spPr>
      </p:pic>
    </p:spTree>
    <p:extLst>
      <p:ext uri="{BB962C8B-B14F-4D97-AF65-F5344CB8AC3E}">
        <p14:creationId xmlns:p14="http://schemas.microsoft.com/office/powerpoint/2010/main" val="2857431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9086A-0F53-E6B2-3CDE-34F79B81072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8DB1C78-40FE-1F24-CA70-D4863B049533}"/>
              </a:ext>
            </a:extLst>
          </p:cNvPr>
          <p:cNvPicPr>
            <a:picLocks noGrp="1" noChangeAspect="1"/>
          </p:cNvPicPr>
          <p:nvPr>
            <p:ph idx="1"/>
          </p:nvPr>
        </p:nvPicPr>
        <p:blipFill>
          <a:blip r:embed="rId3"/>
          <a:stretch>
            <a:fillRect/>
          </a:stretch>
        </p:blipFill>
        <p:spPr>
          <a:xfrm>
            <a:off x="1625667" y="120254"/>
            <a:ext cx="6041957" cy="5093904"/>
          </a:xfrm>
        </p:spPr>
      </p:pic>
    </p:spTree>
    <p:extLst>
      <p:ext uri="{BB962C8B-B14F-4D97-AF65-F5344CB8AC3E}">
        <p14:creationId xmlns:p14="http://schemas.microsoft.com/office/powerpoint/2010/main" val="306782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9731E-5EB1-EE8C-7F04-9D2565063A6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B8BA6D16-A465-B6FF-6F76-643A0C4ED682}"/>
              </a:ext>
            </a:extLst>
          </p:cNvPr>
          <p:cNvPicPr>
            <a:picLocks noGrp="1" noChangeAspect="1"/>
          </p:cNvPicPr>
          <p:nvPr>
            <p:ph idx="1"/>
          </p:nvPr>
        </p:nvPicPr>
        <p:blipFill>
          <a:blip r:embed="rId3"/>
          <a:stretch>
            <a:fillRect/>
          </a:stretch>
        </p:blipFill>
        <p:spPr>
          <a:xfrm>
            <a:off x="1471667" y="189197"/>
            <a:ext cx="6200666" cy="4954303"/>
          </a:xfrm>
        </p:spPr>
      </p:pic>
    </p:spTree>
    <p:extLst>
      <p:ext uri="{BB962C8B-B14F-4D97-AF65-F5344CB8AC3E}">
        <p14:creationId xmlns:p14="http://schemas.microsoft.com/office/powerpoint/2010/main" val="2663919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E8EAD-EFC2-C5F2-D2A4-2CE49C9BC3F9}"/>
              </a:ext>
            </a:extLst>
          </p:cNvPr>
          <p:cNvSpPr>
            <a:spLocks noGrp="1"/>
          </p:cNvSpPr>
          <p:nvPr>
            <p:ph type="title"/>
          </p:nvPr>
        </p:nvSpPr>
        <p:spPr>
          <a:xfrm>
            <a:off x="3028950" y="110729"/>
            <a:ext cx="8229600" cy="857250"/>
          </a:xfrm>
        </p:spPr>
        <p:txBody>
          <a:bodyPr/>
          <a:lstStyle/>
          <a:p>
            <a:r>
              <a:rPr lang="en-US" dirty="0"/>
              <a:t>Table 3</a:t>
            </a:r>
          </a:p>
        </p:txBody>
      </p:sp>
      <p:pic>
        <p:nvPicPr>
          <p:cNvPr id="5" name="Content Placeholder 4">
            <a:extLst>
              <a:ext uri="{FF2B5EF4-FFF2-40B4-BE49-F238E27FC236}">
                <a16:creationId xmlns:a16="http://schemas.microsoft.com/office/drawing/2014/main" id="{BFCE75FB-6143-7256-2318-7D6664F64542}"/>
              </a:ext>
            </a:extLst>
          </p:cNvPr>
          <p:cNvPicPr>
            <a:picLocks noGrp="1" noChangeAspect="1"/>
          </p:cNvPicPr>
          <p:nvPr>
            <p:ph idx="1"/>
          </p:nvPr>
        </p:nvPicPr>
        <p:blipFill>
          <a:blip r:embed="rId3"/>
          <a:stretch>
            <a:fillRect/>
          </a:stretch>
        </p:blipFill>
        <p:spPr>
          <a:xfrm>
            <a:off x="654465" y="47252"/>
            <a:ext cx="4748970" cy="5048995"/>
          </a:xfrm>
        </p:spPr>
      </p:pic>
    </p:spTree>
    <p:extLst>
      <p:ext uri="{BB962C8B-B14F-4D97-AF65-F5344CB8AC3E}">
        <p14:creationId xmlns:p14="http://schemas.microsoft.com/office/powerpoint/2010/main" val="3179733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A08F3-85A4-0317-7D0B-B748CB9348C2}"/>
              </a:ext>
            </a:extLst>
          </p:cNvPr>
          <p:cNvSpPr>
            <a:spLocks noGrp="1"/>
          </p:cNvSpPr>
          <p:nvPr>
            <p:ph type="title"/>
          </p:nvPr>
        </p:nvSpPr>
        <p:spPr>
          <a:xfrm>
            <a:off x="457200" y="358379"/>
            <a:ext cx="8229600" cy="857250"/>
          </a:xfrm>
        </p:spPr>
        <p:txBody>
          <a:bodyPr/>
          <a:lstStyle/>
          <a:p>
            <a:r>
              <a:rPr lang="en-US" dirty="0"/>
              <a:t>Table 4 </a:t>
            </a:r>
          </a:p>
        </p:txBody>
      </p:sp>
      <p:pic>
        <p:nvPicPr>
          <p:cNvPr id="5" name="Content Placeholder 4">
            <a:extLst>
              <a:ext uri="{FF2B5EF4-FFF2-40B4-BE49-F238E27FC236}">
                <a16:creationId xmlns:a16="http://schemas.microsoft.com/office/drawing/2014/main" id="{50BDE4E8-7A57-B54B-01C0-9BAD3A0F1828}"/>
              </a:ext>
            </a:extLst>
          </p:cNvPr>
          <p:cNvPicPr>
            <a:picLocks noGrp="1" noChangeAspect="1"/>
          </p:cNvPicPr>
          <p:nvPr>
            <p:ph idx="1"/>
          </p:nvPr>
        </p:nvPicPr>
        <p:blipFill>
          <a:blip r:embed="rId3"/>
          <a:stretch>
            <a:fillRect/>
          </a:stretch>
        </p:blipFill>
        <p:spPr>
          <a:xfrm>
            <a:off x="376067" y="1754100"/>
            <a:ext cx="8391866" cy="2094000"/>
          </a:xfrm>
        </p:spPr>
      </p:pic>
    </p:spTree>
    <p:extLst>
      <p:ext uri="{BB962C8B-B14F-4D97-AF65-F5344CB8AC3E}">
        <p14:creationId xmlns:p14="http://schemas.microsoft.com/office/powerpoint/2010/main" val="1126555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ECD04-7023-D717-515D-6E7731B68B1C}"/>
              </a:ext>
            </a:extLst>
          </p:cNvPr>
          <p:cNvSpPr>
            <a:spLocks noGrp="1"/>
          </p:cNvSpPr>
          <p:nvPr>
            <p:ph type="title"/>
          </p:nvPr>
        </p:nvSpPr>
        <p:spPr>
          <a:xfrm>
            <a:off x="476250" y="167879"/>
            <a:ext cx="8191500" cy="857250"/>
          </a:xfrm>
        </p:spPr>
        <p:txBody>
          <a:bodyPr>
            <a:normAutofit fontScale="90000"/>
          </a:bodyPr>
          <a:lstStyle/>
          <a:p>
            <a:r>
              <a:rPr lang="en-US" dirty="0"/>
              <a:t>Table 5 – Policy Uncertainty and Merger Waves</a:t>
            </a:r>
          </a:p>
        </p:txBody>
      </p:sp>
      <p:pic>
        <p:nvPicPr>
          <p:cNvPr id="5" name="Content Placeholder 4">
            <a:extLst>
              <a:ext uri="{FF2B5EF4-FFF2-40B4-BE49-F238E27FC236}">
                <a16:creationId xmlns:a16="http://schemas.microsoft.com/office/drawing/2014/main" id="{89C5E128-5016-C469-DB86-5D48F1D7B4CD}"/>
              </a:ext>
            </a:extLst>
          </p:cNvPr>
          <p:cNvPicPr>
            <a:picLocks noGrp="1" noChangeAspect="1"/>
          </p:cNvPicPr>
          <p:nvPr>
            <p:ph idx="1"/>
          </p:nvPr>
        </p:nvPicPr>
        <p:blipFill>
          <a:blip r:embed="rId3"/>
          <a:stretch>
            <a:fillRect/>
          </a:stretch>
        </p:blipFill>
        <p:spPr>
          <a:xfrm>
            <a:off x="1400360" y="1163403"/>
            <a:ext cx="6343280" cy="3980097"/>
          </a:xfrm>
        </p:spPr>
      </p:pic>
    </p:spTree>
    <p:extLst>
      <p:ext uri="{BB962C8B-B14F-4D97-AF65-F5344CB8AC3E}">
        <p14:creationId xmlns:p14="http://schemas.microsoft.com/office/powerpoint/2010/main" val="2964589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94698-7788-9F48-C8E9-4AB7DCA2E654}"/>
              </a:ext>
            </a:extLst>
          </p:cNvPr>
          <p:cNvSpPr>
            <a:spLocks noGrp="1"/>
          </p:cNvSpPr>
          <p:nvPr>
            <p:ph type="title"/>
          </p:nvPr>
        </p:nvSpPr>
        <p:spPr>
          <a:xfrm>
            <a:off x="161925" y="129779"/>
            <a:ext cx="8820150" cy="857250"/>
          </a:xfrm>
        </p:spPr>
        <p:txBody>
          <a:bodyPr>
            <a:normAutofit fontScale="90000"/>
          </a:bodyPr>
          <a:lstStyle/>
          <a:p>
            <a:r>
              <a:rPr lang="en-US" dirty="0"/>
              <a:t>Table 6 – Investment Irreversibility and Target Competition</a:t>
            </a:r>
          </a:p>
        </p:txBody>
      </p:sp>
      <p:pic>
        <p:nvPicPr>
          <p:cNvPr id="5" name="Content Placeholder 4">
            <a:extLst>
              <a:ext uri="{FF2B5EF4-FFF2-40B4-BE49-F238E27FC236}">
                <a16:creationId xmlns:a16="http://schemas.microsoft.com/office/drawing/2014/main" id="{16926C28-257B-A732-5EAE-480F3340B0C0}"/>
              </a:ext>
            </a:extLst>
          </p:cNvPr>
          <p:cNvPicPr>
            <a:picLocks noGrp="1" noChangeAspect="1"/>
          </p:cNvPicPr>
          <p:nvPr>
            <p:ph idx="1"/>
          </p:nvPr>
        </p:nvPicPr>
        <p:blipFill>
          <a:blip r:embed="rId3"/>
          <a:stretch>
            <a:fillRect/>
          </a:stretch>
        </p:blipFill>
        <p:spPr>
          <a:xfrm>
            <a:off x="609194" y="1171575"/>
            <a:ext cx="7708816" cy="3765946"/>
          </a:xfrm>
        </p:spPr>
      </p:pic>
    </p:spTree>
    <p:extLst>
      <p:ext uri="{BB962C8B-B14F-4D97-AF65-F5344CB8AC3E}">
        <p14:creationId xmlns:p14="http://schemas.microsoft.com/office/powerpoint/2010/main" val="38041904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B3C53-9945-08A3-D9F0-48B614C91288}"/>
              </a:ext>
            </a:extLst>
          </p:cNvPr>
          <p:cNvSpPr>
            <a:spLocks noGrp="1"/>
          </p:cNvSpPr>
          <p:nvPr>
            <p:ph type="title"/>
          </p:nvPr>
        </p:nvSpPr>
        <p:spPr/>
        <p:txBody>
          <a:bodyPr>
            <a:normAutofit fontScale="90000"/>
          </a:bodyPr>
          <a:lstStyle/>
          <a:p>
            <a:r>
              <a:rPr lang="en-US" dirty="0"/>
              <a:t>Table 7 – Acquirer Competition and Policy Uncertainty Exposure</a:t>
            </a:r>
          </a:p>
        </p:txBody>
      </p:sp>
      <p:pic>
        <p:nvPicPr>
          <p:cNvPr id="5" name="Content Placeholder 4">
            <a:extLst>
              <a:ext uri="{FF2B5EF4-FFF2-40B4-BE49-F238E27FC236}">
                <a16:creationId xmlns:a16="http://schemas.microsoft.com/office/drawing/2014/main" id="{192CA3F0-1729-A022-5DC0-0A4EC906BB75}"/>
              </a:ext>
            </a:extLst>
          </p:cNvPr>
          <p:cNvPicPr>
            <a:picLocks noGrp="1" noChangeAspect="1"/>
          </p:cNvPicPr>
          <p:nvPr>
            <p:ph idx="1"/>
          </p:nvPr>
        </p:nvPicPr>
        <p:blipFill>
          <a:blip r:embed="rId3"/>
          <a:stretch>
            <a:fillRect/>
          </a:stretch>
        </p:blipFill>
        <p:spPr>
          <a:xfrm>
            <a:off x="983297" y="1458773"/>
            <a:ext cx="7177406" cy="3146670"/>
          </a:xfrm>
        </p:spPr>
      </p:pic>
    </p:spTree>
    <p:extLst>
      <p:ext uri="{BB962C8B-B14F-4D97-AF65-F5344CB8AC3E}">
        <p14:creationId xmlns:p14="http://schemas.microsoft.com/office/powerpoint/2010/main" val="2964866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B62F2-3D20-572C-79F1-1DD9C6226CB3}"/>
              </a:ext>
            </a:extLst>
          </p:cNvPr>
          <p:cNvSpPr>
            <a:spLocks noGrp="1"/>
          </p:cNvSpPr>
          <p:nvPr>
            <p:ph type="title"/>
          </p:nvPr>
        </p:nvSpPr>
        <p:spPr/>
        <p:txBody>
          <a:bodyPr>
            <a:normAutofit fontScale="90000"/>
          </a:bodyPr>
          <a:lstStyle/>
          <a:p>
            <a:r>
              <a:rPr lang="en-US" dirty="0"/>
              <a:t>Table 8 - Policy Uncertainty and Interim Risk</a:t>
            </a:r>
          </a:p>
        </p:txBody>
      </p:sp>
      <p:pic>
        <p:nvPicPr>
          <p:cNvPr id="5" name="Content Placeholder 4">
            <a:extLst>
              <a:ext uri="{FF2B5EF4-FFF2-40B4-BE49-F238E27FC236}">
                <a16:creationId xmlns:a16="http://schemas.microsoft.com/office/drawing/2014/main" id="{A212717B-1C50-45AE-1DAB-8866DBA9C9E3}"/>
              </a:ext>
            </a:extLst>
          </p:cNvPr>
          <p:cNvPicPr>
            <a:picLocks noGrp="1" noChangeAspect="1"/>
          </p:cNvPicPr>
          <p:nvPr>
            <p:ph idx="1"/>
          </p:nvPr>
        </p:nvPicPr>
        <p:blipFill>
          <a:blip r:embed="rId3"/>
          <a:stretch>
            <a:fillRect/>
          </a:stretch>
        </p:blipFill>
        <p:spPr>
          <a:xfrm>
            <a:off x="242208" y="1619250"/>
            <a:ext cx="8659583" cy="2587726"/>
          </a:xfrm>
        </p:spPr>
      </p:pic>
    </p:spTree>
    <p:extLst>
      <p:ext uri="{BB962C8B-B14F-4D97-AF65-F5344CB8AC3E}">
        <p14:creationId xmlns:p14="http://schemas.microsoft.com/office/powerpoint/2010/main" val="3618844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224A3-D67D-10DB-A3C1-BFD3563CBC06}"/>
              </a:ext>
            </a:extLst>
          </p:cNvPr>
          <p:cNvSpPr>
            <a:spLocks noGrp="1"/>
          </p:cNvSpPr>
          <p:nvPr>
            <p:ph type="title"/>
          </p:nvPr>
        </p:nvSpPr>
        <p:spPr/>
        <p:txBody>
          <a:bodyPr>
            <a:normAutofit fontScale="90000"/>
          </a:bodyPr>
          <a:lstStyle/>
          <a:p>
            <a:r>
              <a:rPr lang="en-US" dirty="0"/>
              <a:t>Table 9 – Policy Uncertainty Versus Market-Wide Volatility</a:t>
            </a:r>
          </a:p>
        </p:txBody>
      </p:sp>
      <p:pic>
        <p:nvPicPr>
          <p:cNvPr id="5" name="Content Placeholder 4">
            <a:extLst>
              <a:ext uri="{FF2B5EF4-FFF2-40B4-BE49-F238E27FC236}">
                <a16:creationId xmlns:a16="http://schemas.microsoft.com/office/drawing/2014/main" id="{DD036BA4-FABC-CF6B-C5F6-FDD742855D46}"/>
              </a:ext>
            </a:extLst>
          </p:cNvPr>
          <p:cNvPicPr>
            <a:picLocks noGrp="1" noChangeAspect="1"/>
          </p:cNvPicPr>
          <p:nvPr>
            <p:ph idx="1"/>
          </p:nvPr>
        </p:nvPicPr>
        <p:blipFill>
          <a:blip r:embed="rId3"/>
          <a:stretch>
            <a:fillRect/>
          </a:stretch>
        </p:blipFill>
        <p:spPr>
          <a:xfrm>
            <a:off x="356661" y="1196764"/>
            <a:ext cx="8523427" cy="3394285"/>
          </a:xfrm>
        </p:spPr>
      </p:pic>
    </p:spTree>
    <p:extLst>
      <p:ext uri="{BB962C8B-B14F-4D97-AF65-F5344CB8AC3E}">
        <p14:creationId xmlns:p14="http://schemas.microsoft.com/office/powerpoint/2010/main" val="2996994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91568-3318-4D20-5E13-7C15726CDFCC}"/>
              </a:ext>
            </a:extLst>
          </p:cNvPr>
          <p:cNvSpPr>
            <a:spLocks noGrp="1"/>
          </p:cNvSpPr>
          <p:nvPr>
            <p:ph type="title"/>
          </p:nvPr>
        </p:nvSpPr>
        <p:spPr/>
        <p:txBody>
          <a:bodyPr>
            <a:normAutofit fontScale="90000"/>
          </a:bodyPr>
          <a:lstStyle/>
          <a:p>
            <a:r>
              <a:rPr lang="en-US" dirty="0"/>
              <a:t>Table 10 – Policy Uncertainty and Deal Quality</a:t>
            </a:r>
          </a:p>
        </p:txBody>
      </p:sp>
      <p:pic>
        <p:nvPicPr>
          <p:cNvPr id="5" name="Content Placeholder 4">
            <a:extLst>
              <a:ext uri="{FF2B5EF4-FFF2-40B4-BE49-F238E27FC236}">
                <a16:creationId xmlns:a16="http://schemas.microsoft.com/office/drawing/2014/main" id="{DD42511A-61E3-8BAA-45A5-65580E0495E2}"/>
              </a:ext>
            </a:extLst>
          </p:cNvPr>
          <p:cNvPicPr>
            <a:picLocks noGrp="1" noChangeAspect="1"/>
          </p:cNvPicPr>
          <p:nvPr>
            <p:ph idx="1"/>
          </p:nvPr>
        </p:nvPicPr>
        <p:blipFill>
          <a:blip r:embed="rId3"/>
          <a:stretch>
            <a:fillRect/>
          </a:stretch>
        </p:blipFill>
        <p:spPr>
          <a:xfrm>
            <a:off x="600377" y="1323975"/>
            <a:ext cx="7943245" cy="3375421"/>
          </a:xfrm>
        </p:spPr>
      </p:pic>
    </p:spTree>
    <p:extLst>
      <p:ext uri="{BB962C8B-B14F-4D97-AF65-F5344CB8AC3E}">
        <p14:creationId xmlns:p14="http://schemas.microsoft.com/office/powerpoint/2010/main" val="1016115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E1952-DD81-E075-BE80-1DD35F7937B7}"/>
              </a:ext>
            </a:extLst>
          </p:cNvPr>
          <p:cNvSpPr>
            <a:spLocks noGrp="1"/>
          </p:cNvSpPr>
          <p:nvPr>
            <p:ph type="title"/>
          </p:nvPr>
        </p:nvSpPr>
        <p:spPr>
          <a:xfrm>
            <a:off x="280987" y="120252"/>
            <a:ext cx="8582025" cy="857250"/>
          </a:xfrm>
        </p:spPr>
        <p:txBody>
          <a:bodyPr>
            <a:normAutofit fontScale="90000"/>
          </a:bodyPr>
          <a:lstStyle/>
          <a:p>
            <a:r>
              <a:rPr lang="en-US" dirty="0"/>
              <a:t>Table 11 – Policy Uncertainty, Corporate Governance, CEO Characteristics</a:t>
            </a:r>
          </a:p>
        </p:txBody>
      </p:sp>
      <p:pic>
        <p:nvPicPr>
          <p:cNvPr id="5" name="Content Placeholder 4">
            <a:extLst>
              <a:ext uri="{FF2B5EF4-FFF2-40B4-BE49-F238E27FC236}">
                <a16:creationId xmlns:a16="http://schemas.microsoft.com/office/drawing/2014/main" id="{66237D2F-256A-73EF-6CA3-203E2E37D0A6}"/>
              </a:ext>
            </a:extLst>
          </p:cNvPr>
          <p:cNvPicPr>
            <a:picLocks noGrp="1" noChangeAspect="1"/>
          </p:cNvPicPr>
          <p:nvPr>
            <p:ph idx="1"/>
          </p:nvPr>
        </p:nvPicPr>
        <p:blipFill>
          <a:blip r:embed="rId3"/>
          <a:stretch>
            <a:fillRect/>
          </a:stretch>
        </p:blipFill>
        <p:spPr>
          <a:xfrm>
            <a:off x="73704" y="1378674"/>
            <a:ext cx="8996592" cy="2386152"/>
          </a:xfrm>
        </p:spPr>
      </p:pic>
    </p:spTree>
    <p:extLst>
      <p:ext uri="{BB962C8B-B14F-4D97-AF65-F5344CB8AC3E}">
        <p14:creationId xmlns:p14="http://schemas.microsoft.com/office/powerpoint/2010/main" val="630074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B2977-F2BF-3654-CE14-3BB0E7C09643}"/>
              </a:ext>
            </a:extLst>
          </p:cNvPr>
          <p:cNvSpPr>
            <a:spLocks noGrp="1"/>
          </p:cNvSpPr>
          <p:nvPr>
            <p:ph type="title"/>
          </p:nvPr>
        </p:nvSpPr>
        <p:spPr/>
        <p:txBody>
          <a:bodyPr>
            <a:normAutofit fontScale="90000"/>
          </a:bodyPr>
          <a:lstStyle/>
          <a:p>
            <a:r>
              <a:rPr lang="en-US" dirty="0"/>
              <a:t>Table 12 – Policy Uncertainty and Risk Management</a:t>
            </a:r>
          </a:p>
        </p:txBody>
      </p:sp>
      <p:pic>
        <p:nvPicPr>
          <p:cNvPr id="5" name="Content Placeholder 4">
            <a:extLst>
              <a:ext uri="{FF2B5EF4-FFF2-40B4-BE49-F238E27FC236}">
                <a16:creationId xmlns:a16="http://schemas.microsoft.com/office/drawing/2014/main" id="{CCCA6D38-D326-CF91-84D4-9A1662BC1309}"/>
              </a:ext>
            </a:extLst>
          </p:cNvPr>
          <p:cNvPicPr>
            <a:picLocks noGrp="1" noChangeAspect="1"/>
          </p:cNvPicPr>
          <p:nvPr>
            <p:ph idx="1"/>
          </p:nvPr>
        </p:nvPicPr>
        <p:blipFill>
          <a:blip r:embed="rId3"/>
          <a:stretch>
            <a:fillRect/>
          </a:stretch>
        </p:blipFill>
        <p:spPr>
          <a:xfrm>
            <a:off x="1318511" y="1475860"/>
            <a:ext cx="6506978" cy="2766335"/>
          </a:xfrm>
        </p:spPr>
      </p:pic>
    </p:spTree>
    <p:extLst>
      <p:ext uri="{BB962C8B-B14F-4D97-AF65-F5344CB8AC3E}">
        <p14:creationId xmlns:p14="http://schemas.microsoft.com/office/powerpoint/2010/main" val="3594972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31D0C-2F28-8FDE-9F77-EE1C32A8636B}"/>
              </a:ext>
            </a:extLst>
          </p:cNvPr>
          <p:cNvSpPr>
            <a:spLocks noGrp="1"/>
          </p:cNvSpPr>
          <p:nvPr>
            <p:ph type="title"/>
          </p:nvPr>
        </p:nvSpPr>
        <p:spPr>
          <a:xfrm>
            <a:off x="186900" y="205979"/>
            <a:ext cx="8499900" cy="857250"/>
          </a:xfrm>
        </p:spPr>
        <p:txBody>
          <a:bodyPr>
            <a:normAutofit fontScale="90000"/>
          </a:bodyPr>
          <a:lstStyle/>
          <a:p>
            <a:r>
              <a:rPr lang="en-US" dirty="0"/>
              <a:t>Table 13 – Which Policies Matter Most?</a:t>
            </a:r>
          </a:p>
        </p:txBody>
      </p:sp>
      <p:pic>
        <p:nvPicPr>
          <p:cNvPr id="5" name="Content Placeholder 4">
            <a:extLst>
              <a:ext uri="{FF2B5EF4-FFF2-40B4-BE49-F238E27FC236}">
                <a16:creationId xmlns:a16="http://schemas.microsoft.com/office/drawing/2014/main" id="{E394F2EB-E5E6-0E27-E448-72CD725B640D}"/>
              </a:ext>
            </a:extLst>
          </p:cNvPr>
          <p:cNvPicPr>
            <a:picLocks noGrp="1" noChangeAspect="1"/>
          </p:cNvPicPr>
          <p:nvPr>
            <p:ph idx="1"/>
          </p:nvPr>
        </p:nvPicPr>
        <p:blipFill>
          <a:blip r:embed="rId3"/>
          <a:stretch>
            <a:fillRect/>
          </a:stretch>
        </p:blipFill>
        <p:spPr>
          <a:xfrm>
            <a:off x="186900" y="1711207"/>
            <a:ext cx="8770199" cy="1974968"/>
          </a:xfrm>
        </p:spPr>
      </p:pic>
    </p:spTree>
    <p:extLst>
      <p:ext uri="{BB962C8B-B14F-4D97-AF65-F5344CB8AC3E}">
        <p14:creationId xmlns:p14="http://schemas.microsoft.com/office/powerpoint/2010/main" val="112088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30FB1-522F-1C21-4B94-9D99466B7E1F}"/>
              </a:ext>
            </a:extLst>
          </p:cNvPr>
          <p:cNvSpPr>
            <a:spLocks noGrp="1"/>
          </p:cNvSpPr>
          <p:nvPr>
            <p:ph type="title"/>
          </p:nvPr>
        </p:nvSpPr>
        <p:spPr>
          <a:xfrm>
            <a:off x="133350" y="205979"/>
            <a:ext cx="8553450" cy="857250"/>
          </a:xfrm>
        </p:spPr>
        <p:txBody>
          <a:bodyPr>
            <a:normAutofit fontScale="90000"/>
          </a:bodyPr>
          <a:lstStyle/>
          <a:p>
            <a:r>
              <a:rPr lang="en-US" dirty="0"/>
              <a:t>Table 14 - Deal Characteristics and Policy Uncertainty</a:t>
            </a:r>
          </a:p>
        </p:txBody>
      </p:sp>
      <p:pic>
        <p:nvPicPr>
          <p:cNvPr id="5" name="Content Placeholder 4">
            <a:extLst>
              <a:ext uri="{FF2B5EF4-FFF2-40B4-BE49-F238E27FC236}">
                <a16:creationId xmlns:a16="http://schemas.microsoft.com/office/drawing/2014/main" id="{5A80B86B-C2D5-7A13-CDA3-BBB28364FD81}"/>
              </a:ext>
            </a:extLst>
          </p:cNvPr>
          <p:cNvPicPr>
            <a:picLocks noGrp="1" noChangeAspect="1"/>
          </p:cNvPicPr>
          <p:nvPr>
            <p:ph idx="1"/>
          </p:nvPr>
        </p:nvPicPr>
        <p:blipFill>
          <a:blip r:embed="rId3"/>
          <a:stretch>
            <a:fillRect/>
          </a:stretch>
        </p:blipFill>
        <p:spPr>
          <a:xfrm>
            <a:off x="522880" y="1626258"/>
            <a:ext cx="8098240" cy="2274977"/>
          </a:xfrm>
        </p:spPr>
      </p:pic>
    </p:spTree>
    <p:extLst>
      <p:ext uri="{BB962C8B-B14F-4D97-AF65-F5344CB8AC3E}">
        <p14:creationId xmlns:p14="http://schemas.microsoft.com/office/powerpoint/2010/main" val="40817222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894D3-909B-BD96-164C-2B73DA619603}"/>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809D06F-99B2-9518-6B5C-65EF09135218}"/>
              </a:ext>
            </a:extLst>
          </p:cNvPr>
          <p:cNvSpPr>
            <a:spLocks noGrp="1"/>
          </p:cNvSpPr>
          <p:nvPr>
            <p:ph idx="1"/>
          </p:nvPr>
        </p:nvSpPr>
        <p:spPr>
          <a:xfrm>
            <a:off x="457200" y="1063229"/>
            <a:ext cx="8229600" cy="3394472"/>
          </a:xfrm>
        </p:spPr>
        <p:txBody>
          <a:bodyPr>
            <a:normAutofit/>
          </a:bodyPr>
          <a:lstStyle/>
          <a:p>
            <a:r>
              <a:rPr lang="en-US" sz="1800" b="1" dirty="0"/>
              <a:t>Significant Negative Influence</a:t>
            </a:r>
            <a:r>
              <a:rPr lang="en-US" sz="1800" dirty="0"/>
              <a:t>: Policy uncertainty acts as a major friction in the M&amp;A environment, reducing overall deal value and volume. A one standard deviation increase in policy uncertainty leads to:</a:t>
            </a:r>
          </a:p>
          <a:p>
            <a:pPr lvl="1">
              <a:buFont typeface="Arial" panose="020B0604020202020204" pitchFamily="34" charset="0"/>
              <a:buChar char="•"/>
            </a:pPr>
            <a:r>
              <a:rPr lang="en-US" sz="1800" dirty="0"/>
              <a:t>6.6% decrease in aggregate M&amp;A deal value.</a:t>
            </a:r>
          </a:p>
          <a:p>
            <a:pPr lvl="1">
              <a:buFont typeface="Arial" panose="020B0604020202020204" pitchFamily="34" charset="0"/>
              <a:buChar char="•"/>
            </a:pPr>
            <a:r>
              <a:rPr lang="en-US" sz="1800" dirty="0"/>
              <a:t>3.9% reduction in the number of deals.</a:t>
            </a:r>
          </a:p>
          <a:p>
            <a:pPr lvl="1">
              <a:buFont typeface="Arial" panose="020B0604020202020204" pitchFamily="34" charset="0"/>
              <a:buChar char="•"/>
            </a:pPr>
            <a:r>
              <a:rPr lang="en-US" sz="1800" dirty="0"/>
              <a:t>4.17% lower likelihood of initiating a merger wave.</a:t>
            </a:r>
          </a:p>
          <a:p>
            <a:r>
              <a:rPr lang="en-US" sz="1800" b="1" dirty="0"/>
              <a:t>Firm-Level Effects</a:t>
            </a:r>
            <a:r>
              <a:rPr lang="en-US" sz="1800" dirty="0"/>
              <a:t>: At the firm level, policy uncertainty reduces merger likelihood by 1.1 percentage points, equivalent to an 8.9% decrease in the unconditional probability of announcing a merger.</a:t>
            </a:r>
          </a:p>
        </p:txBody>
      </p:sp>
    </p:spTree>
    <p:extLst>
      <p:ext uri="{BB962C8B-B14F-4D97-AF65-F5344CB8AC3E}">
        <p14:creationId xmlns:p14="http://schemas.microsoft.com/office/powerpoint/2010/main" val="32356645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174AB-3E61-EA2B-C3BC-1EEBAA6DAE27}"/>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3AB47B1-7C75-BEA1-ABA3-666923B78FCF}"/>
              </a:ext>
            </a:extLst>
          </p:cNvPr>
          <p:cNvSpPr>
            <a:spLocks noGrp="1"/>
          </p:cNvSpPr>
          <p:nvPr>
            <p:ph idx="1"/>
          </p:nvPr>
        </p:nvSpPr>
        <p:spPr/>
        <p:txBody>
          <a:bodyPr>
            <a:normAutofit/>
          </a:bodyPr>
          <a:lstStyle/>
          <a:p>
            <a:r>
              <a:rPr lang="en-US" sz="2400" b="1" dirty="0"/>
              <a:t>Permanent Impact</a:t>
            </a:r>
            <a:r>
              <a:rPr lang="en-US" sz="2400" dirty="0"/>
              <a:t>: The lack of mean reversion implies that lost acquisitions during periods of high policy uncertainty are not delayed but permanently forgone.</a:t>
            </a:r>
          </a:p>
          <a:p>
            <a:r>
              <a:rPr lang="en-US" sz="2400" b="1" dirty="0"/>
              <a:t>Broader Implications</a:t>
            </a:r>
            <a:r>
              <a:rPr lang="en-US" sz="2400" dirty="0"/>
              <a:t>: The findings emphasize the critical role that policy stability plays in capital allocation, suggesting that reducing policy uncertainty could foster more efficient capital markets through increased M&amp;A activity.</a:t>
            </a:r>
          </a:p>
        </p:txBody>
      </p:sp>
    </p:spTree>
    <p:extLst>
      <p:ext uri="{BB962C8B-B14F-4D97-AF65-F5344CB8AC3E}">
        <p14:creationId xmlns:p14="http://schemas.microsoft.com/office/powerpoint/2010/main" val="3308523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2E64A7C7C8D8942ABE466F3AC32BB0E" ma:contentTypeVersion="6" ma:contentTypeDescription="Create a new document." ma:contentTypeScope="" ma:versionID="ef648cd0a4d738a27aa9253740c30aa6">
  <xsd:schema xmlns:xsd="http://www.w3.org/2001/XMLSchema" xmlns:xs="http://www.w3.org/2001/XMLSchema" xmlns:p="http://schemas.microsoft.com/office/2006/metadata/properties" xmlns:ns3="1fe8f82f-0556-4c42-a658-6aa8fd4f9ee2" targetNamespace="http://schemas.microsoft.com/office/2006/metadata/properties" ma:root="true" ma:fieldsID="5f081ffb0889366177bbb0fe137485fe" ns3:_="">
    <xsd:import namespace="1fe8f82f-0556-4c42-a658-6aa8fd4f9ee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e8f82f-0556-4c42-a658-6aa8fd4f9ee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1fe8f82f-0556-4c42-a658-6aa8fd4f9ee2" xsi:nil="true"/>
  </documentManagement>
</p:properties>
</file>

<file path=customXml/itemProps1.xml><?xml version="1.0" encoding="utf-8"?>
<ds:datastoreItem xmlns:ds="http://schemas.openxmlformats.org/officeDocument/2006/customXml" ds:itemID="{B59F502D-FA94-4398-A8EF-92E089490A40}">
  <ds:schemaRefs>
    <ds:schemaRef ds:uri="http://schemas.microsoft.com/sharepoint/v3/contenttype/forms"/>
  </ds:schemaRefs>
</ds:datastoreItem>
</file>

<file path=customXml/itemProps2.xml><?xml version="1.0" encoding="utf-8"?>
<ds:datastoreItem xmlns:ds="http://schemas.openxmlformats.org/officeDocument/2006/customXml" ds:itemID="{8F324E69-EE82-4883-B96D-18BE646D0B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e8f82f-0556-4c42-a658-6aa8fd4f9e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A5FFBEB-A448-4BA1-A8D8-5F9D7FB6B153}">
  <ds:schemaRefs>
    <ds:schemaRef ds:uri="http://purl.org/dc/elements/1.1/"/>
    <ds:schemaRef ds:uri="http://schemas.microsoft.com/office/2006/metadata/properties"/>
    <ds:schemaRef ds:uri="http://schemas.openxmlformats.org/package/2006/metadata/core-properties"/>
    <ds:schemaRef ds:uri="http://schemas.microsoft.com/office/2006/documentManagement/types"/>
    <ds:schemaRef ds:uri="1fe8f82f-0556-4c42-a658-6aa8fd4f9ee2"/>
    <ds:schemaRef ds:uri="http://schemas.microsoft.com/office/infopath/2007/PartnerControls"/>
    <ds:schemaRef ds:uri="http://www.w3.org/XML/1998/namespace"/>
    <ds:schemaRef ds:uri="http://purl.org/dc/dcmitype/"/>
    <ds:schemaRef ds:uri="http://purl.org/dc/terms/"/>
  </ds:schemaRefs>
</ds:datastoreItem>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otalTime>6715</TotalTime>
  <Words>2748</Words>
  <Application>Microsoft Office PowerPoint</Application>
  <PresentationFormat>On-screen Show (16:9)</PresentationFormat>
  <Paragraphs>161</Paragraphs>
  <Slides>27</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Times New Roman</vt:lpstr>
      <vt:lpstr>Office Theme</vt:lpstr>
      <vt:lpstr>Does Policy Uncertainty Affect Mergers and Acquisitions?</vt:lpstr>
      <vt:lpstr>Research Question</vt:lpstr>
      <vt:lpstr>Prior Literature</vt:lpstr>
      <vt:lpstr>Prior Literature</vt:lpstr>
      <vt:lpstr>Hypothesis</vt:lpstr>
      <vt:lpstr>Key Metrics</vt:lpstr>
      <vt:lpstr>Key Metrics – Policy Uncertainty</vt:lpstr>
      <vt:lpstr>Results</vt:lpstr>
      <vt:lpstr>Data Collection</vt:lpstr>
      <vt:lpstr>Table 1</vt:lpstr>
      <vt:lpstr>Table 2</vt:lpstr>
      <vt:lpstr>PowerPoint Presentation</vt:lpstr>
      <vt:lpstr>PowerPoint Presentation</vt:lpstr>
      <vt:lpstr>Table 3</vt:lpstr>
      <vt:lpstr>Table 4 </vt:lpstr>
      <vt:lpstr>Table 5 – Policy Uncertainty and Merger Waves</vt:lpstr>
      <vt:lpstr>Table 6 – Investment Irreversibility and Target Competition</vt:lpstr>
      <vt:lpstr>Table 7 – Acquirer Competition and Policy Uncertainty Exposure</vt:lpstr>
      <vt:lpstr>Table 8 - Policy Uncertainty and Interim Risk</vt:lpstr>
      <vt:lpstr>Table 9 – Policy Uncertainty Versus Market-Wide Volatility</vt:lpstr>
      <vt:lpstr>Table 10 – Policy Uncertainty and Deal Quality</vt:lpstr>
      <vt:lpstr>Table 11 – Policy Uncertainty, Corporate Governance, CEO Characteristics</vt:lpstr>
      <vt:lpstr>Table 12 – Policy Uncertainty and Risk Management</vt:lpstr>
      <vt:lpstr>Table 13 – Which Policies Matter Most?</vt:lpstr>
      <vt:lpstr>Table 14 - Deal Characteristics and Policy Uncertainty</vt:lpstr>
      <vt:lpstr>Conclusion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Sharing, Holdup, and External Finance: Evidence from Private Firms</dc:title>
  <dc:creator>Tyler Johnson</dc:creator>
  <cp:lastModifiedBy>Austin Francis</cp:lastModifiedBy>
  <cp:revision>355</cp:revision>
  <dcterms:created xsi:type="dcterms:W3CDTF">2020-09-10T18:37:45Z</dcterms:created>
  <dcterms:modified xsi:type="dcterms:W3CDTF">2024-10-22T14:18:16Z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0x01010092E64A7C7C8D8942ABE466F3AC32BB0E</vt:lpwstr>
  </property>
</Properties>
</file>