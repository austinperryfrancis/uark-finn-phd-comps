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60" r:id="rId3"/>
    <p:sldId id="257" r:id="rId4"/>
    <p:sldId id="258" r:id="rId5"/>
    <p:sldId id="261" r:id="rId6"/>
    <p:sldId id="264" r:id="rId7"/>
    <p:sldId id="289" r:id="rId8"/>
    <p:sldId id="290" r:id="rId9"/>
    <p:sldId id="278" r:id="rId10"/>
    <p:sldId id="280" r:id="rId11"/>
    <p:sldId id="282" r:id="rId12"/>
    <p:sldId id="283" r:id="rId13"/>
    <p:sldId id="284" r:id="rId14"/>
    <p:sldId id="285" r:id="rId15"/>
    <p:sldId id="286" r:id="rId16"/>
    <p:sldId id="274" r:id="rId17"/>
    <p:sldId id="266" r:id="rId18"/>
    <p:sldId id="267" r:id="rId19"/>
    <p:sldId id="268" r:id="rId20"/>
    <p:sldId id="269" r:id="rId21"/>
    <p:sldId id="25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715" autoAdjust="0"/>
  </p:normalViewPr>
  <p:slideViewPr>
    <p:cSldViewPr snapToGrid="0">
      <p:cViewPr varScale="1">
        <p:scale>
          <a:sx n="107" d="100"/>
          <a:sy n="107" d="100"/>
        </p:scale>
        <p:origin x="132" y="10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655092-5BE7-4584-89AE-FB5D071BB34E}" type="datetimeFigureOut">
              <a:rPr lang="en-US" smtClean="0"/>
              <a:t>10/21/2024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597DF6-C029-4FDF-8B42-54376100D910}" type="slidenum">
              <a:rPr lang="en-US" smtClean="0"/>
              <a:t>‹#›</a:t>
            </a:fld>
            <a:endParaRPr lang="en-US"/>
          </a:p>
        </p:txBody>
      </p:sp>
    </p:spTree>
    <p:extLst>
      <p:ext uri="{BB962C8B-B14F-4D97-AF65-F5344CB8AC3E}">
        <p14:creationId xmlns:p14="http://schemas.microsoft.com/office/powerpoint/2010/main" val="1486774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2</a:t>
            </a:fld>
            <a:endParaRPr lang="en-US"/>
          </a:p>
        </p:txBody>
      </p:sp>
    </p:spTree>
    <p:extLst>
      <p:ext uri="{BB962C8B-B14F-4D97-AF65-F5344CB8AC3E}">
        <p14:creationId xmlns:p14="http://schemas.microsoft.com/office/powerpoint/2010/main" val="1884748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fraction of total deal value acquired by financial sponsors has varied dramatically over the last 25 years.</a:t>
            </a:r>
          </a:p>
          <a:p>
            <a:pPr marL="171450" indent="-171450">
              <a:buFont typeface="Arial" panose="020B0604020202020204" pitchFamily="34" charset="0"/>
              <a:buChar char="•"/>
            </a:pPr>
            <a:r>
              <a:rPr lang="en-US" dirty="0"/>
              <a:t>The local peaks of financial sponsor activity </a:t>
            </a:r>
            <a:r>
              <a:rPr lang="en-US" i="1" dirty="0"/>
              <a:t>relative</a:t>
            </a:r>
            <a:r>
              <a:rPr lang="en-US" dirty="0"/>
              <a:t> to strategic activity correspond with stock market peaks like those in the late 1990s and 2006–2007, with dips in the early 1990s and 2001 recessions.</a:t>
            </a:r>
          </a:p>
        </p:txBody>
      </p:sp>
      <p:sp>
        <p:nvSpPr>
          <p:cNvPr id="4" name="Slide Number Placeholder 3"/>
          <p:cNvSpPr>
            <a:spLocks noGrp="1"/>
          </p:cNvSpPr>
          <p:nvPr>
            <p:ph type="sldNum" sz="quarter" idx="5"/>
          </p:nvPr>
        </p:nvSpPr>
        <p:spPr/>
        <p:txBody>
          <a:bodyPr/>
          <a:lstStyle/>
          <a:p>
            <a:fld id="{21597DF6-C029-4FDF-8B42-54376100D910}" type="slidenum">
              <a:rPr lang="en-US" smtClean="0"/>
              <a:t>5</a:t>
            </a:fld>
            <a:endParaRPr lang="en-US"/>
          </a:p>
        </p:txBody>
      </p:sp>
    </p:spTree>
    <p:extLst>
      <p:ext uri="{BB962C8B-B14F-4D97-AF65-F5344CB8AC3E}">
        <p14:creationId xmlns:p14="http://schemas.microsoft.com/office/powerpoint/2010/main" val="185114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b="0" dirty="0" err="1"/>
              <a:t>p’H</a:t>
            </a:r>
            <a:r>
              <a:rPr lang="en-US" b="0" dirty="0"/>
              <a:t> is the perceived probability that the project succeeds if the manager works hard.</a:t>
            </a:r>
          </a:p>
          <a:p>
            <a:pPr marL="171450" lvl="0" indent="-171450">
              <a:buFont typeface="Arial" panose="020B0604020202020204" pitchFamily="34" charset="0"/>
              <a:buChar char="•"/>
            </a:pPr>
            <a:r>
              <a:rPr lang="en-US" b="0" dirty="0" err="1"/>
              <a:t>p’L</a:t>
            </a:r>
            <a:r>
              <a:rPr lang="en-US" b="0" dirty="0"/>
              <a:t>​ is the perceived probability that the project succeeds if the manager shirks.</a:t>
            </a:r>
          </a:p>
          <a:p>
            <a:pPr marL="171450" lvl="0" indent="-171450">
              <a:buFont typeface="Arial" panose="020B0604020202020204" pitchFamily="34" charset="0"/>
              <a:buChar char="•"/>
            </a:pPr>
            <a:r>
              <a:rPr lang="en-US" b="0" dirty="0"/>
              <a:t>R </a:t>
            </a:r>
            <a:r>
              <a:rPr lang="en-US" dirty="0"/>
              <a:t>is the project’s return if successful.</a:t>
            </a:r>
          </a:p>
          <a:p>
            <a:pPr marL="171450" lvl="0" indent="-171450">
              <a:buFont typeface="Arial" panose="020B0604020202020204" pitchFamily="34" charset="0"/>
              <a:buChar char="•"/>
            </a:pPr>
            <a:r>
              <a:rPr lang="en-US" b="0" dirty="0"/>
              <a:t>I </a:t>
            </a:r>
            <a:r>
              <a:rPr lang="en-US" dirty="0"/>
              <a:t>is the required investment in the project.</a:t>
            </a:r>
          </a:p>
          <a:p>
            <a:pPr marL="171450" lvl="0" indent="-171450">
              <a:buFont typeface="Arial" panose="020B0604020202020204" pitchFamily="34" charset="0"/>
              <a:buChar char="•"/>
            </a:pPr>
            <a:r>
              <a:rPr lang="el-GR" dirty="0"/>
              <a:t>γ</a:t>
            </a:r>
            <a:r>
              <a:rPr lang="en-US" dirty="0"/>
              <a:t> is the investors’ required return.</a:t>
            </a:r>
          </a:p>
          <a:p>
            <a:pPr marL="171450" lvl="0" indent="-171450">
              <a:buFont typeface="Arial" panose="020B0604020202020204" pitchFamily="34" charset="0"/>
              <a:buChar char="•"/>
            </a:pPr>
            <a:r>
              <a:rPr lang="en-US" b="0" dirty="0"/>
              <a:t>B </a:t>
            </a:r>
            <a:r>
              <a:rPr lang="en-US" dirty="0"/>
              <a:t>is private benefits that managers gain if they shirk.</a:t>
            </a:r>
            <a:endParaRPr lang="en-US" b="0" dirty="0"/>
          </a:p>
        </p:txBody>
      </p:sp>
      <p:sp>
        <p:nvSpPr>
          <p:cNvPr id="4" name="Slide Number Placeholder 3"/>
          <p:cNvSpPr>
            <a:spLocks noGrp="1"/>
          </p:cNvSpPr>
          <p:nvPr>
            <p:ph type="sldNum" sz="quarter" idx="5"/>
          </p:nvPr>
        </p:nvSpPr>
        <p:spPr/>
        <p:txBody>
          <a:bodyPr/>
          <a:lstStyle/>
          <a:p>
            <a:fld id="{21597DF6-C029-4FDF-8B42-54376100D910}" type="slidenum">
              <a:rPr lang="en-US" smtClean="0"/>
              <a:t>7</a:t>
            </a:fld>
            <a:endParaRPr lang="en-US"/>
          </a:p>
        </p:txBody>
      </p:sp>
    </p:spTree>
    <p:extLst>
      <p:ext uri="{BB962C8B-B14F-4D97-AF65-F5344CB8AC3E}">
        <p14:creationId xmlns:p14="http://schemas.microsoft.com/office/powerpoint/2010/main" val="1410044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b="0" dirty="0"/>
          </a:p>
        </p:txBody>
      </p:sp>
      <p:sp>
        <p:nvSpPr>
          <p:cNvPr id="4" name="Slide Number Placeholder 3"/>
          <p:cNvSpPr>
            <a:spLocks noGrp="1"/>
          </p:cNvSpPr>
          <p:nvPr>
            <p:ph type="sldNum" sz="quarter" idx="5"/>
          </p:nvPr>
        </p:nvSpPr>
        <p:spPr/>
        <p:txBody>
          <a:bodyPr/>
          <a:lstStyle/>
          <a:p>
            <a:fld id="{21597DF6-C029-4FDF-8B42-54376100D910}" type="slidenum">
              <a:rPr lang="en-US" smtClean="0"/>
              <a:t>8</a:t>
            </a:fld>
            <a:endParaRPr lang="en-US"/>
          </a:p>
        </p:txBody>
      </p:sp>
    </p:spTree>
    <p:extLst>
      <p:ext uri="{BB962C8B-B14F-4D97-AF65-F5344CB8AC3E}">
        <p14:creationId xmlns:p14="http://schemas.microsoft.com/office/powerpoint/2010/main" val="2575047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9</a:t>
            </a:fld>
            <a:endParaRPr lang="en-US"/>
          </a:p>
        </p:txBody>
      </p:sp>
    </p:spTree>
    <p:extLst>
      <p:ext uri="{BB962C8B-B14F-4D97-AF65-F5344CB8AC3E}">
        <p14:creationId xmlns:p14="http://schemas.microsoft.com/office/powerpoint/2010/main" val="3126773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10</a:t>
            </a:fld>
            <a:endParaRPr lang="en-US"/>
          </a:p>
        </p:txBody>
      </p:sp>
    </p:spTree>
    <p:extLst>
      <p:ext uri="{BB962C8B-B14F-4D97-AF65-F5344CB8AC3E}">
        <p14:creationId xmlns:p14="http://schemas.microsoft.com/office/powerpoint/2010/main" val="3514707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11</a:t>
            </a:fld>
            <a:endParaRPr lang="en-US"/>
          </a:p>
        </p:txBody>
      </p:sp>
    </p:spTree>
    <p:extLst>
      <p:ext uri="{BB962C8B-B14F-4D97-AF65-F5344CB8AC3E}">
        <p14:creationId xmlns:p14="http://schemas.microsoft.com/office/powerpoint/2010/main" val="2643164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12</a:t>
            </a:fld>
            <a:endParaRPr lang="en-US"/>
          </a:p>
        </p:txBody>
      </p:sp>
    </p:spTree>
    <p:extLst>
      <p:ext uri="{BB962C8B-B14F-4D97-AF65-F5344CB8AC3E}">
        <p14:creationId xmlns:p14="http://schemas.microsoft.com/office/powerpoint/2010/main" val="3442218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13</a:t>
            </a:fld>
            <a:endParaRPr lang="en-US"/>
          </a:p>
        </p:txBody>
      </p:sp>
    </p:spTree>
    <p:extLst>
      <p:ext uri="{BB962C8B-B14F-4D97-AF65-F5344CB8AC3E}">
        <p14:creationId xmlns:p14="http://schemas.microsoft.com/office/powerpoint/2010/main" val="3211686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14</a:t>
            </a:fld>
            <a:endParaRPr lang="en-US"/>
          </a:p>
        </p:txBody>
      </p:sp>
    </p:spTree>
    <p:extLst>
      <p:ext uri="{BB962C8B-B14F-4D97-AF65-F5344CB8AC3E}">
        <p14:creationId xmlns:p14="http://schemas.microsoft.com/office/powerpoint/2010/main" val="1832086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15</a:t>
            </a:fld>
            <a:endParaRPr lang="en-US"/>
          </a:p>
        </p:txBody>
      </p:sp>
    </p:spTree>
    <p:extLst>
      <p:ext uri="{BB962C8B-B14F-4D97-AF65-F5344CB8AC3E}">
        <p14:creationId xmlns:p14="http://schemas.microsoft.com/office/powerpoint/2010/main" val="2800844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US" sz="1800" b="0" i="0" u="none" strike="noStrike" baseline="0" dirty="0">
                <a:latin typeface="NimbusRomNo9L-Regu"/>
              </a:rPr>
              <a:t>Moody’s tracks the ex-post accuracy of its rating measures, using the so-called average position (AP).</a:t>
            </a:r>
          </a:p>
          <a:p>
            <a:pPr marL="285750" indent="-285750" algn="l">
              <a:buFont typeface="Arial" panose="020B0604020202020204" pitchFamily="34" charset="0"/>
              <a:buChar char="•"/>
            </a:pPr>
            <a:r>
              <a:rPr lang="en-US" sz="1800" b="0" i="0" u="none" strike="noStrike" baseline="0" dirty="0">
                <a:latin typeface="NimbusRomNo9L-Regu"/>
              </a:rPr>
              <a:t>If more defaulters were given higher ratings, the AP would fall.</a:t>
            </a:r>
          </a:p>
          <a:p>
            <a:pPr marL="285750" indent="-285750" algn="l">
              <a:buFont typeface="Arial" panose="020B0604020202020204" pitchFamily="34" charset="0"/>
              <a:buChar char="•"/>
            </a:pPr>
            <a:r>
              <a:rPr lang="en-US" dirty="0"/>
              <a:t>Thus, the authors’ concept of overvaluation will be captured by lower average positions.</a:t>
            </a:r>
          </a:p>
          <a:p>
            <a:pPr marL="285750" indent="-285750" algn="l">
              <a:buFont typeface="Arial" panose="020B0604020202020204" pitchFamily="34" charset="0"/>
              <a:buChar char="•"/>
            </a:pPr>
            <a:r>
              <a:rPr lang="en-US" dirty="0"/>
              <a:t>The authors’ </a:t>
            </a:r>
            <a:r>
              <a:rPr lang="en-US" sz="1800" b="0" i="0" u="none" strike="noStrike" baseline="0" dirty="0">
                <a:latin typeface="NimbusRomNo9L-Regu"/>
              </a:rPr>
              <a:t>measure of PE activity is the fraction of the value of all deals for public targets accounted for by financial sponsors.</a:t>
            </a: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17</a:t>
            </a:fld>
            <a:endParaRPr lang="en-US"/>
          </a:p>
        </p:txBody>
      </p:sp>
    </p:spTree>
    <p:extLst>
      <p:ext uri="{BB962C8B-B14F-4D97-AF65-F5344CB8AC3E}">
        <p14:creationId xmlns:p14="http://schemas.microsoft.com/office/powerpoint/2010/main" val="273955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b="0" i="0" u="none" strike="noStrike" baseline="0" dirty="0">
                <a:latin typeface="NimbusRomNo9L-Regu"/>
              </a:rPr>
              <a:t>The average fraction of activity accounted for by PE acquirers is 8.86%, and 27.27% of the years are high PE periods.</a:t>
            </a:r>
          </a:p>
          <a:p>
            <a:pPr marL="285750" indent="-285750" algn="l">
              <a:buFont typeface="Arial" panose="020B0604020202020204" pitchFamily="34" charset="0"/>
              <a:buChar char="•"/>
            </a:pPr>
            <a:r>
              <a:rPr lang="en-US" sz="1800" b="0" i="0" u="none" strike="noStrike" baseline="0" dirty="0">
                <a:latin typeface="NimbusRomNo9L-Regu"/>
              </a:rPr>
              <a:t>The aggregate average position fluctuates within a relatively tight range (between 81% and 92%), but expands at the industry level.</a:t>
            </a:r>
          </a:p>
          <a:p>
            <a:pPr marL="285750" indent="-285750" algn="l">
              <a:buFont typeface="Arial" panose="020B0604020202020204" pitchFamily="34" charset="0"/>
              <a:buChar char="•"/>
            </a:pPr>
            <a:r>
              <a:rPr lang="en-US" sz="1800" b="0" i="0" u="none" strike="noStrike" baseline="0" dirty="0">
                <a:latin typeface="NimbusRomNo9L-Regu"/>
              </a:rPr>
              <a:t>Controls</a:t>
            </a:r>
          </a:p>
        </p:txBody>
      </p:sp>
      <p:sp>
        <p:nvSpPr>
          <p:cNvPr id="4" name="Slide Number Placeholder 3"/>
          <p:cNvSpPr>
            <a:spLocks noGrp="1"/>
          </p:cNvSpPr>
          <p:nvPr>
            <p:ph type="sldNum" sz="quarter" idx="5"/>
          </p:nvPr>
        </p:nvSpPr>
        <p:spPr/>
        <p:txBody>
          <a:bodyPr/>
          <a:lstStyle/>
          <a:p>
            <a:fld id="{21597DF6-C029-4FDF-8B42-54376100D910}" type="slidenum">
              <a:rPr lang="en-US" smtClean="0"/>
              <a:t>18</a:t>
            </a:fld>
            <a:endParaRPr lang="en-US"/>
          </a:p>
        </p:txBody>
      </p:sp>
    </p:spTree>
    <p:extLst>
      <p:ext uri="{BB962C8B-B14F-4D97-AF65-F5344CB8AC3E}">
        <p14:creationId xmlns:p14="http://schemas.microsoft.com/office/powerpoint/2010/main" val="539852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b="0" i="0" u="none" strike="noStrike" baseline="0" dirty="0">
                <a:latin typeface="NimbusRomNo9L-Regu"/>
              </a:rPr>
              <a:t>Tobit regressions (columns 1-5) of the fraction of financial buyers, and logit regression (column 6) of a dummy variable that takes the value of 1 if PE participation is above average.</a:t>
            </a:r>
          </a:p>
          <a:p>
            <a:pPr marL="285750" indent="-285750">
              <a:buFont typeface="Arial" panose="020B0604020202020204" pitchFamily="34" charset="0"/>
              <a:buChar char="•"/>
            </a:pPr>
            <a:r>
              <a:rPr lang="en-US" sz="1800" b="0" i="0" u="none" strike="noStrike" baseline="0" dirty="0">
                <a:latin typeface="NimbusRomNo9L-Regu"/>
              </a:rPr>
              <a:t>Columns 1 and 2: The high yield spread is negatively correlated with PE activity as in Harford (2005).</a:t>
            </a:r>
          </a:p>
          <a:p>
            <a:pPr marL="285750" indent="-285750">
              <a:buFont typeface="Arial" panose="020B0604020202020204" pitchFamily="34" charset="0"/>
              <a:buChar char="•"/>
            </a:pPr>
            <a:r>
              <a:rPr lang="en-US" sz="1800" b="0" i="0" u="none" strike="noStrike" baseline="0" dirty="0">
                <a:latin typeface="NimbusRomNo9L-Regu"/>
              </a:rPr>
              <a:t>Column 3: The average position coefficient is significantly negative, confirming that in periods when overvaluation is high, PE activity increases as a fraction of total M&amp;A activity.</a:t>
            </a:r>
          </a:p>
          <a:p>
            <a:pPr marL="742950" lvl="1" indent="-285750">
              <a:buFont typeface="Arial" panose="020B0604020202020204" pitchFamily="34" charset="0"/>
              <a:buChar char="•"/>
            </a:pPr>
            <a:r>
              <a:rPr lang="en-US" sz="1800" b="0" i="0" u="none" strike="noStrike" baseline="0" dirty="0">
                <a:latin typeface="NimbusRomNo9L-Regu"/>
              </a:rPr>
              <a:t>A 1% decrease in aggregate AP increases the fraction of PE activity by 3.2%.</a:t>
            </a:r>
          </a:p>
          <a:p>
            <a:pPr marL="285750" lvl="0" indent="-285750">
              <a:buFont typeface="Arial" panose="020B0604020202020204" pitchFamily="34" charset="0"/>
              <a:buChar char="•"/>
            </a:pPr>
            <a:r>
              <a:rPr lang="en-US" sz="1800" b="0" i="0" u="none" strike="noStrike" baseline="0" dirty="0">
                <a:latin typeface="NimbusRomNo9L-Regu"/>
              </a:rPr>
              <a:t>Columns 4 and 5: Still significant when using industry AP.</a:t>
            </a:r>
          </a:p>
          <a:p>
            <a:pPr marL="285750" lvl="0" indent="-285750">
              <a:buFont typeface="Arial" panose="020B0604020202020204" pitchFamily="34" charset="0"/>
              <a:buChar char="•"/>
            </a:pPr>
            <a:r>
              <a:rPr lang="en-US" sz="1800" b="0" i="0" u="none" strike="noStrike" baseline="0" dirty="0">
                <a:latin typeface="NimbusRomNo9L-Regu"/>
              </a:rPr>
              <a:t>Column 6: For robustness—still significant when using logit regression with High PE dummy.</a:t>
            </a:r>
          </a:p>
        </p:txBody>
      </p:sp>
      <p:sp>
        <p:nvSpPr>
          <p:cNvPr id="4" name="Slide Number Placeholder 3"/>
          <p:cNvSpPr>
            <a:spLocks noGrp="1"/>
          </p:cNvSpPr>
          <p:nvPr>
            <p:ph type="sldNum" sz="quarter" idx="5"/>
          </p:nvPr>
        </p:nvSpPr>
        <p:spPr/>
        <p:txBody>
          <a:bodyPr/>
          <a:lstStyle/>
          <a:p>
            <a:fld id="{21597DF6-C029-4FDF-8B42-54376100D910}" type="slidenum">
              <a:rPr lang="en-US" smtClean="0"/>
              <a:t>19</a:t>
            </a:fld>
            <a:endParaRPr lang="en-US"/>
          </a:p>
        </p:txBody>
      </p:sp>
    </p:spTree>
    <p:extLst>
      <p:ext uri="{BB962C8B-B14F-4D97-AF65-F5344CB8AC3E}">
        <p14:creationId xmlns:p14="http://schemas.microsoft.com/office/powerpoint/2010/main" val="1922139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Columns 1 and 2: The coinsurance effect shown in Corollary 2 predicts that a conglomerate acquirer should be even more impacted than a non-conglomerate acquirer in their relative ability to acquire.</a:t>
            </a:r>
          </a:p>
          <a:p>
            <a:pPr marL="628650" lvl="1" indent="-171450">
              <a:buFont typeface="Arial" panose="020B0604020202020204" pitchFamily="34" charset="0"/>
              <a:buChar char="•"/>
            </a:pPr>
            <a:r>
              <a:rPr lang="en-US" sz="1800" b="0" i="0" u="none" strike="noStrike" baseline="0" dirty="0">
                <a:latin typeface="NimbusRomNo9L-Regu"/>
              </a:rPr>
              <a:t>A 1% decrease in AP increases the fraction PE/(PE+CONGLOMERATE) by 4.83%.</a:t>
            </a:r>
          </a:p>
          <a:p>
            <a:pPr marL="171450" lvl="0" indent="-171450">
              <a:buFont typeface="Arial" panose="020B0604020202020204" pitchFamily="34" charset="0"/>
              <a:buChar char="•"/>
            </a:pPr>
            <a:r>
              <a:rPr lang="en-US" b="0" i="0" u="none" strike="noStrike" baseline="0" dirty="0">
                <a:latin typeface="NimbusRomNo9L-Regu"/>
              </a:rPr>
              <a:t>Columns 3 and 4: Proposition 6 and Corollary 3 predict that when parameters are such that the monitoring effect is relevant, </a:t>
            </a:r>
            <a:r>
              <a:rPr lang="en-US" b="0" i="0" u="none" strike="noStrike" baseline="0" dirty="0" err="1">
                <a:latin typeface="NimbusRomNo9L-Regu"/>
              </a:rPr>
              <a:t>misvaluation</a:t>
            </a:r>
            <a:r>
              <a:rPr lang="en-US" b="0" i="0" u="none" strike="noStrike" baseline="0" dirty="0">
                <a:latin typeface="NimbusRomNo9L-Regu"/>
              </a:rPr>
              <a:t> causes an increase in debt issuance.</a:t>
            </a:r>
          </a:p>
          <a:p>
            <a:pPr marL="628650" lvl="1" indent="-171450">
              <a:buFont typeface="Arial" panose="020B0604020202020204" pitchFamily="34" charset="0"/>
              <a:buChar char="•"/>
            </a:pPr>
            <a:r>
              <a:rPr lang="en-US" sz="1800" b="0" i="0" u="none" strike="noStrike" baseline="0" dirty="0">
                <a:latin typeface="NimbusRomNo9L-Regu"/>
              </a:rPr>
              <a:t>When we see higher debt issuance, we should also expect the impact of </a:t>
            </a:r>
            <a:r>
              <a:rPr lang="en-US" sz="1800" b="0" i="0" u="none" strike="noStrike" baseline="0" dirty="0" err="1">
                <a:latin typeface="NimbusRomNo9L-Regu"/>
              </a:rPr>
              <a:t>misvaluation</a:t>
            </a:r>
            <a:r>
              <a:rPr lang="en-US" sz="1800" b="0" i="0" u="none" strike="noStrike" baseline="0" dirty="0">
                <a:latin typeface="NimbusRomNo9L-Regu"/>
              </a:rPr>
              <a:t> on PE’s ability to acquire a target to be even larger.</a:t>
            </a:r>
          </a:p>
          <a:p>
            <a:pPr marL="628650" lvl="1" indent="-171450">
              <a:buFont typeface="Arial" panose="020B0604020202020204" pitchFamily="34" charset="0"/>
              <a:buChar char="•"/>
            </a:pPr>
            <a:r>
              <a:rPr lang="en-US" sz="1800" b="0" i="0" u="none" strike="noStrike" baseline="0" dirty="0">
                <a:latin typeface="NimbusRomNo9L-Regu"/>
              </a:rPr>
              <a:t>The interaction has a significantly negative sign and debt overvaluation and debt issuance are positively correlated.</a:t>
            </a:r>
            <a:endParaRPr lang="en-US" dirty="0"/>
          </a:p>
        </p:txBody>
      </p:sp>
      <p:sp>
        <p:nvSpPr>
          <p:cNvPr id="4" name="Slide Number Placeholder 3"/>
          <p:cNvSpPr>
            <a:spLocks noGrp="1"/>
          </p:cNvSpPr>
          <p:nvPr>
            <p:ph type="sldNum" sz="quarter" idx="5"/>
          </p:nvPr>
        </p:nvSpPr>
        <p:spPr/>
        <p:txBody>
          <a:bodyPr/>
          <a:lstStyle/>
          <a:p>
            <a:fld id="{21597DF6-C029-4FDF-8B42-54376100D910}" type="slidenum">
              <a:rPr lang="en-US" smtClean="0"/>
              <a:t>20</a:t>
            </a:fld>
            <a:endParaRPr lang="en-US"/>
          </a:p>
        </p:txBody>
      </p:sp>
    </p:spTree>
    <p:extLst>
      <p:ext uri="{BB962C8B-B14F-4D97-AF65-F5344CB8AC3E}">
        <p14:creationId xmlns:p14="http://schemas.microsoft.com/office/powerpoint/2010/main" val="484688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5A25DC-01CC-414A-A394-D35A0592A34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66160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27025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5A25DC-01CC-414A-A394-D35A0592A34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367594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5A25DC-01CC-414A-A394-D35A0592A34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853664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5A25DC-01CC-414A-A394-D35A0592A347}" type="datetimeFigureOut">
              <a:rPr lang="en-US" smtClean="0"/>
              <a:t>10/21/2024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668130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5A25DC-01CC-414A-A394-D35A0592A347}" type="datetimeFigureOut">
              <a:rPr lang="en-US" smtClean="0"/>
              <a:t>10/21/2024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17744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5A25DC-01CC-414A-A394-D35A0592A347}" type="datetimeFigureOut">
              <a:rPr lang="en-US" smtClean="0"/>
              <a:t>10/21/2024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768096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C5A25DC-01CC-414A-A394-D35A0592A34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911740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C5A25DC-01CC-414A-A394-D35A0592A347}" type="datetimeFigureOut">
              <a:rPr lang="en-US" smtClean="0"/>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352588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625275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3098789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5863649"/>
            <a:ext cx="12204192" cy="1009897"/>
          </a:xfrm>
          <a:prstGeom prst="rect">
            <a:avLst/>
          </a:prstGeom>
        </p:spPr>
      </p:pic>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2"/>
            <a:ext cx="10972800" cy="42634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0C5A25DC-01CC-414A-A394-D35A0592A347}" type="datetimeFigureOut">
              <a:rPr lang="en-US" smtClean="0"/>
              <a:t>10/21/2024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FE6C5112-463C-4814-9119-B25AAF4D4987}" type="slidenum">
              <a:rPr lang="en-US" smtClean="0"/>
              <a:t>‹#›</a:t>
            </a:fld>
            <a:endParaRPr lang="en-US"/>
          </a:p>
        </p:txBody>
      </p:sp>
    </p:spTree>
    <p:extLst>
      <p:ext uri="{BB962C8B-B14F-4D97-AF65-F5344CB8AC3E}">
        <p14:creationId xmlns:p14="http://schemas.microsoft.com/office/powerpoint/2010/main" val="366802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BDA2A-F620-F7C0-B394-3CF55881D77E}"/>
              </a:ext>
            </a:extLst>
          </p:cNvPr>
          <p:cNvSpPr>
            <a:spLocks noGrp="1"/>
          </p:cNvSpPr>
          <p:nvPr>
            <p:ph type="ctrTitle"/>
          </p:nvPr>
        </p:nvSpPr>
        <p:spPr>
          <a:xfrm>
            <a:off x="914400" y="1958975"/>
            <a:ext cx="10363200" cy="1470025"/>
          </a:xfrm>
        </p:spPr>
        <p:txBody>
          <a:bodyPr>
            <a:normAutofit/>
          </a:bodyPr>
          <a:lstStyle/>
          <a:p>
            <a:r>
              <a:rPr lang="en-US" dirty="0"/>
              <a:t>Financial versus Strategic Buyers</a:t>
            </a:r>
          </a:p>
        </p:txBody>
      </p:sp>
      <p:sp>
        <p:nvSpPr>
          <p:cNvPr id="3" name="Subtitle 2">
            <a:extLst>
              <a:ext uri="{FF2B5EF4-FFF2-40B4-BE49-F238E27FC236}">
                <a16:creationId xmlns:a16="http://schemas.microsoft.com/office/drawing/2014/main" id="{ADAA4B41-7035-8BCE-4870-52321BDBD3F1}"/>
              </a:ext>
            </a:extLst>
          </p:cNvPr>
          <p:cNvSpPr>
            <a:spLocks noGrp="1"/>
          </p:cNvSpPr>
          <p:nvPr>
            <p:ph type="subTitle" idx="1"/>
          </p:nvPr>
        </p:nvSpPr>
        <p:spPr/>
        <p:txBody>
          <a:bodyPr>
            <a:normAutofit fontScale="92500" lnSpcReduction="20000"/>
          </a:bodyPr>
          <a:lstStyle/>
          <a:p>
            <a:r>
              <a:rPr lang="en-US" dirty="0"/>
              <a:t>Marc </a:t>
            </a:r>
            <a:r>
              <a:rPr lang="en-US" dirty="0" err="1"/>
              <a:t>Martos</a:t>
            </a:r>
            <a:r>
              <a:rPr lang="en-US" dirty="0"/>
              <a:t>-Vila, Matthew Rhodes-</a:t>
            </a:r>
            <a:r>
              <a:rPr lang="en-US" dirty="0" err="1"/>
              <a:t>Kropf</a:t>
            </a:r>
            <a:r>
              <a:rPr lang="en-US" dirty="0"/>
              <a:t>, and Jarrad Harford (2019)</a:t>
            </a:r>
          </a:p>
          <a:p>
            <a:r>
              <a:rPr lang="en-US" dirty="0"/>
              <a:t>Presented by Nicholas Thompson</a:t>
            </a:r>
          </a:p>
        </p:txBody>
      </p:sp>
    </p:spTree>
    <p:extLst>
      <p:ext uri="{BB962C8B-B14F-4D97-AF65-F5344CB8AC3E}">
        <p14:creationId xmlns:p14="http://schemas.microsoft.com/office/powerpoint/2010/main" val="292561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F83F-ED44-14C2-4EFB-5FE491196AE4}"/>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ECCF9893-4D0F-B841-5D4E-414C054E27A7}"/>
              </a:ext>
            </a:extLst>
          </p:cNvPr>
          <p:cNvSpPr>
            <a:spLocks noGrp="1"/>
          </p:cNvSpPr>
          <p:nvPr>
            <p:ph idx="1"/>
          </p:nvPr>
        </p:nvSpPr>
        <p:spPr/>
        <p:txBody>
          <a:bodyPr/>
          <a:lstStyle/>
          <a:p>
            <a:r>
              <a:rPr lang="en-US" dirty="0"/>
              <a:t>How does debt </a:t>
            </a:r>
            <a:r>
              <a:rPr lang="en-US" dirty="0" err="1"/>
              <a:t>misvaluation</a:t>
            </a:r>
            <a:r>
              <a:rPr lang="en-US" dirty="0"/>
              <a:t> impact the competition between financial buyers (private equity firms) and strategic buyers (operating companies) in M&amp;A?</a:t>
            </a:r>
          </a:p>
        </p:txBody>
      </p:sp>
    </p:spTree>
    <p:extLst>
      <p:ext uri="{BB962C8B-B14F-4D97-AF65-F5344CB8AC3E}">
        <p14:creationId xmlns:p14="http://schemas.microsoft.com/office/powerpoint/2010/main" val="60302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6F4E-BA5C-3940-40D6-065AB2ACA584}"/>
              </a:ext>
            </a:extLst>
          </p:cNvPr>
          <p:cNvSpPr>
            <a:spLocks noGrp="1"/>
          </p:cNvSpPr>
          <p:nvPr>
            <p:ph type="title"/>
          </p:nvPr>
        </p:nvSpPr>
        <p:spPr/>
        <p:txBody>
          <a:bodyPr/>
          <a:lstStyle/>
          <a:p>
            <a:r>
              <a:rPr lang="en-US" dirty="0"/>
              <a:t>Prior Literature</a:t>
            </a:r>
          </a:p>
        </p:txBody>
      </p:sp>
      <p:sp>
        <p:nvSpPr>
          <p:cNvPr id="3" name="Content Placeholder 2">
            <a:extLst>
              <a:ext uri="{FF2B5EF4-FFF2-40B4-BE49-F238E27FC236}">
                <a16:creationId xmlns:a16="http://schemas.microsoft.com/office/drawing/2014/main" id="{19B0C6AC-A9BF-6AC4-07F5-F7AF34E0F487}"/>
              </a:ext>
            </a:extLst>
          </p:cNvPr>
          <p:cNvSpPr>
            <a:spLocks noGrp="1"/>
          </p:cNvSpPr>
          <p:nvPr>
            <p:ph idx="1"/>
          </p:nvPr>
        </p:nvSpPr>
        <p:spPr/>
        <p:txBody>
          <a:bodyPr>
            <a:normAutofit fontScale="55000" lnSpcReduction="20000"/>
          </a:bodyPr>
          <a:lstStyle/>
          <a:p>
            <a:r>
              <a:rPr lang="en-US" dirty="0"/>
              <a:t>Many theories propose reasons that firms or industries may be ripe for acquisition activity (Jensen, 1986; Maksimovic &amp; Phillips, 2001; Gorton, Kahl, &amp; Rosen, 2009; Jovanovic &amp; Rousseau, 2002; Mitchell &amp; </a:t>
            </a:r>
            <a:r>
              <a:rPr lang="en-US" dirty="0" err="1"/>
              <a:t>Mulherin</a:t>
            </a:r>
            <a:r>
              <a:rPr lang="en-US" dirty="0"/>
              <a:t>, 1996; Lehn, Netter, &amp; Poulsen, 1990; </a:t>
            </a:r>
            <a:r>
              <a:rPr lang="en-US" dirty="0" err="1"/>
              <a:t>Mulherin</a:t>
            </a:r>
            <a:r>
              <a:rPr lang="en-US" dirty="0"/>
              <a:t> &amp; Boone, 2000; Harford, 2005).</a:t>
            </a:r>
          </a:p>
          <a:p>
            <a:r>
              <a:rPr lang="en-US" dirty="0"/>
              <a:t>Rhodes-</a:t>
            </a:r>
            <a:r>
              <a:rPr lang="en-US" dirty="0" err="1"/>
              <a:t>Kropf</a:t>
            </a:r>
            <a:r>
              <a:rPr lang="en-US" dirty="0"/>
              <a:t> and Viswanathan (2004) and Shleifer and </a:t>
            </a:r>
            <a:r>
              <a:rPr lang="en-US" dirty="0" err="1"/>
              <a:t>Vishny</a:t>
            </a:r>
            <a:r>
              <a:rPr lang="en-US" dirty="0"/>
              <a:t> (2003) suggest that strategic acquirers with overvalued stock will bid more, and overvalued targets are more willing to accept takeover offers.</a:t>
            </a:r>
          </a:p>
          <a:p>
            <a:r>
              <a:rPr lang="en-US" dirty="0"/>
              <a:t>Harford (2005) shows that interest rates are significantly inversely correlated with merger activity and argues that a low spread is a proxy for overall liquidity or ease of financing.</a:t>
            </a:r>
          </a:p>
          <a:p>
            <a:r>
              <a:rPr lang="en-US" dirty="0"/>
              <a:t>Prior research has not explored how debt </a:t>
            </a:r>
            <a:r>
              <a:rPr lang="en-US" dirty="0" err="1"/>
              <a:t>misvaluation</a:t>
            </a:r>
            <a:r>
              <a:rPr lang="en-US" dirty="0"/>
              <a:t> can fuel M&amp;A activity and alter the balance between financial and strategic buyers.</a:t>
            </a:r>
          </a:p>
        </p:txBody>
      </p:sp>
    </p:spTree>
    <p:extLst>
      <p:ext uri="{BB962C8B-B14F-4D97-AF65-F5344CB8AC3E}">
        <p14:creationId xmlns:p14="http://schemas.microsoft.com/office/powerpoint/2010/main" val="107093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F172-72A4-7605-9F0F-F47E04B8F21A}"/>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A3E5A10C-278F-0374-3006-A6CE8A9EA55C}"/>
              </a:ext>
            </a:extLst>
          </p:cNvPr>
          <p:cNvSpPr>
            <a:spLocks noGrp="1"/>
          </p:cNvSpPr>
          <p:nvPr>
            <p:ph idx="1"/>
          </p:nvPr>
        </p:nvSpPr>
        <p:spPr/>
        <p:txBody>
          <a:bodyPr>
            <a:normAutofit fontScale="77500" lnSpcReduction="20000"/>
          </a:bodyPr>
          <a:lstStyle/>
          <a:p>
            <a:r>
              <a:rPr lang="en-US" dirty="0"/>
              <a:t>M&amp;A data is from SDC Platinum database (1984–2010).</a:t>
            </a:r>
          </a:p>
          <a:p>
            <a:r>
              <a:rPr lang="en-US" dirty="0"/>
              <a:t>Focus is on M&amp;A transactions with public targets valued between $10 million and $1 billion.</a:t>
            </a:r>
          </a:p>
          <a:p>
            <a:r>
              <a:rPr lang="en-US" dirty="0"/>
              <a:t>The authors use a novel measure of debt </a:t>
            </a:r>
            <a:r>
              <a:rPr lang="en-US" dirty="0" err="1"/>
              <a:t>misvaluation</a:t>
            </a:r>
            <a:r>
              <a:rPr lang="en-US" dirty="0"/>
              <a:t> to analyze how overvaluation of debt influences M&amp;A activity and the balance between financial and strategic buyers.</a:t>
            </a:r>
          </a:p>
          <a:p>
            <a:r>
              <a:rPr lang="en-US" dirty="0"/>
              <a:t>Figure 1 from the paper highlights U.S. M&amp;A volume by type of buyer (private equity vs. strategic) from 1984 to 2010.</a:t>
            </a:r>
          </a:p>
        </p:txBody>
      </p:sp>
    </p:spTree>
    <p:extLst>
      <p:ext uri="{BB962C8B-B14F-4D97-AF65-F5344CB8AC3E}">
        <p14:creationId xmlns:p14="http://schemas.microsoft.com/office/powerpoint/2010/main" val="3645916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4F62A0D-7755-9D35-FA9F-7E91E01B454C}"/>
              </a:ext>
            </a:extLst>
          </p:cNvPr>
          <p:cNvPicPr>
            <a:picLocks noChangeAspect="1"/>
          </p:cNvPicPr>
          <p:nvPr/>
        </p:nvPicPr>
        <p:blipFill>
          <a:blip r:embed="rId3"/>
          <a:stretch>
            <a:fillRect/>
          </a:stretch>
        </p:blipFill>
        <p:spPr>
          <a:xfrm>
            <a:off x="1252678" y="87464"/>
            <a:ext cx="9686644" cy="5769314"/>
          </a:xfrm>
          <a:prstGeom prst="rect">
            <a:avLst/>
          </a:prstGeom>
        </p:spPr>
      </p:pic>
    </p:spTree>
    <p:extLst>
      <p:ext uri="{BB962C8B-B14F-4D97-AF65-F5344CB8AC3E}">
        <p14:creationId xmlns:p14="http://schemas.microsoft.com/office/powerpoint/2010/main" val="3256387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BB79FE-702F-4A2D-0ADD-FCDA0B7EF40F}"/>
              </a:ext>
            </a:extLst>
          </p:cNvPr>
          <p:cNvPicPr>
            <a:picLocks noChangeAspect="1"/>
          </p:cNvPicPr>
          <p:nvPr/>
        </p:nvPicPr>
        <p:blipFill>
          <a:blip r:embed="rId2"/>
          <a:stretch>
            <a:fillRect/>
          </a:stretch>
        </p:blipFill>
        <p:spPr>
          <a:xfrm>
            <a:off x="0" y="669437"/>
            <a:ext cx="12192000" cy="4564968"/>
          </a:xfrm>
          <a:prstGeom prst="rect">
            <a:avLst/>
          </a:prstGeom>
        </p:spPr>
      </p:pic>
    </p:spTree>
    <p:extLst>
      <p:ext uri="{BB962C8B-B14F-4D97-AF65-F5344CB8AC3E}">
        <p14:creationId xmlns:p14="http://schemas.microsoft.com/office/powerpoint/2010/main" val="1367506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A97A2E0-F8C3-F3D1-157A-6CE13F3A8FB2}"/>
              </a:ext>
            </a:extLst>
          </p:cNvPr>
          <p:cNvPicPr>
            <a:picLocks noChangeAspect="1"/>
          </p:cNvPicPr>
          <p:nvPr/>
        </p:nvPicPr>
        <p:blipFill>
          <a:blip r:embed="rId3"/>
          <a:srcRect b="64706"/>
          <a:stretch/>
        </p:blipFill>
        <p:spPr>
          <a:xfrm>
            <a:off x="1672219" y="421340"/>
            <a:ext cx="8847561" cy="24204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862392D8-F9E2-A951-EB42-1E9F9A3A1479}"/>
              </a:ext>
            </a:extLst>
          </p:cNvPr>
          <p:cNvPicPr>
            <a:picLocks noChangeAspect="1"/>
          </p:cNvPicPr>
          <p:nvPr/>
        </p:nvPicPr>
        <p:blipFill>
          <a:blip r:embed="rId3"/>
          <a:srcRect t="70719"/>
          <a:stretch/>
        </p:blipFill>
        <p:spPr>
          <a:xfrm>
            <a:off x="1672219" y="3218330"/>
            <a:ext cx="8847561" cy="20080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84864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9A521A-A000-DA94-FCF9-078E523D0658}"/>
              </a:ext>
            </a:extLst>
          </p:cNvPr>
          <p:cNvPicPr>
            <a:picLocks noChangeAspect="1"/>
          </p:cNvPicPr>
          <p:nvPr/>
        </p:nvPicPr>
        <p:blipFill>
          <a:blip r:embed="rId3"/>
          <a:srcRect b="94667"/>
          <a:stretch/>
        </p:blipFill>
        <p:spPr>
          <a:xfrm>
            <a:off x="1174084" y="832103"/>
            <a:ext cx="9843825" cy="6618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2D5A999A-71DC-F131-50B4-D54792601A75}"/>
              </a:ext>
            </a:extLst>
          </p:cNvPr>
          <p:cNvPicPr>
            <a:picLocks noChangeAspect="1"/>
          </p:cNvPicPr>
          <p:nvPr/>
        </p:nvPicPr>
        <p:blipFill>
          <a:blip r:embed="rId3"/>
          <a:srcRect t="91600"/>
          <a:stretch/>
        </p:blipFill>
        <p:spPr>
          <a:xfrm>
            <a:off x="1174078" y="2002536"/>
            <a:ext cx="9843831" cy="10424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03ACF96F-45B1-D961-056D-76BD4095B04B}"/>
              </a:ext>
            </a:extLst>
          </p:cNvPr>
          <p:cNvSpPr txBox="1"/>
          <p:nvPr/>
        </p:nvSpPr>
        <p:spPr>
          <a:xfrm>
            <a:off x="1174085" y="3429000"/>
            <a:ext cx="9843824" cy="1569660"/>
          </a:xfrm>
          <a:prstGeom prst="rect">
            <a:avLst/>
          </a:prstGeom>
          <a:noFill/>
        </p:spPr>
        <p:txBody>
          <a:bodyPr wrap="square" rtlCol="0">
            <a:spAutoFit/>
          </a:bodyPr>
          <a:lstStyle/>
          <a:p>
            <a:r>
              <a:rPr lang="en-US" sz="2400" b="1" dirty="0"/>
              <a:t>Explanation</a:t>
            </a:r>
            <a:r>
              <a:rPr lang="en-US" sz="2400" dirty="0"/>
              <a:t>:</a:t>
            </a:r>
          </a:p>
          <a:p>
            <a:pPr marL="285750" indent="-285750">
              <a:buFont typeface="Arial" panose="020B0604020202020204" pitchFamily="34" charset="0"/>
              <a:buChar char="•"/>
            </a:pPr>
            <a:r>
              <a:rPr lang="en-US" sz="2400" dirty="0"/>
              <a:t>The novel aspect of the model is that only if the perceived incentive-compatibility (IC) constraint (equation (2)) holds will investors invest, but only if the actual IC constraint (equation (3)) holds will managers work hard.</a:t>
            </a:r>
          </a:p>
        </p:txBody>
      </p:sp>
    </p:spTree>
    <p:extLst>
      <p:ext uri="{BB962C8B-B14F-4D97-AF65-F5344CB8AC3E}">
        <p14:creationId xmlns:p14="http://schemas.microsoft.com/office/powerpoint/2010/main" val="915482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0BDEB0F-FEF4-3524-90BC-B9A7825901ED}"/>
              </a:ext>
            </a:extLst>
          </p:cNvPr>
          <p:cNvSpPr txBox="1"/>
          <p:nvPr/>
        </p:nvSpPr>
        <p:spPr>
          <a:xfrm>
            <a:off x="1526131" y="3292535"/>
            <a:ext cx="9139723" cy="2308324"/>
          </a:xfrm>
          <a:prstGeom prst="rect">
            <a:avLst/>
          </a:prstGeom>
          <a:noFill/>
        </p:spPr>
        <p:txBody>
          <a:bodyPr wrap="square" rtlCol="0">
            <a:spAutoFit/>
          </a:bodyPr>
          <a:lstStyle/>
          <a:p>
            <a:r>
              <a:rPr lang="en-US" sz="2400" b="1" dirty="0"/>
              <a:t>Explanation</a:t>
            </a:r>
            <a:r>
              <a:rPr lang="en-US" sz="2400" dirty="0"/>
              <a:t>:</a:t>
            </a:r>
          </a:p>
          <a:p>
            <a:pPr marL="285750" indent="-285750">
              <a:buFont typeface="Arial" panose="020B0604020202020204" pitchFamily="34" charset="0"/>
              <a:buChar char="•"/>
            </a:pPr>
            <a:r>
              <a:rPr lang="en-US" sz="2400" dirty="0"/>
              <a:t>The strategic buyer is willing to raise its offer until a constraint binds.</a:t>
            </a:r>
          </a:p>
          <a:p>
            <a:pPr marL="742950" lvl="1" indent="-285750">
              <a:buFont typeface="Arial" panose="020B0604020202020204" pitchFamily="34" charset="0"/>
              <a:buChar char="•"/>
            </a:pPr>
            <a:r>
              <a:rPr lang="en-US" sz="2400" dirty="0"/>
              <a:t>In some cases, it will bind at a point where the real IC constraint is met (equation (4a)): manager works hard.</a:t>
            </a:r>
          </a:p>
          <a:p>
            <a:pPr marL="742950" lvl="1" indent="-285750">
              <a:buFont typeface="Arial" panose="020B0604020202020204" pitchFamily="34" charset="0"/>
              <a:buChar char="•"/>
            </a:pPr>
            <a:r>
              <a:rPr lang="en-US" sz="2400" dirty="0"/>
              <a:t>Alternatively, it will bind at a point where the real IC constraint is not met (equation (4b)): manager shirks.</a:t>
            </a:r>
          </a:p>
        </p:txBody>
      </p:sp>
      <p:pic>
        <p:nvPicPr>
          <p:cNvPr id="3" name="Picture 2">
            <a:extLst>
              <a:ext uri="{FF2B5EF4-FFF2-40B4-BE49-F238E27FC236}">
                <a16:creationId xmlns:a16="http://schemas.microsoft.com/office/drawing/2014/main" id="{23B4F082-0722-DDF8-1DA3-173C5E7E9DD7}"/>
              </a:ext>
            </a:extLst>
          </p:cNvPr>
          <p:cNvPicPr>
            <a:picLocks noChangeAspect="1"/>
          </p:cNvPicPr>
          <p:nvPr/>
        </p:nvPicPr>
        <p:blipFill>
          <a:blip r:embed="rId3"/>
          <a:stretch>
            <a:fillRect/>
          </a:stretch>
        </p:blipFill>
        <p:spPr>
          <a:xfrm>
            <a:off x="1526130" y="539848"/>
            <a:ext cx="9139723" cy="24688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56241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0BDEB0F-FEF4-3524-90BC-B9A7825901ED}"/>
              </a:ext>
            </a:extLst>
          </p:cNvPr>
          <p:cNvSpPr txBox="1"/>
          <p:nvPr/>
        </p:nvSpPr>
        <p:spPr>
          <a:xfrm>
            <a:off x="171476" y="2832474"/>
            <a:ext cx="4786114" cy="1938992"/>
          </a:xfrm>
          <a:prstGeom prst="rect">
            <a:avLst/>
          </a:prstGeom>
          <a:noFill/>
        </p:spPr>
        <p:txBody>
          <a:bodyPr wrap="square" rtlCol="0">
            <a:spAutoFit/>
          </a:bodyPr>
          <a:lstStyle/>
          <a:p>
            <a:r>
              <a:rPr lang="en-US" sz="2400" b="1" dirty="0"/>
              <a:t>Explanation</a:t>
            </a:r>
            <a:r>
              <a:rPr lang="en-US" sz="2400" dirty="0"/>
              <a:t>:</a:t>
            </a:r>
          </a:p>
          <a:p>
            <a:pPr marL="342900" indent="-342900">
              <a:buFont typeface="Arial" panose="020B0604020202020204" pitchFamily="34" charset="0"/>
              <a:buChar char="•"/>
            </a:pPr>
            <a:r>
              <a:rPr lang="en-US" sz="2400" dirty="0"/>
              <a:t>Follows the same logic as Proposition 1, except for PE ((8a), (8b)) and stand-alone ((9a), (9b)) firms.</a:t>
            </a:r>
          </a:p>
        </p:txBody>
      </p:sp>
      <p:pic>
        <p:nvPicPr>
          <p:cNvPr id="4" name="Picture 3">
            <a:extLst>
              <a:ext uri="{FF2B5EF4-FFF2-40B4-BE49-F238E27FC236}">
                <a16:creationId xmlns:a16="http://schemas.microsoft.com/office/drawing/2014/main" id="{73CC4835-B97D-CDDC-5D9B-4667DC5CDDCE}"/>
              </a:ext>
            </a:extLst>
          </p:cNvPr>
          <p:cNvPicPr>
            <a:picLocks noChangeAspect="1"/>
          </p:cNvPicPr>
          <p:nvPr/>
        </p:nvPicPr>
        <p:blipFill>
          <a:blip r:embed="rId3"/>
          <a:stretch>
            <a:fillRect/>
          </a:stretch>
        </p:blipFill>
        <p:spPr>
          <a:xfrm>
            <a:off x="171476" y="434560"/>
            <a:ext cx="6756550" cy="21031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77631B2F-6DAA-5717-FA80-C00895CDE525}"/>
              </a:ext>
            </a:extLst>
          </p:cNvPr>
          <p:cNvPicPr>
            <a:picLocks noChangeAspect="1"/>
          </p:cNvPicPr>
          <p:nvPr/>
        </p:nvPicPr>
        <p:blipFill>
          <a:blip r:embed="rId4"/>
          <a:stretch>
            <a:fillRect/>
          </a:stretch>
        </p:blipFill>
        <p:spPr>
          <a:xfrm>
            <a:off x="5223097" y="2832474"/>
            <a:ext cx="6797427" cy="21031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66169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0BDEB0F-FEF4-3524-90BC-B9A7825901ED}"/>
                  </a:ext>
                </a:extLst>
              </p:cNvPr>
              <p:cNvSpPr txBox="1"/>
              <p:nvPr/>
            </p:nvSpPr>
            <p:spPr>
              <a:xfrm>
                <a:off x="1249544" y="2644170"/>
                <a:ext cx="9692908" cy="2677656"/>
              </a:xfrm>
              <a:prstGeom prst="rect">
                <a:avLst/>
              </a:prstGeom>
              <a:noFill/>
            </p:spPr>
            <p:txBody>
              <a:bodyPr wrap="square" rtlCol="0">
                <a:spAutoFit/>
              </a:bodyPr>
              <a:lstStyle/>
              <a:p>
                <a:r>
                  <a:rPr lang="en-US" sz="2400" b="1" dirty="0"/>
                  <a:t>Explanation</a:t>
                </a:r>
                <a:r>
                  <a:rPr lang="en-US" sz="2400" dirty="0"/>
                  <a:t>:</a:t>
                </a:r>
              </a:p>
              <a:p>
                <a:pPr marL="285750" indent="-285750">
                  <a:buFont typeface="Arial" panose="020B0604020202020204" pitchFamily="34" charset="0"/>
                  <a:buChar char="•"/>
                </a:pPr>
                <a:r>
                  <a:rPr lang="en-US" sz="2400" dirty="0"/>
                  <a:t>When the debt market is overvalued (i.e., investors overestimate the success probability,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𝑝</m:t>
                        </m:r>
                        <m:r>
                          <a:rPr lang="en-US" sz="2400" b="0" i="1" smtClean="0">
                            <a:latin typeface="Cambria Math" panose="02040503050406030204" pitchFamily="18" charset="0"/>
                          </a:rPr>
                          <m:t>′</m:t>
                        </m:r>
                      </m:e>
                      <m:sub>
                        <m:r>
                          <a:rPr lang="en-US" sz="2400" b="0" i="1" smtClean="0">
                            <a:latin typeface="Cambria Math" panose="02040503050406030204" pitchFamily="18" charset="0"/>
                          </a:rPr>
                          <m:t>𝐻</m:t>
                        </m:r>
                      </m:sub>
                    </m:sSub>
                    <m:r>
                      <a:rPr lang="en-US" sz="2400" b="0" i="1" smtClean="0">
                        <a:latin typeface="Cambria Math" panose="02040503050406030204" pitchFamily="18" charset="0"/>
                      </a:rPr>
                      <m:t>&gt;</m:t>
                    </m:r>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𝐻</m:t>
                        </m:r>
                      </m:sub>
                    </m:sSub>
                  </m:oMath>
                </a14:m>
                <a:r>
                  <a:rPr lang="en-US" sz="2400" dirty="0"/>
                  <a:t>), PE firms have a higher WTP compared to strategic buyers.</a:t>
                </a:r>
              </a:p>
              <a:p>
                <a:pPr marL="285750" indent="-285750">
                  <a:buFont typeface="Arial" panose="020B0604020202020204" pitchFamily="34" charset="0"/>
                  <a:buChar char="•"/>
                </a:pPr>
                <a:r>
                  <a:rPr lang="en-US" sz="2400" dirty="0"/>
                  <a:t>The interaction of </a:t>
                </a:r>
                <a:r>
                  <a:rPr lang="en-US" sz="2400" dirty="0" err="1"/>
                  <a:t>misvaluation</a:t>
                </a:r>
                <a:r>
                  <a:rPr lang="en-US" sz="2400" dirty="0"/>
                  <a:t> and coinsurance helps PE firms outbid strategic buyers because investors’ misperception of the value of the projects causes them to also misperceive the value of coinsurance.</a:t>
                </a:r>
              </a:p>
            </p:txBody>
          </p:sp>
        </mc:Choice>
        <mc:Fallback xmlns="">
          <p:sp>
            <p:nvSpPr>
              <p:cNvPr id="14" name="TextBox 13">
                <a:extLst>
                  <a:ext uri="{FF2B5EF4-FFF2-40B4-BE49-F238E27FC236}">
                    <a16:creationId xmlns:a16="http://schemas.microsoft.com/office/drawing/2014/main" id="{B0BDEB0F-FEF4-3524-90BC-B9A7825901ED}"/>
                  </a:ext>
                </a:extLst>
              </p:cNvPr>
              <p:cNvSpPr txBox="1">
                <a:spLocks noRot="1" noChangeAspect="1" noMove="1" noResize="1" noEditPoints="1" noAdjustHandles="1" noChangeArrowheads="1" noChangeShapeType="1" noTextEdit="1"/>
              </p:cNvSpPr>
              <p:nvPr/>
            </p:nvSpPr>
            <p:spPr>
              <a:xfrm>
                <a:off x="1249544" y="2644170"/>
                <a:ext cx="9692908" cy="2677656"/>
              </a:xfrm>
              <a:prstGeom prst="rect">
                <a:avLst/>
              </a:prstGeom>
              <a:blipFill>
                <a:blip r:embed="rId3"/>
                <a:stretch>
                  <a:fillRect l="-1006" t="-1822" b="-432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C0BA208-57C6-C94E-704B-25B121BE134B}"/>
              </a:ext>
            </a:extLst>
          </p:cNvPr>
          <p:cNvPicPr>
            <a:picLocks noChangeAspect="1"/>
          </p:cNvPicPr>
          <p:nvPr/>
        </p:nvPicPr>
        <p:blipFill>
          <a:blip r:embed="rId4"/>
          <a:stretch>
            <a:fillRect/>
          </a:stretch>
        </p:blipFill>
        <p:spPr>
          <a:xfrm>
            <a:off x="1249543" y="346646"/>
            <a:ext cx="9692909" cy="21031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62911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0BDEB0F-FEF4-3524-90BC-B9A7825901ED}"/>
              </a:ext>
            </a:extLst>
          </p:cNvPr>
          <p:cNvSpPr txBox="1"/>
          <p:nvPr/>
        </p:nvSpPr>
        <p:spPr>
          <a:xfrm>
            <a:off x="1019802" y="2856666"/>
            <a:ext cx="10152392" cy="1938992"/>
          </a:xfrm>
          <a:prstGeom prst="rect">
            <a:avLst/>
          </a:prstGeom>
          <a:noFill/>
        </p:spPr>
        <p:txBody>
          <a:bodyPr wrap="square" rtlCol="0">
            <a:spAutoFit/>
          </a:bodyPr>
          <a:lstStyle/>
          <a:p>
            <a:r>
              <a:rPr lang="en-US" sz="2400" b="1" dirty="0"/>
              <a:t>Explanation</a:t>
            </a:r>
            <a:r>
              <a:rPr lang="en-US" sz="2400" dirty="0"/>
              <a:t>:</a:t>
            </a:r>
          </a:p>
          <a:p>
            <a:pPr marL="342900" indent="-342900">
              <a:buFont typeface="Arial" panose="020B0604020202020204" pitchFamily="34" charset="0"/>
              <a:buChar char="•"/>
            </a:pPr>
            <a:r>
              <a:rPr lang="en-US" sz="2400" dirty="0"/>
              <a:t>The relative dominance of PE should be even greater as compared to conglomerate strategic buyers (buyers from different industries) because conglomerate buyers are more diversified and should be more impacted by the coinsurance/</a:t>
            </a:r>
            <a:r>
              <a:rPr lang="en-US" sz="2400" dirty="0" err="1"/>
              <a:t>misvaluation</a:t>
            </a:r>
            <a:r>
              <a:rPr lang="en-US" sz="2400" dirty="0"/>
              <a:t> interaction effect.</a:t>
            </a:r>
          </a:p>
        </p:txBody>
      </p:sp>
      <p:pic>
        <p:nvPicPr>
          <p:cNvPr id="3" name="Picture 2">
            <a:extLst>
              <a:ext uri="{FF2B5EF4-FFF2-40B4-BE49-F238E27FC236}">
                <a16:creationId xmlns:a16="http://schemas.microsoft.com/office/drawing/2014/main" id="{BA76C5F9-3EBF-7972-DFA1-9399D7792B12}"/>
              </a:ext>
            </a:extLst>
          </p:cNvPr>
          <p:cNvPicPr>
            <a:picLocks noChangeAspect="1"/>
          </p:cNvPicPr>
          <p:nvPr/>
        </p:nvPicPr>
        <p:blipFill>
          <a:blip r:embed="rId3"/>
          <a:stretch>
            <a:fillRect/>
          </a:stretch>
        </p:blipFill>
        <p:spPr>
          <a:xfrm>
            <a:off x="1019802" y="1043283"/>
            <a:ext cx="10152393" cy="1371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42697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0BDEB0F-FEF4-3524-90BC-B9A7825901ED}"/>
              </a:ext>
            </a:extLst>
          </p:cNvPr>
          <p:cNvSpPr txBox="1"/>
          <p:nvPr/>
        </p:nvSpPr>
        <p:spPr>
          <a:xfrm>
            <a:off x="649995" y="2068342"/>
            <a:ext cx="10792111" cy="3416320"/>
          </a:xfrm>
          <a:prstGeom prst="rect">
            <a:avLst/>
          </a:prstGeom>
          <a:noFill/>
        </p:spPr>
        <p:txBody>
          <a:bodyPr wrap="square" rtlCol="0">
            <a:spAutoFit/>
          </a:bodyPr>
          <a:lstStyle/>
          <a:p>
            <a:r>
              <a:rPr lang="en-US" sz="2400" b="1" dirty="0"/>
              <a:t>Explanation</a:t>
            </a:r>
            <a:r>
              <a:rPr lang="en-US" sz="2400" dirty="0"/>
              <a:t>:</a:t>
            </a:r>
          </a:p>
          <a:p>
            <a:pPr marL="285750" indent="-285750">
              <a:buFont typeface="Arial" panose="020B0604020202020204" pitchFamily="34" charset="0"/>
              <a:buChar char="•"/>
            </a:pPr>
            <a:r>
              <a:rPr lang="en-US" sz="2400" dirty="0"/>
              <a:t>Because </a:t>
            </a:r>
            <a:r>
              <a:rPr lang="en-US" sz="2400" dirty="0" err="1"/>
              <a:t>misvaluation</a:t>
            </a:r>
            <a:r>
              <a:rPr lang="en-US" sz="2400" dirty="0"/>
              <a:t> causes the investor to incorrectly perceive probabilities, a difference between the true and perceived IC constraint appears. Absent </a:t>
            </a:r>
            <a:r>
              <a:rPr lang="en-US" sz="2400" dirty="0" err="1"/>
              <a:t>misvaluation</a:t>
            </a:r>
            <a:r>
              <a:rPr lang="en-US" sz="2400" dirty="0"/>
              <a:t>, only the no-private-benefit project is funded in equilibrium because it is the only economically viable project. However, with </a:t>
            </a:r>
            <a:r>
              <a:rPr lang="en-US" sz="2400" dirty="0" err="1"/>
              <a:t>misvaluation</a:t>
            </a:r>
            <a:r>
              <a:rPr lang="en-US" sz="2400" dirty="0"/>
              <a:t>, if the perceived IC holds while the true IC does not, then a firm will be funded even though the manager shirks in equilibrium.</a:t>
            </a:r>
          </a:p>
          <a:p>
            <a:pPr marL="285750" indent="-285750">
              <a:buFont typeface="Arial" panose="020B0604020202020204" pitchFamily="34" charset="0"/>
              <a:buChar char="•"/>
            </a:pPr>
            <a:r>
              <a:rPr lang="en-US" sz="2400" dirty="0"/>
              <a:t>Equilibrium shirking is possible precisely because investors perceive the moral hazard problem to be better than it is.</a:t>
            </a:r>
          </a:p>
        </p:txBody>
      </p:sp>
      <p:pic>
        <p:nvPicPr>
          <p:cNvPr id="3" name="Picture 2">
            <a:extLst>
              <a:ext uri="{FF2B5EF4-FFF2-40B4-BE49-F238E27FC236}">
                <a16:creationId xmlns:a16="http://schemas.microsoft.com/office/drawing/2014/main" id="{C41D7771-003A-9543-70D9-8251BE0A5B7E}"/>
              </a:ext>
            </a:extLst>
          </p:cNvPr>
          <p:cNvPicPr>
            <a:picLocks noChangeAspect="1"/>
          </p:cNvPicPr>
          <p:nvPr/>
        </p:nvPicPr>
        <p:blipFill>
          <a:blip r:embed="rId3"/>
          <a:stretch>
            <a:fillRect/>
          </a:stretch>
        </p:blipFill>
        <p:spPr>
          <a:xfrm>
            <a:off x="749893" y="605858"/>
            <a:ext cx="10692213" cy="10058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09531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0BDEB0F-FEF4-3524-90BC-B9A7825901ED}"/>
              </a:ext>
            </a:extLst>
          </p:cNvPr>
          <p:cNvSpPr txBox="1"/>
          <p:nvPr/>
        </p:nvSpPr>
        <p:spPr>
          <a:xfrm>
            <a:off x="1770528" y="2652236"/>
            <a:ext cx="8650940" cy="3046988"/>
          </a:xfrm>
          <a:prstGeom prst="rect">
            <a:avLst/>
          </a:prstGeom>
          <a:noFill/>
        </p:spPr>
        <p:txBody>
          <a:bodyPr wrap="square" rtlCol="0">
            <a:spAutoFit/>
          </a:bodyPr>
          <a:lstStyle/>
          <a:p>
            <a:r>
              <a:rPr lang="en-US" sz="2400" b="1" dirty="0"/>
              <a:t>Explanation</a:t>
            </a:r>
            <a:r>
              <a:rPr lang="en-US" sz="2400" dirty="0"/>
              <a:t>:</a:t>
            </a:r>
          </a:p>
          <a:p>
            <a:pPr marL="342900" indent="-342900">
              <a:buFont typeface="Arial" panose="020B0604020202020204" pitchFamily="34" charset="0"/>
              <a:buChar char="•"/>
            </a:pPr>
            <a:r>
              <a:rPr lang="en-US" sz="2400" dirty="0"/>
              <a:t>Because with overvaluation the perception of the moral hazard problem is better (Proposition 4), it implies that investors perceive the monitoring costs to be lower and thus perceive the total value creation of a financial buyer to be greater. This increases the investors’ willingness-to-lend to the financial buyer, which in turn both changes the set of PE firms that can win and increases their relative WTP.</a:t>
            </a:r>
          </a:p>
        </p:txBody>
      </p:sp>
      <p:pic>
        <p:nvPicPr>
          <p:cNvPr id="4" name="Picture 3">
            <a:extLst>
              <a:ext uri="{FF2B5EF4-FFF2-40B4-BE49-F238E27FC236}">
                <a16:creationId xmlns:a16="http://schemas.microsoft.com/office/drawing/2014/main" id="{E57B6A7B-3E95-6F05-416B-D5D1E6BBC405}"/>
              </a:ext>
            </a:extLst>
          </p:cNvPr>
          <p:cNvPicPr>
            <a:picLocks noChangeAspect="1"/>
          </p:cNvPicPr>
          <p:nvPr/>
        </p:nvPicPr>
        <p:blipFill>
          <a:blip r:embed="rId3"/>
          <a:stretch>
            <a:fillRect/>
          </a:stretch>
        </p:blipFill>
        <p:spPr>
          <a:xfrm>
            <a:off x="1770528" y="231309"/>
            <a:ext cx="8810278" cy="2286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99349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0BDEB0F-FEF4-3524-90BC-B9A7825901ED}"/>
              </a:ext>
            </a:extLst>
          </p:cNvPr>
          <p:cNvSpPr txBox="1"/>
          <p:nvPr/>
        </p:nvSpPr>
        <p:spPr>
          <a:xfrm>
            <a:off x="191565" y="3609109"/>
            <a:ext cx="11808870" cy="1938992"/>
          </a:xfrm>
          <a:prstGeom prst="rect">
            <a:avLst/>
          </a:prstGeom>
          <a:noFill/>
        </p:spPr>
        <p:txBody>
          <a:bodyPr wrap="square" rtlCol="0">
            <a:spAutoFit/>
          </a:bodyPr>
          <a:lstStyle/>
          <a:p>
            <a:r>
              <a:rPr lang="en-US" sz="2400" b="1" dirty="0"/>
              <a:t>Explanation</a:t>
            </a:r>
            <a:r>
              <a:rPr lang="en-US" sz="2400" dirty="0"/>
              <a:t>:</a:t>
            </a:r>
          </a:p>
          <a:p>
            <a:pPr marL="342900" indent="-342900">
              <a:buFont typeface="Arial" panose="020B0604020202020204" pitchFamily="34" charset="0"/>
              <a:buChar char="•"/>
            </a:pPr>
            <a:r>
              <a:rPr lang="en-US" sz="2400" dirty="0"/>
              <a:t>Overvaluation reduces the perception of moral hazard, therefore loosening the constraints on all types of organizational forms, but unambiguously increases PE activity.</a:t>
            </a:r>
          </a:p>
          <a:p>
            <a:pPr marL="342900" indent="-342900">
              <a:buFont typeface="Arial" panose="020B0604020202020204" pitchFamily="34" charset="0"/>
              <a:buChar char="•"/>
            </a:pPr>
            <a:r>
              <a:rPr lang="en-US" sz="2400" dirty="0"/>
              <a:t>The overvaluation’s extensive margin not only changes the ratio of financial to strategic acquirers but also increases overall acquisition activity.</a:t>
            </a:r>
          </a:p>
        </p:txBody>
      </p:sp>
      <p:pic>
        <p:nvPicPr>
          <p:cNvPr id="3" name="Picture 2">
            <a:extLst>
              <a:ext uri="{FF2B5EF4-FFF2-40B4-BE49-F238E27FC236}">
                <a16:creationId xmlns:a16="http://schemas.microsoft.com/office/drawing/2014/main" id="{BA1148F3-2582-A213-2962-D6647F848DE9}"/>
              </a:ext>
            </a:extLst>
          </p:cNvPr>
          <p:cNvPicPr>
            <a:picLocks noChangeAspect="1"/>
          </p:cNvPicPr>
          <p:nvPr/>
        </p:nvPicPr>
        <p:blipFill>
          <a:blip r:embed="rId3"/>
          <a:stretch>
            <a:fillRect/>
          </a:stretch>
        </p:blipFill>
        <p:spPr>
          <a:xfrm>
            <a:off x="191565" y="201626"/>
            <a:ext cx="6669856" cy="2011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C4385EE0-35C7-0D25-AEDC-D89CBBBC5DE9}"/>
              </a:ext>
            </a:extLst>
          </p:cNvPr>
          <p:cNvPicPr>
            <a:picLocks noChangeAspect="1"/>
          </p:cNvPicPr>
          <p:nvPr/>
        </p:nvPicPr>
        <p:blipFill>
          <a:blip r:embed="rId4"/>
          <a:stretch>
            <a:fillRect/>
          </a:stretch>
        </p:blipFill>
        <p:spPr>
          <a:xfrm>
            <a:off x="2468880" y="2514600"/>
            <a:ext cx="9531555" cy="914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99372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B5104E-71B9-F3C2-E72F-73473A95CDD7}"/>
              </a:ext>
            </a:extLst>
          </p:cNvPr>
          <p:cNvPicPr>
            <a:picLocks noChangeAspect="1"/>
          </p:cNvPicPr>
          <p:nvPr/>
        </p:nvPicPr>
        <p:blipFill>
          <a:blip r:embed="rId2"/>
          <a:stretch>
            <a:fillRect/>
          </a:stretch>
        </p:blipFill>
        <p:spPr>
          <a:xfrm>
            <a:off x="1887119" y="0"/>
            <a:ext cx="8417761" cy="6858000"/>
          </a:xfrm>
          <a:prstGeom prst="rect">
            <a:avLst/>
          </a:prstGeom>
        </p:spPr>
      </p:pic>
    </p:spTree>
    <p:extLst>
      <p:ext uri="{BB962C8B-B14F-4D97-AF65-F5344CB8AC3E}">
        <p14:creationId xmlns:p14="http://schemas.microsoft.com/office/powerpoint/2010/main" val="2025546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389F8F-8395-908E-D0A7-E68F4F655645}"/>
              </a:ext>
            </a:extLst>
          </p:cNvPr>
          <p:cNvPicPr>
            <a:picLocks noChangeAspect="1"/>
          </p:cNvPicPr>
          <p:nvPr/>
        </p:nvPicPr>
        <p:blipFill>
          <a:blip r:embed="rId3"/>
          <a:stretch>
            <a:fillRect/>
          </a:stretch>
        </p:blipFill>
        <p:spPr>
          <a:xfrm>
            <a:off x="2332803" y="0"/>
            <a:ext cx="7526394" cy="6858000"/>
          </a:xfrm>
          <a:prstGeom prst="rect">
            <a:avLst/>
          </a:prstGeom>
        </p:spPr>
      </p:pic>
    </p:spTree>
    <p:extLst>
      <p:ext uri="{BB962C8B-B14F-4D97-AF65-F5344CB8AC3E}">
        <p14:creationId xmlns:p14="http://schemas.microsoft.com/office/powerpoint/2010/main" val="700073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4453E5-0A77-2E2C-E4F4-8851D189276C}"/>
              </a:ext>
            </a:extLst>
          </p:cNvPr>
          <p:cNvPicPr>
            <a:picLocks noChangeAspect="1"/>
          </p:cNvPicPr>
          <p:nvPr/>
        </p:nvPicPr>
        <p:blipFill>
          <a:blip r:embed="rId3"/>
          <a:stretch>
            <a:fillRect/>
          </a:stretch>
        </p:blipFill>
        <p:spPr>
          <a:xfrm>
            <a:off x="977927" y="0"/>
            <a:ext cx="10236146" cy="6858000"/>
          </a:xfrm>
          <a:prstGeom prst="rect">
            <a:avLst/>
          </a:prstGeom>
        </p:spPr>
      </p:pic>
    </p:spTree>
    <p:extLst>
      <p:ext uri="{BB962C8B-B14F-4D97-AF65-F5344CB8AC3E}">
        <p14:creationId xmlns:p14="http://schemas.microsoft.com/office/powerpoint/2010/main" val="3316204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5D5AA3-82C9-6EDC-1D63-AB5D3133A9AE}"/>
              </a:ext>
            </a:extLst>
          </p:cNvPr>
          <p:cNvPicPr>
            <a:picLocks noChangeAspect="1"/>
          </p:cNvPicPr>
          <p:nvPr/>
        </p:nvPicPr>
        <p:blipFill>
          <a:blip r:embed="rId3"/>
          <a:stretch>
            <a:fillRect/>
          </a:stretch>
        </p:blipFill>
        <p:spPr>
          <a:xfrm>
            <a:off x="1535884" y="0"/>
            <a:ext cx="9120232" cy="6858000"/>
          </a:xfrm>
          <a:prstGeom prst="rect">
            <a:avLst/>
          </a:prstGeom>
        </p:spPr>
      </p:pic>
    </p:spTree>
    <p:extLst>
      <p:ext uri="{BB962C8B-B14F-4D97-AF65-F5344CB8AC3E}">
        <p14:creationId xmlns:p14="http://schemas.microsoft.com/office/powerpoint/2010/main" val="1879207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AB95E1-C5DC-F440-A173-DFF9D944EEE2}"/>
              </a:ext>
            </a:extLst>
          </p:cNvPr>
          <p:cNvPicPr>
            <a:picLocks noChangeAspect="1"/>
          </p:cNvPicPr>
          <p:nvPr/>
        </p:nvPicPr>
        <p:blipFill>
          <a:blip r:embed="rId3"/>
          <a:stretch>
            <a:fillRect/>
          </a:stretch>
        </p:blipFill>
        <p:spPr>
          <a:xfrm>
            <a:off x="2673750" y="0"/>
            <a:ext cx="6844500" cy="6858000"/>
          </a:xfrm>
          <a:prstGeom prst="rect">
            <a:avLst/>
          </a:prstGeom>
        </p:spPr>
      </p:pic>
    </p:spTree>
    <p:extLst>
      <p:ext uri="{BB962C8B-B14F-4D97-AF65-F5344CB8AC3E}">
        <p14:creationId xmlns:p14="http://schemas.microsoft.com/office/powerpoint/2010/main" val="614530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28A45-0979-A6D0-3453-519633491FF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249C414-D1FB-ACC3-FD6C-7953EA70817F}"/>
              </a:ext>
            </a:extLst>
          </p:cNvPr>
          <p:cNvSpPr>
            <a:spLocks noGrp="1"/>
          </p:cNvSpPr>
          <p:nvPr>
            <p:ph idx="1"/>
          </p:nvPr>
        </p:nvSpPr>
        <p:spPr/>
        <p:txBody>
          <a:bodyPr>
            <a:normAutofit fontScale="85000" lnSpcReduction="20000"/>
          </a:bodyPr>
          <a:lstStyle/>
          <a:p>
            <a:r>
              <a:rPr lang="en-US" dirty="0"/>
              <a:t>Debt </a:t>
            </a:r>
            <a:r>
              <a:rPr lang="en-US" dirty="0" err="1"/>
              <a:t>misvaluation</a:t>
            </a:r>
            <a:r>
              <a:rPr lang="en-US" dirty="0"/>
              <a:t> significantly influences the ratio of financial buyers to strategic buyers in M&amp;A.</a:t>
            </a:r>
          </a:p>
          <a:p>
            <a:r>
              <a:rPr lang="en-US" dirty="0"/>
              <a:t>In overvalued debt markets, financial buyers dominate relative to strategic buyers.</a:t>
            </a:r>
          </a:p>
          <a:p>
            <a:r>
              <a:rPr lang="en-US" dirty="0"/>
              <a:t>Debt market conditions change the ownership structure of assets and alter incentives and governance.</a:t>
            </a:r>
          </a:p>
          <a:p>
            <a:r>
              <a:rPr lang="en-US" dirty="0"/>
              <a:t>The paper highlights the importance of debt </a:t>
            </a:r>
            <a:r>
              <a:rPr lang="en-US" dirty="0" err="1"/>
              <a:t>misvaluation</a:t>
            </a:r>
            <a:r>
              <a:rPr lang="en-US" dirty="0"/>
              <a:t> in understanding M&amp;A activity.</a:t>
            </a:r>
          </a:p>
        </p:txBody>
      </p:sp>
    </p:spTree>
    <p:extLst>
      <p:ext uri="{BB962C8B-B14F-4D97-AF65-F5344CB8AC3E}">
        <p14:creationId xmlns:p14="http://schemas.microsoft.com/office/powerpoint/2010/main" val="3144905138"/>
      </p:ext>
    </p:extLst>
  </p:cSld>
  <p:clrMapOvr>
    <a:masterClrMapping/>
  </p:clrMapOvr>
</p:sld>
</file>

<file path=ppt/theme/theme1.xml><?xml version="1.0" encoding="utf-8"?>
<a:theme xmlns:a="http://schemas.openxmlformats.org/drawingml/2006/main" name="WCOB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COB Theme" id="{DF967ADD-BC05-483B-AB52-67CF82BC061D}" vid="{FC698281-B06B-48E0-B35B-6E92E503CB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WCOB Theme</Template>
  <TotalTime>923</TotalTime>
  <Words>1343</Words>
  <Application>Microsoft Office PowerPoint</Application>
  <PresentationFormat>Widescreen</PresentationFormat>
  <Paragraphs>82</Paragraphs>
  <Slides>21</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Calibri</vt:lpstr>
      <vt:lpstr>Cambria Math</vt:lpstr>
      <vt:lpstr>NimbusRomNo9L-Regu</vt:lpstr>
      <vt:lpstr>WCOB Theme</vt:lpstr>
      <vt:lpstr>Financial versus Strategic Buyers</vt:lpstr>
      <vt:lpstr>Research Question</vt:lpstr>
      <vt:lpstr>Prior Literature</vt:lpstr>
      <vt:lpstr>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Thompson</dc:creator>
  <cp:lastModifiedBy>Nicholas Thompson</cp:lastModifiedBy>
  <cp:revision>10</cp:revision>
  <dcterms:created xsi:type="dcterms:W3CDTF">2024-10-18T16:03:29Z</dcterms:created>
  <dcterms:modified xsi:type="dcterms:W3CDTF">2024-10-22T02:56:40Z</dcterms:modified>
</cp:coreProperties>
</file>