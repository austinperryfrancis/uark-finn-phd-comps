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2"/>
  </p:notesMasterIdLst>
  <p:sldIdLst>
    <p:sldId id="256" r:id="rId5"/>
    <p:sldId id="315" r:id="rId6"/>
    <p:sldId id="346" r:id="rId7"/>
    <p:sldId id="530" r:id="rId8"/>
    <p:sldId id="534" r:id="rId9"/>
    <p:sldId id="533" r:id="rId10"/>
    <p:sldId id="568" r:id="rId11"/>
    <p:sldId id="569" r:id="rId12"/>
    <p:sldId id="570" r:id="rId13"/>
    <p:sldId id="571" r:id="rId14"/>
    <p:sldId id="572" r:id="rId15"/>
    <p:sldId id="573" r:id="rId16"/>
    <p:sldId id="574" r:id="rId17"/>
    <p:sldId id="575" r:id="rId18"/>
    <p:sldId id="576" r:id="rId19"/>
    <p:sldId id="577" r:id="rId20"/>
    <p:sldId id="578" r:id="rId21"/>
    <p:sldId id="579" r:id="rId22"/>
    <p:sldId id="580" r:id="rId23"/>
    <p:sldId id="581" r:id="rId24"/>
    <p:sldId id="582" r:id="rId25"/>
    <p:sldId id="583" r:id="rId26"/>
    <p:sldId id="584" r:id="rId27"/>
    <p:sldId id="585" r:id="rId28"/>
    <p:sldId id="586" r:id="rId29"/>
    <p:sldId id="587" r:id="rId30"/>
    <p:sldId id="566" r:id="rId31"/>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530"/>
            <p14:sldId id="534"/>
            <p14:sldId id="533"/>
            <p14:sldId id="568"/>
            <p14:sldId id="569"/>
            <p14:sldId id="570"/>
            <p14:sldId id="571"/>
            <p14:sldId id="572"/>
            <p14:sldId id="573"/>
            <p14:sldId id="574"/>
            <p14:sldId id="575"/>
            <p14:sldId id="576"/>
            <p14:sldId id="577"/>
            <p14:sldId id="578"/>
            <p14:sldId id="579"/>
            <p14:sldId id="580"/>
            <p14:sldId id="581"/>
            <p14:sldId id="582"/>
            <p14:sldId id="583"/>
            <p14:sldId id="584"/>
            <p14:sldId id="585"/>
            <p14:sldId id="586"/>
            <p14:sldId id="587"/>
            <p14:sldId id="566"/>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9A47F4-2BCF-4CEA-B27C-B33A411EDD1A}" v="26" dt="2024-11-19T02:10:25.1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95" autoAdjust="0"/>
    <p:restoredTop sz="87582" autoAdjust="0"/>
  </p:normalViewPr>
  <p:slideViewPr>
    <p:cSldViewPr snapToGrid="0">
      <p:cViewPr>
        <p:scale>
          <a:sx n="100" d="100"/>
          <a:sy n="100" d="100"/>
        </p:scale>
        <p:origin x="1806" y="870"/>
      </p:cViewPr>
      <p:guideLst>
        <p:guide orient="horz" pos="1620"/>
        <p:guide pos="2880"/>
      </p:guideLst>
    </p:cSldViewPr>
  </p:slideViewPr>
  <p:notesTextViewPr>
    <p:cViewPr>
      <p:scale>
        <a:sx n="1" d="1"/>
        <a:sy n="1" d="1"/>
      </p:scale>
      <p:origin x="0" y="-37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11/18/2024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303408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2253414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What It Shows</a:t>
            </a:r>
            <a:r>
              <a:rPr lang="en-US" dirty="0">
                <a:effectLst/>
              </a:rPr>
              <a:t>: This table outlines the step-by-step process of refining the initial dataset of conference call transcripts to arrive at the final sample used in the study. It shows how many transcripts were excluded at each stage and the criteria used for exclusion.</a:t>
            </a:r>
          </a:p>
          <a:p>
            <a:endParaRPr lang="en-US" dirty="0"/>
          </a:p>
          <a:p>
            <a:r>
              <a:rPr lang="en-US" b="0" i="0" dirty="0">
                <a:solidFill>
                  <a:srgbClr val="131314"/>
                </a:solidFill>
                <a:effectLst/>
                <a:latin typeface="Google Sans Text"/>
              </a:rPr>
              <a:t>Okay, everyone, let's take a look at Table 1, which is titled "</a:t>
            </a:r>
            <a:r>
              <a:rPr lang="en-US" b="1" i="0" dirty="0">
                <a:solidFill>
                  <a:srgbClr val="131314"/>
                </a:solidFill>
                <a:effectLst/>
                <a:latin typeface="Google Sans Text"/>
              </a:rPr>
              <a:t>Sample Formation</a:t>
            </a:r>
            <a:r>
              <a:rPr lang="en-US" b="0" i="0" dirty="0">
                <a:solidFill>
                  <a:srgbClr val="131314"/>
                </a:solidFill>
                <a:effectLst/>
                <a:latin typeface="Google Sans Text"/>
              </a:rPr>
              <a:t>." This table is important because it lays out exactly how the researchers went from a large set of conference call transcripts to the final sample they used to study corporate culture.</a:t>
            </a:r>
          </a:p>
          <a:p>
            <a:endParaRPr lang="en-US" b="0" i="0" dirty="0">
              <a:solidFill>
                <a:srgbClr val="131314"/>
              </a:solidFill>
              <a:effectLst/>
              <a:latin typeface="Google Sans Text"/>
            </a:endParaRPr>
          </a:p>
          <a:p>
            <a:r>
              <a:rPr lang="en-US" dirty="0">
                <a:effectLst/>
              </a:rPr>
              <a:t>The researchers started with a massive dataset of </a:t>
            </a:r>
            <a:r>
              <a:rPr lang="en-US" b="1" dirty="0">
                <a:effectLst/>
              </a:rPr>
              <a:t>391,091</a:t>
            </a:r>
            <a:r>
              <a:rPr lang="en-US" dirty="0">
                <a:effectLst/>
              </a:rPr>
              <a:t> conference call transcripts from the Thomson Reuters </a:t>
            </a:r>
            <a:r>
              <a:rPr lang="en-US" dirty="0" err="1">
                <a:effectLst/>
              </a:rPr>
              <a:t>StreetEvents</a:t>
            </a:r>
            <a:r>
              <a:rPr lang="en-US" dirty="0">
                <a:effectLst/>
              </a:rPr>
              <a:t> database.1</a:t>
            </a:r>
          </a:p>
          <a:p>
            <a:pPr algn="l"/>
            <a:r>
              <a:rPr lang="en-US" dirty="0">
                <a:effectLst/>
              </a:rPr>
              <a:t>●</a:t>
            </a:r>
          </a:p>
          <a:p>
            <a:r>
              <a:rPr lang="en-US" dirty="0">
                <a:effectLst/>
              </a:rPr>
              <a:t>Their first step was to focus specifically on </a:t>
            </a:r>
            <a:r>
              <a:rPr lang="en-US" b="1" dirty="0">
                <a:effectLst/>
              </a:rPr>
              <a:t>earnings calls</a:t>
            </a:r>
            <a:r>
              <a:rPr lang="en-US" dirty="0">
                <a:effectLst/>
              </a:rPr>
              <a:t>, as they believed these calls would be the most informative about a company's culture.12 They were left with </a:t>
            </a:r>
            <a:r>
              <a:rPr lang="en-US" b="1" dirty="0">
                <a:effectLst/>
              </a:rPr>
              <a:t>270,879</a:t>
            </a:r>
            <a:r>
              <a:rPr lang="en-US" dirty="0">
                <a:effectLst/>
              </a:rPr>
              <a:t> transcripts after removing other types of conference calls.1</a:t>
            </a:r>
          </a:p>
          <a:p>
            <a:pPr algn="l"/>
            <a:r>
              <a:rPr lang="en-US" dirty="0">
                <a:effectLst/>
              </a:rPr>
              <a:t>●</a:t>
            </a:r>
          </a:p>
          <a:p>
            <a:r>
              <a:rPr lang="en-US" dirty="0">
                <a:effectLst/>
              </a:rPr>
              <a:t>Next, they had to match the companies mentioned in these transcripts to a unique identifier in financial databases, like </a:t>
            </a:r>
            <a:r>
              <a:rPr lang="en-US" dirty="0" err="1">
                <a:effectLst/>
              </a:rPr>
              <a:t>Compustat</a:t>
            </a:r>
            <a:r>
              <a:rPr lang="en-US" dirty="0">
                <a:effectLst/>
              </a:rPr>
              <a:t>, to get financial information about each company.13 This involved a lot of meticulous work, like comparing company names, ticker symbols, and even manual matching.1</a:t>
            </a:r>
          </a:p>
          <a:p>
            <a:pPr algn="l"/>
            <a:r>
              <a:rPr lang="en-US" dirty="0">
                <a:effectLst/>
              </a:rPr>
              <a:t>●</a:t>
            </a:r>
          </a:p>
          <a:p>
            <a:r>
              <a:rPr lang="en-US" dirty="0">
                <a:effectLst/>
              </a:rPr>
              <a:t>After this matching process, they were left with </a:t>
            </a:r>
            <a:r>
              <a:rPr lang="en-US" b="1" dirty="0">
                <a:effectLst/>
              </a:rPr>
              <a:t>66,371</a:t>
            </a:r>
            <a:r>
              <a:rPr lang="en-US" dirty="0">
                <a:effectLst/>
              </a:rPr>
              <a:t> earnings call transcripts.1</a:t>
            </a:r>
          </a:p>
          <a:p>
            <a:r>
              <a:rPr lang="en-US" dirty="0">
                <a:effectLst/>
              </a:rPr>
              <a:t>It's worth noting that they specifically chose to use the Question and Answer (QA) section of these earnings calls.34 Why? Well, they argue that the QA section is more spontaneous and less scripted, making it harder for management to "window dress" or artificially present their culture in a positive light.34</a:t>
            </a:r>
          </a:p>
          <a:p>
            <a:pPr algn="l"/>
            <a:r>
              <a:rPr lang="en-US" dirty="0">
                <a:effectLst/>
              </a:rPr>
              <a:t>●</a:t>
            </a:r>
          </a:p>
          <a:p>
            <a:r>
              <a:rPr lang="en-US" dirty="0">
                <a:effectLst/>
              </a:rPr>
              <a:t>They removed transcripts that didn't have a QA section or where the QA section was too short to be meaningful.13</a:t>
            </a:r>
          </a:p>
          <a:p>
            <a:pPr algn="l"/>
            <a:r>
              <a:rPr lang="en-US" dirty="0">
                <a:effectLst/>
              </a:rPr>
              <a:t>●</a:t>
            </a:r>
          </a:p>
          <a:p>
            <a:r>
              <a:rPr lang="en-US" dirty="0">
                <a:effectLst/>
              </a:rPr>
              <a:t>Finally, they applied a few more filters to ensure data quality.1 For example, they removed observations with missing financial data and calculated 3-year rolling averages for their cultural values.15</a:t>
            </a:r>
          </a:p>
          <a:p>
            <a:r>
              <a:rPr lang="en-US" b="1" dirty="0">
                <a:effectLst/>
              </a:rPr>
              <a:t>This rigorous process resulted in a final sample of 62,664 firm-year observations</a:t>
            </a:r>
            <a:r>
              <a:rPr lang="en-US" dirty="0">
                <a:effectLst/>
              </a:rPr>
              <a:t> — a substantial amount of data to analyze the relationship between corporate culture and various firm outcomes.15</a:t>
            </a:r>
          </a:p>
          <a:p>
            <a:r>
              <a:rPr lang="en-US" dirty="0" err="1">
                <a:effectLst/>
              </a:rPr>
              <a:t>copy_all</a:t>
            </a:r>
            <a:endParaRPr lang="en-US" dirty="0">
              <a:effectLst/>
            </a:endParaRPr>
          </a:p>
          <a:p>
            <a:r>
              <a:rPr lang="en-US" dirty="0" err="1">
                <a:effectLst/>
              </a:rPr>
              <a:t>thumb_up</a:t>
            </a:r>
            <a:endParaRPr lang="en-US" dirty="0">
              <a:effectLst/>
            </a:endParaRPr>
          </a:p>
          <a:p>
            <a:r>
              <a:rPr lang="en-US" dirty="0" err="1">
                <a:effectLst/>
              </a:rPr>
              <a:t>thumb_down</a:t>
            </a:r>
            <a:endParaRPr lang="en-US" dirty="0">
              <a:effectLst/>
            </a:endParaRPr>
          </a:p>
          <a:p>
            <a:r>
              <a:rPr lang="en-US" dirty="0" err="1">
                <a:effectLst/>
              </a:rPr>
              <a:t>keep_pinSave</a:t>
            </a:r>
            <a:r>
              <a:rPr lang="en-US" dirty="0">
                <a:effectLst/>
              </a:rPr>
              <a:t> to note</a:t>
            </a:r>
          </a:p>
          <a:p>
            <a:endParaRPr lang="en-US" b="0" i="0" dirty="0">
              <a:solidFill>
                <a:srgbClr val="131314"/>
              </a:solidFill>
              <a:effectLst/>
              <a:latin typeface="Google Sans Text"/>
            </a:endParaRP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7</a:t>
            </a:fld>
            <a:endParaRPr lang="en-US"/>
          </a:p>
        </p:txBody>
      </p:sp>
    </p:spTree>
    <p:extLst>
      <p:ext uri="{BB962C8B-B14F-4D97-AF65-F5344CB8AC3E}">
        <p14:creationId xmlns:p14="http://schemas.microsoft.com/office/powerpoint/2010/main" val="875737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131314"/>
                </a:solidFill>
                <a:effectLst/>
                <a:latin typeface="Google Sans Text"/>
              </a:rPr>
              <a:t>What It Shows</a:t>
            </a:r>
            <a:r>
              <a:rPr lang="en-US" b="0" i="0" dirty="0">
                <a:solidFill>
                  <a:srgbClr val="131314"/>
                </a:solidFill>
                <a:effectLst/>
                <a:latin typeface="Google Sans Text"/>
              </a:rPr>
              <a:t>: This table presents the top 30 words most strongly associated with each of the five cultural values (innovation, integrity, quality, respect, and teamwork) based on the word embedding model. It also shows the top 30 most frequently occurring words within the culture dictionary for each value, along with their weighted frequency.</a:t>
            </a:r>
          </a:p>
          <a:p>
            <a:endParaRPr lang="en-US" b="0" i="0" dirty="0">
              <a:solidFill>
                <a:srgbClr val="131314"/>
              </a:solidFill>
              <a:effectLst/>
              <a:latin typeface="Google Sans Text"/>
            </a:endParaRPr>
          </a:p>
          <a:p>
            <a:r>
              <a:rPr lang="en-US" dirty="0">
                <a:effectLst/>
              </a:rPr>
              <a:t>This table really gets into the details of how the researchers used this machine learning technique called </a:t>
            </a:r>
            <a:r>
              <a:rPr lang="en-US" b="1" dirty="0">
                <a:effectLst/>
              </a:rPr>
              <a:t>word embedding</a:t>
            </a:r>
            <a:r>
              <a:rPr lang="en-US" dirty="0">
                <a:effectLst/>
              </a:rPr>
              <a:t> to actually measure corporate culture.</a:t>
            </a:r>
          </a:p>
          <a:p>
            <a:r>
              <a:rPr lang="en-US" dirty="0">
                <a:effectLst/>
              </a:rPr>
              <a:t>The table is split into two parts. Panel A is all about finding the most </a:t>
            </a:r>
            <a:r>
              <a:rPr lang="en-US" i="1" dirty="0">
                <a:effectLst/>
              </a:rPr>
              <a:t>representative</a:t>
            </a:r>
            <a:r>
              <a:rPr lang="en-US" dirty="0">
                <a:effectLst/>
              </a:rPr>
              <a:t> words for each of the five cultural values.</a:t>
            </a:r>
          </a:p>
          <a:p>
            <a:pPr algn="l"/>
            <a:r>
              <a:rPr lang="en-US" dirty="0">
                <a:effectLst/>
              </a:rPr>
              <a:t>●</a:t>
            </a:r>
          </a:p>
          <a:p>
            <a:r>
              <a:rPr lang="en-US" dirty="0">
                <a:effectLst/>
              </a:rPr>
              <a:t>Remember, the researchers are trying to capture the unique language that companies use to signal their culture in earnings calls.</a:t>
            </a:r>
          </a:p>
          <a:p>
            <a:pPr algn="l"/>
            <a:r>
              <a:rPr lang="en-US" dirty="0">
                <a:effectLst/>
              </a:rPr>
              <a:t>●</a:t>
            </a:r>
          </a:p>
          <a:p>
            <a:r>
              <a:rPr lang="en-US" dirty="0">
                <a:effectLst/>
              </a:rPr>
              <a:t>They start with a set of "seed words" for each value – these are words that are commonly associated with each cultural dimension.</a:t>
            </a:r>
          </a:p>
          <a:p>
            <a:pPr algn="l"/>
            <a:r>
              <a:rPr lang="en-US" dirty="0">
                <a:effectLst/>
              </a:rPr>
              <a:t>●</a:t>
            </a:r>
          </a:p>
          <a:p>
            <a:r>
              <a:rPr lang="en-US" dirty="0">
                <a:effectLst/>
              </a:rPr>
              <a:t>Then, the word embedding model analyzes the entire corpus of earnings calls and identifies words that are used in similar contexts as those seed words. It's like the model is learning the subtle relationships between words based on how they're actually used in conversations.</a:t>
            </a:r>
          </a:p>
          <a:p>
            <a:endParaRPr lang="en-US" dirty="0">
              <a:effectLst/>
            </a:endParaRPr>
          </a:p>
          <a:p>
            <a:r>
              <a:rPr lang="en-US" dirty="0">
                <a:effectLst/>
              </a:rPr>
              <a:t>So, for example, if you look at the "Innovation" column, you see words like "creativity," "technology," and "</a:t>
            </a:r>
            <a:r>
              <a:rPr lang="en-US" dirty="0" err="1">
                <a:effectLst/>
              </a:rPr>
              <a:t>product_innovation</a:t>
            </a:r>
            <a:r>
              <a:rPr lang="en-US" dirty="0">
                <a:effectLst/>
              </a:rPr>
              <a:t>" – words that clearly evoke a sense of novelty and forward-thinking.</a:t>
            </a:r>
          </a:p>
          <a:p>
            <a:r>
              <a:rPr lang="en-US" dirty="0">
                <a:effectLst/>
              </a:rPr>
              <a:t>●</a:t>
            </a:r>
          </a:p>
          <a:p>
            <a:r>
              <a:rPr lang="en-US" dirty="0">
                <a:effectLst/>
              </a:rPr>
              <a:t>This is a lot more sophisticated than just looking at the most frequently used words, because it's taking into account the meaning of the words within the specific context of corporate communications.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8</a:t>
            </a:fld>
            <a:endParaRPr lang="en-US"/>
          </a:p>
        </p:txBody>
      </p:sp>
    </p:spTree>
    <p:extLst>
      <p:ext uri="{BB962C8B-B14F-4D97-AF65-F5344CB8AC3E}">
        <p14:creationId xmlns:p14="http://schemas.microsoft.com/office/powerpoint/2010/main" val="187001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Now, Panel B of the table shows the 30 most </a:t>
            </a:r>
            <a:r>
              <a:rPr lang="en-US" i="1" dirty="0">
                <a:effectLst/>
              </a:rPr>
              <a:t>frequently</a:t>
            </a:r>
            <a:r>
              <a:rPr lang="en-US" dirty="0">
                <a:effectLst/>
              </a:rPr>
              <a:t> occurring words for each value.</a:t>
            </a:r>
          </a:p>
          <a:p>
            <a:pPr algn="l"/>
            <a:r>
              <a:rPr lang="en-US" dirty="0">
                <a:effectLst/>
              </a:rPr>
              <a:t>●</a:t>
            </a:r>
          </a:p>
          <a:p>
            <a:r>
              <a:rPr lang="en-US" dirty="0">
                <a:effectLst/>
              </a:rPr>
              <a:t>You'll notice that some words appear in both panels, but there are also some interesting differences.</a:t>
            </a:r>
          </a:p>
          <a:p>
            <a:pPr algn="l"/>
            <a:r>
              <a:rPr lang="en-US" dirty="0">
                <a:effectLst/>
              </a:rPr>
              <a:t>●</a:t>
            </a:r>
          </a:p>
          <a:p>
            <a:r>
              <a:rPr lang="en-US" dirty="0">
                <a:effectLst/>
              </a:rPr>
              <a:t>This highlights the fact that word embedding goes beyond simple word counts to capture the deeper semantic associations between words.</a:t>
            </a:r>
          </a:p>
          <a:p>
            <a:r>
              <a:rPr lang="en-US" dirty="0">
                <a:effectLst/>
              </a:rPr>
              <a:t>For instance, take a look at the word "</a:t>
            </a:r>
            <a:r>
              <a:rPr lang="en-US" b="1" dirty="0">
                <a:effectLst/>
              </a:rPr>
              <a:t>control</a:t>
            </a:r>
            <a:r>
              <a:rPr lang="en-US" dirty="0">
                <a:effectLst/>
              </a:rPr>
              <a:t>" in the "</a:t>
            </a:r>
            <a:r>
              <a:rPr lang="en-US" b="1" dirty="0">
                <a:effectLst/>
              </a:rPr>
              <a:t>Integrity</a:t>
            </a:r>
            <a:r>
              <a:rPr lang="en-US" dirty="0">
                <a:effectLst/>
              </a:rPr>
              <a:t>" column of Panel B. It's used quite frequently, but it doesn't appear in Panel A, which lists the most </a:t>
            </a:r>
            <a:r>
              <a:rPr lang="en-US" i="1" dirty="0">
                <a:effectLst/>
              </a:rPr>
              <a:t>representative</a:t>
            </a:r>
            <a:r>
              <a:rPr lang="en-US" dirty="0">
                <a:effectLst/>
              </a:rPr>
              <a:t> words for integrity.</a:t>
            </a:r>
          </a:p>
          <a:p>
            <a:pPr algn="l"/>
            <a:r>
              <a:rPr lang="en-US" dirty="0">
                <a:effectLst/>
              </a:rPr>
              <a:t>●</a:t>
            </a:r>
          </a:p>
          <a:p>
            <a:r>
              <a:rPr lang="en-US" dirty="0">
                <a:effectLst/>
              </a:rPr>
              <a:t>This suggests that while "control" might be a common theme in discussions of integrity, it's not necessarily the most distinctive or insightful term when it comes to understanding a company's ethical values.</a:t>
            </a:r>
          </a:p>
          <a:p>
            <a:r>
              <a:rPr lang="en-US" b="1" dirty="0">
                <a:effectLst/>
              </a:rPr>
              <a:t>Overall, Table 2 gives us a glimpse into the language of corporate culture</a:t>
            </a:r>
            <a:r>
              <a:rPr lang="en-US" dirty="0">
                <a:effectLst/>
              </a:rPr>
              <a:t>. It shows how machine learning can help us uncover the subtle ways that companies communicate their values through the words they choose. And it reminds us that language is complex – sometimes the most frequent words aren't the most meaningful ones, and it takes a nuanced approach like word embedding to truly understand what companies are trying to say.</a:t>
            </a:r>
          </a:p>
          <a:p>
            <a:r>
              <a:rPr lang="en-US" dirty="0" err="1">
                <a:effectLst/>
              </a:rPr>
              <a:t>copy_all</a:t>
            </a:r>
            <a:endParaRPr lang="en-US" dirty="0">
              <a:effectLst/>
            </a:endParaRPr>
          </a:p>
          <a:p>
            <a:r>
              <a:rPr lang="en-US" dirty="0" err="1">
                <a:effectLst/>
              </a:rPr>
              <a:t>thumb_up</a:t>
            </a:r>
            <a:endParaRPr lang="en-US" dirty="0">
              <a:effectLst/>
            </a:endParaRPr>
          </a:p>
          <a:p>
            <a:r>
              <a:rPr lang="en-US" dirty="0" err="1">
                <a:effectLst/>
              </a:rPr>
              <a:t>thumb_down</a:t>
            </a:r>
            <a:endParaRPr lang="en-US" dirty="0">
              <a:effectLst/>
            </a:endParaRPr>
          </a:p>
          <a:p>
            <a:r>
              <a:rPr lang="en-US" dirty="0" err="1">
                <a:effectLst/>
              </a:rPr>
              <a:t>keep_pinSave</a:t>
            </a:r>
            <a:r>
              <a:rPr lang="en-US" dirty="0">
                <a:effectLst/>
              </a:rPr>
              <a:t> to note</a:t>
            </a:r>
          </a:p>
          <a:p>
            <a:br>
              <a:rPr lang="en-US" dirty="0"/>
            </a:b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9</a:t>
            </a:fld>
            <a:endParaRPr lang="en-US"/>
          </a:p>
        </p:txBody>
      </p:sp>
    </p:spTree>
    <p:extLst>
      <p:ext uri="{BB962C8B-B14F-4D97-AF65-F5344CB8AC3E}">
        <p14:creationId xmlns:p14="http://schemas.microsoft.com/office/powerpoint/2010/main" val="4279058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This table is like a snapshot of the final dataset, providing a summary of the key variables and their characteristics.</a:t>
            </a:r>
          </a:p>
          <a:p>
            <a:r>
              <a:rPr lang="en-US" b="1" dirty="0">
                <a:effectLst/>
              </a:rPr>
              <a:t>The first thing to highlight is the sample size. Panel A of Table 3 tells us that the final sample includes 7,501 firms and 62,664 firm-year observations. This is a substantial amount of data, which gives us confidence in the generalizability of the study's findings.</a:t>
            </a:r>
          </a:p>
          <a:p>
            <a:endParaRPr lang="en-US" b="1" dirty="0">
              <a:effectLst/>
            </a:endParaRPr>
          </a:p>
          <a:p>
            <a:r>
              <a:rPr lang="en-US" b="1" dirty="0">
                <a:effectLst/>
              </a:rPr>
              <a:t>The table then presents summary statistics for each of the five cultural values, measured using the word embedding technique discussed earlier. These statistics give us a sense of how prevalent each cultural value is in the sample and how much variation there is across firms.</a:t>
            </a:r>
            <a:r>
              <a:rPr lang="en-US" dirty="0">
                <a:effectLst/>
              </a:rPr>
              <a:t>1</a:t>
            </a:r>
          </a:p>
          <a:p>
            <a:pPr algn="l"/>
            <a:r>
              <a:rPr lang="en-US" dirty="0">
                <a:effectLst/>
              </a:rPr>
              <a:t>●</a:t>
            </a:r>
          </a:p>
          <a:p>
            <a:r>
              <a:rPr lang="en-US" dirty="0">
                <a:effectLst/>
              </a:rPr>
              <a:t>For instance, we can see that </a:t>
            </a:r>
            <a:r>
              <a:rPr lang="en-US" b="1" dirty="0">
                <a:effectLst/>
              </a:rPr>
              <a:t>Innovation</a:t>
            </a:r>
            <a:r>
              <a:rPr lang="en-US" dirty="0">
                <a:effectLst/>
              </a:rPr>
              <a:t> is the most frequently mentioned cultural value in earnings calls, with a mean score of 1.73. This is consistent with findings from previous studies that have shown a strong emphasis on innovation in corporate communications.1</a:t>
            </a:r>
          </a:p>
          <a:p>
            <a:pPr algn="l"/>
            <a:r>
              <a:rPr lang="en-US" dirty="0">
                <a:effectLst/>
              </a:rPr>
              <a:t>●</a:t>
            </a:r>
          </a:p>
          <a:p>
            <a:r>
              <a:rPr lang="en-US" dirty="0">
                <a:effectLst/>
              </a:rPr>
              <a:t>On the other hand, </a:t>
            </a:r>
            <a:r>
              <a:rPr lang="en-US" b="1" dirty="0">
                <a:effectLst/>
              </a:rPr>
              <a:t>Integrity</a:t>
            </a:r>
            <a:r>
              <a:rPr lang="en-US" dirty="0">
                <a:effectLst/>
              </a:rPr>
              <a:t> has the lowest mean score (0.58), suggesting that it might be a less prominent theme in earnings calls.1</a:t>
            </a:r>
          </a:p>
          <a:p>
            <a:endParaRPr lang="en-US" b="1" dirty="0">
              <a:effectLst/>
            </a:endParaRPr>
          </a:p>
          <a:p>
            <a:endParaRPr lang="en-US" b="1" dirty="0">
              <a:effectLst/>
            </a:endParaRPr>
          </a:p>
          <a:p>
            <a:r>
              <a:rPr lang="en-US" b="1" dirty="0">
                <a:effectLst/>
              </a:rPr>
              <a:t>Panels B and C provide insights into the relationships between the cultural values and other variables. This helps us understand how corporate culture might be related to firm performance, risk, and other characteristics.</a:t>
            </a:r>
          </a:p>
          <a:p>
            <a:r>
              <a:rPr lang="en-US" b="1" dirty="0">
                <a:effectLst/>
              </a:rPr>
              <a:t>●</a:t>
            </a:r>
          </a:p>
          <a:p>
            <a:r>
              <a:rPr lang="en-US" b="1" dirty="0">
                <a:effectLst/>
              </a:rPr>
              <a:t>Panel B shows the autocorrelations for each cultural value over time, which suggests that a firm's culture tends to be relatively stable over a 3-year period.</a:t>
            </a:r>
          </a:p>
          <a:p>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10</a:t>
            </a:fld>
            <a:endParaRPr lang="en-US"/>
          </a:p>
        </p:txBody>
      </p:sp>
    </p:spTree>
    <p:extLst>
      <p:ext uri="{BB962C8B-B14F-4D97-AF65-F5344CB8AC3E}">
        <p14:creationId xmlns:p14="http://schemas.microsoft.com/office/powerpoint/2010/main" val="3970863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31314"/>
                </a:solidFill>
                <a:effectLst/>
                <a:latin typeface="Google Sans Text"/>
              </a:rPr>
              <a:t>●</a:t>
            </a:r>
          </a:p>
          <a:p>
            <a:pPr algn="l"/>
            <a:r>
              <a:rPr lang="en-US" b="0" i="0" dirty="0">
                <a:solidFill>
                  <a:srgbClr val="131314"/>
                </a:solidFill>
                <a:effectLst/>
                <a:latin typeface="Google Sans Text"/>
              </a:rPr>
              <a:t>Panel C presents a correlation matrix, showcasing the relationships between the five cultural values and firm characteristics.3 For example, the positive correlation between innovation and firm size suggests that larger firms may tend to place more emphasis on innovation.3 Conversely, the negative correlation between integrity and leverage indicates that firms with higher debt levels might be less likely to prioritize ethical values.3 These correlations provide a preliminary glimpse into how corporate culture might be intertwined with other aspects of a firm's operations and strategy.</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2697877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effectLst/>
              </a:rPr>
              <a:t>●</a:t>
            </a:r>
          </a:p>
          <a:p>
            <a:r>
              <a:rPr lang="en-US" b="1" dirty="0">
                <a:effectLst/>
              </a:rPr>
              <a:t>A General Upward Trend in Innovation</a:t>
            </a:r>
            <a:r>
              <a:rPr lang="en-US" dirty="0">
                <a:effectLst/>
              </a:rPr>
              <a:t>: Across most industries, there is a notable increase in the average score for </a:t>
            </a:r>
            <a:r>
              <a:rPr lang="en-US" b="1" dirty="0">
                <a:effectLst/>
              </a:rPr>
              <a:t>innovation</a:t>
            </a:r>
            <a:r>
              <a:rPr lang="en-US" dirty="0">
                <a:effectLst/>
              </a:rPr>
              <a:t> over the sample period. This suggests a growing emphasis on technology and innovation in the corporate world, reflected in the language used during earnings calls. This trend is likely driven by the increasing importance of technological advancements and their impact on business operations and competitiveness1.</a:t>
            </a:r>
          </a:p>
          <a:p>
            <a:pPr algn="l"/>
            <a:r>
              <a:rPr lang="en-US" dirty="0">
                <a:effectLst/>
              </a:rPr>
              <a:t>●</a:t>
            </a:r>
          </a:p>
          <a:p>
            <a:r>
              <a:rPr lang="en-US" b="1" dirty="0">
                <a:effectLst/>
              </a:rPr>
              <a:t>Healthcare's Focus on Integrity and Teamwork</a:t>
            </a:r>
            <a:r>
              <a:rPr lang="en-US" dirty="0">
                <a:effectLst/>
              </a:rPr>
              <a:t>: The </a:t>
            </a:r>
            <a:r>
              <a:rPr lang="en-US" b="1" dirty="0">
                <a:effectLst/>
              </a:rPr>
              <a:t>healthcare</a:t>
            </a:r>
            <a:r>
              <a:rPr lang="en-US" dirty="0">
                <a:effectLst/>
              </a:rPr>
              <a:t> industry stands out with consistently high scores for </a:t>
            </a:r>
            <a:r>
              <a:rPr lang="en-US" b="1" dirty="0">
                <a:effectLst/>
              </a:rPr>
              <a:t>integrity</a:t>
            </a:r>
            <a:r>
              <a:rPr lang="en-US" dirty="0">
                <a:effectLst/>
              </a:rPr>
              <a:t> and </a:t>
            </a:r>
            <a:r>
              <a:rPr lang="en-US" b="1" dirty="0">
                <a:effectLst/>
              </a:rPr>
              <a:t>teamwork</a:t>
            </a:r>
            <a:r>
              <a:rPr lang="en-US" dirty="0">
                <a:effectLst/>
              </a:rPr>
              <a:t> throughout the sample period. This emphasis on ethical conduct and collaborative efforts is likely reflective of the nature of the healthcare industry, where patient well-being and safety are paramount concerns1.</a:t>
            </a:r>
          </a:p>
          <a:p>
            <a:pPr algn="l"/>
            <a:r>
              <a:rPr lang="en-US" dirty="0">
                <a:effectLst/>
              </a:rPr>
              <a:t>●</a:t>
            </a:r>
          </a:p>
          <a:p>
            <a:r>
              <a:rPr lang="en-US" b="1" dirty="0">
                <a:effectLst/>
              </a:rPr>
              <a:t>Business Equipment's Emphasis on Quality</a:t>
            </a:r>
            <a:r>
              <a:rPr lang="en-US" dirty="0">
                <a:effectLst/>
              </a:rPr>
              <a:t>: The </a:t>
            </a:r>
            <a:r>
              <a:rPr lang="en-US" b="1" dirty="0">
                <a:effectLst/>
              </a:rPr>
              <a:t>business equipment</a:t>
            </a:r>
            <a:r>
              <a:rPr lang="en-US" dirty="0">
                <a:effectLst/>
              </a:rPr>
              <a:t> industry maintains the highest scores for </a:t>
            </a:r>
            <a:r>
              <a:rPr lang="en-US" b="1" dirty="0">
                <a:effectLst/>
              </a:rPr>
              <a:t>quality</a:t>
            </a:r>
            <a:r>
              <a:rPr lang="en-US" dirty="0">
                <a:effectLst/>
              </a:rPr>
              <a:t> across all three subperiods. </a:t>
            </a:r>
            <a:r>
              <a:rPr lang="en-US">
                <a:effectLst/>
              </a:rPr>
              <a:t>This focus on delivering high-quality products is consistent with the industry's focus on providing reliable and durable equipment for business operations1.</a:t>
            </a:r>
          </a:p>
          <a:p>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12</a:t>
            </a:fld>
            <a:endParaRPr lang="en-US"/>
          </a:p>
        </p:txBody>
      </p:sp>
    </p:spTree>
    <p:extLst>
      <p:ext uri="{BB962C8B-B14F-4D97-AF65-F5344CB8AC3E}">
        <p14:creationId xmlns:p14="http://schemas.microsoft.com/office/powerpoint/2010/main" val="953836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Table 4 takes us from the broad analysis of the entire sample to a more focused look at individual companies. Specifically, it highlights the </a:t>
            </a:r>
            <a:r>
              <a:rPr lang="en-US" b="1" dirty="0">
                <a:effectLst/>
              </a:rPr>
              <a:t>top-ranked and bottom-ranked S&amp;P 500 companies based on each of the five cultural values</a:t>
            </a:r>
            <a:r>
              <a:rPr lang="en-US" dirty="0">
                <a:effectLst/>
              </a:rPr>
              <a:t>. The table is broken down into three panels, each covering a different time period: 2001-2006, 2007-2012, and 2013-2018.</a:t>
            </a:r>
          </a:p>
          <a:p>
            <a:pPr algn="l"/>
            <a:r>
              <a:rPr lang="en-US" dirty="0">
                <a:effectLst/>
              </a:rPr>
              <a:t>●</a:t>
            </a:r>
          </a:p>
          <a:p>
            <a:r>
              <a:rPr lang="en-US" dirty="0">
                <a:effectLst/>
              </a:rPr>
              <a:t>This allows us to see how the cultural landscape of leading companies has evolved over time.</a:t>
            </a:r>
          </a:p>
          <a:p>
            <a:pPr algn="l"/>
            <a:r>
              <a:rPr lang="en-US" dirty="0">
                <a:effectLst/>
              </a:rPr>
              <a:t>●</a:t>
            </a:r>
          </a:p>
          <a:p>
            <a:r>
              <a:rPr lang="en-US" dirty="0">
                <a:effectLst/>
              </a:rPr>
              <a:t>It's also interesting to see which companies consistently appear at the top or bottom of the rankings, and which ones show significant changes.</a:t>
            </a:r>
          </a:p>
          <a:p>
            <a:r>
              <a:rPr lang="en-US" dirty="0">
                <a:effectLst/>
              </a:rPr>
              <a:t>For instance, if you look at the </a:t>
            </a:r>
            <a:r>
              <a:rPr lang="en-US" b="1" dirty="0">
                <a:effectLst/>
              </a:rPr>
              <a:t>Innovation</a:t>
            </a:r>
            <a:r>
              <a:rPr lang="en-US" dirty="0">
                <a:effectLst/>
              </a:rPr>
              <a:t> ranking, you'll notice that </a:t>
            </a:r>
            <a:r>
              <a:rPr lang="en-US" b="1" dirty="0">
                <a:effectLst/>
              </a:rPr>
              <a:t>Nvidia</a:t>
            </a:r>
            <a:r>
              <a:rPr lang="en-US" dirty="0">
                <a:effectLst/>
              </a:rPr>
              <a:t> appears in the top spot for both the 2007-2012 and 2013-2018 periods.</a:t>
            </a:r>
          </a:p>
          <a:p>
            <a:pPr algn="l"/>
            <a:r>
              <a:rPr lang="en-US" dirty="0">
                <a:effectLst/>
              </a:rPr>
              <a:t>●</a:t>
            </a:r>
          </a:p>
          <a:p>
            <a:r>
              <a:rPr lang="en-US" dirty="0">
                <a:effectLst/>
              </a:rPr>
              <a:t>This suggests that Nvidia has cultivated a strong culture of innovation over a prolonged period, which is likely reflected in its products and market performance.</a:t>
            </a:r>
          </a:p>
          <a:p>
            <a:pPr algn="l"/>
            <a:r>
              <a:rPr lang="en-US" dirty="0">
                <a:effectLst/>
              </a:rPr>
              <a:t>●</a:t>
            </a:r>
          </a:p>
          <a:p>
            <a:r>
              <a:rPr lang="en-US" dirty="0">
                <a:effectLst/>
              </a:rPr>
              <a:t>On the other hand, some companies like </a:t>
            </a:r>
            <a:r>
              <a:rPr lang="en-US" b="1" dirty="0">
                <a:effectLst/>
              </a:rPr>
              <a:t>Procter &amp; Gamble</a:t>
            </a:r>
            <a:r>
              <a:rPr lang="en-US" dirty="0">
                <a:effectLst/>
              </a:rPr>
              <a:t> and </a:t>
            </a:r>
            <a:r>
              <a:rPr lang="en-US" b="1" dirty="0">
                <a:effectLst/>
              </a:rPr>
              <a:t>First Data Corp</a:t>
            </a:r>
            <a:r>
              <a:rPr lang="en-US" dirty="0">
                <a:effectLst/>
              </a:rPr>
              <a:t> were top-ranked for innovation in the earlier period but don't feature in the later periods. This could signal shifts in their strategic focus or changes in how they communicate about innovation in their earnings calls.</a:t>
            </a:r>
          </a:p>
          <a:p>
            <a:r>
              <a:rPr lang="en-US" dirty="0">
                <a:effectLst/>
              </a:rPr>
              <a:t>Another noteworthy observation is the presence of </a:t>
            </a:r>
            <a:r>
              <a:rPr lang="en-US" b="1" dirty="0">
                <a:effectLst/>
              </a:rPr>
              <a:t>Cognizant Technology Solutions</a:t>
            </a:r>
            <a:r>
              <a:rPr lang="en-US" dirty="0">
                <a:effectLst/>
              </a:rPr>
              <a:t> at the top of both the Integrity and Respect rankings in the 2001-2006 period.</a:t>
            </a:r>
          </a:p>
          <a:p>
            <a:pPr algn="l"/>
            <a:r>
              <a:rPr lang="en-US" dirty="0">
                <a:effectLst/>
              </a:rPr>
              <a:t>●</a:t>
            </a:r>
          </a:p>
          <a:p>
            <a:r>
              <a:rPr lang="en-US" dirty="0">
                <a:effectLst/>
              </a:rPr>
              <a:t>This highlights the point that a company can excel in multiple cultural dimensions, and that these values are not mutually exclusive.</a:t>
            </a:r>
          </a:p>
          <a:p>
            <a:r>
              <a:rPr lang="en-US" dirty="0">
                <a:effectLst/>
              </a:rPr>
              <a:t>It's also intriguing to examine the bottom-ranked companies and consider the potential implications of their cultural profiles. For example, </a:t>
            </a:r>
            <a:r>
              <a:rPr lang="en-US" b="1" dirty="0">
                <a:effectLst/>
              </a:rPr>
              <a:t>Lennar Corp</a:t>
            </a:r>
            <a:r>
              <a:rPr lang="en-US" dirty="0">
                <a:effectLst/>
              </a:rPr>
              <a:t> appears in the bottom ranks for both Integrity and Quality in the 2001-2006 period.</a:t>
            </a:r>
          </a:p>
          <a:p>
            <a:pPr algn="l"/>
            <a:r>
              <a:rPr lang="en-US" dirty="0">
                <a:effectLst/>
              </a:rPr>
              <a:t>●</a:t>
            </a:r>
          </a:p>
          <a:p>
            <a:r>
              <a:rPr lang="en-US" dirty="0">
                <a:effectLst/>
              </a:rPr>
              <a:t>While this doesn't necessarily imply that these companies are engaging in unethical or subpar practices, it does raise questions about how they perceive and communicate about these values.</a:t>
            </a:r>
          </a:p>
          <a:p>
            <a:pPr algn="l"/>
            <a:r>
              <a:rPr lang="en-US" dirty="0">
                <a:effectLst/>
              </a:rPr>
              <a:t>●</a:t>
            </a:r>
          </a:p>
          <a:p>
            <a:r>
              <a:rPr lang="en-US" dirty="0">
                <a:effectLst/>
              </a:rPr>
              <a:t>It also underscores the importance of considering a company's cultural profile alongside its financial performance and other metrics when making investment or other strategic decisions.</a:t>
            </a:r>
          </a:p>
          <a:p>
            <a:r>
              <a:rPr lang="en-US" b="1" dirty="0">
                <a:effectLst/>
              </a:rPr>
              <a:t>Looking at the changes over time can also reveal broader trends in corporate culture</a:t>
            </a:r>
            <a:r>
              <a:rPr lang="en-US" dirty="0">
                <a:effectLst/>
              </a:rPr>
              <a:t>. For example, in the most recent period (2013-2018), we see companies like </a:t>
            </a:r>
            <a:r>
              <a:rPr lang="en-US" b="1" dirty="0">
                <a:effectLst/>
              </a:rPr>
              <a:t>Netflix, Blackrock, and Salesforce</a:t>
            </a:r>
            <a:r>
              <a:rPr lang="en-US" dirty="0">
                <a:effectLst/>
              </a:rPr>
              <a:t> dominating the top rankings for various cultural values.</a:t>
            </a:r>
          </a:p>
          <a:p>
            <a:pPr algn="l"/>
            <a:r>
              <a:rPr lang="en-US" dirty="0">
                <a:effectLst/>
              </a:rPr>
              <a:t>●</a:t>
            </a:r>
          </a:p>
          <a:p>
            <a:r>
              <a:rPr lang="en-US" dirty="0">
                <a:effectLst/>
              </a:rPr>
              <a:t>These are all companies known for their innovative business models and rapid growth, suggesting a possible link between certain cultural values and the ability to thrive in dynamic and disruptive environments.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37580789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This is where the researchers put their measures of corporate culture to the test, trying to validate them by linking them to concrete outcomes.</a:t>
            </a:r>
          </a:p>
          <a:p>
            <a:pPr algn="l"/>
            <a:r>
              <a:rPr lang="en-US" dirty="0">
                <a:effectLst/>
              </a:rPr>
              <a:t>●</a:t>
            </a:r>
          </a:p>
          <a:p>
            <a:r>
              <a:rPr lang="en-US" dirty="0">
                <a:effectLst/>
              </a:rPr>
              <a:t>It's one thing to identify words and phrases that might signal different cultural values, but it's quite another to demonstrate that these measures actually have real-world implications.</a:t>
            </a:r>
          </a:p>
          <a:p>
            <a:endParaRPr lang="en-US" dirty="0"/>
          </a:p>
          <a:p>
            <a:endParaRPr lang="en-US" dirty="0"/>
          </a:p>
          <a:p>
            <a:r>
              <a:rPr lang="en-US" dirty="0">
                <a:effectLst/>
              </a:rPr>
              <a:t>The table is structured into </a:t>
            </a:r>
            <a:r>
              <a:rPr lang="en-US" b="1" dirty="0">
                <a:effectLst/>
              </a:rPr>
              <a:t>five panels</a:t>
            </a:r>
            <a:r>
              <a:rPr lang="en-US" dirty="0">
                <a:effectLst/>
              </a:rPr>
              <a:t>, each focusing on a different cultural value and its associated outcomes.</a:t>
            </a:r>
          </a:p>
          <a:p>
            <a:pPr algn="l"/>
            <a:r>
              <a:rPr lang="en-US" dirty="0">
                <a:effectLst/>
              </a:rPr>
              <a:t>●</a:t>
            </a:r>
          </a:p>
          <a:p>
            <a:r>
              <a:rPr lang="en-US" b="1" dirty="0">
                <a:effectLst/>
              </a:rPr>
              <a:t>Panel A</a:t>
            </a:r>
            <a:r>
              <a:rPr lang="en-US" dirty="0">
                <a:effectLst/>
              </a:rPr>
              <a:t> examines </a:t>
            </a:r>
            <a:r>
              <a:rPr lang="en-US" b="1" dirty="0">
                <a:effectLst/>
              </a:rPr>
              <a:t>Innovation</a:t>
            </a:r>
            <a:r>
              <a:rPr lang="en-US" dirty="0">
                <a:effectLst/>
              </a:rPr>
              <a:t>. The researchers use three different measures of corporate innovation activities: R&amp;D spending, the number of patents filed, and an "innovation strength" measure that takes into account the quality and impact of those patents.</a:t>
            </a:r>
          </a:p>
          <a:p>
            <a:pPr algn="l"/>
            <a:r>
              <a:rPr lang="en-US" dirty="0">
                <a:effectLst/>
              </a:rPr>
              <a:t>●</a:t>
            </a:r>
          </a:p>
          <a:p>
            <a:r>
              <a:rPr lang="en-US" dirty="0">
                <a:effectLst/>
              </a:rPr>
              <a:t>Across all three measures and various model specifications (including controls for firm size, profitability, and industry trends), they find a </a:t>
            </a:r>
            <a:r>
              <a:rPr lang="en-US" b="1" dirty="0">
                <a:effectLst/>
              </a:rPr>
              <a:t>positive and significant association between the cultural value of Innovation and actual innovation activities</a:t>
            </a:r>
            <a:r>
              <a:rPr lang="en-US" dirty="0">
                <a:effectLst/>
              </a:rPr>
              <a:t>. This provides compelling evidence that their measure of Innovation is capturing something meaningful about a company's commitment to developing new products and technologies.</a:t>
            </a:r>
          </a:p>
          <a:p>
            <a:endParaRPr lang="en-US" dirty="0">
              <a:effectLst/>
            </a:endParaRPr>
          </a:p>
          <a:p>
            <a:r>
              <a:rPr lang="en-US" b="1" dirty="0">
                <a:effectLst/>
              </a:rPr>
              <a:t>Panel B</a:t>
            </a:r>
            <a:r>
              <a:rPr lang="en-US" dirty="0">
                <a:effectLst/>
              </a:rPr>
              <a:t> focuses on </a:t>
            </a:r>
            <a:r>
              <a:rPr lang="en-US" b="1" dirty="0">
                <a:effectLst/>
              </a:rPr>
              <a:t>Integrity</a:t>
            </a:r>
            <a:r>
              <a:rPr lang="en-US" dirty="0">
                <a:effectLst/>
              </a:rPr>
              <a:t>, and here the researchers look at two measures of potentially unethical behavior: financial restatements and the backdating of executive stock options.</a:t>
            </a:r>
          </a:p>
          <a:p>
            <a:pPr algn="l"/>
            <a:r>
              <a:rPr lang="en-US" dirty="0">
                <a:effectLst/>
              </a:rPr>
              <a:t>●</a:t>
            </a:r>
          </a:p>
          <a:p>
            <a:r>
              <a:rPr lang="en-US" dirty="0">
                <a:effectLst/>
              </a:rPr>
              <a:t>They find a </a:t>
            </a:r>
            <a:r>
              <a:rPr lang="en-US" b="1" dirty="0">
                <a:effectLst/>
              </a:rPr>
              <a:t>negative and significant relationship between the cultural value of Integrity and both of these measures</a:t>
            </a:r>
            <a:r>
              <a:rPr lang="en-US" dirty="0">
                <a:effectLst/>
              </a:rPr>
              <a:t>. In other words, companies that score higher on Integrity are less likely to engage in these questionable practices. This again supports the validity of their measure and suggests that it can help identify companies with a stronger ethical compass.</a:t>
            </a:r>
          </a:p>
          <a:p>
            <a:endParaRPr lang="en-US" dirty="0">
              <a:effectLst/>
            </a:endParaRPr>
          </a:p>
          <a:p>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10057588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Panel C</a:t>
            </a:r>
            <a:r>
              <a:rPr lang="en-US" dirty="0">
                <a:effectLst/>
              </a:rPr>
              <a:t> examines </a:t>
            </a:r>
            <a:r>
              <a:rPr lang="en-US" b="1" dirty="0">
                <a:effectLst/>
              </a:rPr>
              <a:t>Quality</a:t>
            </a:r>
            <a:r>
              <a:rPr lang="en-US" dirty="0">
                <a:effectLst/>
              </a:rPr>
              <a:t>. The researchers use three measures to assess the quality of a company's products and services: product safety, whether the company is considered to have strengths in product quality based on KLD ratings, and whether the company has a top brand.</a:t>
            </a:r>
          </a:p>
          <a:p>
            <a:pPr algn="l"/>
            <a:r>
              <a:rPr lang="en-US" dirty="0">
                <a:effectLst/>
              </a:rPr>
              <a:t>●</a:t>
            </a:r>
          </a:p>
          <a:p>
            <a:r>
              <a:rPr lang="en-US" dirty="0">
                <a:effectLst/>
              </a:rPr>
              <a:t>They find a </a:t>
            </a:r>
            <a:r>
              <a:rPr lang="en-US" b="1" dirty="0">
                <a:effectLst/>
              </a:rPr>
              <a:t>positive and significant association between the cultural value of Quality and two out of the three measures</a:t>
            </a:r>
            <a:r>
              <a:rPr lang="en-US" dirty="0">
                <a:effectLst/>
              </a:rPr>
              <a:t> (product safety and top brand). The relationship with the overall product quality measure is not statistically significant.</a:t>
            </a:r>
          </a:p>
          <a:p>
            <a:r>
              <a:rPr lang="en-US" b="1" dirty="0">
                <a:effectLst/>
              </a:rPr>
              <a:t>Panel D</a:t>
            </a:r>
            <a:r>
              <a:rPr lang="en-US" dirty="0">
                <a:effectLst/>
              </a:rPr>
              <a:t> explores </a:t>
            </a:r>
            <a:r>
              <a:rPr lang="en-US" b="1" dirty="0">
                <a:effectLst/>
              </a:rPr>
              <a:t>Respect</a:t>
            </a:r>
            <a:r>
              <a:rPr lang="en-US" dirty="0">
                <a:effectLst/>
              </a:rPr>
              <a:t>. The researchers use two measures to assess this value: diversity scores based on KLD ratings and whether the company is included in Fortune's list of "100 Best Companies to Work For."</a:t>
            </a:r>
          </a:p>
          <a:p>
            <a:pPr algn="l"/>
            <a:r>
              <a:rPr lang="en-US" dirty="0">
                <a:effectLst/>
              </a:rPr>
              <a:t>●</a:t>
            </a:r>
          </a:p>
          <a:p>
            <a:r>
              <a:rPr lang="en-US" dirty="0">
                <a:effectLst/>
              </a:rPr>
              <a:t>They find a </a:t>
            </a:r>
            <a:r>
              <a:rPr lang="en-US" b="1" dirty="0">
                <a:effectLst/>
              </a:rPr>
              <a:t>positive and significant association between the cultural value of Respect and both measures</a:t>
            </a:r>
            <a:r>
              <a:rPr lang="en-US" dirty="0">
                <a:effectLst/>
              </a:rPr>
              <a:t>, indicating that companies that emphasize respect are more likely to have diverse workforces and to be considered desirable employers.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17</a:t>
            </a:fld>
            <a:endParaRPr lang="en-US"/>
          </a:p>
        </p:txBody>
      </p:sp>
    </p:spTree>
    <p:extLst>
      <p:ext uri="{BB962C8B-B14F-4D97-AF65-F5344CB8AC3E}">
        <p14:creationId xmlns:p14="http://schemas.microsoft.com/office/powerpoint/2010/main" val="39383441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Finally, </a:t>
            </a:r>
            <a:r>
              <a:rPr lang="en-US" b="1" dirty="0">
                <a:effectLst/>
              </a:rPr>
              <a:t>Panel E</a:t>
            </a:r>
            <a:r>
              <a:rPr lang="en-US" dirty="0">
                <a:effectLst/>
              </a:rPr>
              <a:t> looks at </a:t>
            </a:r>
            <a:r>
              <a:rPr lang="en-US" b="1" dirty="0">
                <a:effectLst/>
              </a:rPr>
              <a:t>Teamwork</a:t>
            </a:r>
            <a:r>
              <a:rPr lang="en-US" dirty="0">
                <a:effectLst/>
              </a:rPr>
              <a:t>, using two measures: employee involvement based on KLD ratings and the number of joint ventures and strategic alliances a company has formed.</a:t>
            </a:r>
          </a:p>
          <a:p>
            <a:pPr algn="l"/>
            <a:r>
              <a:rPr lang="en-US" dirty="0">
                <a:effectLst/>
              </a:rPr>
              <a:t>●</a:t>
            </a:r>
          </a:p>
          <a:p>
            <a:r>
              <a:rPr lang="en-US" dirty="0">
                <a:effectLst/>
              </a:rPr>
              <a:t>They find a </a:t>
            </a:r>
            <a:r>
              <a:rPr lang="en-US" b="1" dirty="0">
                <a:effectLst/>
              </a:rPr>
              <a:t>positive and significant association between the cultural value of Teamwork and both measures</a:t>
            </a:r>
            <a:r>
              <a:rPr lang="en-US" dirty="0">
                <a:effectLst/>
              </a:rPr>
              <a:t>, suggesting that companies with strong teamwork cultures are more likely to engage their employees and to collaborate effectively with external partners.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a:p>
        </p:txBody>
      </p:sp>
    </p:spTree>
    <p:extLst>
      <p:ext uri="{BB962C8B-B14F-4D97-AF65-F5344CB8AC3E}">
        <p14:creationId xmlns:p14="http://schemas.microsoft.com/office/powerpoint/2010/main" val="20447714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Table 6 builds upon the validation efforts presented in Table 5 by exploring alternative ways to measure corporate culture. It's like a "second opinion" on the researchers' main measure, helping to assess the robustness of their findings and to determine whether their preferred method (using the Q&amp;A section of earnings calls) is truly the most effective approach.</a:t>
            </a:r>
          </a:p>
          <a:p>
            <a:r>
              <a:rPr lang="en-US" dirty="0">
                <a:effectLst/>
              </a:rPr>
              <a:t>The table examines </a:t>
            </a:r>
            <a:r>
              <a:rPr lang="en-US" b="1" dirty="0">
                <a:effectLst/>
              </a:rPr>
              <a:t>three alternative measures</a:t>
            </a:r>
            <a:r>
              <a:rPr lang="en-US" dirty="0">
                <a:effectLst/>
              </a:rPr>
              <a:t> of corporate culture:</a:t>
            </a:r>
          </a:p>
          <a:p>
            <a:pPr algn="l"/>
            <a:r>
              <a:rPr lang="en-US" dirty="0">
                <a:effectLst/>
              </a:rPr>
              <a:t>●</a:t>
            </a:r>
          </a:p>
          <a:p>
            <a:r>
              <a:rPr lang="en-US" b="1" dirty="0" err="1">
                <a:effectLst/>
              </a:rPr>
              <a:t>Culture_full</a:t>
            </a:r>
            <a:r>
              <a:rPr lang="en-US" dirty="0">
                <a:effectLst/>
              </a:rPr>
              <a:t>: This measure uses the entire earnings call transcript, including both the management presentation and the Q&amp;A section. This is compared to the main measure, which only uses the Q&amp;A section.</a:t>
            </a:r>
          </a:p>
          <a:p>
            <a:pPr algn="l"/>
            <a:r>
              <a:rPr lang="en-US" dirty="0">
                <a:effectLst/>
              </a:rPr>
              <a:t>●</a:t>
            </a:r>
          </a:p>
          <a:p>
            <a:r>
              <a:rPr lang="en-US" b="1" dirty="0" err="1">
                <a:effectLst/>
              </a:rPr>
              <a:t>Culture_seed</a:t>
            </a:r>
            <a:r>
              <a:rPr lang="en-US" dirty="0">
                <a:effectLst/>
              </a:rPr>
              <a:t>: This measure relies on a simple count of the seed words (and their synonyms) used to define each cultural value. It doesn't incorporate word embeddings or the </a:t>
            </a:r>
            <a:r>
              <a:rPr lang="en-US" dirty="0" err="1">
                <a:effectLst/>
              </a:rPr>
              <a:t>tf-idf</a:t>
            </a:r>
            <a:r>
              <a:rPr lang="en-US" dirty="0">
                <a:effectLst/>
              </a:rPr>
              <a:t> weighting scheme.</a:t>
            </a:r>
          </a:p>
          <a:p>
            <a:pPr algn="l"/>
            <a:r>
              <a:rPr lang="en-US" dirty="0">
                <a:effectLst/>
              </a:rPr>
              <a:t>●</a:t>
            </a:r>
          </a:p>
          <a:p>
            <a:r>
              <a:rPr lang="en-US" b="1" dirty="0">
                <a:effectLst/>
              </a:rPr>
              <a:t>Culture_10k</a:t>
            </a:r>
            <a:r>
              <a:rPr lang="en-US" dirty="0">
                <a:effectLst/>
              </a:rPr>
              <a:t>: This measure applies the word embedding model to the Management Discussion and Analysis (MD&amp;A) section of companies' 10-K filings. This assesses whether the researchers' method can be generalized to other types of corporate disclosures.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29231972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The key takeaway from Table 6 is that the researchers' main measure (based on the Q&amp;A section of earnings calls) generally outperforms the three alternative measures.</a:t>
            </a:r>
            <a:r>
              <a:rPr lang="en-US" dirty="0">
                <a:effectLst/>
              </a:rPr>
              <a:t> This is indicated by larger coefficient magnitudes and higher levels of statistical significance for the main measure in most cases.</a:t>
            </a:r>
          </a:p>
          <a:p>
            <a:pPr algn="l"/>
            <a:r>
              <a:rPr lang="en-US" dirty="0">
                <a:effectLst/>
              </a:rPr>
              <a:t>●</a:t>
            </a:r>
          </a:p>
          <a:p>
            <a:r>
              <a:rPr lang="en-US" b="1" dirty="0">
                <a:effectLst/>
              </a:rPr>
              <a:t>The alternative measure based on the full earnings call (</a:t>
            </a:r>
            <a:r>
              <a:rPr lang="en-US" b="1" dirty="0" err="1">
                <a:effectLst/>
              </a:rPr>
              <a:t>Culture_full</a:t>
            </a:r>
            <a:r>
              <a:rPr lang="en-US" b="1" dirty="0">
                <a:effectLst/>
              </a:rPr>
              <a:t>) comes in as a close second,</a:t>
            </a:r>
            <a:r>
              <a:rPr lang="en-US" dirty="0">
                <a:effectLst/>
              </a:rPr>
              <a:t> but it still doesn't quite match the performance of the main measure.</a:t>
            </a:r>
          </a:p>
          <a:p>
            <a:pPr algn="l"/>
            <a:r>
              <a:rPr lang="en-US" dirty="0">
                <a:effectLst/>
              </a:rPr>
              <a:t>●</a:t>
            </a:r>
          </a:p>
          <a:p>
            <a:r>
              <a:rPr lang="en-US" b="1" dirty="0">
                <a:effectLst/>
              </a:rPr>
              <a:t>The measure based on a simple count of seed words (</a:t>
            </a:r>
            <a:r>
              <a:rPr lang="en-US" b="1" dirty="0" err="1">
                <a:effectLst/>
              </a:rPr>
              <a:t>Culture_seed</a:t>
            </a:r>
            <a:r>
              <a:rPr lang="en-US" b="1" dirty="0">
                <a:effectLst/>
              </a:rPr>
              <a:t>) performs the worst, suggesting that the more sophisticated techniques of word embeddings and </a:t>
            </a:r>
            <a:r>
              <a:rPr lang="en-US" b="1" dirty="0" err="1">
                <a:effectLst/>
              </a:rPr>
              <a:t>tf-idf</a:t>
            </a:r>
            <a:r>
              <a:rPr lang="en-US" b="1" dirty="0">
                <a:effectLst/>
              </a:rPr>
              <a:t> weighting are indeed valuable for capturing nuances in corporate culture.</a:t>
            </a:r>
            <a:endParaRPr lang="en-US" dirty="0">
              <a:effectLst/>
            </a:endParaRPr>
          </a:p>
          <a:p>
            <a:pPr algn="l"/>
            <a:r>
              <a:rPr lang="en-US" dirty="0">
                <a:effectLst/>
              </a:rPr>
              <a:t>●</a:t>
            </a:r>
          </a:p>
          <a:p>
            <a:r>
              <a:rPr lang="en-US" b="1" dirty="0">
                <a:effectLst/>
              </a:rPr>
              <a:t>The measure based on 10-K filings (Culture_10k) shows mixed results, with some significant relationships but generally weaker performance compared to the measures derived from earnings calls.</a:t>
            </a:r>
            <a:r>
              <a:rPr lang="en-US" dirty="0">
                <a:effectLst/>
              </a:rPr>
              <a:t> This suggests that the researchers' method might be applicable to other types of qualitative disclosures but that earnings calls seem to be a particularly rich source of information about corporate culture.</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21</a:t>
            </a:fld>
            <a:endParaRPr lang="en-US"/>
          </a:p>
        </p:txBody>
      </p:sp>
    </p:spTree>
    <p:extLst>
      <p:ext uri="{BB962C8B-B14F-4D97-AF65-F5344CB8AC3E}">
        <p14:creationId xmlns:p14="http://schemas.microsoft.com/office/powerpoint/2010/main" val="5610067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31314"/>
                </a:solidFill>
                <a:effectLst/>
                <a:latin typeface="Google Sans Text"/>
              </a:rPr>
              <a:t>Table 7 shifts the focus from validating the culture measures to exploring the implications of having a strong corporate culture. Specifically, it examines how a strong overall culture, as measured by the average of the five cultural values, relates to various business outcomes. The table is divided into two panels:</a:t>
            </a:r>
          </a:p>
          <a:p>
            <a:endParaRPr lang="en-US" b="0" i="0" dirty="0">
              <a:solidFill>
                <a:srgbClr val="131314"/>
              </a:solidFill>
              <a:effectLst/>
              <a:latin typeface="Google Sans Text"/>
            </a:endParaRPr>
          </a:p>
          <a:p>
            <a:r>
              <a:rPr lang="en-US" b="1" dirty="0">
                <a:effectLst/>
              </a:rPr>
              <a:t>Panel A</a:t>
            </a:r>
            <a:r>
              <a:rPr lang="en-US" dirty="0">
                <a:effectLst/>
              </a:rPr>
              <a:t> focuses on </a:t>
            </a:r>
            <a:r>
              <a:rPr lang="en-US" b="1" dirty="0">
                <a:effectLst/>
              </a:rPr>
              <a:t>the general relationship between a strong culture and business outcomes</a:t>
            </a:r>
            <a:r>
              <a:rPr lang="en-US" dirty="0">
                <a:effectLst/>
              </a:rPr>
              <a:t>, examining metrics like asset turnover, inventory turnover, stock return volatility, discretionary accruals, CEO pay duration, Tobin's Q, and sales growth.</a:t>
            </a:r>
          </a:p>
          <a:p>
            <a:pPr algn="l"/>
            <a:r>
              <a:rPr lang="en-US" dirty="0">
                <a:effectLst/>
              </a:rPr>
              <a:t>●</a:t>
            </a:r>
          </a:p>
          <a:p>
            <a:r>
              <a:rPr lang="en-US" b="1" dirty="0">
                <a:effectLst/>
              </a:rPr>
              <a:t>Panel B</a:t>
            </a:r>
            <a:r>
              <a:rPr lang="en-US" dirty="0">
                <a:effectLst/>
              </a:rPr>
              <a:t> zooms in on </a:t>
            </a:r>
            <a:r>
              <a:rPr lang="en-US" b="1" dirty="0">
                <a:effectLst/>
              </a:rPr>
              <a:t>the impact of a strong culture during challenging times</a:t>
            </a:r>
            <a:r>
              <a:rPr lang="en-US" dirty="0">
                <a:effectLst/>
              </a:rPr>
              <a:t>, analyzing abnormal stock returns during the 2008 financial crisis and the BP oil spill in 2010.</a:t>
            </a:r>
          </a:p>
          <a:p>
            <a:endParaRPr lang="en-US" b="0" i="0" dirty="0">
              <a:solidFill>
                <a:srgbClr val="131314"/>
              </a:solidFill>
              <a:effectLst/>
              <a:latin typeface="Google Sans Text"/>
            </a:endParaRPr>
          </a:p>
          <a:p>
            <a:r>
              <a:rPr lang="en-US" dirty="0">
                <a:effectLst/>
              </a:rPr>
              <a:t>The results indicate that </a:t>
            </a:r>
            <a:r>
              <a:rPr lang="en-US" b="1" dirty="0">
                <a:effectLst/>
              </a:rPr>
              <a:t>a strong corporate culture is associated with several positive business outcomes</a:t>
            </a:r>
            <a:r>
              <a:rPr lang="en-US" dirty="0">
                <a:effectLst/>
              </a:rPr>
              <a:t>:</a:t>
            </a:r>
          </a:p>
          <a:p>
            <a:pPr algn="l"/>
            <a:r>
              <a:rPr lang="en-US" dirty="0">
                <a:effectLst/>
              </a:rPr>
              <a:t>●</a:t>
            </a:r>
          </a:p>
          <a:p>
            <a:r>
              <a:rPr lang="en-US" b="1" dirty="0">
                <a:effectLst/>
              </a:rPr>
              <a:t>Higher asset turnover</a:t>
            </a:r>
            <a:r>
              <a:rPr lang="en-US" dirty="0">
                <a:effectLst/>
              </a:rPr>
              <a:t>: This suggests that companies with strong cultures are more efficient in utilizing their assets to generate sales.1</a:t>
            </a:r>
          </a:p>
          <a:p>
            <a:pPr algn="l"/>
            <a:r>
              <a:rPr lang="en-US" dirty="0">
                <a:effectLst/>
              </a:rPr>
              <a:t>●</a:t>
            </a:r>
          </a:p>
          <a:p>
            <a:r>
              <a:rPr lang="en-US" b="1" dirty="0">
                <a:effectLst/>
              </a:rPr>
              <a:t>Lower stock return volatility</a:t>
            </a:r>
            <a:r>
              <a:rPr lang="en-US" dirty="0">
                <a:effectLst/>
              </a:rPr>
              <a:t>: This implies that companies with strong cultures are perceived as less risky by investors, potentially leading to a lower cost of capital.1</a:t>
            </a:r>
          </a:p>
          <a:p>
            <a:pPr algn="l"/>
            <a:r>
              <a:rPr lang="en-US" dirty="0">
                <a:effectLst/>
              </a:rPr>
              <a:t>●</a:t>
            </a:r>
          </a:p>
          <a:p>
            <a:r>
              <a:rPr lang="en-US" b="1" dirty="0">
                <a:effectLst/>
              </a:rPr>
              <a:t>Higher Tobin's Q</a:t>
            </a:r>
            <a:r>
              <a:rPr lang="en-US" dirty="0">
                <a:effectLst/>
              </a:rPr>
              <a:t>: This indicates that companies with strong cultures are valued more highly by the market relative to their book value of assets.1</a:t>
            </a:r>
          </a:p>
          <a:p>
            <a:pPr algn="l"/>
            <a:r>
              <a:rPr lang="en-US" dirty="0">
                <a:effectLst/>
              </a:rPr>
              <a:t>●</a:t>
            </a:r>
          </a:p>
          <a:p>
            <a:r>
              <a:rPr lang="en-US" b="1" dirty="0">
                <a:effectLst/>
              </a:rPr>
              <a:t>Longer CEO pay duration</a:t>
            </a:r>
            <a:r>
              <a:rPr lang="en-US" dirty="0">
                <a:effectLst/>
              </a:rPr>
              <a:t>: This suggests that companies with strong cultures are more likely to have long-tenured CEOs, which could contribute to stability and long-term strategic focus.1</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22</a:t>
            </a:fld>
            <a:endParaRPr lang="en-US"/>
          </a:p>
        </p:txBody>
      </p:sp>
    </p:spTree>
    <p:extLst>
      <p:ext uri="{BB962C8B-B14F-4D97-AF65-F5344CB8AC3E}">
        <p14:creationId xmlns:p14="http://schemas.microsoft.com/office/powerpoint/2010/main" val="413343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Panel B: The Impact of a Strong Culture in Bad Times</a:t>
            </a:r>
            <a:endParaRPr lang="en-US" dirty="0">
              <a:effectLst/>
            </a:endParaRPr>
          </a:p>
          <a:p>
            <a:r>
              <a:rPr lang="en-US" dirty="0">
                <a:effectLst/>
              </a:rPr>
              <a:t>Panel B of Table 7 examines whether a strong corporate culture provides benefits during times of crisis. The researchers focus on two specific events:</a:t>
            </a:r>
          </a:p>
          <a:p>
            <a:pPr algn="l"/>
            <a:r>
              <a:rPr lang="en-US" dirty="0">
                <a:effectLst/>
              </a:rPr>
              <a:t>●</a:t>
            </a:r>
          </a:p>
          <a:p>
            <a:r>
              <a:rPr lang="en-US" b="1" dirty="0">
                <a:effectLst/>
              </a:rPr>
              <a:t>The 2008 financial crisis:</a:t>
            </a:r>
            <a:r>
              <a:rPr lang="en-US" dirty="0">
                <a:effectLst/>
              </a:rPr>
              <a:t> They analyze abnormal stock returns for firms with and without strong cultures during this period.4</a:t>
            </a:r>
          </a:p>
          <a:p>
            <a:pPr algn="l"/>
            <a:r>
              <a:rPr lang="en-US" dirty="0">
                <a:effectLst/>
              </a:rPr>
              <a:t>●</a:t>
            </a:r>
          </a:p>
          <a:p>
            <a:r>
              <a:rPr lang="en-US" b="1" dirty="0">
                <a:effectLst/>
              </a:rPr>
              <a:t>The BP oil spill in 2010:</a:t>
            </a:r>
            <a:r>
              <a:rPr lang="en-US" dirty="0">
                <a:effectLst/>
              </a:rPr>
              <a:t> They examine abnormal stock returns for oil companies with and without strong cultures during this period.4</a:t>
            </a:r>
          </a:p>
          <a:p>
            <a:r>
              <a:rPr lang="en-US" dirty="0">
                <a:effectLst/>
              </a:rPr>
              <a:t>The key finding from Panel B is that </a:t>
            </a:r>
            <a:r>
              <a:rPr lang="en-US" b="1" dirty="0">
                <a:effectLst/>
              </a:rPr>
              <a:t>companies with strong cultures tend to perform better during crises</a:t>
            </a:r>
            <a:r>
              <a:rPr lang="en-US" dirty="0">
                <a:effectLst/>
              </a:rPr>
              <a:t>. This is evidenced by the positive and significant coefficients on the interaction terms "Strong culture × Financial crisis" and "Strong culture × BP oil spill."4</a:t>
            </a:r>
          </a:p>
          <a:p>
            <a:r>
              <a:rPr lang="en-US" dirty="0">
                <a:effectLst/>
              </a:rPr>
              <a:t>The sources highlight that the regressions in Panel B control for various firm-level characteristics, as well as industry fixed effects. They also note that the standard errors are clustered at the firm level to account for potential correlation within firms over time.45</a:t>
            </a:r>
          </a:p>
          <a:p>
            <a:r>
              <a:rPr lang="en-US" b="1" dirty="0">
                <a:effectLst/>
              </a:rPr>
              <a:t>Overall, Table 7 suggests that a strong corporate culture can have a meaningful impact on business outcomes, both in general and during times of crisis.</a:t>
            </a:r>
            <a:r>
              <a:rPr lang="en-US" dirty="0">
                <a:effectLst/>
              </a:rPr>
              <a:t> This reinforces the idea that culture is not just a "soft" concept but rather a strategic asset that can contribute to a company's success.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23</a:t>
            </a:fld>
            <a:endParaRPr lang="en-US"/>
          </a:p>
        </p:txBody>
      </p:sp>
    </p:spTree>
    <p:extLst>
      <p:ext uri="{BB962C8B-B14F-4D97-AF65-F5344CB8AC3E}">
        <p14:creationId xmlns:p14="http://schemas.microsoft.com/office/powerpoint/2010/main" val="15449603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Table 8 shifts the focus from the general impact of corporate culture on business outcomes to a more specific exploration of its role in mergers and acquisitions (M&amp;A). The table examines several key aspects of this relationship:</a:t>
            </a:r>
          </a:p>
          <a:p>
            <a:pPr algn="l"/>
            <a:r>
              <a:rPr lang="en-US" dirty="0">
                <a:effectLst/>
              </a:rPr>
              <a:t>●</a:t>
            </a:r>
          </a:p>
          <a:p>
            <a:r>
              <a:rPr lang="en-US" b="1" dirty="0">
                <a:effectLst/>
              </a:rPr>
              <a:t>Panel A</a:t>
            </a:r>
            <a:r>
              <a:rPr lang="en-US" dirty="0">
                <a:effectLst/>
              </a:rPr>
              <a:t>: </a:t>
            </a:r>
            <a:r>
              <a:rPr lang="en-US" b="1" dirty="0">
                <a:effectLst/>
              </a:rPr>
              <a:t>Deal Incidence</a:t>
            </a:r>
            <a:r>
              <a:rPr lang="en-US" dirty="0">
                <a:effectLst/>
              </a:rPr>
              <a:t> - This panel explores whether certain cultural values make a company more likely to become an acquirer.</a:t>
            </a:r>
          </a:p>
          <a:p>
            <a:pPr algn="l"/>
            <a:r>
              <a:rPr lang="en-US" dirty="0">
                <a:effectLst/>
              </a:rPr>
              <a:t>●</a:t>
            </a:r>
          </a:p>
          <a:p>
            <a:r>
              <a:rPr lang="en-US" b="1" dirty="0">
                <a:effectLst/>
              </a:rPr>
              <a:t>Panel B</a:t>
            </a:r>
            <a:r>
              <a:rPr lang="en-US" dirty="0">
                <a:effectLst/>
              </a:rPr>
              <a:t>: </a:t>
            </a:r>
            <a:r>
              <a:rPr lang="en-US" b="1" dirty="0">
                <a:effectLst/>
              </a:rPr>
              <a:t>Merger Pairing</a:t>
            </a:r>
            <a:r>
              <a:rPr lang="en-US" dirty="0">
                <a:effectLst/>
              </a:rPr>
              <a:t> - This panel investigates whether companies with similar corporate cultures are more likely to merge with each other, testing the "cultural fit" hypothesis.</a:t>
            </a:r>
          </a:p>
          <a:p>
            <a:pPr algn="l"/>
            <a:r>
              <a:rPr lang="en-US" dirty="0">
                <a:effectLst/>
              </a:rPr>
              <a:t>●</a:t>
            </a:r>
          </a:p>
          <a:p>
            <a:r>
              <a:rPr lang="en-US" b="1" dirty="0">
                <a:effectLst/>
              </a:rPr>
              <a:t>Panel C</a:t>
            </a:r>
            <a:r>
              <a:rPr lang="en-US" dirty="0">
                <a:effectLst/>
              </a:rPr>
              <a:t>: </a:t>
            </a:r>
            <a:r>
              <a:rPr lang="en-US" b="1" dirty="0">
                <a:effectLst/>
              </a:rPr>
              <a:t>Post-Merger Acculturation</a:t>
            </a:r>
            <a:r>
              <a:rPr lang="en-US" dirty="0">
                <a:effectLst/>
              </a:rPr>
              <a:t> - This panel examines how the corporate cultures of the acquirer and target firm evolve after a merger.</a:t>
            </a:r>
          </a:p>
          <a:p>
            <a:endParaRPr lang="en-US" dirty="0"/>
          </a:p>
          <a:p>
            <a:pPr algn="l"/>
            <a:r>
              <a:rPr lang="en-US" dirty="0">
                <a:effectLst/>
              </a:rPr>
              <a:t>●</a:t>
            </a:r>
          </a:p>
          <a:p>
            <a:r>
              <a:rPr lang="en-US" b="1" dirty="0">
                <a:effectLst/>
              </a:rPr>
              <a:t>Full sample</a:t>
            </a:r>
            <a:r>
              <a:rPr lang="en-US" dirty="0">
                <a:effectLst/>
              </a:rPr>
              <a:t>: Includes all firm-years with cultural values from the </a:t>
            </a:r>
            <a:r>
              <a:rPr lang="en-US" dirty="0" err="1">
                <a:effectLst/>
              </a:rPr>
              <a:t>Compustat</a:t>
            </a:r>
            <a:r>
              <a:rPr lang="en-US" dirty="0">
                <a:effectLst/>
              </a:rPr>
              <a:t> database.</a:t>
            </a:r>
          </a:p>
          <a:p>
            <a:pPr algn="l"/>
            <a:r>
              <a:rPr lang="en-US" dirty="0">
                <a:effectLst/>
              </a:rPr>
              <a:t>●</a:t>
            </a:r>
          </a:p>
          <a:p>
            <a:r>
              <a:rPr lang="en-US" b="1" dirty="0">
                <a:effectLst/>
              </a:rPr>
              <a:t>Industry and size-matched</a:t>
            </a:r>
            <a:r>
              <a:rPr lang="en-US" dirty="0">
                <a:effectLst/>
              </a:rPr>
              <a:t>: Compares acquirers to control firms matched on industry and size.</a:t>
            </a:r>
          </a:p>
          <a:p>
            <a:pPr algn="l"/>
            <a:r>
              <a:rPr lang="en-US" dirty="0">
                <a:effectLst/>
              </a:rPr>
              <a:t>●</a:t>
            </a:r>
          </a:p>
          <a:p>
            <a:r>
              <a:rPr lang="en-US" b="1" dirty="0">
                <a:effectLst/>
              </a:rPr>
              <a:t>Industry, size, and B/M matched</a:t>
            </a:r>
            <a:r>
              <a:rPr lang="en-US" dirty="0">
                <a:effectLst/>
              </a:rPr>
              <a:t>: Compares acquirers to control firms matched on industry, size, and book-to-market ratio.</a:t>
            </a:r>
          </a:p>
          <a:p>
            <a:r>
              <a:rPr lang="en-US" dirty="0">
                <a:effectLst/>
              </a:rPr>
              <a:t>Two different statistical models are employed:</a:t>
            </a:r>
          </a:p>
          <a:p>
            <a:pPr algn="l"/>
            <a:r>
              <a:rPr lang="en-US" dirty="0">
                <a:effectLst/>
              </a:rPr>
              <a:t>●</a:t>
            </a:r>
          </a:p>
          <a:p>
            <a:r>
              <a:rPr lang="en-US" b="1" dirty="0">
                <a:effectLst/>
              </a:rPr>
              <a:t>Linear probability model (LPM)</a:t>
            </a:r>
            <a:endParaRPr lang="en-US" dirty="0">
              <a:effectLst/>
            </a:endParaRPr>
          </a:p>
          <a:p>
            <a:pPr algn="l"/>
            <a:r>
              <a:rPr lang="en-US" dirty="0">
                <a:effectLst/>
              </a:rPr>
              <a:t>●</a:t>
            </a:r>
          </a:p>
          <a:p>
            <a:r>
              <a:rPr lang="en-US" b="1" dirty="0">
                <a:effectLst/>
              </a:rPr>
              <a:t>Conditional logit model (</a:t>
            </a:r>
            <a:r>
              <a:rPr lang="en-US" b="1" dirty="0" err="1">
                <a:effectLst/>
              </a:rPr>
              <a:t>Clogit</a:t>
            </a:r>
            <a:r>
              <a:rPr lang="en-US" b="1" dirty="0">
                <a:effectLst/>
              </a:rPr>
              <a:t>)</a:t>
            </a:r>
          </a:p>
          <a:p>
            <a:endParaRPr lang="en-US" b="1" dirty="0">
              <a:effectLst/>
            </a:endParaRPr>
          </a:p>
          <a:p>
            <a:endParaRPr lang="en-US" dirty="0">
              <a:effectLst/>
            </a:endParaRPr>
          </a:p>
          <a:p>
            <a:r>
              <a:rPr lang="en-US" dirty="0">
                <a:effectLst/>
              </a:rPr>
              <a:t>The key findings from Panel A are:</a:t>
            </a:r>
          </a:p>
          <a:p>
            <a:pPr algn="l"/>
            <a:r>
              <a:rPr lang="en-US" dirty="0">
                <a:effectLst/>
              </a:rPr>
              <a:t>●</a:t>
            </a:r>
          </a:p>
          <a:p>
            <a:r>
              <a:rPr lang="en-US" b="1" dirty="0">
                <a:effectLst/>
              </a:rPr>
              <a:t>Innovation:</a:t>
            </a:r>
            <a:r>
              <a:rPr lang="en-US" dirty="0">
                <a:effectLst/>
              </a:rPr>
              <a:t> A positive and significant association with deal incidence in most models, suggesting that companies that emphasize innovation are more likely to be acquirers. This could be because innovative companies are more likely to see M&amp;A as a way to acquire new technologies or expand into new markets.</a:t>
            </a:r>
          </a:p>
          <a:p>
            <a:pPr algn="l"/>
            <a:r>
              <a:rPr lang="en-US" dirty="0">
                <a:effectLst/>
              </a:rPr>
              <a:t>●</a:t>
            </a:r>
          </a:p>
          <a:p>
            <a:r>
              <a:rPr lang="en-US" b="1" dirty="0">
                <a:effectLst/>
              </a:rPr>
              <a:t>Integrity:</a:t>
            </a:r>
            <a:r>
              <a:rPr lang="en-US" dirty="0">
                <a:effectLst/>
              </a:rPr>
              <a:t> A negative and significant association with deal incidence in all models, indicating that companies that prioritize integrity are less likely to be acquirers. This could be because these companies are more cautious and selective in their M&amp;A activity, focusing on deals that align with their ethical principles.</a:t>
            </a:r>
          </a:p>
          <a:p>
            <a:pPr algn="l"/>
            <a:r>
              <a:rPr lang="en-US" dirty="0">
                <a:effectLst/>
              </a:rPr>
              <a:t>●</a:t>
            </a:r>
          </a:p>
          <a:p>
            <a:r>
              <a:rPr lang="en-US" b="1" dirty="0">
                <a:effectLst/>
              </a:rPr>
              <a:t>Quality:</a:t>
            </a:r>
            <a:r>
              <a:rPr lang="en-US" dirty="0">
                <a:effectLst/>
              </a:rPr>
              <a:t> A negative and significant association with deal incidence in most models. This finding is somewhat surprising but could potentially be explained by high-quality firms being more likely to grow organically rather than through acquisitions.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24</a:t>
            </a:fld>
            <a:endParaRPr lang="en-US"/>
          </a:p>
        </p:txBody>
      </p:sp>
    </p:spTree>
    <p:extLst>
      <p:ext uri="{BB962C8B-B14F-4D97-AF65-F5344CB8AC3E}">
        <p14:creationId xmlns:p14="http://schemas.microsoft.com/office/powerpoint/2010/main" val="35095632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Panel B of Table 8 explores the relationship between cultural fit and merger pairing. This panel analyzes whether companies with similar cultural values are more likely to merge.</a:t>
            </a:r>
          </a:p>
          <a:p>
            <a:r>
              <a:rPr lang="en-US" dirty="0">
                <a:effectLst/>
              </a:rPr>
              <a:t>The dependent variable is an indicator variable equal to one if the acquirer-target pair has a high cultural fit, and zero otherwise.</a:t>
            </a:r>
          </a:p>
          <a:p>
            <a:r>
              <a:rPr lang="en-US" dirty="0">
                <a:effectLst/>
              </a:rPr>
              <a:t>The key independent variables are:</a:t>
            </a:r>
          </a:p>
          <a:p>
            <a:pPr algn="l"/>
            <a:r>
              <a:rPr lang="en-US" dirty="0">
                <a:effectLst/>
              </a:rPr>
              <a:t>●</a:t>
            </a:r>
          </a:p>
          <a:p>
            <a:r>
              <a:rPr lang="en-US" b="1" dirty="0">
                <a:effectLst/>
              </a:rPr>
              <a:t>Cultural distance:</a:t>
            </a:r>
            <a:r>
              <a:rPr lang="en-US" dirty="0">
                <a:effectLst/>
              </a:rPr>
              <a:t> Measures the absolute difference in cultural values between the acquirer and target.</a:t>
            </a:r>
          </a:p>
          <a:p>
            <a:pPr algn="l"/>
            <a:r>
              <a:rPr lang="en-US" dirty="0">
                <a:effectLst/>
              </a:rPr>
              <a:t>●</a:t>
            </a:r>
          </a:p>
          <a:p>
            <a:r>
              <a:rPr lang="en-US" b="1" dirty="0">
                <a:effectLst/>
              </a:rPr>
              <a:t>Acquirer and target cultural values:</a:t>
            </a:r>
            <a:r>
              <a:rPr lang="en-US" dirty="0">
                <a:effectLst/>
              </a:rPr>
              <a:t> Individual cultural value scores for both the acquirer and the target.</a:t>
            </a:r>
          </a:p>
          <a:p>
            <a:pPr algn="l"/>
            <a:r>
              <a:rPr lang="en-US" dirty="0">
                <a:effectLst/>
              </a:rPr>
              <a:t>●</a:t>
            </a:r>
          </a:p>
          <a:p>
            <a:r>
              <a:rPr lang="en-US" b="1" dirty="0">
                <a:effectLst/>
              </a:rPr>
              <a:t>Control variables:</a:t>
            </a:r>
            <a:r>
              <a:rPr lang="en-US" dirty="0">
                <a:effectLst/>
              </a:rPr>
              <a:t> Include acquirer and target firm characteristics (e.g., size, leverage, profitability, sales growth, past stock returns) and deal characteristics (e.g., whether the firms are in the same state, Herfindahl-Hirschman Index (HHI) similarity).</a:t>
            </a:r>
          </a:p>
          <a:p>
            <a:r>
              <a:rPr lang="en-US" dirty="0">
                <a:effectLst/>
              </a:rPr>
              <a:t>The key findings from Panel B are:</a:t>
            </a:r>
          </a:p>
          <a:p>
            <a:pPr algn="l"/>
            <a:r>
              <a:rPr lang="en-US" dirty="0">
                <a:effectLst/>
              </a:rPr>
              <a:t>●</a:t>
            </a:r>
          </a:p>
          <a:p>
            <a:r>
              <a:rPr lang="en-US" b="1" dirty="0">
                <a:effectLst/>
              </a:rPr>
              <a:t>Cultural distance:</a:t>
            </a:r>
            <a:r>
              <a:rPr lang="en-US" dirty="0">
                <a:effectLst/>
              </a:rPr>
              <a:t> A negative and significant association with merger pairing, meaning that acquirers are more likely to choose targets with similar cultural values.</a:t>
            </a:r>
          </a:p>
          <a:p>
            <a:pPr algn="l"/>
            <a:r>
              <a:rPr lang="en-US" dirty="0">
                <a:effectLst/>
              </a:rPr>
              <a:t>●</a:t>
            </a:r>
          </a:p>
          <a:p>
            <a:r>
              <a:rPr lang="en-US" b="1" dirty="0">
                <a:effectLst/>
              </a:rPr>
              <a:t>Acquirer and target cultural values</a:t>
            </a:r>
            <a:r>
              <a:rPr lang="en-US" dirty="0">
                <a:effectLst/>
              </a:rPr>
              <a:t>: Support the "cultural fit" hypothesis, with acquirers and targets tending to have similar scores for innovation, quality, respect, and teamwork.</a:t>
            </a:r>
          </a:p>
          <a:p>
            <a:r>
              <a:rPr lang="en-US" dirty="0">
                <a:effectLst/>
              </a:rPr>
              <a:t>The regressions in Panel B include deal fixed effects to control for deal-specific factors.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25</a:t>
            </a:fld>
            <a:endParaRPr lang="en-US"/>
          </a:p>
        </p:txBody>
      </p:sp>
    </p:spTree>
    <p:extLst>
      <p:ext uri="{BB962C8B-B14F-4D97-AF65-F5344CB8AC3E}">
        <p14:creationId xmlns:p14="http://schemas.microsoft.com/office/powerpoint/2010/main" val="28555337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Panel C: Post-Merger Acculturation</a:t>
            </a:r>
          </a:p>
          <a:p>
            <a:r>
              <a:rPr lang="en-US" dirty="0">
                <a:effectLst/>
              </a:rPr>
              <a:t>Panel C of Table 8 investigates how the corporate cultures of the acquirer and target firm evolve after a merger. The researchers focus on understanding the process of "acculturation," which refers to the changes in cultural values that occur as the two companies integrate.</a:t>
            </a:r>
          </a:p>
          <a:p>
            <a:r>
              <a:rPr lang="en-US" dirty="0">
                <a:effectLst/>
              </a:rPr>
              <a:t>To isolate the target-specific culture from pre-merger cultural alignment, the researchers use a two-step process:</a:t>
            </a:r>
          </a:p>
          <a:p>
            <a:pPr algn="l"/>
            <a:r>
              <a:rPr lang="en-US" dirty="0">
                <a:effectLst/>
              </a:rPr>
              <a:t>1.</a:t>
            </a:r>
          </a:p>
          <a:p>
            <a:r>
              <a:rPr lang="en-US" b="1" dirty="0">
                <a:effectLst/>
              </a:rPr>
              <a:t>Target-specific cultural value:</a:t>
            </a:r>
            <a:r>
              <a:rPr lang="en-US" dirty="0">
                <a:effectLst/>
              </a:rPr>
              <a:t> Regress each target's cultural value on the corresponding acquirer cultural value and acquirer characteristics in the year before the deal announcement. The residual from this regression represents the target-specific cultural value.</a:t>
            </a:r>
          </a:p>
          <a:p>
            <a:pPr algn="l"/>
            <a:r>
              <a:rPr lang="en-US" dirty="0">
                <a:effectLst/>
              </a:rPr>
              <a:t>2.</a:t>
            </a:r>
          </a:p>
          <a:p>
            <a:r>
              <a:rPr lang="en-US" b="1" dirty="0">
                <a:effectLst/>
              </a:rPr>
              <a:t>Post-merger cultural value:</a:t>
            </a:r>
            <a:r>
              <a:rPr lang="en-US" dirty="0">
                <a:effectLst/>
              </a:rPr>
              <a:t> Regress the acquirer's cultural value (one and three years after the merger) on both the acquirer's and target's pre-merger cultural values, including the target-specific cultural value calculated in step 1.</a:t>
            </a:r>
          </a:p>
          <a:p>
            <a:r>
              <a:rPr lang="en-US" dirty="0">
                <a:effectLst/>
              </a:rPr>
              <a:t>The key findings from Panel C are:</a:t>
            </a:r>
          </a:p>
          <a:p>
            <a:pPr algn="l"/>
            <a:r>
              <a:rPr lang="en-US" dirty="0">
                <a:effectLst/>
              </a:rPr>
              <a:t>●</a:t>
            </a:r>
          </a:p>
          <a:p>
            <a:r>
              <a:rPr lang="en-US" b="1" dirty="0">
                <a:effectLst/>
              </a:rPr>
              <a:t>Acquirer's cultural values</a:t>
            </a:r>
            <a:r>
              <a:rPr lang="en-US" dirty="0">
                <a:effectLst/>
              </a:rPr>
              <a:t>: Remain significantly related to their own pre-merger values even after controlling for the target's culture, indicating that the acquirer's existing culture continues to exert influence.</a:t>
            </a:r>
          </a:p>
          <a:p>
            <a:pPr algn="l"/>
            <a:r>
              <a:rPr lang="en-US" dirty="0">
                <a:effectLst/>
              </a:rPr>
              <a:t>●</a:t>
            </a:r>
          </a:p>
          <a:p>
            <a:r>
              <a:rPr lang="en-US" b="1" dirty="0">
                <a:effectLst/>
              </a:rPr>
              <a:t>Target's cultural values</a:t>
            </a:r>
            <a:r>
              <a:rPr lang="en-US" dirty="0">
                <a:effectLst/>
              </a:rPr>
              <a:t>: Have a significant positive association with the acquirer's post-merger culture, even when considering the target-specific cultural value, suggesting that the target firm's culture also contributes to shaping the merged entity's culture.</a:t>
            </a:r>
          </a:p>
          <a:p>
            <a:r>
              <a:rPr lang="en-US" dirty="0">
                <a:effectLst/>
              </a:rPr>
              <a:t>These findings support the hypothesis that mergers lead to the creation of a new, jointly determined culture, as opposed to the acquirer's culture completely dominating.</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26</a:t>
            </a:fld>
            <a:endParaRPr lang="en-US"/>
          </a:p>
        </p:txBody>
      </p:sp>
    </p:spTree>
    <p:extLst>
      <p:ext uri="{BB962C8B-B14F-4D97-AF65-F5344CB8AC3E}">
        <p14:creationId xmlns:p14="http://schemas.microsoft.com/office/powerpoint/2010/main" val="7402425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131314"/>
                </a:solidFill>
                <a:effectLst/>
                <a:latin typeface="Google Sans Text"/>
              </a:rPr>
              <a:t>Corporate culture, as measured through the language used in earnings calls, is a significant predictor of various business outcomes</a:t>
            </a:r>
            <a:r>
              <a:rPr lang="en-US" b="0" i="0" dirty="0">
                <a:solidFill>
                  <a:srgbClr val="131314"/>
                </a:solidFill>
                <a:effectLst/>
                <a:latin typeface="Google Sans Text"/>
              </a:rPr>
              <a:t>. </a:t>
            </a:r>
          </a:p>
          <a:p>
            <a:endParaRPr lang="en-US" b="0" i="0" dirty="0">
              <a:solidFill>
                <a:srgbClr val="131314"/>
              </a:solidFill>
              <a:effectLst/>
              <a:latin typeface="Google Sans Text"/>
            </a:endParaRP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27</a:t>
            </a:fld>
            <a:endParaRPr lang="en-US"/>
          </a:p>
        </p:txBody>
      </p:sp>
    </p:spTree>
    <p:extLst>
      <p:ext uri="{BB962C8B-B14F-4D97-AF65-F5344CB8AC3E}">
        <p14:creationId xmlns:p14="http://schemas.microsoft.com/office/powerpoint/2010/main" val="3636701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11/18/2024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11/18/2024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11/18/2024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11/18/2024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fontScale="90000"/>
          </a:bodyPr>
          <a:lstStyle/>
          <a:p>
            <a:r>
              <a:rPr lang="en-US" sz="3600" dirty="0">
                <a:ea typeface="+mj-lt"/>
                <a:cs typeface="+mj-lt"/>
              </a:rPr>
              <a:t>Measuring Corporate Culture Using Machine Learning</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400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Kai Li</a:t>
            </a:r>
            <a:br>
              <a:rPr lang="en-US" sz="2900" dirty="0">
                <a:solidFill>
                  <a:schemeClr val="tx1"/>
                </a:solidFill>
                <a:ea typeface="Calibri"/>
                <a:cs typeface="Calibri"/>
              </a:rPr>
            </a:br>
            <a:r>
              <a:rPr lang="en-US" sz="2900" dirty="0">
                <a:solidFill>
                  <a:schemeClr val="tx1"/>
                </a:solidFill>
                <a:ea typeface="Calibri"/>
                <a:cs typeface="Calibri"/>
              </a:rPr>
              <a:t>University of British Columbia</a:t>
            </a:r>
          </a:p>
          <a:p>
            <a:br>
              <a:rPr lang="en-US" sz="2900" b="1" dirty="0">
                <a:ea typeface="Calibri"/>
                <a:cs typeface="Calibri"/>
              </a:rPr>
            </a:br>
            <a:r>
              <a:rPr lang="en-US" sz="2900" b="1" dirty="0">
                <a:solidFill>
                  <a:schemeClr val="tx1"/>
                </a:solidFill>
                <a:ea typeface="Calibri"/>
                <a:cs typeface="Calibri"/>
              </a:rPr>
              <a:t>Feng Mai</a:t>
            </a:r>
            <a:br>
              <a:rPr lang="en-US" sz="2900" dirty="0">
                <a:solidFill>
                  <a:schemeClr val="tx1"/>
                </a:solidFill>
                <a:ea typeface="Calibri"/>
                <a:cs typeface="Calibri"/>
              </a:rPr>
            </a:br>
            <a:r>
              <a:rPr lang="en-US" sz="2900" dirty="0">
                <a:solidFill>
                  <a:schemeClr val="tx1"/>
                </a:solidFill>
                <a:ea typeface="Calibri"/>
                <a:cs typeface="Calibri"/>
              </a:rPr>
              <a:t>Stevens Institute of Technology</a:t>
            </a:r>
          </a:p>
          <a:p>
            <a:br>
              <a:rPr lang="en-US" sz="2900" b="1" dirty="0">
                <a:solidFill>
                  <a:schemeClr val="tx1"/>
                </a:solidFill>
                <a:ea typeface="Calibri"/>
                <a:cs typeface="Calibri"/>
              </a:rPr>
            </a:br>
            <a:r>
              <a:rPr lang="en-US" sz="2900" b="1" dirty="0">
                <a:solidFill>
                  <a:schemeClr val="tx1"/>
                </a:solidFill>
                <a:ea typeface="Calibri"/>
                <a:cs typeface="Calibri"/>
              </a:rPr>
              <a:t>Rui Shen</a:t>
            </a:r>
            <a:br>
              <a:rPr lang="en-US" sz="2900" b="1" dirty="0">
                <a:ea typeface="Calibri"/>
                <a:cs typeface="Calibri"/>
              </a:rPr>
            </a:br>
            <a:r>
              <a:rPr lang="en-US" sz="3000" dirty="0">
                <a:solidFill>
                  <a:schemeClr val="tx1"/>
                </a:solidFill>
                <a:ea typeface="Calibri"/>
                <a:cs typeface="Calibri"/>
              </a:rPr>
              <a:t>The Chinese University of Hong Kong</a:t>
            </a:r>
          </a:p>
          <a:p>
            <a:endParaRPr lang="en-US" sz="2900" dirty="0">
              <a:solidFill>
                <a:schemeClr val="tx1"/>
              </a:solidFill>
              <a:ea typeface="Calibri"/>
              <a:cs typeface="Calibri"/>
            </a:endParaRPr>
          </a:p>
          <a:p>
            <a:r>
              <a:rPr lang="en-US" sz="2900" b="1" dirty="0">
                <a:solidFill>
                  <a:schemeClr val="tx1"/>
                </a:solidFill>
                <a:ea typeface="Calibri"/>
                <a:cs typeface="Calibri"/>
              </a:rPr>
              <a:t>Xinyan Yan</a:t>
            </a:r>
          </a:p>
          <a:p>
            <a:r>
              <a:rPr lang="en-US" sz="2900" dirty="0">
                <a:solidFill>
                  <a:schemeClr val="tx1"/>
                </a:solidFill>
                <a:ea typeface="Calibri"/>
                <a:cs typeface="Calibri"/>
              </a:rPr>
              <a:t>University of Dayton</a:t>
            </a:r>
          </a:p>
          <a:p>
            <a:endParaRPr lang="en-US" sz="2900" b="1" dirty="0">
              <a:solidFill>
                <a:schemeClr val="tx1"/>
              </a:solidFill>
              <a:ea typeface="Calibri"/>
              <a:cs typeface="Calibri"/>
            </a:endParaRPr>
          </a:p>
          <a:p>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dirty="0">
                <a:ea typeface="Calibri"/>
                <a:cs typeface="Times New Roman"/>
              </a:rPr>
              <a:t>Does corporate culture affect firm outcomes, and can it be accurately measured using machine learning techniques applied to earnings calls?</a:t>
            </a: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0"/>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340763"/>
            <a:ext cx="8309295" cy="3479412"/>
          </a:xfrm>
        </p:spPr>
        <p:txBody>
          <a:bodyPr vert="horz" lIns="91440" tIns="45720" rIns="91440" bIns="45720" rtlCol="0" anchor="t">
            <a:noAutofit/>
          </a:bodyPr>
          <a:lstStyle/>
          <a:p>
            <a:pPr marL="342900" lvl="1" indent="-342900">
              <a:buFont typeface="Arial"/>
              <a:buChar char="•"/>
            </a:pPr>
            <a:endParaRPr lang="en-US" dirty="0">
              <a:ea typeface="Calibri"/>
              <a:cs typeface="Times New Roman"/>
            </a:endParaRPr>
          </a:p>
          <a:p>
            <a:pPr marL="342900" lvl="1" indent="-342900">
              <a:buFont typeface="Arial"/>
              <a:buChar char="•"/>
            </a:pPr>
            <a:r>
              <a:rPr lang="en-US" sz="2300" dirty="0">
                <a:ea typeface="Calibri"/>
                <a:cs typeface="Times New Roman"/>
              </a:rPr>
              <a:t>Previous studies on the relationship between corporate culture and firm policy have primarily relied on proxies or survey/interview data.</a:t>
            </a:r>
          </a:p>
          <a:p>
            <a:pPr marL="342900" lvl="1" indent="-342900">
              <a:buFont typeface="Arial"/>
              <a:buChar char="•"/>
            </a:pPr>
            <a:r>
              <a:rPr lang="en-US" sz="2300" dirty="0">
                <a:ea typeface="Calibri"/>
                <a:cs typeface="Times New Roman"/>
              </a:rPr>
              <a:t>Most textual analysis methods operate at the document level, treating words as independent tokens, ignoring their order and context (the "bag-of-words" assumption).</a:t>
            </a:r>
          </a:p>
          <a:p>
            <a:pPr marL="342900" lvl="1" indent="-342900">
              <a:buFont typeface="Arial"/>
              <a:buChar char="•"/>
            </a:pPr>
            <a:r>
              <a:rPr lang="en-US" sz="2300" dirty="0">
                <a:ea typeface="Calibri"/>
                <a:cs typeface="Times New Roman"/>
              </a:rPr>
              <a:t>Supervised learning methods need labeled observations, typically in the form of firm outcomes, as training examples, while unsupervised learning keeps human input to a minimum.</a:t>
            </a:r>
          </a:p>
          <a:p>
            <a:pPr marL="342900" lvl="1" indent="-342900">
              <a:buFont typeface="Arial"/>
              <a:buChar char="•"/>
            </a:pPr>
            <a:endParaRPr lang="en-US" dirty="0">
              <a:ea typeface="Calibri"/>
              <a:cs typeface="Times New Roman"/>
            </a:endParaRPr>
          </a:p>
          <a:p>
            <a:pPr marL="342900" lvl="1" indent="-342900">
              <a:buFont typeface="Arial"/>
              <a:buChar char="•"/>
            </a:pPr>
            <a:endParaRPr lang="en-US" sz="1200" dirty="0">
              <a:ea typeface="Calibri"/>
              <a:cs typeface="Calibri"/>
            </a:endParaRP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56A5-86C3-A8D8-A981-308591F1FD23}"/>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77B4ECBA-3526-6C84-D51B-7013452FF46B}"/>
              </a:ext>
            </a:extLst>
          </p:cNvPr>
          <p:cNvSpPr>
            <a:spLocks noGrp="1"/>
          </p:cNvSpPr>
          <p:nvPr>
            <p:ph idx="1"/>
          </p:nvPr>
        </p:nvSpPr>
        <p:spPr>
          <a:xfrm>
            <a:off x="457200" y="1063229"/>
            <a:ext cx="8229600" cy="3394472"/>
          </a:xfrm>
        </p:spPr>
        <p:txBody>
          <a:bodyPr>
            <a:normAutofit fontScale="70000" lnSpcReduction="20000"/>
          </a:bodyPr>
          <a:lstStyle/>
          <a:p>
            <a:endParaRPr lang="en-US" dirty="0"/>
          </a:p>
          <a:p>
            <a:r>
              <a:rPr lang="en-US" dirty="0"/>
              <a:t>Cultural values relate to business outcomes in all dimensions (operational efficiency, risk-taking, earnings management, executive compensation design, and firm value).</a:t>
            </a:r>
          </a:p>
          <a:p>
            <a:endParaRPr lang="en-US" dirty="0"/>
          </a:p>
          <a:p>
            <a:r>
              <a:rPr lang="en-US" b="0" i="0" dirty="0">
                <a:solidFill>
                  <a:srgbClr val="131314"/>
                </a:solidFill>
                <a:effectLst/>
                <a:latin typeface="Google Sans Text"/>
              </a:rPr>
              <a:t>Cultural values play an important role in M&amp;A activity and merger pairings (cultural similarity hypothesis).</a:t>
            </a:r>
          </a:p>
          <a:p>
            <a:endParaRPr lang="en-US" dirty="0"/>
          </a:p>
          <a:p>
            <a:r>
              <a:rPr lang="en-US" dirty="0"/>
              <a:t>Post-merger acquirer cultural values are positively associated with target firm pre-merger cultural values (acculturation hypothesis).</a:t>
            </a:r>
          </a:p>
        </p:txBody>
      </p:sp>
    </p:spTree>
    <p:extLst>
      <p:ext uri="{BB962C8B-B14F-4D97-AF65-F5344CB8AC3E}">
        <p14:creationId xmlns:p14="http://schemas.microsoft.com/office/powerpoint/2010/main" val="399648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7CF-9F86-8098-130C-FD3F046D2086}"/>
              </a:ext>
            </a:extLst>
          </p:cNvPr>
          <p:cNvSpPr>
            <a:spLocks noGrp="1"/>
          </p:cNvSpPr>
          <p:nvPr>
            <p:ph type="title"/>
          </p:nvPr>
        </p:nvSpPr>
        <p:spPr/>
        <p:txBody>
          <a:bodyPr/>
          <a:lstStyle/>
          <a:p>
            <a:r>
              <a:rPr lang="en-US" dirty="0"/>
              <a:t>Data Collection</a:t>
            </a:r>
          </a:p>
        </p:txBody>
      </p:sp>
      <p:sp>
        <p:nvSpPr>
          <p:cNvPr id="3" name="Content Placeholder 2">
            <a:extLst>
              <a:ext uri="{FF2B5EF4-FFF2-40B4-BE49-F238E27FC236}">
                <a16:creationId xmlns:a16="http://schemas.microsoft.com/office/drawing/2014/main" id="{15D56D45-BDC3-3D0B-671F-78DDB007EF2F}"/>
              </a:ext>
            </a:extLst>
          </p:cNvPr>
          <p:cNvSpPr>
            <a:spLocks noGrp="1"/>
          </p:cNvSpPr>
          <p:nvPr>
            <p:ph idx="1"/>
          </p:nvPr>
        </p:nvSpPr>
        <p:spPr>
          <a:xfrm>
            <a:off x="457200" y="999407"/>
            <a:ext cx="8229600" cy="3394472"/>
          </a:xfrm>
        </p:spPr>
        <p:txBody>
          <a:bodyPr>
            <a:normAutofit/>
          </a:bodyPr>
          <a:lstStyle/>
          <a:p>
            <a:r>
              <a:rPr lang="en-US" sz="3200" dirty="0"/>
              <a:t>209,480 Question and Answer sections of earnings call transcripts from the Thomson Reuters </a:t>
            </a:r>
            <a:r>
              <a:rPr lang="en-US" sz="3200" dirty="0" err="1"/>
              <a:t>StreetEvents</a:t>
            </a:r>
            <a:r>
              <a:rPr lang="en-US" sz="3200" dirty="0"/>
              <a:t> database between January 1, 2001, and May 25, 2018.</a:t>
            </a:r>
          </a:p>
          <a:p>
            <a:endParaRPr lang="en-US" dirty="0"/>
          </a:p>
        </p:txBody>
      </p:sp>
    </p:spTree>
    <p:extLst>
      <p:ext uri="{BB962C8B-B14F-4D97-AF65-F5344CB8AC3E}">
        <p14:creationId xmlns:p14="http://schemas.microsoft.com/office/powerpoint/2010/main" val="102931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C2FF-A745-F5D3-D8DB-B77CF69A33F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FB31E7E-BB03-7F85-9FA9-B35E5C0A08A1}"/>
              </a:ext>
            </a:extLst>
          </p:cNvPr>
          <p:cNvSpPr>
            <a:spLocks noGrp="1"/>
          </p:cNvSpPr>
          <p:nvPr>
            <p:ph idx="1"/>
          </p:nvPr>
        </p:nvSpPr>
        <p:spPr>
          <a:xfrm>
            <a:off x="457200" y="874514"/>
            <a:ext cx="8229600" cy="3394472"/>
          </a:xfrm>
        </p:spPr>
        <p:txBody>
          <a:bodyPr>
            <a:normAutofit lnSpcReduction="10000"/>
          </a:bodyPr>
          <a:lstStyle/>
          <a:p>
            <a:endParaRPr lang="en-US" sz="2400" dirty="0"/>
          </a:p>
          <a:p>
            <a:r>
              <a:rPr lang="en-US" sz="2400" dirty="0"/>
              <a:t>A new </a:t>
            </a:r>
            <a:r>
              <a:rPr lang="en-US" sz="2400" dirty="0" err="1"/>
              <a:t>semisupervised</a:t>
            </a:r>
            <a:r>
              <a:rPr lang="en-US" sz="2400" dirty="0"/>
              <a:t> machine learning approach successfully generated a culture dictionary and quantified corporate culture for 62,664 firm-year observations from 2001-2018 using the five cultural values proposed by Guiso, Sapienza, and Zingales (2015): innovation, integrity, quality, respect, and teamwork</a:t>
            </a:r>
          </a:p>
          <a:p>
            <a:r>
              <a:rPr lang="en-US" sz="2400" dirty="0"/>
              <a:t>The new measure of corporate culture outperforms three alternative measures.</a:t>
            </a:r>
          </a:p>
          <a:p>
            <a:endParaRPr lang="en-US" sz="2400" dirty="0"/>
          </a:p>
        </p:txBody>
      </p:sp>
    </p:spTree>
    <p:extLst>
      <p:ext uri="{BB962C8B-B14F-4D97-AF65-F5344CB8AC3E}">
        <p14:creationId xmlns:p14="http://schemas.microsoft.com/office/powerpoint/2010/main" val="2280721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D144-19C4-9DC9-FB32-F2FA897A467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D189010-88CD-B945-1CB9-5726089AF71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AAF0391-A1BD-F287-58C0-CCD167A2715E}"/>
              </a:ext>
            </a:extLst>
          </p:cNvPr>
          <p:cNvPicPr>
            <a:picLocks noChangeAspect="1"/>
          </p:cNvPicPr>
          <p:nvPr/>
        </p:nvPicPr>
        <p:blipFill>
          <a:blip r:embed="rId3"/>
          <a:stretch>
            <a:fillRect/>
          </a:stretch>
        </p:blipFill>
        <p:spPr>
          <a:xfrm>
            <a:off x="1153368" y="81635"/>
            <a:ext cx="6837264" cy="4980229"/>
          </a:xfrm>
          <a:prstGeom prst="rect">
            <a:avLst/>
          </a:prstGeom>
        </p:spPr>
      </p:pic>
    </p:spTree>
    <p:extLst>
      <p:ext uri="{BB962C8B-B14F-4D97-AF65-F5344CB8AC3E}">
        <p14:creationId xmlns:p14="http://schemas.microsoft.com/office/powerpoint/2010/main" val="1842761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A8D6F-E3EA-3A2F-34D1-3C6C8BC25BD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24B9AA9-D2AD-6A72-635E-BF3BBFDEC6D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2EC8FB1-E8F4-24F2-4D42-994FE6E31CF3}"/>
              </a:ext>
            </a:extLst>
          </p:cNvPr>
          <p:cNvPicPr>
            <a:picLocks noChangeAspect="1"/>
          </p:cNvPicPr>
          <p:nvPr/>
        </p:nvPicPr>
        <p:blipFill>
          <a:blip r:embed="rId3"/>
          <a:stretch>
            <a:fillRect/>
          </a:stretch>
        </p:blipFill>
        <p:spPr>
          <a:xfrm>
            <a:off x="517369" y="281634"/>
            <a:ext cx="8109262" cy="4580231"/>
          </a:xfrm>
          <a:prstGeom prst="rect">
            <a:avLst/>
          </a:prstGeom>
        </p:spPr>
      </p:pic>
    </p:spTree>
    <p:extLst>
      <p:ext uri="{BB962C8B-B14F-4D97-AF65-F5344CB8AC3E}">
        <p14:creationId xmlns:p14="http://schemas.microsoft.com/office/powerpoint/2010/main" val="653818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DC03A-613D-04C1-7194-06839B6F55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006F3A-FD7A-5F6C-C41C-8ACC1200422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55053F5-5355-FADB-7B3C-DF4044731B04}"/>
              </a:ext>
            </a:extLst>
          </p:cNvPr>
          <p:cNvPicPr>
            <a:picLocks noChangeAspect="1"/>
          </p:cNvPicPr>
          <p:nvPr/>
        </p:nvPicPr>
        <p:blipFill>
          <a:blip r:embed="rId3"/>
          <a:stretch>
            <a:fillRect/>
          </a:stretch>
        </p:blipFill>
        <p:spPr>
          <a:xfrm>
            <a:off x="792114" y="270343"/>
            <a:ext cx="7559772" cy="4602813"/>
          </a:xfrm>
          <a:prstGeom prst="rect">
            <a:avLst/>
          </a:prstGeom>
        </p:spPr>
      </p:pic>
    </p:spTree>
    <p:extLst>
      <p:ext uri="{BB962C8B-B14F-4D97-AF65-F5344CB8AC3E}">
        <p14:creationId xmlns:p14="http://schemas.microsoft.com/office/powerpoint/2010/main" val="4148987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239B6-4DA8-B38E-D422-66FD60217A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FE2FD37-458D-EC72-3078-A8EB5DEFD1F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4A7DCF0-383E-F407-8EC5-F3A6EFC46493}"/>
              </a:ext>
            </a:extLst>
          </p:cNvPr>
          <p:cNvPicPr>
            <a:picLocks noChangeAspect="1"/>
          </p:cNvPicPr>
          <p:nvPr/>
        </p:nvPicPr>
        <p:blipFill>
          <a:blip r:embed="rId3"/>
          <a:stretch>
            <a:fillRect/>
          </a:stretch>
        </p:blipFill>
        <p:spPr>
          <a:xfrm>
            <a:off x="558800" y="330276"/>
            <a:ext cx="8026400" cy="4482948"/>
          </a:xfrm>
          <a:prstGeom prst="rect">
            <a:avLst/>
          </a:prstGeom>
        </p:spPr>
      </p:pic>
    </p:spTree>
    <p:extLst>
      <p:ext uri="{BB962C8B-B14F-4D97-AF65-F5344CB8AC3E}">
        <p14:creationId xmlns:p14="http://schemas.microsoft.com/office/powerpoint/2010/main" val="723160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16C25-0415-18D2-D760-D65951EE3D2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F07961-D5AC-C02F-CA96-EF36DE6C51F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FD9A0EB-93AA-81CD-4DCA-0ABB418A58D6}"/>
              </a:ext>
            </a:extLst>
          </p:cNvPr>
          <p:cNvPicPr>
            <a:picLocks noChangeAspect="1"/>
          </p:cNvPicPr>
          <p:nvPr/>
        </p:nvPicPr>
        <p:blipFill>
          <a:blip r:embed="rId3"/>
          <a:stretch>
            <a:fillRect/>
          </a:stretch>
        </p:blipFill>
        <p:spPr>
          <a:xfrm>
            <a:off x="284358" y="1102725"/>
            <a:ext cx="8575283" cy="2938050"/>
          </a:xfrm>
          <a:prstGeom prst="rect">
            <a:avLst/>
          </a:prstGeom>
        </p:spPr>
      </p:pic>
    </p:spTree>
    <p:extLst>
      <p:ext uri="{BB962C8B-B14F-4D97-AF65-F5344CB8AC3E}">
        <p14:creationId xmlns:p14="http://schemas.microsoft.com/office/powerpoint/2010/main" val="2771791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0AA2-F7E6-401F-482E-5B4225C442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59F578-2664-1F3B-7FAA-1D7F0DB466C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AC5AAFB-3A49-301B-FACB-434547128627}"/>
              </a:ext>
            </a:extLst>
          </p:cNvPr>
          <p:cNvPicPr>
            <a:picLocks noChangeAspect="1"/>
          </p:cNvPicPr>
          <p:nvPr/>
        </p:nvPicPr>
        <p:blipFill>
          <a:blip r:embed="rId3"/>
          <a:stretch>
            <a:fillRect/>
          </a:stretch>
        </p:blipFill>
        <p:spPr>
          <a:xfrm>
            <a:off x="228600" y="407751"/>
            <a:ext cx="8686800" cy="4327998"/>
          </a:xfrm>
          <a:prstGeom prst="rect">
            <a:avLst/>
          </a:prstGeom>
        </p:spPr>
      </p:pic>
    </p:spTree>
    <p:extLst>
      <p:ext uri="{BB962C8B-B14F-4D97-AF65-F5344CB8AC3E}">
        <p14:creationId xmlns:p14="http://schemas.microsoft.com/office/powerpoint/2010/main" val="2052267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CDEA7-E0E8-9445-C85F-E0EC9A5BB0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BBBBE79-043F-9EA1-48DC-FF68DCDA624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1BB524C-C624-FBFD-6BA0-CEC810B94ADE}"/>
              </a:ext>
            </a:extLst>
          </p:cNvPr>
          <p:cNvPicPr>
            <a:picLocks noChangeAspect="1"/>
          </p:cNvPicPr>
          <p:nvPr/>
        </p:nvPicPr>
        <p:blipFill>
          <a:blip r:embed="rId3"/>
          <a:stretch>
            <a:fillRect/>
          </a:stretch>
        </p:blipFill>
        <p:spPr>
          <a:xfrm>
            <a:off x="423333" y="612021"/>
            <a:ext cx="8297333" cy="3919458"/>
          </a:xfrm>
          <a:prstGeom prst="rect">
            <a:avLst/>
          </a:prstGeom>
        </p:spPr>
      </p:pic>
    </p:spTree>
    <p:extLst>
      <p:ext uri="{BB962C8B-B14F-4D97-AF65-F5344CB8AC3E}">
        <p14:creationId xmlns:p14="http://schemas.microsoft.com/office/powerpoint/2010/main" val="916481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115C2-B2F2-FEA8-2C60-A7608427C1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E98602-3C53-BC09-F510-C057D3FC41A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B16AE0F-7E0D-18C0-382F-4DDA1C1059C8}"/>
              </a:ext>
            </a:extLst>
          </p:cNvPr>
          <p:cNvPicPr>
            <a:picLocks noChangeAspect="1"/>
          </p:cNvPicPr>
          <p:nvPr/>
        </p:nvPicPr>
        <p:blipFill>
          <a:blip r:embed="rId2"/>
          <a:stretch>
            <a:fillRect/>
          </a:stretch>
        </p:blipFill>
        <p:spPr>
          <a:xfrm>
            <a:off x="508000" y="619066"/>
            <a:ext cx="8128000" cy="3905368"/>
          </a:xfrm>
          <a:prstGeom prst="rect">
            <a:avLst/>
          </a:prstGeom>
        </p:spPr>
      </p:pic>
    </p:spTree>
    <p:extLst>
      <p:ext uri="{BB962C8B-B14F-4D97-AF65-F5344CB8AC3E}">
        <p14:creationId xmlns:p14="http://schemas.microsoft.com/office/powerpoint/2010/main" val="1063192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7F232-AF8C-1376-E4CA-5B546BCEB0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FBEA94-7DE8-27B6-20CD-5DACB2E8FE8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320198B-9DDF-FA4E-A86C-976395660EFA}"/>
              </a:ext>
            </a:extLst>
          </p:cNvPr>
          <p:cNvPicPr>
            <a:picLocks noChangeAspect="1"/>
          </p:cNvPicPr>
          <p:nvPr/>
        </p:nvPicPr>
        <p:blipFill>
          <a:blip r:embed="rId2"/>
          <a:stretch>
            <a:fillRect/>
          </a:stretch>
        </p:blipFill>
        <p:spPr>
          <a:xfrm>
            <a:off x="544704" y="863324"/>
            <a:ext cx="8054591" cy="4068126"/>
          </a:xfrm>
          <a:prstGeom prst="rect">
            <a:avLst/>
          </a:prstGeom>
        </p:spPr>
      </p:pic>
    </p:spTree>
    <p:extLst>
      <p:ext uri="{BB962C8B-B14F-4D97-AF65-F5344CB8AC3E}">
        <p14:creationId xmlns:p14="http://schemas.microsoft.com/office/powerpoint/2010/main" val="2370639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1DA9F-151A-289E-489C-233F625FB4E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FC22E4F-501D-E29D-D84E-069B5DA3E40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7025455-2AA7-9815-838E-D9DD6751BBFC}"/>
              </a:ext>
            </a:extLst>
          </p:cNvPr>
          <p:cNvPicPr>
            <a:picLocks noChangeAspect="1"/>
          </p:cNvPicPr>
          <p:nvPr/>
        </p:nvPicPr>
        <p:blipFill>
          <a:blip r:embed="rId3"/>
          <a:stretch>
            <a:fillRect/>
          </a:stretch>
        </p:blipFill>
        <p:spPr>
          <a:xfrm>
            <a:off x="414866" y="383175"/>
            <a:ext cx="8314267" cy="4377149"/>
          </a:xfrm>
          <a:prstGeom prst="rect">
            <a:avLst/>
          </a:prstGeom>
        </p:spPr>
      </p:pic>
    </p:spTree>
    <p:extLst>
      <p:ext uri="{BB962C8B-B14F-4D97-AF65-F5344CB8AC3E}">
        <p14:creationId xmlns:p14="http://schemas.microsoft.com/office/powerpoint/2010/main" val="903813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94711-6167-15C1-CD08-7EADF3C87BB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A158EB-C3F9-1A25-08D5-93C2FEB5E0B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E9EF732-4A81-C8FB-A8EB-05418C314B84}"/>
              </a:ext>
            </a:extLst>
          </p:cNvPr>
          <p:cNvPicPr>
            <a:picLocks noChangeAspect="1"/>
          </p:cNvPicPr>
          <p:nvPr/>
        </p:nvPicPr>
        <p:blipFill>
          <a:blip r:embed="rId3"/>
          <a:stretch>
            <a:fillRect/>
          </a:stretch>
        </p:blipFill>
        <p:spPr>
          <a:xfrm>
            <a:off x="334433" y="306160"/>
            <a:ext cx="8475133" cy="4531180"/>
          </a:xfrm>
          <a:prstGeom prst="rect">
            <a:avLst/>
          </a:prstGeom>
        </p:spPr>
      </p:pic>
    </p:spTree>
    <p:extLst>
      <p:ext uri="{BB962C8B-B14F-4D97-AF65-F5344CB8AC3E}">
        <p14:creationId xmlns:p14="http://schemas.microsoft.com/office/powerpoint/2010/main" val="1158238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9AD5A-4A38-9611-6FA3-84F0C3BC43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86C4FB-9F11-04F3-5FDD-2AD4B0C06AC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F5BD952-C0B0-5E47-809C-2278CCB32F14}"/>
              </a:ext>
            </a:extLst>
          </p:cNvPr>
          <p:cNvPicPr>
            <a:picLocks noChangeAspect="1"/>
          </p:cNvPicPr>
          <p:nvPr/>
        </p:nvPicPr>
        <p:blipFill>
          <a:blip r:embed="rId3"/>
          <a:stretch>
            <a:fillRect/>
          </a:stretch>
        </p:blipFill>
        <p:spPr>
          <a:xfrm>
            <a:off x="252833" y="811350"/>
            <a:ext cx="8638333" cy="3520799"/>
          </a:xfrm>
          <a:prstGeom prst="rect">
            <a:avLst/>
          </a:prstGeom>
        </p:spPr>
      </p:pic>
    </p:spTree>
    <p:extLst>
      <p:ext uri="{BB962C8B-B14F-4D97-AF65-F5344CB8AC3E}">
        <p14:creationId xmlns:p14="http://schemas.microsoft.com/office/powerpoint/2010/main" val="3424824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260EB-967F-A232-0BA9-76C647B4A6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4CE467-0FE4-6BD3-EA2B-8AF43ABC2F6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83E97FF-1ACB-A37C-F4FF-BF54157BC95F}"/>
              </a:ext>
            </a:extLst>
          </p:cNvPr>
          <p:cNvPicPr>
            <a:picLocks noChangeAspect="1"/>
          </p:cNvPicPr>
          <p:nvPr/>
        </p:nvPicPr>
        <p:blipFill>
          <a:blip r:embed="rId3"/>
          <a:stretch>
            <a:fillRect/>
          </a:stretch>
        </p:blipFill>
        <p:spPr>
          <a:xfrm>
            <a:off x="720621" y="258750"/>
            <a:ext cx="7702758" cy="4625999"/>
          </a:xfrm>
          <a:prstGeom prst="rect">
            <a:avLst/>
          </a:prstGeom>
        </p:spPr>
      </p:pic>
    </p:spTree>
    <p:extLst>
      <p:ext uri="{BB962C8B-B14F-4D97-AF65-F5344CB8AC3E}">
        <p14:creationId xmlns:p14="http://schemas.microsoft.com/office/powerpoint/2010/main" val="3503270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A6C8B-41C9-C89D-9E2A-154A5E38BB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3F52DC-BEE9-438F-AD2A-5353F554688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DA6A8A0-0DA8-B066-A3DF-328BB77474E6}"/>
              </a:ext>
            </a:extLst>
          </p:cNvPr>
          <p:cNvPicPr>
            <a:picLocks noChangeAspect="1"/>
          </p:cNvPicPr>
          <p:nvPr/>
        </p:nvPicPr>
        <p:blipFill>
          <a:blip r:embed="rId2"/>
          <a:stretch>
            <a:fillRect/>
          </a:stretch>
        </p:blipFill>
        <p:spPr>
          <a:xfrm>
            <a:off x="881934" y="238275"/>
            <a:ext cx="7380132" cy="4666950"/>
          </a:xfrm>
          <a:prstGeom prst="rect">
            <a:avLst/>
          </a:prstGeom>
        </p:spPr>
      </p:pic>
    </p:spTree>
    <p:extLst>
      <p:ext uri="{BB962C8B-B14F-4D97-AF65-F5344CB8AC3E}">
        <p14:creationId xmlns:p14="http://schemas.microsoft.com/office/powerpoint/2010/main" val="2116837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0FF5-7812-E0EE-6CDA-0B43ACF31B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BC4A1CA-D2C7-76EA-EF31-F24F690B041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2E6EB1D-E6A6-490A-56FC-E82D8C2EB77B}"/>
              </a:ext>
            </a:extLst>
          </p:cNvPr>
          <p:cNvPicPr>
            <a:picLocks noChangeAspect="1"/>
          </p:cNvPicPr>
          <p:nvPr/>
        </p:nvPicPr>
        <p:blipFill>
          <a:blip r:embed="rId3"/>
          <a:stretch>
            <a:fillRect/>
          </a:stretch>
        </p:blipFill>
        <p:spPr>
          <a:xfrm>
            <a:off x="359833" y="560780"/>
            <a:ext cx="8424333" cy="4021940"/>
          </a:xfrm>
          <a:prstGeom prst="rect">
            <a:avLst/>
          </a:prstGeom>
        </p:spPr>
      </p:pic>
    </p:spTree>
    <p:extLst>
      <p:ext uri="{BB962C8B-B14F-4D97-AF65-F5344CB8AC3E}">
        <p14:creationId xmlns:p14="http://schemas.microsoft.com/office/powerpoint/2010/main" val="692309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56E41-A0B3-70BF-6988-59FB4196216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1B474A-161C-7C63-40A6-095E9B9693F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11B5D35-D70F-4075-0A71-80F76D39FBD3}"/>
              </a:ext>
            </a:extLst>
          </p:cNvPr>
          <p:cNvPicPr>
            <a:picLocks noChangeAspect="1"/>
          </p:cNvPicPr>
          <p:nvPr/>
        </p:nvPicPr>
        <p:blipFill>
          <a:blip r:embed="rId3"/>
          <a:stretch>
            <a:fillRect/>
          </a:stretch>
        </p:blipFill>
        <p:spPr>
          <a:xfrm>
            <a:off x="385233" y="484230"/>
            <a:ext cx="8373533" cy="4175039"/>
          </a:xfrm>
          <a:prstGeom prst="rect">
            <a:avLst/>
          </a:prstGeom>
        </p:spPr>
      </p:pic>
    </p:spTree>
    <p:extLst>
      <p:ext uri="{BB962C8B-B14F-4D97-AF65-F5344CB8AC3E}">
        <p14:creationId xmlns:p14="http://schemas.microsoft.com/office/powerpoint/2010/main" val="438983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2E9C0-92F2-0CFC-9F6F-E1FA56BBEF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FA779F-B8F7-0D60-BA45-9BF5B029D54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17FACDD-0DBC-BF3A-08B4-C0D05F7F05FD}"/>
              </a:ext>
            </a:extLst>
          </p:cNvPr>
          <p:cNvPicPr>
            <a:picLocks noChangeAspect="1"/>
          </p:cNvPicPr>
          <p:nvPr/>
        </p:nvPicPr>
        <p:blipFill>
          <a:blip r:embed="rId3"/>
          <a:stretch>
            <a:fillRect/>
          </a:stretch>
        </p:blipFill>
        <p:spPr>
          <a:xfrm>
            <a:off x="283633" y="553816"/>
            <a:ext cx="8576733" cy="4040807"/>
          </a:xfrm>
          <a:prstGeom prst="rect">
            <a:avLst/>
          </a:prstGeom>
        </p:spPr>
      </p:pic>
    </p:spTree>
    <p:extLst>
      <p:ext uri="{BB962C8B-B14F-4D97-AF65-F5344CB8AC3E}">
        <p14:creationId xmlns:p14="http://schemas.microsoft.com/office/powerpoint/2010/main" val="871624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30F01-C450-54CA-396B-01DC0C16CA1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A7A875-E1AB-8D82-BE1D-EA00E89BBA5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8CB70B5-1054-0112-8D59-6189631B2D79}"/>
              </a:ext>
            </a:extLst>
          </p:cNvPr>
          <p:cNvPicPr>
            <a:picLocks noChangeAspect="1"/>
          </p:cNvPicPr>
          <p:nvPr/>
        </p:nvPicPr>
        <p:blipFill>
          <a:blip r:embed="rId3"/>
          <a:stretch>
            <a:fillRect/>
          </a:stretch>
        </p:blipFill>
        <p:spPr>
          <a:xfrm>
            <a:off x="702733" y="402506"/>
            <a:ext cx="7738533" cy="4338487"/>
          </a:xfrm>
          <a:prstGeom prst="rect">
            <a:avLst/>
          </a:prstGeom>
        </p:spPr>
      </p:pic>
    </p:spTree>
    <p:extLst>
      <p:ext uri="{BB962C8B-B14F-4D97-AF65-F5344CB8AC3E}">
        <p14:creationId xmlns:p14="http://schemas.microsoft.com/office/powerpoint/2010/main" val="1491584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265FF-893C-030D-3730-5CD621F02D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F0E2B8B-9D6A-13D6-CF53-780093C2300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BD2A4C7-27EB-DEE3-624E-DD2D9DB6A254}"/>
              </a:ext>
            </a:extLst>
          </p:cNvPr>
          <p:cNvPicPr>
            <a:picLocks noChangeAspect="1"/>
          </p:cNvPicPr>
          <p:nvPr/>
        </p:nvPicPr>
        <p:blipFill>
          <a:blip r:embed="rId3"/>
          <a:stretch>
            <a:fillRect/>
          </a:stretch>
        </p:blipFill>
        <p:spPr>
          <a:xfrm>
            <a:off x="1457718" y="322975"/>
            <a:ext cx="6228564" cy="4497549"/>
          </a:xfrm>
          <a:prstGeom prst="rect">
            <a:avLst/>
          </a:prstGeom>
        </p:spPr>
      </p:pic>
    </p:spTree>
    <p:extLst>
      <p:ext uri="{BB962C8B-B14F-4D97-AF65-F5344CB8AC3E}">
        <p14:creationId xmlns:p14="http://schemas.microsoft.com/office/powerpoint/2010/main" val="2492534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DF20E-DE2B-43DF-759D-C01DF40834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75CFC5-D0A3-F549-B1D5-9D872EA5169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BDC3A4E-D0DC-532F-BF20-029126114666}"/>
              </a:ext>
            </a:extLst>
          </p:cNvPr>
          <p:cNvPicPr>
            <a:picLocks noChangeAspect="1"/>
          </p:cNvPicPr>
          <p:nvPr/>
        </p:nvPicPr>
        <p:blipFill>
          <a:blip r:embed="rId3"/>
          <a:stretch>
            <a:fillRect/>
          </a:stretch>
        </p:blipFill>
        <p:spPr>
          <a:xfrm>
            <a:off x="1049328" y="321509"/>
            <a:ext cx="7045344" cy="4500481"/>
          </a:xfrm>
          <a:prstGeom prst="rect">
            <a:avLst/>
          </a:prstGeom>
        </p:spPr>
      </p:pic>
    </p:spTree>
    <p:extLst>
      <p:ext uri="{BB962C8B-B14F-4D97-AF65-F5344CB8AC3E}">
        <p14:creationId xmlns:p14="http://schemas.microsoft.com/office/powerpoint/2010/main" val="11688486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5454A-FFEF-D6AB-4189-4C55E2B0C2D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F7060D66-CDC1-2C35-94D7-25761B75301E}"/>
              </a:ext>
            </a:extLst>
          </p:cNvPr>
          <p:cNvSpPr>
            <a:spLocks noGrp="1"/>
          </p:cNvSpPr>
          <p:nvPr>
            <p:ph idx="1"/>
          </p:nvPr>
        </p:nvSpPr>
        <p:spPr/>
        <p:txBody>
          <a:bodyPr>
            <a:normAutofit lnSpcReduction="10000"/>
          </a:bodyPr>
          <a:lstStyle/>
          <a:p>
            <a:r>
              <a:rPr lang="en-US" dirty="0"/>
              <a:t>Corporate culture, as measured through the language used in earnings calls, is a significant predictor of various business outcomes. </a:t>
            </a:r>
          </a:p>
          <a:p>
            <a:r>
              <a:rPr lang="en-US" dirty="0"/>
              <a:t>Cultural fit is a crucial factor in M&amp;A success. </a:t>
            </a:r>
          </a:p>
          <a:p>
            <a:r>
              <a:rPr lang="en-US" dirty="0"/>
              <a:t>Machine learning techniques, specifically word embedding, offer a powerful tool for measuring and analyzing corporate culture.</a:t>
            </a:r>
          </a:p>
        </p:txBody>
      </p:sp>
    </p:spTree>
    <p:extLst>
      <p:ext uri="{BB962C8B-B14F-4D97-AF65-F5344CB8AC3E}">
        <p14:creationId xmlns:p14="http://schemas.microsoft.com/office/powerpoint/2010/main" val="172215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2E64A7C7C8D8942ABE466F3AC32BB0E" ma:contentTypeVersion="6" ma:contentTypeDescription="Create a new document." ma:contentTypeScope="" ma:versionID="ef648cd0a4d738a27aa9253740c30aa6">
  <xsd:schema xmlns:xsd="http://www.w3.org/2001/XMLSchema" xmlns:xs="http://www.w3.org/2001/XMLSchema" xmlns:p="http://schemas.microsoft.com/office/2006/metadata/properties" xmlns:ns3="1fe8f82f-0556-4c42-a658-6aa8fd4f9ee2" targetNamespace="http://schemas.microsoft.com/office/2006/metadata/properties" ma:root="true" ma:fieldsID="5f081ffb0889366177bbb0fe137485fe" ns3:_="">
    <xsd:import namespace="1fe8f82f-0556-4c42-a658-6aa8fd4f9ee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e8f82f-0556-4c42-a658-6aa8fd4f9ee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1fe8f82f-0556-4c42-a658-6aa8fd4f9ee2" xsi:nil="true"/>
  </documentManagement>
</p:properties>
</file>

<file path=customXml/itemProps1.xml><?xml version="1.0" encoding="utf-8"?>
<ds:datastoreItem xmlns:ds="http://schemas.openxmlformats.org/officeDocument/2006/customXml" ds:itemID="{B59F502D-FA94-4398-A8EF-92E089490A40}">
  <ds:schemaRefs>
    <ds:schemaRef ds:uri="http://schemas.microsoft.com/sharepoint/v3/contenttype/forms"/>
  </ds:schemaRefs>
</ds:datastoreItem>
</file>

<file path=customXml/itemProps2.xml><?xml version="1.0" encoding="utf-8"?>
<ds:datastoreItem xmlns:ds="http://schemas.openxmlformats.org/officeDocument/2006/customXml" ds:itemID="{8F324E69-EE82-4883-B96D-18BE646D0B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e8f82f-0556-4c42-a658-6aa8fd4f9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A5FFBEB-A448-4BA1-A8D8-5F9D7FB6B153}">
  <ds:schemaRefs>
    <ds:schemaRef ds:uri="1fe8f82f-0556-4c42-a658-6aa8fd4f9ee2"/>
    <ds:schemaRef ds:uri="http://www.w3.org/XML/1998/namespace"/>
    <ds:schemaRef ds:uri="http://purl.org/dc/elements/1.1/"/>
    <ds:schemaRef ds:uri="http://schemas.openxmlformats.org/package/2006/metadata/core-properties"/>
    <ds:schemaRef ds:uri="http://schemas.microsoft.com/office/2006/metadata/properties"/>
    <ds:schemaRef ds:uri="http://schemas.microsoft.com/office/2006/documentManagement/types"/>
    <ds:schemaRef ds:uri="http://purl.org/dc/terms/"/>
    <ds:schemaRef ds:uri="http://purl.org/dc/dcmitype/"/>
    <ds:schemaRef ds:uri="http://schemas.microsoft.com/office/infopath/2007/PartnerControls"/>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8658</TotalTime>
  <Words>4551</Words>
  <Application>Microsoft Office PowerPoint</Application>
  <PresentationFormat>On-screen Show (16:9)</PresentationFormat>
  <Paragraphs>268</Paragraphs>
  <Slides>27</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Google Sans Text</vt:lpstr>
      <vt:lpstr>Times New Roman</vt:lpstr>
      <vt:lpstr>Office Theme</vt:lpstr>
      <vt:lpstr>Measuring Corporate Culture Using Machine Learning</vt:lpstr>
      <vt:lpstr>Research Question</vt:lpstr>
      <vt:lpstr>Prior Literature</vt:lpstr>
      <vt:lpstr>Hypothesis</vt:lpstr>
      <vt:lpstr>Data Collection</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357</cp:revision>
  <dcterms:created xsi:type="dcterms:W3CDTF">2020-09-10T18:37:45Z</dcterms:created>
  <dcterms:modified xsi:type="dcterms:W3CDTF">2024-11-19T15:11:18Z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0x01010092E64A7C7C8D8942ABE466F3AC32BB0E</vt:lpwstr>
  </property>
</Properties>
</file>