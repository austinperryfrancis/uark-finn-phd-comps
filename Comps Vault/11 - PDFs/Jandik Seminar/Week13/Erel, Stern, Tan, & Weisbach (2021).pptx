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60" r:id="rId3"/>
    <p:sldId id="257" r:id="rId4"/>
    <p:sldId id="274" r:id="rId5"/>
    <p:sldId id="258" r:id="rId6"/>
    <p:sldId id="261" r:id="rId7"/>
    <p:sldId id="262" r:id="rId8"/>
    <p:sldId id="263" r:id="rId9"/>
    <p:sldId id="264" r:id="rId10"/>
    <p:sldId id="265" r:id="rId11"/>
    <p:sldId id="266" r:id="rId12"/>
    <p:sldId id="267" r:id="rId13"/>
    <p:sldId id="273" r:id="rId14"/>
    <p:sldId id="268" r:id="rId15"/>
    <p:sldId id="269" r:id="rId16"/>
    <p:sldId id="270" r:id="rId17"/>
    <p:sldId id="271" r:id="rId18"/>
    <p:sldId id="25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07" d="100"/>
          <a:sy n="107" d="100"/>
        </p:scale>
        <p:origin x="132" y="106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1A691-153B-474B-A1B8-5A55F1A9A488}" type="datetimeFigureOut">
              <a:rPr lang="en-US" smtClean="0"/>
              <a:t>11/18/2024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FC3FE-B1B0-40B8-826A-DECD74DD474B}" type="slidenum">
              <a:rPr lang="en-US" smtClean="0"/>
              <a:t>‹#›</a:t>
            </a:fld>
            <a:endParaRPr lang="en-US"/>
          </a:p>
        </p:txBody>
      </p:sp>
    </p:spTree>
    <p:extLst>
      <p:ext uri="{BB962C8B-B14F-4D97-AF65-F5344CB8AC3E}">
        <p14:creationId xmlns:p14="http://schemas.microsoft.com/office/powerpoint/2010/main" val="1167778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FC3FE-B1B0-40B8-826A-DECD74DD474B}" type="slidenum">
              <a:rPr lang="en-US" smtClean="0"/>
              <a:t>2</a:t>
            </a:fld>
            <a:endParaRPr lang="en-US"/>
          </a:p>
        </p:txBody>
      </p:sp>
    </p:spTree>
    <p:extLst>
      <p:ext uri="{BB962C8B-B14F-4D97-AF65-F5344CB8AC3E}">
        <p14:creationId xmlns:p14="http://schemas.microsoft.com/office/powerpoint/2010/main" val="4166245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Shareholder support is defined as the fraction of votes in favor of a given director over all votes cast for the director’s reelection within 3 years of her tenure.</a:t>
            </a:r>
          </a:p>
          <a:p>
            <a:pPr marL="171450" indent="-171450">
              <a:buFont typeface="Arial" panose="020B0604020202020204" pitchFamily="34" charset="0"/>
              <a:buChar char="•"/>
            </a:pPr>
            <a:r>
              <a:rPr lang="en-US" dirty="0"/>
              <a:t>Dissent is equal to one for a director whose average total votes is less than 90% within 3 years of her tenure.</a:t>
            </a:r>
          </a:p>
          <a:p>
            <a:pPr marL="171450" indent="-171450">
              <a:buFont typeface="Arial" panose="020B0604020202020204" pitchFamily="34" charset="0"/>
              <a:buChar char="•"/>
            </a:pPr>
            <a:r>
              <a:rPr lang="en-US" dirty="0"/>
              <a:t>To compute Excess votes, the authors subtract the average of that variable for the slate of directors up for reelection that year on the focal board. The authors take the average of this relative vote measure over the first 3 years of the new director’s tenure.</a:t>
            </a:r>
          </a:p>
          <a:p>
            <a:pPr marL="171450" indent="-171450">
              <a:buFont typeface="Arial" panose="020B0604020202020204" pitchFamily="34" charset="0"/>
              <a:buChar char="•"/>
            </a:pPr>
            <a:r>
              <a:rPr lang="en-US" dirty="0"/>
              <a:t>Turnover is equal to one if the director leaves the board within 2 years of being appointed.</a:t>
            </a:r>
          </a:p>
        </p:txBody>
      </p:sp>
      <p:sp>
        <p:nvSpPr>
          <p:cNvPr id="4" name="Slide Number Placeholder 3"/>
          <p:cNvSpPr>
            <a:spLocks noGrp="1"/>
          </p:cNvSpPr>
          <p:nvPr>
            <p:ph type="sldNum" sz="quarter" idx="5"/>
          </p:nvPr>
        </p:nvSpPr>
        <p:spPr/>
        <p:txBody>
          <a:bodyPr/>
          <a:lstStyle/>
          <a:p>
            <a:fld id="{A58FC3FE-B1B0-40B8-826A-DECD74DD474B}" type="slidenum">
              <a:rPr lang="en-US" smtClean="0"/>
              <a:t>5</a:t>
            </a:fld>
            <a:endParaRPr lang="en-US"/>
          </a:p>
        </p:txBody>
      </p:sp>
    </p:spTree>
    <p:extLst>
      <p:ext uri="{BB962C8B-B14F-4D97-AF65-F5344CB8AC3E}">
        <p14:creationId xmlns:p14="http://schemas.microsoft.com/office/powerpoint/2010/main" val="61908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fraction “poor outcomes,” representing the bottom 10% of the sample in terms of excess votes, is 10.6% for male directors and 7.9% for female directors.</a:t>
            </a:r>
          </a:p>
          <a:p>
            <a:pPr marL="171450" indent="-171450">
              <a:buFont typeface="Arial" panose="020B0604020202020204" pitchFamily="34" charset="0"/>
              <a:buChar char="•"/>
            </a:pPr>
            <a:r>
              <a:rPr lang="en-US" dirty="0"/>
              <a:t>Similarly, busy directors (serving on three or more boards) experience low shareholder support more frequently than non-busy directors.</a:t>
            </a:r>
          </a:p>
        </p:txBody>
      </p:sp>
      <p:sp>
        <p:nvSpPr>
          <p:cNvPr id="4" name="Slide Number Placeholder 3"/>
          <p:cNvSpPr>
            <a:spLocks noGrp="1"/>
          </p:cNvSpPr>
          <p:nvPr>
            <p:ph type="sldNum" sz="quarter" idx="5"/>
          </p:nvPr>
        </p:nvSpPr>
        <p:spPr/>
        <p:txBody>
          <a:bodyPr/>
          <a:lstStyle/>
          <a:p>
            <a:fld id="{A58FC3FE-B1B0-40B8-826A-DECD74DD474B}" type="slidenum">
              <a:rPr lang="en-US" smtClean="0"/>
              <a:t>6</a:t>
            </a:fld>
            <a:endParaRPr lang="en-US"/>
          </a:p>
        </p:txBody>
      </p:sp>
    </p:spTree>
    <p:extLst>
      <p:ext uri="{BB962C8B-B14F-4D97-AF65-F5344CB8AC3E}">
        <p14:creationId xmlns:p14="http://schemas.microsoft.com/office/powerpoint/2010/main" val="563899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Average observed shareholder support increases across model-predicted performance percentiles for each machine learning model. In contrast, in the OLS model, there is no relation between predicted and actual director performances.</a:t>
            </a:r>
          </a:p>
          <a:p>
            <a:pPr marL="171450" indent="-171450">
              <a:buFont typeface="Arial" panose="020B0604020202020204" pitchFamily="34" charset="0"/>
              <a:buChar char="•"/>
            </a:pPr>
            <a:r>
              <a:rPr lang="en-US" dirty="0" err="1"/>
              <a:t>XGBoost</a:t>
            </a:r>
            <a:r>
              <a:rPr lang="en-US" dirty="0"/>
              <a:t> and Lasso perform best at predicting the subsequent success of directors using excess votes. Directors predicted to be in the bottom percentile as predicted by </a:t>
            </a:r>
            <a:r>
              <a:rPr lang="en-US" dirty="0" err="1"/>
              <a:t>XGBoost</a:t>
            </a:r>
            <a:r>
              <a:rPr lang="en-US" dirty="0"/>
              <a:t> and Lasso have an average observed excess shareholder support of −3.1% and −2.6%, respectively, whereas the average observed excess support is 1.2% and 1.8% for directors in the top percentile of predicted performance.</a:t>
            </a:r>
          </a:p>
        </p:txBody>
      </p:sp>
      <p:sp>
        <p:nvSpPr>
          <p:cNvPr id="4" name="Slide Number Placeholder 3"/>
          <p:cNvSpPr>
            <a:spLocks noGrp="1"/>
          </p:cNvSpPr>
          <p:nvPr>
            <p:ph type="sldNum" sz="quarter" idx="5"/>
          </p:nvPr>
        </p:nvSpPr>
        <p:spPr/>
        <p:txBody>
          <a:bodyPr/>
          <a:lstStyle/>
          <a:p>
            <a:fld id="{A58FC3FE-B1B0-40B8-826A-DECD74DD474B}" type="slidenum">
              <a:rPr lang="en-US" smtClean="0"/>
              <a:t>7</a:t>
            </a:fld>
            <a:endParaRPr lang="en-US"/>
          </a:p>
        </p:txBody>
      </p:sp>
    </p:spTree>
    <p:extLst>
      <p:ext uri="{BB962C8B-B14F-4D97-AF65-F5344CB8AC3E}">
        <p14:creationId xmlns:p14="http://schemas.microsoft.com/office/powerpoint/2010/main" val="4186902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documents that the mean shareholder support for a director is an increasing function of predicted support for all the machine learning algorithms, but not for the OLS model.</a:t>
            </a:r>
          </a:p>
        </p:txBody>
      </p:sp>
      <p:sp>
        <p:nvSpPr>
          <p:cNvPr id="4" name="Slide Number Placeholder 3"/>
          <p:cNvSpPr>
            <a:spLocks noGrp="1"/>
          </p:cNvSpPr>
          <p:nvPr>
            <p:ph type="sldNum" sz="quarter" idx="5"/>
          </p:nvPr>
        </p:nvSpPr>
        <p:spPr/>
        <p:txBody>
          <a:bodyPr/>
          <a:lstStyle/>
          <a:p>
            <a:fld id="{A58FC3FE-B1B0-40B8-826A-DECD74DD474B}" type="slidenum">
              <a:rPr lang="en-US" smtClean="0"/>
              <a:t>8</a:t>
            </a:fld>
            <a:endParaRPr lang="en-US"/>
          </a:p>
        </p:txBody>
      </p:sp>
    </p:spTree>
    <p:extLst>
      <p:ext uri="{BB962C8B-B14F-4D97-AF65-F5344CB8AC3E}">
        <p14:creationId xmlns:p14="http://schemas.microsoft.com/office/powerpoint/2010/main" val="1798475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For all machine learning models, nominated directors predicted to do poorly performed noticeably worse than available promising candidates, while nominated directors predicted to do well performed better than available unpromising alternative candidates.</a:t>
            </a:r>
          </a:p>
          <a:p>
            <a:pPr marL="171450" indent="-171450">
              <a:buFont typeface="Arial" panose="020B0604020202020204" pitchFamily="34" charset="0"/>
              <a:buChar char="•"/>
            </a:pPr>
            <a:r>
              <a:rPr lang="en-US" dirty="0"/>
              <a:t>In contrast, the predictions from the OLS model are uninformative about subsequent performance relative to available alternative candidates.</a:t>
            </a:r>
          </a:p>
        </p:txBody>
      </p:sp>
      <p:sp>
        <p:nvSpPr>
          <p:cNvPr id="4" name="Slide Number Placeholder 3"/>
          <p:cNvSpPr>
            <a:spLocks noGrp="1"/>
          </p:cNvSpPr>
          <p:nvPr>
            <p:ph type="sldNum" sz="quarter" idx="5"/>
          </p:nvPr>
        </p:nvSpPr>
        <p:spPr/>
        <p:txBody>
          <a:bodyPr/>
          <a:lstStyle/>
          <a:p>
            <a:fld id="{A58FC3FE-B1B0-40B8-826A-DECD74DD474B}" type="slidenum">
              <a:rPr lang="en-US" smtClean="0"/>
              <a:t>9</a:t>
            </a:fld>
            <a:endParaRPr lang="en-US"/>
          </a:p>
        </p:txBody>
      </p:sp>
    </p:spTree>
    <p:extLst>
      <p:ext uri="{BB962C8B-B14F-4D97-AF65-F5344CB8AC3E}">
        <p14:creationId xmlns:p14="http://schemas.microsoft.com/office/powerpoint/2010/main" val="1698502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Using the predictions from the </a:t>
            </a:r>
            <a:r>
              <a:rPr lang="en-US" dirty="0" err="1"/>
              <a:t>XGBoost</a:t>
            </a:r>
            <a:r>
              <a:rPr lang="en-US" dirty="0"/>
              <a:t> algorithm, the mean and median percentile rank in the distribution of quasi-labels increase almost monotonically across deciles of predicted performance. This suggests that as the algorithm’s prediction of a director’s performance increases, her effective percentile rank when compared to plausible candidates increases.</a:t>
            </a:r>
          </a:p>
        </p:txBody>
      </p:sp>
      <p:sp>
        <p:nvSpPr>
          <p:cNvPr id="4" name="Slide Number Placeholder 3"/>
          <p:cNvSpPr>
            <a:spLocks noGrp="1"/>
          </p:cNvSpPr>
          <p:nvPr>
            <p:ph type="sldNum" sz="quarter" idx="5"/>
          </p:nvPr>
        </p:nvSpPr>
        <p:spPr/>
        <p:txBody>
          <a:bodyPr/>
          <a:lstStyle/>
          <a:p>
            <a:fld id="{A58FC3FE-B1B0-40B8-826A-DECD74DD474B}" type="slidenum">
              <a:rPr lang="en-US" smtClean="0"/>
              <a:t>10</a:t>
            </a:fld>
            <a:endParaRPr lang="en-US"/>
          </a:p>
        </p:txBody>
      </p:sp>
    </p:spTree>
    <p:extLst>
      <p:ext uri="{BB962C8B-B14F-4D97-AF65-F5344CB8AC3E}">
        <p14:creationId xmlns:p14="http://schemas.microsoft.com/office/powerpoint/2010/main" val="4285182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authors find that the mean CAR for directors predicted to do poorly (decile 1) in our test set is −1.94% whereas it is +0.75% for directors predicted to do well (decile 10).</a:t>
            </a:r>
          </a:p>
          <a:p>
            <a:pPr marL="171450" indent="-171450">
              <a:buFont typeface="Arial" panose="020B0604020202020204" pitchFamily="34" charset="0"/>
              <a:buChar char="•"/>
            </a:pPr>
            <a:r>
              <a:rPr lang="en-US" dirty="0"/>
              <a:t>Directors predicted to be unpopular also tend to be viewed by the market as worse directors.</a:t>
            </a:r>
          </a:p>
        </p:txBody>
      </p:sp>
      <p:sp>
        <p:nvSpPr>
          <p:cNvPr id="4" name="Slide Number Placeholder 3"/>
          <p:cNvSpPr>
            <a:spLocks noGrp="1"/>
          </p:cNvSpPr>
          <p:nvPr>
            <p:ph type="sldNum" sz="quarter" idx="5"/>
          </p:nvPr>
        </p:nvSpPr>
        <p:spPr/>
        <p:txBody>
          <a:bodyPr/>
          <a:lstStyle/>
          <a:p>
            <a:fld id="{A58FC3FE-B1B0-40B8-826A-DECD74DD474B}" type="slidenum">
              <a:rPr lang="en-US" smtClean="0"/>
              <a:t>11</a:t>
            </a:fld>
            <a:endParaRPr lang="en-US"/>
          </a:p>
        </p:txBody>
      </p:sp>
    </p:spTree>
    <p:extLst>
      <p:ext uri="{BB962C8B-B14F-4D97-AF65-F5344CB8AC3E}">
        <p14:creationId xmlns:p14="http://schemas.microsoft.com/office/powerpoint/2010/main" val="2105864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find that only 1.3% of directors in the bottom decile of predicted dissent (i.e., directors the algorithm predicted had the lowest chance of receiving less than 90% support) face strong dissent from shareholders. This ratio increases to 23% for directors in the top decile of predicted dissent.</a:t>
            </a:r>
          </a:p>
        </p:txBody>
      </p:sp>
      <p:sp>
        <p:nvSpPr>
          <p:cNvPr id="4" name="Slide Number Placeholder 3"/>
          <p:cNvSpPr>
            <a:spLocks noGrp="1"/>
          </p:cNvSpPr>
          <p:nvPr>
            <p:ph type="sldNum" sz="quarter" idx="5"/>
          </p:nvPr>
        </p:nvSpPr>
        <p:spPr/>
        <p:txBody>
          <a:bodyPr/>
          <a:lstStyle/>
          <a:p>
            <a:fld id="{A58FC3FE-B1B0-40B8-826A-DECD74DD474B}" type="slidenum">
              <a:rPr lang="en-US" smtClean="0"/>
              <a:t>12</a:t>
            </a:fld>
            <a:endParaRPr lang="en-US"/>
          </a:p>
        </p:txBody>
      </p:sp>
    </p:spTree>
    <p:extLst>
      <p:ext uri="{BB962C8B-B14F-4D97-AF65-F5344CB8AC3E}">
        <p14:creationId xmlns:p14="http://schemas.microsoft.com/office/powerpoint/2010/main" val="3209785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Figure 1 documents a clear monotonically increasing relationship between the average fraction of directors who departed within 2 years in the test sample and the algorithm’s predictions.</a:t>
            </a:r>
          </a:p>
          <a:p>
            <a:pPr marL="171450" indent="-171450">
              <a:buFont typeface="Arial" panose="020B0604020202020204" pitchFamily="34" charset="0"/>
              <a:buChar char="•"/>
            </a:pPr>
            <a:r>
              <a:rPr lang="en-US" dirty="0"/>
              <a:t>While less than 2% of directors in the bottom decile leave within 2 years, this fraction increases to 43% in the top decile.</a:t>
            </a:r>
          </a:p>
        </p:txBody>
      </p:sp>
      <p:sp>
        <p:nvSpPr>
          <p:cNvPr id="4" name="Slide Number Placeholder 3"/>
          <p:cNvSpPr>
            <a:spLocks noGrp="1"/>
          </p:cNvSpPr>
          <p:nvPr>
            <p:ph type="sldNum" sz="quarter" idx="5"/>
          </p:nvPr>
        </p:nvSpPr>
        <p:spPr/>
        <p:txBody>
          <a:bodyPr/>
          <a:lstStyle/>
          <a:p>
            <a:fld id="{A58FC3FE-B1B0-40B8-826A-DECD74DD474B}" type="slidenum">
              <a:rPr lang="en-US" smtClean="0"/>
              <a:t>13</a:t>
            </a:fld>
            <a:endParaRPr lang="en-US"/>
          </a:p>
        </p:txBody>
      </p:sp>
    </p:spTree>
    <p:extLst>
      <p:ext uri="{BB962C8B-B14F-4D97-AF65-F5344CB8AC3E}">
        <p14:creationId xmlns:p14="http://schemas.microsoft.com/office/powerpoint/2010/main" val="3814967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Panel A example</a:t>
            </a:r>
            <a:r>
              <a:rPr lang="en-US" dirty="0"/>
              <a:t>: Being a member of the compensation committee decreases the excess vote prediction by 0.22% on average, while being on the audit committee increases it on average by 0.16%.</a:t>
            </a:r>
          </a:p>
          <a:p>
            <a:r>
              <a:rPr lang="en-US" b="1" dirty="0"/>
              <a:t>Panel C</a:t>
            </a:r>
            <a:r>
              <a:rPr lang="en-US" dirty="0"/>
              <a:t>: Mostly individual director characteristics appear to explain turnover predictions.</a:t>
            </a:r>
          </a:p>
        </p:txBody>
      </p:sp>
      <p:sp>
        <p:nvSpPr>
          <p:cNvPr id="4" name="Slide Number Placeholder 3"/>
          <p:cNvSpPr>
            <a:spLocks noGrp="1"/>
          </p:cNvSpPr>
          <p:nvPr>
            <p:ph type="sldNum" sz="quarter" idx="5"/>
          </p:nvPr>
        </p:nvSpPr>
        <p:spPr/>
        <p:txBody>
          <a:bodyPr/>
          <a:lstStyle/>
          <a:p>
            <a:fld id="{A58FC3FE-B1B0-40B8-826A-DECD74DD474B}" type="slidenum">
              <a:rPr lang="en-US" smtClean="0"/>
              <a:t>14</a:t>
            </a:fld>
            <a:endParaRPr lang="en-US"/>
          </a:p>
        </p:txBody>
      </p:sp>
    </p:spTree>
    <p:extLst>
      <p:ext uri="{BB962C8B-B14F-4D97-AF65-F5344CB8AC3E}">
        <p14:creationId xmlns:p14="http://schemas.microsoft.com/office/powerpoint/2010/main" val="4119711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Predictably unpopular directors are on average more likely to be male, have a larger professional network and more current and past directorships.</a:t>
            </a:r>
          </a:p>
        </p:txBody>
      </p:sp>
      <p:sp>
        <p:nvSpPr>
          <p:cNvPr id="4" name="Slide Number Placeholder 3"/>
          <p:cNvSpPr>
            <a:spLocks noGrp="1"/>
          </p:cNvSpPr>
          <p:nvPr>
            <p:ph type="sldNum" sz="quarter" idx="5"/>
          </p:nvPr>
        </p:nvSpPr>
        <p:spPr/>
        <p:txBody>
          <a:bodyPr/>
          <a:lstStyle/>
          <a:p>
            <a:fld id="{A58FC3FE-B1B0-40B8-826A-DECD74DD474B}" type="slidenum">
              <a:rPr lang="en-US" smtClean="0"/>
              <a:t>16</a:t>
            </a:fld>
            <a:endParaRPr lang="en-US"/>
          </a:p>
        </p:txBody>
      </p:sp>
    </p:spTree>
    <p:extLst>
      <p:ext uri="{BB962C8B-B14F-4D97-AF65-F5344CB8AC3E}">
        <p14:creationId xmlns:p14="http://schemas.microsoft.com/office/powerpoint/2010/main" val="4011496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E-index </a:t>
            </a:r>
            <a:r>
              <a:rPr lang="en-US" sz="1800" b="0" i="0" u="none" strike="noStrike" baseline="0" dirty="0">
                <a:latin typeface="Times-Roman"/>
              </a:rPr>
              <a:t>increases as the firm-level governance worsens.</a:t>
            </a:r>
            <a:endParaRPr lang="en-US" dirty="0"/>
          </a:p>
        </p:txBody>
      </p:sp>
      <p:sp>
        <p:nvSpPr>
          <p:cNvPr id="4" name="Slide Number Placeholder 3"/>
          <p:cNvSpPr>
            <a:spLocks noGrp="1"/>
          </p:cNvSpPr>
          <p:nvPr>
            <p:ph type="sldNum" sz="quarter" idx="5"/>
          </p:nvPr>
        </p:nvSpPr>
        <p:spPr/>
        <p:txBody>
          <a:bodyPr/>
          <a:lstStyle/>
          <a:p>
            <a:fld id="{A58FC3FE-B1B0-40B8-826A-DECD74DD474B}" type="slidenum">
              <a:rPr lang="en-US" smtClean="0"/>
              <a:t>17</a:t>
            </a:fld>
            <a:endParaRPr lang="en-US"/>
          </a:p>
        </p:txBody>
      </p:sp>
    </p:spTree>
    <p:extLst>
      <p:ext uri="{BB962C8B-B14F-4D97-AF65-F5344CB8AC3E}">
        <p14:creationId xmlns:p14="http://schemas.microsoft.com/office/powerpoint/2010/main" val="3384943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5A25DC-01CC-414A-A394-D35A0592A347}"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66160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27025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5A25DC-01CC-414A-A394-D35A0592A347}"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367594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5A25DC-01CC-414A-A394-D35A0592A347}"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853664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5A25DC-01CC-414A-A394-D35A0592A347}" type="datetimeFigureOut">
              <a:rPr lang="en-US" smtClean="0"/>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668130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5A25DC-01CC-414A-A394-D35A0592A347}" type="datetimeFigureOut">
              <a:rPr lang="en-US" smtClean="0"/>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17744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5A25DC-01CC-414A-A394-D35A0592A347}" type="datetimeFigureOut">
              <a:rPr lang="en-US" smtClean="0"/>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768096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C5A25DC-01CC-414A-A394-D35A0592A347}"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911740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C5A25DC-01CC-414A-A394-D35A0592A347}"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352588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625275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3098789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5863649"/>
            <a:ext cx="12204192" cy="1009897"/>
          </a:xfrm>
          <a:prstGeom prst="rect">
            <a:avLst/>
          </a:prstGeom>
        </p:spPr>
      </p:pic>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2"/>
            <a:ext cx="10972800" cy="42634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0C5A25DC-01CC-414A-A394-D35A0592A347}" type="datetimeFigureOut">
              <a:rPr lang="en-US" smtClean="0"/>
              <a:t>11/18/2024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FE6C5112-463C-4814-9119-B25AAF4D4987}" type="slidenum">
              <a:rPr lang="en-US" smtClean="0"/>
              <a:t>‹#›</a:t>
            </a:fld>
            <a:endParaRPr lang="en-US"/>
          </a:p>
        </p:txBody>
      </p:sp>
    </p:spTree>
    <p:extLst>
      <p:ext uri="{BB962C8B-B14F-4D97-AF65-F5344CB8AC3E}">
        <p14:creationId xmlns:p14="http://schemas.microsoft.com/office/powerpoint/2010/main" val="366802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BDA2A-F620-F7C0-B394-3CF55881D77E}"/>
              </a:ext>
            </a:extLst>
          </p:cNvPr>
          <p:cNvSpPr>
            <a:spLocks noGrp="1"/>
          </p:cNvSpPr>
          <p:nvPr>
            <p:ph type="ctrTitle"/>
          </p:nvPr>
        </p:nvSpPr>
        <p:spPr>
          <a:xfrm>
            <a:off x="914400" y="1958975"/>
            <a:ext cx="10363200" cy="1470025"/>
          </a:xfrm>
        </p:spPr>
        <p:txBody>
          <a:bodyPr>
            <a:normAutofit fontScale="90000"/>
          </a:bodyPr>
          <a:lstStyle/>
          <a:p>
            <a:r>
              <a:rPr lang="en-US" dirty="0"/>
              <a:t>Selecting Directors Using Machine Learning</a:t>
            </a:r>
          </a:p>
        </p:txBody>
      </p:sp>
      <p:sp>
        <p:nvSpPr>
          <p:cNvPr id="3" name="Subtitle 2">
            <a:extLst>
              <a:ext uri="{FF2B5EF4-FFF2-40B4-BE49-F238E27FC236}">
                <a16:creationId xmlns:a16="http://schemas.microsoft.com/office/drawing/2014/main" id="{ADAA4B41-7035-8BCE-4870-52321BDBD3F1}"/>
              </a:ext>
            </a:extLst>
          </p:cNvPr>
          <p:cNvSpPr>
            <a:spLocks noGrp="1"/>
          </p:cNvSpPr>
          <p:nvPr>
            <p:ph type="subTitle" idx="1"/>
          </p:nvPr>
        </p:nvSpPr>
        <p:spPr/>
        <p:txBody>
          <a:bodyPr>
            <a:normAutofit fontScale="92500" lnSpcReduction="20000"/>
          </a:bodyPr>
          <a:lstStyle/>
          <a:p>
            <a:r>
              <a:rPr lang="en-US" dirty="0"/>
              <a:t>Isil </a:t>
            </a:r>
            <a:r>
              <a:rPr lang="en-US" dirty="0" err="1"/>
              <a:t>Erel</a:t>
            </a:r>
            <a:r>
              <a:rPr lang="en-US" dirty="0"/>
              <a:t>, Léa H. Stern, </a:t>
            </a:r>
            <a:r>
              <a:rPr lang="en-US" dirty="0" err="1"/>
              <a:t>Chenhao</a:t>
            </a:r>
            <a:r>
              <a:rPr lang="en-US" dirty="0"/>
              <a:t> Tan, &amp; Michael S. </a:t>
            </a:r>
            <a:r>
              <a:rPr lang="en-US" dirty="0" err="1"/>
              <a:t>Weisbach</a:t>
            </a:r>
            <a:r>
              <a:rPr lang="en-US" dirty="0"/>
              <a:t> (2021)</a:t>
            </a:r>
          </a:p>
          <a:p>
            <a:r>
              <a:rPr lang="en-US" dirty="0"/>
              <a:t>Presented by Nicholas Thompson</a:t>
            </a:r>
          </a:p>
        </p:txBody>
      </p:sp>
    </p:spTree>
    <p:extLst>
      <p:ext uri="{BB962C8B-B14F-4D97-AF65-F5344CB8AC3E}">
        <p14:creationId xmlns:p14="http://schemas.microsoft.com/office/powerpoint/2010/main" val="292561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F83F-ED44-14C2-4EFB-5FE491196AE4}"/>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ECCF9893-4D0F-B841-5D4E-414C054E27A7}"/>
              </a:ext>
            </a:extLst>
          </p:cNvPr>
          <p:cNvSpPr>
            <a:spLocks noGrp="1"/>
          </p:cNvSpPr>
          <p:nvPr>
            <p:ph idx="1"/>
          </p:nvPr>
        </p:nvSpPr>
        <p:spPr/>
        <p:txBody>
          <a:bodyPr/>
          <a:lstStyle/>
          <a:p>
            <a:r>
              <a:rPr lang="en-US" dirty="0"/>
              <a:t>Can algorithms assist firms in their decisions on nominating corporate directors?</a:t>
            </a:r>
          </a:p>
        </p:txBody>
      </p:sp>
    </p:spTree>
    <p:extLst>
      <p:ext uri="{BB962C8B-B14F-4D97-AF65-F5344CB8AC3E}">
        <p14:creationId xmlns:p14="http://schemas.microsoft.com/office/powerpoint/2010/main" val="60302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6F4E-BA5C-3940-40D6-065AB2ACA584}"/>
              </a:ext>
            </a:extLst>
          </p:cNvPr>
          <p:cNvSpPr>
            <a:spLocks noGrp="1"/>
          </p:cNvSpPr>
          <p:nvPr>
            <p:ph type="title"/>
          </p:nvPr>
        </p:nvSpPr>
        <p:spPr/>
        <p:txBody>
          <a:bodyPr/>
          <a:lstStyle/>
          <a:p>
            <a:r>
              <a:rPr lang="en-US" dirty="0"/>
              <a:t>Prior Literature</a:t>
            </a:r>
          </a:p>
        </p:txBody>
      </p:sp>
      <p:sp>
        <p:nvSpPr>
          <p:cNvPr id="3" name="Content Placeholder 2">
            <a:extLst>
              <a:ext uri="{FF2B5EF4-FFF2-40B4-BE49-F238E27FC236}">
                <a16:creationId xmlns:a16="http://schemas.microsoft.com/office/drawing/2014/main" id="{19B0C6AC-A9BF-6AC4-07F5-F7AF34E0F487}"/>
              </a:ext>
            </a:extLst>
          </p:cNvPr>
          <p:cNvSpPr>
            <a:spLocks noGrp="1"/>
          </p:cNvSpPr>
          <p:nvPr>
            <p:ph idx="1"/>
          </p:nvPr>
        </p:nvSpPr>
        <p:spPr/>
        <p:txBody>
          <a:bodyPr>
            <a:normAutofit fontScale="55000" lnSpcReduction="20000"/>
          </a:bodyPr>
          <a:lstStyle/>
          <a:p>
            <a:r>
              <a:rPr lang="en-US" dirty="0"/>
              <a:t>There is much variation in director quality and the extent to which they serve shareholders’ interests (</a:t>
            </a:r>
            <a:r>
              <a:rPr lang="en-US" dirty="0" err="1"/>
              <a:t>Hermalin</a:t>
            </a:r>
            <a:r>
              <a:rPr lang="en-US" dirty="0"/>
              <a:t> &amp; </a:t>
            </a:r>
            <a:r>
              <a:rPr lang="en-US" dirty="0" err="1"/>
              <a:t>Weisbach</a:t>
            </a:r>
            <a:r>
              <a:rPr lang="en-US" dirty="0"/>
              <a:t>, 2003; Adams, </a:t>
            </a:r>
            <a:r>
              <a:rPr lang="en-US" dirty="0" err="1"/>
              <a:t>Hermalin</a:t>
            </a:r>
            <a:r>
              <a:rPr lang="en-US" dirty="0"/>
              <a:t>, &amp; </a:t>
            </a:r>
            <a:r>
              <a:rPr lang="en-US" dirty="0" err="1"/>
              <a:t>Weisbach</a:t>
            </a:r>
            <a:r>
              <a:rPr lang="en-US" dirty="0"/>
              <a:t>, 2010; Adams, 2017).</a:t>
            </a:r>
          </a:p>
          <a:p>
            <a:r>
              <a:rPr lang="en-US" dirty="0"/>
              <a:t>Many of the concerns about boards come from the director selection process, which is one of the most important yet least studied questions in corporate governance.</a:t>
            </a:r>
          </a:p>
          <a:p>
            <a:pPr lvl="1"/>
            <a:r>
              <a:rPr lang="en-US" dirty="0"/>
              <a:t>Berle and Means (1932) originally raised concerns about the director selection process.</a:t>
            </a:r>
          </a:p>
          <a:p>
            <a:pPr lvl="1"/>
            <a:r>
              <a:rPr lang="en-US" dirty="0" err="1"/>
              <a:t>Hermalin</a:t>
            </a:r>
            <a:r>
              <a:rPr lang="en-US" dirty="0"/>
              <a:t> and </a:t>
            </a:r>
            <a:r>
              <a:rPr lang="en-US" dirty="0" err="1"/>
              <a:t>Weisbach</a:t>
            </a:r>
            <a:r>
              <a:rPr lang="en-US" dirty="0"/>
              <a:t> (1998) present a formal model in which directors are not selected optimally from shareholders’ perspectives.</a:t>
            </a:r>
          </a:p>
          <a:p>
            <a:pPr lvl="1"/>
            <a:r>
              <a:rPr lang="en-US" dirty="0" err="1"/>
              <a:t>Shivdasani</a:t>
            </a:r>
            <a:r>
              <a:rPr lang="en-US" dirty="0"/>
              <a:t> and Yermack (1999), </a:t>
            </a:r>
            <a:r>
              <a:rPr lang="en-US" dirty="0" err="1"/>
              <a:t>Kramarz</a:t>
            </a:r>
            <a:r>
              <a:rPr lang="en-US" dirty="0"/>
              <a:t> and </a:t>
            </a:r>
            <a:r>
              <a:rPr lang="en-US" dirty="0" err="1"/>
              <a:t>Thesmar</a:t>
            </a:r>
            <a:r>
              <a:rPr lang="en-US" dirty="0"/>
              <a:t> (2013), and Cai, Nguyen, and </a:t>
            </a:r>
            <a:r>
              <a:rPr lang="en-US" dirty="0" err="1"/>
              <a:t>Walkling</a:t>
            </a:r>
            <a:r>
              <a:rPr lang="en-US" dirty="0"/>
              <a:t> (2017) provide evidence supporting this view.</a:t>
            </a:r>
          </a:p>
          <a:p>
            <a:r>
              <a:rPr lang="en-US" dirty="0"/>
              <a:t>Director reelections appear to affect a firm’s real activities, even if the elections are not contested and the nominated directors are reelected (Fos, Li, &amp; </a:t>
            </a:r>
            <a:r>
              <a:rPr lang="en-US" dirty="0" err="1"/>
              <a:t>Tsoutsoura</a:t>
            </a:r>
            <a:r>
              <a:rPr lang="en-US" dirty="0"/>
              <a:t>, 2018; Aggarwal, Dahiya, &amp; </a:t>
            </a:r>
            <a:r>
              <a:rPr lang="en-US" dirty="0" err="1"/>
              <a:t>Prabhala</a:t>
            </a:r>
            <a:r>
              <a:rPr lang="en-US" dirty="0"/>
              <a:t>, 2017; </a:t>
            </a:r>
            <a:r>
              <a:rPr lang="en-US" dirty="0" err="1"/>
              <a:t>Ertimur</a:t>
            </a:r>
            <a:r>
              <a:rPr lang="en-US" dirty="0"/>
              <a:t> et al., 2018).</a:t>
            </a:r>
          </a:p>
        </p:txBody>
      </p:sp>
    </p:spTree>
    <p:extLst>
      <p:ext uri="{BB962C8B-B14F-4D97-AF65-F5344CB8AC3E}">
        <p14:creationId xmlns:p14="http://schemas.microsoft.com/office/powerpoint/2010/main" val="107093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A9445-8134-CD87-B23D-EB3D73ED9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30096-6FEA-F282-58EE-67E3ED9F75DA}"/>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E72AED64-3591-4896-551E-023083003114}"/>
              </a:ext>
            </a:extLst>
          </p:cNvPr>
          <p:cNvSpPr>
            <a:spLocks noGrp="1"/>
          </p:cNvSpPr>
          <p:nvPr>
            <p:ph idx="1"/>
          </p:nvPr>
        </p:nvSpPr>
        <p:spPr/>
        <p:txBody>
          <a:bodyPr>
            <a:normAutofit fontScale="62500" lnSpcReduction="20000"/>
          </a:bodyPr>
          <a:lstStyle/>
          <a:p>
            <a:r>
              <a:rPr lang="en-US" dirty="0"/>
              <a:t>Large, publicly traded, U.S. firms with an average market capitalization of $6.6 billion.</a:t>
            </a:r>
          </a:p>
          <a:p>
            <a:r>
              <a:rPr lang="en-US" dirty="0"/>
              <a:t>41,015 new independent directors appointed to 4,887 unique corporate boards between 2000 and 2014 using </a:t>
            </a:r>
            <a:r>
              <a:rPr lang="en-US" b="1" dirty="0" err="1"/>
              <a:t>BoardEx</a:t>
            </a:r>
            <a:r>
              <a:rPr lang="en-US" dirty="0"/>
              <a:t>.</a:t>
            </a:r>
          </a:p>
          <a:p>
            <a:r>
              <a:rPr lang="en-US" dirty="0"/>
              <a:t>Level of shareholder support for individual directors from </a:t>
            </a:r>
            <a:r>
              <a:rPr lang="en-US" b="1" dirty="0"/>
              <a:t>ISS Voting Analytics</a:t>
            </a:r>
            <a:r>
              <a:rPr lang="en-US" dirty="0"/>
              <a:t>.</a:t>
            </a:r>
          </a:p>
          <a:p>
            <a:r>
              <a:rPr lang="en-US" b="1" dirty="0"/>
              <a:t>Excess votes</a:t>
            </a:r>
            <a:r>
              <a:rPr lang="en-US" dirty="0"/>
              <a:t>: To construct this measure, they start with the number of votes in favor over all votes cast. They then subtract the average for the slate of directors up for reelection on that board and take the average of this variable over the first 3 years of tenure. Their sample contains the voting outcome for 24,054 new director appointments.</a:t>
            </a:r>
          </a:p>
        </p:txBody>
      </p:sp>
    </p:spTree>
    <p:extLst>
      <p:ext uri="{BB962C8B-B14F-4D97-AF65-F5344CB8AC3E}">
        <p14:creationId xmlns:p14="http://schemas.microsoft.com/office/powerpoint/2010/main" val="1691406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D2A23F9-F605-EA69-091A-47AA499C2786}"/>
              </a:ext>
            </a:extLst>
          </p:cNvPr>
          <p:cNvPicPr>
            <a:picLocks noChangeAspect="1"/>
          </p:cNvPicPr>
          <p:nvPr/>
        </p:nvPicPr>
        <p:blipFill>
          <a:blip r:embed="rId3"/>
          <a:stretch>
            <a:fillRect/>
          </a:stretch>
        </p:blipFill>
        <p:spPr>
          <a:xfrm>
            <a:off x="2226753" y="0"/>
            <a:ext cx="7738494" cy="5855784"/>
          </a:xfrm>
          <a:prstGeom prst="rect">
            <a:avLst/>
          </a:prstGeom>
        </p:spPr>
      </p:pic>
    </p:spTree>
    <p:extLst>
      <p:ext uri="{BB962C8B-B14F-4D97-AF65-F5344CB8AC3E}">
        <p14:creationId xmlns:p14="http://schemas.microsoft.com/office/powerpoint/2010/main" val="3645916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EB4-B3E6-FF91-8181-3B58A58AE9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D2BA1F-7203-9059-5AAF-F9B097954296}"/>
              </a:ext>
            </a:extLst>
          </p:cNvPr>
          <p:cNvPicPr>
            <a:picLocks noChangeAspect="1"/>
          </p:cNvPicPr>
          <p:nvPr/>
        </p:nvPicPr>
        <p:blipFill>
          <a:blip r:embed="rId3"/>
          <a:stretch>
            <a:fillRect/>
          </a:stretch>
        </p:blipFill>
        <p:spPr>
          <a:xfrm>
            <a:off x="1023570" y="0"/>
            <a:ext cx="10144860" cy="5824581"/>
          </a:xfrm>
          <a:prstGeom prst="rect">
            <a:avLst/>
          </a:prstGeom>
        </p:spPr>
      </p:pic>
    </p:spTree>
    <p:extLst>
      <p:ext uri="{BB962C8B-B14F-4D97-AF65-F5344CB8AC3E}">
        <p14:creationId xmlns:p14="http://schemas.microsoft.com/office/powerpoint/2010/main" val="2909680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B6861-3CFA-BB95-ECA6-E218B51D24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3592177-E149-493C-CE58-3272A2C03A6C}"/>
              </a:ext>
            </a:extLst>
          </p:cNvPr>
          <p:cNvPicPr>
            <a:picLocks noChangeAspect="1"/>
          </p:cNvPicPr>
          <p:nvPr/>
        </p:nvPicPr>
        <p:blipFill>
          <a:blip r:embed="rId3"/>
          <a:stretch>
            <a:fillRect/>
          </a:stretch>
        </p:blipFill>
        <p:spPr>
          <a:xfrm>
            <a:off x="785071" y="216290"/>
            <a:ext cx="10621857" cy="5487166"/>
          </a:xfrm>
          <a:prstGeom prst="rect">
            <a:avLst/>
          </a:prstGeom>
        </p:spPr>
      </p:pic>
    </p:spTree>
    <p:extLst>
      <p:ext uri="{BB962C8B-B14F-4D97-AF65-F5344CB8AC3E}">
        <p14:creationId xmlns:p14="http://schemas.microsoft.com/office/powerpoint/2010/main" val="419856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5C1C3-67CE-9387-EEE5-5C290E1CD5C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D064C28-7677-5A5D-31BB-E12361CAC8D4}"/>
              </a:ext>
            </a:extLst>
          </p:cNvPr>
          <p:cNvPicPr>
            <a:picLocks noChangeAspect="1"/>
          </p:cNvPicPr>
          <p:nvPr/>
        </p:nvPicPr>
        <p:blipFill>
          <a:blip r:embed="rId3"/>
          <a:stretch>
            <a:fillRect/>
          </a:stretch>
        </p:blipFill>
        <p:spPr>
          <a:xfrm>
            <a:off x="2319280" y="0"/>
            <a:ext cx="7553440" cy="6858000"/>
          </a:xfrm>
          <a:prstGeom prst="rect">
            <a:avLst/>
          </a:prstGeom>
        </p:spPr>
      </p:pic>
    </p:spTree>
    <p:extLst>
      <p:ext uri="{BB962C8B-B14F-4D97-AF65-F5344CB8AC3E}">
        <p14:creationId xmlns:p14="http://schemas.microsoft.com/office/powerpoint/2010/main" val="54101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57622-4A0D-E3D1-862C-2D7DD46D310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6C156C-6B4E-E1FE-4FD0-F4911F166F81}"/>
              </a:ext>
            </a:extLst>
          </p:cNvPr>
          <p:cNvPicPr>
            <a:picLocks noChangeAspect="1"/>
          </p:cNvPicPr>
          <p:nvPr/>
        </p:nvPicPr>
        <p:blipFill>
          <a:blip r:embed="rId3"/>
          <a:stretch>
            <a:fillRect/>
          </a:stretch>
        </p:blipFill>
        <p:spPr>
          <a:xfrm>
            <a:off x="723150" y="671712"/>
            <a:ext cx="10745700" cy="4258269"/>
          </a:xfrm>
          <a:prstGeom prst="rect">
            <a:avLst/>
          </a:prstGeom>
        </p:spPr>
      </p:pic>
    </p:spTree>
    <p:extLst>
      <p:ext uri="{BB962C8B-B14F-4D97-AF65-F5344CB8AC3E}">
        <p14:creationId xmlns:p14="http://schemas.microsoft.com/office/powerpoint/2010/main" val="3462121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C2575-E8E9-A4C0-A536-4FA1FB6535A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8738F4-865C-19D6-617B-BC977A687269}"/>
              </a:ext>
            </a:extLst>
          </p:cNvPr>
          <p:cNvPicPr>
            <a:picLocks noChangeAspect="1"/>
          </p:cNvPicPr>
          <p:nvPr/>
        </p:nvPicPr>
        <p:blipFill>
          <a:blip r:embed="rId3"/>
          <a:stretch>
            <a:fillRect/>
          </a:stretch>
        </p:blipFill>
        <p:spPr>
          <a:xfrm>
            <a:off x="2656777" y="0"/>
            <a:ext cx="6878446" cy="5860111"/>
          </a:xfrm>
          <a:prstGeom prst="rect">
            <a:avLst/>
          </a:prstGeom>
        </p:spPr>
      </p:pic>
    </p:spTree>
    <p:extLst>
      <p:ext uri="{BB962C8B-B14F-4D97-AF65-F5344CB8AC3E}">
        <p14:creationId xmlns:p14="http://schemas.microsoft.com/office/powerpoint/2010/main" val="758952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59EDA-A531-F520-D0F4-F0896CCB38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91E6E3-55B4-7BBD-FD38-FD8F7CAFBB01}"/>
              </a:ext>
            </a:extLst>
          </p:cNvPr>
          <p:cNvPicPr>
            <a:picLocks noChangeAspect="1"/>
          </p:cNvPicPr>
          <p:nvPr/>
        </p:nvPicPr>
        <p:blipFill>
          <a:blip r:embed="rId3"/>
          <a:stretch>
            <a:fillRect/>
          </a:stretch>
        </p:blipFill>
        <p:spPr>
          <a:xfrm>
            <a:off x="1404283" y="1116337"/>
            <a:ext cx="9383434" cy="3448531"/>
          </a:xfrm>
          <a:prstGeom prst="rect">
            <a:avLst/>
          </a:prstGeom>
        </p:spPr>
      </p:pic>
    </p:spTree>
    <p:extLst>
      <p:ext uri="{BB962C8B-B14F-4D97-AF65-F5344CB8AC3E}">
        <p14:creationId xmlns:p14="http://schemas.microsoft.com/office/powerpoint/2010/main" val="2860852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8BD95-4D2B-A00E-692C-4924387CE0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C71AC0E-935D-83A8-98C0-05EE20237ACC}"/>
              </a:ext>
            </a:extLst>
          </p:cNvPr>
          <p:cNvPicPr>
            <a:picLocks noChangeAspect="1"/>
          </p:cNvPicPr>
          <p:nvPr/>
        </p:nvPicPr>
        <p:blipFill>
          <a:blip r:embed="rId3"/>
          <a:stretch>
            <a:fillRect/>
          </a:stretch>
        </p:blipFill>
        <p:spPr>
          <a:xfrm>
            <a:off x="2161006" y="0"/>
            <a:ext cx="7869987" cy="5844209"/>
          </a:xfrm>
          <a:prstGeom prst="rect">
            <a:avLst/>
          </a:prstGeom>
        </p:spPr>
      </p:pic>
    </p:spTree>
    <p:extLst>
      <p:ext uri="{BB962C8B-B14F-4D97-AF65-F5344CB8AC3E}">
        <p14:creationId xmlns:p14="http://schemas.microsoft.com/office/powerpoint/2010/main" val="3959753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A3068-E4BB-9900-63CB-38007743E9C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211D667-BD40-CB73-A407-4D78DA9D23BC}"/>
              </a:ext>
            </a:extLst>
          </p:cNvPr>
          <p:cNvPicPr>
            <a:picLocks noChangeAspect="1"/>
          </p:cNvPicPr>
          <p:nvPr/>
        </p:nvPicPr>
        <p:blipFill>
          <a:blip r:embed="rId3"/>
          <a:stretch>
            <a:fillRect/>
          </a:stretch>
        </p:blipFill>
        <p:spPr>
          <a:xfrm>
            <a:off x="1948914" y="0"/>
            <a:ext cx="8294172" cy="5852160"/>
          </a:xfrm>
          <a:prstGeom prst="rect">
            <a:avLst/>
          </a:prstGeom>
        </p:spPr>
      </p:pic>
    </p:spTree>
    <p:extLst>
      <p:ext uri="{BB962C8B-B14F-4D97-AF65-F5344CB8AC3E}">
        <p14:creationId xmlns:p14="http://schemas.microsoft.com/office/powerpoint/2010/main" val="1252523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319BC-4270-3005-C74B-A9C8FB77E5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46E2BF2-84E8-8936-803D-284490AF13E3}"/>
              </a:ext>
            </a:extLst>
          </p:cNvPr>
          <p:cNvPicPr>
            <a:picLocks noChangeAspect="1"/>
          </p:cNvPicPr>
          <p:nvPr/>
        </p:nvPicPr>
        <p:blipFill>
          <a:blip r:embed="rId3"/>
          <a:stretch>
            <a:fillRect/>
          </a:stretch>
        </p:blipFill>
        <p:spPr>
          <a:xfrm>
            <a:off x="316195" y="0"/>
            <a:ext cx="5779805" cy="5489105"/>
          </a:xfrm>
          <a:prstGeom prst="rect">
            <a:avLst/>
          </a:prstGeom>
        </p:spPr>
      </p:pic>
      <p:pic>
        <p:nvPicPr>
          <p:cNvPr id="5" name="Picture 4">
            <a:extLst>
              <a:ext uri="{FF2B5EF4-FFF2-40B4-BE49-F238E27FC236}">
                <a16:creationId xmlns:a16="http://schemas.microsoft.com/office/drawing/2014/main" id="{0EB523C5-CC6D-D306-E242-808EA1B31D52}"/>
              </a:ext>
            </a:extLst>
          </p:cNvPr>
          <p:cNvPicPr>
            <a:picLocks noChangeAspect="1"/>
          </p:cNvPicPr>
          <p:nvPr/>
        </p:nvPicPr>
        <p:blipFill>
          <a:blip r:embed="rId4"/>
          <a:stretch>
            <a:fillRect/>
          </a:stretch>
        </p:blipFill>
        <p:spPr>
          <a:xfrm>
            <a:off x="6095999" y="63611"/>
            <a:ext cx="5730941" cy="4158532"/>
          </a:xfrm>
          <a:prstGeom prst="rect">
            <a:avLst/>
          </a:prstGeom>
        </p:spPr>
      </p:pic>
    </p:spTree>
    <p:extLst>
      <p:ext uri="{BB962C8B-B14F-4D97-AF65-F5344CB8AC3E}">
        <p14:creationId xmlns:p14="http://schemas.microsoft.com/office/powerpoint/2010/main" val="3652767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C13C5-6D1D-1B8B-CB96-20E766A49F8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ED12C3C-29ED-5564-E798-427DCE4591E6}"/>
              </a:ext>
            </a:extLst>
          </p:cNvPr>
          <p:cNvPicPr>
            <a:picLocks noChangeAspect="1"/>
          </p:cNvPicPr>
          <p:nvPr/>
        </p:nvPicPr>
        <p:blipFill>
          <a:blip r:embed="rId2"/>
          <a:stretch>
            <a:fillRect/>
          </a:stretch>
        </p:blipFill>
        <p:spPr>
          <a:xfrm>
            <a:off x="2710532" y="0"/>
            <a:ext cx="6770936" cy="6858000"/>
          </a:xfrm>
          <a:prstGeom prst="rect">
            <a:avLst/>
          </a:prstGeom>
        </p:spPr>
      </p:pic>
    </p:spTree>
    <p:extLst>
      <p:ext uri="{BB962C8B-B14F-4D97-AF65-F5344CB8AC3E}">
        <p14:creationId xmlns:p14="http://schemas.microsoft.com/office/powerpoint/2010/main" val="3702601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3192-BECA-9257-5DC5-4E976C2BFB4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699881-C831-F0C5-9CDC-F85D4EA27794}"/>
              </a:ext>
            </a:extLst>
          </p:cNvPr>
          <p:cNvPicPr>
            <a:picLocks noChangeAspect="1"/>
          </p:cNvPicPr>
          <p:nvPr/>
        </p:nvPicPr>
        <p:blipFill>
          <a:blip r:embed="rId3"/>
          <a:stretch>
            <a:fillRect/>
          </a:stretch>
        </p:blipFill>
        <p:spPr>
          <a:xfrm>
            <a:off x="2121113" y="0"/>
            <a:ext cx="7949774" cy="5835729"/>
          </a:xfrm>
          <a:prstGeom prst="rect">
            <a:avLst/>
          </a:prstGeom>
        </p:spPr>
      </p:pic>
    </p:spTree>
    <p:extLst>
      <p:ext uri="{BB962C8B-B14F-4D97-AF65-F5344CB8AC3E}">
        <p14:creationId xmlns:p14="http://schemas.microsoft.com/office/powerpoint/2010/main" val="49300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12F35-0FA5-BDA6-5270-1DFE35AC16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E6E6FC-0780-3AC2-7900-DADA0A0153CC}"/>
              </a:ext>
            </a:extLst>
          </p:cNvPr>
          <p:cNvPicPr>
            <a:picLocks noChangeAspect="1"/>
          </p:cNvPicPr>
          <p:nvPr/>
        </p:nvPicPr>
        <p:blipFill>
          <a:blip r:embed="rId3"/>
          <a:stretch>
            <a:fillRect/>
          </a:stretch>
        </p:blipFill>
        <p:spPr>
          <a:xfrm>
            <a:off x="2547003" y="0"/>
            <a:ext cx="7097994" cy="6858000"/>
          </a:xfrm>
          <a:prstGeom prst="rect">
            <a:avLst/>
          </a:prstGeom>
        </p:spPr>
      </p:pic>
    </p:spTree>
    <p:extLst>
      <p:ext uri="{BB962C8B-B14F-4D97-AF65-F5344CB8AC3E}">
        <p14:creationId xmlns:p14="http://schemas.microsoft.com/office/powerpoint/2010/main" val="2926560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28A45-0979-A6D0-3453-519633491FF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249C414-D1FB-ACC3-FD6C-7953EA70817F}"/>
              </a:ext>
            </a:extLst>
          </p:cNvPr>
          <p:cNvSpPr>
            <a:spLocks noGrp="1"/>
          </p:cNvSpPr>
          <p:nvPr>
            <p:ph idx="1"/>
          </p:nvPr>
        </p:nvSpPr>
        <p:spPr/>
        <p:txBody>
          <a:bodyPr>
            <a:normAutofit fontScale="62500" lnSpcReduction="20000"/>
          </a:bodyPr>
          <a:lstStyle/>
          <a:p>
            <a:r>
              <a:rPr lang="en-US" dirty="0"/>
              <a:t>The authors:</a:t>
            </a:r>
          </a:p>
          <a:p>
            <a:pPr lvl="1"/>
            <a:r>
              <a:rPr lang="en-US" dirty="0"/>
              <a:t>evaluate the possibility of constructing an algorithm that can predict whether a particular individual will be successful as a director in a particular firm.</a:t>
            </a:r>
          </a:p>
          <a:p>
            <a:pPr lvl="1"/>
            <a:r>
              <a:rPr lang="en-US" dirty="0"/>
              <a:t>compare alternative approaches to forecasting director performance; in particular, how machine learning techniques compare with OLS to predict director performance.</a:t>
            </a:r>
          </a:p>
          <a:p>
            <a:pPr lvl="1"/>
            <a:r>
              <a:rPr lang="en-US" dirty="0"/>
              <a:t>identify characteristics that tend to be associated with effective directors.</a:t>
            </a:r>
          </a:p>
          <a:p>
            <a:pPr lvl="1"/>
            <a:r>
              <a:rPr lang="en-US" dirty="0"/>
              <a:t>use the selections from the algorithms as benchmarks to understand the process through which directors are chosen and identify the types of individuals who are more likely to be poor directors but who are nonetheless selected.</a:t>
            </a:r>
          </a:p>
        </p:txBody>
      </p:sp>
    </p:spTree>
    <p:extLst>
      <p:ext uri="{BB962C8B-B14F-4D97-AF65-F5344CB8AC3E}">
        <p14:creationId xmlns:p14="http://schemas.microsoft.com/office/powerpoint/2010/main" val="3144905138"/>
      </p:ext>
    </p:extLst>
  </p:cSld>
  <p:clrMapOvr>
    <a:masterClrMapping/>
  </p:clrMapOvr>
</p:sld>
</file>

<file path=ppt/theme/theme1.xml><?xml version="1.0" encoding="utf-8"?>
<a:theme xmlns:a="http://schemas.openxmlformats.org/drawingml/2006/main" name="WCOB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COB Theme" id="{DF967ADD-BC05-483B-AB52-67CF82BC061D}" vid="{FC698281-B06B-48E0-B35B-6E92E503CB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WCOB Theme</Template>
  <TotalTime>275</TotalTime>
  <Words>1120</Words>
  <Application>Microsoft Office PowerPoint</Application>
  <PresentationFormat>Widescreen</PresentationFormat>
  <Paragraphs>57</Paragraphs>
  <Slides>18</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Calibri</vt:lpstr>
      <vt:lpstr>Times-Roman</vt:lpstr>
      <vt:lpstr>WCOB Theme</vt:lpstr>
      <vt:lpstr>Selecting Directors Using Machine Learning</vt:lpstr>
      <vt:lpstr>Research Question</vt:lpstr>
      <vt:lpstr>Prior Literature</vt:lpstr>
      <vt:lpstr>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Thompson</dc:creator>
  <cp:lastModifiedBy>Nicholas Thompson</cp:lastModifiedBy>
  <cp:revision>8</cp:revision>
  <dcterms:created xsi:type="dcterms:W3CDTF">2024-10-18T16:03:29Z</dcterms:created>
  <dcterms:modified xsi:type="dcterms:W3CDTF">2024-11-19T04:37:27Z</dcterms:modified>
</cp:coreProperties>
</file>