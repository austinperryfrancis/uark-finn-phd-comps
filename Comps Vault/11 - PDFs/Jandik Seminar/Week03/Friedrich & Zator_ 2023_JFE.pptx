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4"/>
  </p:notesMasterIdLst>
  <p:sldIdLst>
    <p:sldId id="291" r:id="rId2"/>
    <p:sldId id="292" r:id="rId3"/>
    <p:sldId id="336" r:id="rId4"/>
    <p:sldId id="362" r:id="rId5"/>
    <p:sldId id="353" r:id="rId6"/>
    <p:sldId id="354" r:id="rId7"/>
    <p:sldId id="352" r:id="rId8"/>
    <p:sldId id="351" r:id="rId9"/>
    <p:sldId id="355" r:id="rId10"/>
    <p:sldId id="356" r:id="rId11"/>
    <p:sldId id="360" r:id="rId12"/>
    <p:sldId id="344" r:id="rId13"/>
    <p:sldId id="357" r:id="rId14"/>
    <p:sldId id="358" r:id="rId15"/>
    <p:sldId id="359" r:id="rId16"/>
    <p:sldId id="345" r:id="rId17"/>
    <p:sldId id="346" r:id="rId18"/>
    <p:sldId id="347" r:id="rId19"/>
    <p:sldId id="348" r:id="rId20"/>
    <p:sldId id="349" r:id="rId21"/>
    <p:sldId id="293" r:id="rId22"/>
    <p:sldId id="29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35" autoAdjust="0"/>
    <p:restoredTop sz="94660"/>
  </p:normalViewPr>
  <p:slideViewPr>
    <p:cSldViewPr snapToGrid="0">
      <p:cViewPr varScale="1">
        <p:scale>
          <a:sx n="63" d="100"/>
          <a:sy n="63" d="100"/>
        </p:scale>
        <p:origin x="5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9c24dcb21a99a041" providerId="LiveId" clId="{DAAA84F5-D433-4C0A-82EF-81D8057B9136}"/>
    <pc:docChg chg="undo custSel addSld modSld">
      <pc:chgData name="Yan Li" userId="9c24dcb21a99a041" providerId="LiveId" clId="{DAAA84F5-D433-4C0A-82EF-81D8057B9136}" dt="2024-08-28T21:54:49.979" v="312" actId="1076"/>
      <pc:docMkLst>
        <pc:docMk/>
      </pc:docMkLst>
      <pc:sldChg chg="addSp delSp modSp mod">
        <pc:chgData name="Yan Li" userId="9c24dcb21a99a041" providerId="LiveId" clId="{DAAA84F5-D433-4C0A-82EF-81D8057B9136}" dt="2024-08-28T21:54:49.979" v="312" actId="1076"/>
        <pc:sldMkLst>
          <pc:docMk/>
          <pc:sldMk cId="1344486261" sldId="344"/>
        </pc:sldMkLst>
        <pc:spChg chg="mod">
          <ac:chgData name="Yan Li" userId="9c24dcb21a99a041" providerId="LiveId" clId="{DAAA84F5-D433-4C0A-82EF-81D8057B9136}" dt="2024-08-28T21:54:17.076" v="309" actId="20577"/>
          <ac:spMkLst>
            <pc:docMk/>
            <pc:sldMk cId="1344486261" sldId="344"/>
            <ac:spMk id="5" creationId="{87397B05-2868-01CF-5915-644A9A5CFD2E}"/>
          </ac:spMkLst>
        </pc:spChg>
        <pc:picChg chg="add mod">
          <ac:chgData name="Yan Li" userId="9c24dcb21a99a041" providerId="LiveId" clId="{DAAA84F5-D433-4C0A-82EF-81D8057B9136}" dt="2024-08-28T21:53:48.924" v="275" actId="1076"/>
          <ac:picMkLst>
            <pc:docMk/>
            <pc:sldMk cId="1344486261" sldId="344"/>
            <ac:picMk id="3" creationId="{F61386F9-C71E-50FA-89D9-66543FDE6DA7}"/>
          </ac:picMkLst>
        </pc:picChg>
        <pc:picChg chg="del">
          <ac:chgData name="Yan Li" userId="9c24dcb21a99a041" providerId="LiveId" clId="{DAAA84F5-D433-4C0A-82EF-81D8057B9136}" dt="2024-08-28T21:53:45.857" v="273" actId="478"/>
          <ac:picMkLst>
            <pc:docMk/>
            <pc:sldMk cId="1344486261" sldId="344"/>
            <ac:picMk id="6" creationId="{14A22629-F54F-B778-6670-8148598B4034}"/>
          </ac:picMkLst>
        </pc:picChg>
        <pc:picChg chg="add mod">
          <ac:chgData name="Yan Li" userId="9c24dcb21a99a041" providerId="LiveId" clId="{DAAA84F5-D433-4C0A-82EF-81D8057B9136}" dt="2024-08-28T21:54:49.979" v="312" actId="1076"/>
          <ac:picMkLst>
            <pc:docMk/>
            <pc:sldMk cId="1344486261" sldId="344"/>
            <ac:picMk id="7" creationId="{BDF3CC01-CF44-EED8-7FAE-A8142073B4FE}"/>
          </ac:picMkLst>
        </pc:picChg>
      </pc:sldChg>
      <pc:sldChg chg="addSp modSp mod">
        <pc:chgData name="Yan Li" userId="9c24dcb21a99a041" providerId="LiveId" clId="{DAAA84F5-D433-4C0A-82EF-81D8057B9136}" dt="2024-08-28T21:15:21.140" v="54" actId="947"/>
        <pc:sldMkLst>
          <pc:docMk/>
          <pc:sldMk cId="3935108324" sldId="351"/>
        </pc:sldMkLst>
        <pc:spChg chg="mod">
          <ac:chgData name="Yan Li" userId="9c24dcb21a99a041" providerId="LiveId" clId="{DAAA84F5-D433-4C0A-82EF-81D8057B9136}" dt="2024-08-28T21:00:48.768" v="6" actId="1076"/>
          <ac:spMkLst>
            <pc:docMk/>
            <pc:sldMk cId="3935108324" sldId="351"/>
            <ac:spMk id="13" creationId="{8E874B03-FE35-0F11-C3AD-24EAFAC8199F}"/>
          </ac:spMkLst>
        </pc:spChg>
        <pc:spChg chg="mod">
          <ac:chgData name="Yan Li" userId="9c24dcb21a99a041" providerId="LiveId" clId="{DAAA84F5-D433-4C0A-82EF-81D8057B9136}" dt="2024-08-28T21:00:32.578" v="2" actId="207"/>
          <ac:spMkLst>
            <pc:docMk/>
            <pc:sldMk cId="3935108324" sldId="351"/>
            <ac:spMk id="15" creationId="{377C9989-E4CC-2F74-21F1-8E18508FF8D7}"/>
          </ac:spMkLst>
        </pc:spChg>
        <pc:spChg chg="add mod">
          <ac:chgData name="Yan Li" userId="9c24dcb21a99a041" providerId="LiveId" clId="{DAAA84F5-D433-4C0A-82EF-81D8057B9136}" dt="2024-08-28T21:14:03.416" v="45" actId="207"/>
          <ac:spMkLst>
            <pc:docMk/>
            <pc:sldMk cId="3935108324" sldId="351"/>
            <ac:spMk id="19" creationId="{9BAC1991-11B5-0DA7-4B18-7A446F7E987C}"/>
          </ac:spMkLst>
        </pc:spChg>
        <pc:spChg chg="add mod">
          <ac:chgData name="Yan Li" userId="9c24dcb21a99a041" providerId="LiveId" clId="{DAAA84F5-D433-4C0A-82EF-81D8057B9136}" dt="2024-08-28T21:15:21.140" v="54" actId="947"/>
          <ac:spMkLst>
            <pc:docMk/>
            <pc:sldMk cId="3935108324" sldId="351"/>
            <ac:spMk id="22" creationId="{ECBB3875-619B-E1AE-9629-9C01DABAB10E}"/>
          </ac:spMkLst>
        </pc:spChg>
        <pc:picChg chg="mod">
          <ac:chgData name="Yan Li" userId="9c24dcb21a99a041" providerId="LiveId" clId="{DAAA84F5-D433-4C0A-82EF-81D8057B9136}" dt="2024-08-28T21:04:41.043" v="10" actId="14100"/>
          <ac:picMkLst>
            <pc:docMk/>
            <pc:sldMk cId="3935108324" sldId="351"/>
            <ac:picMk id="4" creationId="{2267693A-7F43-E00F-71F0-B428CF1B892A}"/>
          </ac:picMkLst>
        </pc:picChg>
        <pc:picChg chg="mod">
          <ac:chgData name="Yan Li" userId="9c24dcb21a99a041" providerId="LiveId" clId="{DAAA84F5-D433-4C0A-82EF-81D8057B9136}" dt="2024-08-28T21:00:43.467" v="5" actId="1076"/>
          <ac:picMkLst>
            <pc:docMk/>
            <pc:sldMk cId="3935108324" sldId="351"/>
            <ac:picMk id="9" creationId="{55C2E6C8-FE90-9053-584F-5F8D55E5C222}"/>
          </ac:picMkLst>
        </pc:picChg>
        <pc:picChg chg="mod">
          <ac:chgData name="Yan Li" userId="9c24dcb21a99a041" providerId="LiveId" clId="{DAAA84F5-D433-4C0A-82EF-81D8057B9136}" dt="2024-08-28T21:00:51.576" v="7" actId="1076"/>
          <ac:picMkLst>
            <pc:docMk/>
            <pc:sldMk cId="3935108324" sldId="351"/>
            <ac:picMk id="11" creationId="{A0F8CC33-8099-8AFD-277F-0FEE5AB7DF38}"/>
          </ac:picMkLst>
        </pc:picChg>
        <pc:picChg chg="add mod">
          <ac:chgData name="Yan Li" userId="9c24dcb21a99a041" providerId="LiveId" clId="{DAAA84F5-D433-4C0A-82EF-81D8057B9136}" dt="2024-08-28T21:04:48.638" v="11" actId="1076"/>
          <ac:picMkLst>
            <pc:docMk/>
            <pc:sldMk cId="3935108324" sldId="351"/>
            <ac:picMk id="17" creationId="{1A506CF5-BAC7-5095-1746-E1E983CE9664}"/>
          </ac:picMkLst>
        </pc:picChg>
      </pc:sldChg>
      <pc:sldChg chg="addSp delSp modSp mod">
        <pc:chgData name="Yan Li" userId="9c24dcb21a99a041" providerId="LiveId" clId="{DAAA84F5-D433-4C0A-82EF-81D8057B9136}" dt="2024-08-28T21:24:28.220" v="82" actId="20577"/>
        <pc:sldMkLst>
          <pc:docMk/>
          <pc:sldMk cId="399960702" sldId="355"/>
        </pc:sldMkLst>
        <pc:spChg chg="add del">
          <ac:chgData name="Yan Li" userId="9c24dcb21a99a041" providerId="LiveId" clId="{DAAA84F5-D433-4C0A-82EF-81D8057B9136}" dt="2024-08-28T21:18:49.734" v="62" actId="478"/>
          <ac:spMkLst>
            <pc:docMk/>
            <pc:sldMk cId="399960702" sldId="355"/>
            <ac:spMk id="4" creationId="{CDF76075-0EDA-87A6-25E5-AE217AA4FE3B}"/>
          </ac:spMkLst>
        </pc:spChg>
        <pc:spChg chg="mod">
          <ac:chgData name="Yan Li" userId="9c24dcb21a99a041" providerId="LiveId" clId="{DAAA84F5-D433-4C0A-82EF-81D8057B9136}" dt="2024-08-28T21:18:47.247" v="61" actId="113"/>
          <ac:spMkLst>
            <pc:docMk/>
            <pc:sldMk cId="399960702" sldId="355"/>
            <ac:spMk id="5" creationId="{87397B05-2868-01CF-5915-644A9A5CFD2E}"/>
          </ac:spMkLst>
        </pc:spChg>
        <pc:spChg chg="add mod">
          <ac:chgData name="Yan Li" userId="9c24dcb21a99a041" providerId="LiveId" clId="{DAAA84F5-D433-4C0A-82EF-81D8057B9136}" dt="2024-08-28T21:24:28.220" v="82" actId="20577"/>
          <ac:spMkLst>
            <pc:docMk/>
            <pc:sldMk cId="399960702" sldId="355"/>
            <ac:spMk id="9" creationId="{48D55A6C-C9DD-10A9-16A7-522707F5723E}"/>
          </ac:spMkLst>
        </pc:spChg>
        <pc:picChg chg="del">
          <ac:chgData name="Yan Li" userId="9c24dcb21a99a041" providerId="LiveId" clId="{DAAA84F5-D433-4C0A-82EF-81D8057B9136}" dt="2024-08-28T21:18:33.923" v="56" actId="478"/>
          <ac:picMkLst>
            <pc:docMk/>
            <pc:sldMk cId="399960702" sldId="355"/>
            <ac:picMk id="2" creationId="{F3FD91DF-B40B-D78D-8D36-62688F20DBF6}"/>
          </ac:picMkLst>
        </pc:picChg>
        <pc:picChg chg="add mod">
          <ac:chgData name="Yan Li" userId="9c24dcb21a99a041" providerId="LiveId" clId="{DAAA84F5-D433-4C0A-82EF-81D8057B9136}" dt="2024-08-28T21:19:23.947" v="69" actId="1076"/>
          <ac:picMkLst>
            <pc:docMk/>
            <pc:sldMk cId="399960702" sldId="355"/>
            <ac:picMk id="7" creationId="{8E0441F7-1661-EC09-FCD5-87E8857A757C}"/>
          </ac:picMkLst>
        </pc:picChg>
      </pc:sldChg>
      <pc:sldChg chg="addSp delSp modSp add mod">
        <pc:chgData name="Yan Li" userId="9c24dcb21a99a041" providerId="LiveId" clId="{DAAA84F5-D433-4C0A-82EF-81D8057B9136}" dt="2024-08-28T21:52:53.660" v="271" actId="1076"/>
        <pc:sldMkLst>
          <pc:docMk/>
          <pc:sldMk cId="4242151449" sldId="356"/>
        </pc:sldMkLst>
        <pc:spChg chg="mod">
          <ac:chgData name="Yan Li" userId="9c24dcb21a99a041" providerId="LiveId" clId="{DAAA84F5-D433-4C0A-82EF-81D8057B9136}" dt="2024-08-28T21:52:47.967" v="269" actId="1076"/>
          <ac:spMkLst>
            <pc:docMk/>
            <pc:sldMk cId="4242151449" sldId="356"/>
            <ac:spMk id="5" creationId="{87397B05-2868-01CF-5915-644A9A5CFD2E}"/>
          </ac:spMkLst>
        </pc:spChg>
        <pc:spChg chg="add mod">
          <ac:chgData name="Yan Li" userId="9c24dcb21a99a041" providerId="LiveId" clId="{DAAA84F5-D433-4C0A-82EF-81D8057B9136}" dt="2024-08-28T21:52:53.660" v="271" actId="1076"/>
          <ac:spMkLst>
            <pc:docMk/>
            <pc:sldMk cId="4242151449" sldId="356"/>
            <ac:spMk id="9" creationId="{9561FD9C-22EE-AAF5-1FFA-3DBFDB826641}"/>
          </ac:spMkLst>
        </pc:spChg>
        <pc:picChg chg="del mod">
          <ac:chgData name="Yan Li" userId="9c24dcb21a99a041" providerId="LiveId" clId="{DAAA84F5-D433-4C0A-82EF-81D8057B9136}" dt="2024-08-28T21:26:08.999" v="125" actId="478"/>
          <ac:picMkLst>
            <pc:docMk/>
            <pc:sldMk cId="4242151449" sldId="356"/>
            <ac:picMk id="2" creationId="{F3FD91DF-B40B-D78D-8D36-62688F20DBF6}"/>
          </ac:picMkLst>
        </pc:picChg>
        <pc:picChg chg="add mod">
          <ac:chgData name="Yan Li" userId="9c24dcb21a99a041" providerId="LiveId" clId="{DAAA84F5-D433-4C0A-82EF-81D8057B9136}" dt="2024-08-28T21:52:50.406" v="270" actId="1076"/>
          <ac:picMkLst>
            <pc:docMk/>
            <pc:sldMk cId="4242151449" sldId="356"/>
            <ac:picMk id="4" creationId="{150C5B07-6DB9-B0E2-C702-ED7958322F15}"/>
          </ac:picMkLst>
        </pc:picChg>
        <pc:picChg chg="add mod">
          <ac:chgData name="Yan Li" userId="9c24dcb21a99a041" providerId="LiveId" clId="{DAAA84F5-D433-4C0A-82EF-81D8057B9136}" dt="2024-08-28T21:52:40.617" v="268" actId="1076"/>
          <ac:picMkLst>
            <pc:docMk/>
            <pc:sldMk cId="4242151449" sldId="356"/>
            <ac:picMk id="7" creationId="{4ACEF633-EE1E-22EB-6B5E-152F68CE0988}"/>
          </ac:picMkLst>
        </pc:picChg>
      </pc:sldChg>
      <pc:sldChg chg="add">
        <pc:chgData name="Yan Li" userId="9c24dcb21a99a041" providerId="LiveId" clId="{DAAA84F5-D433-4C0A-82EF-81D8057B9136}" dt="2024-08-28T21:53:42.965" v="272" actId="2890"/>
        <pc:sldMkLst>
          <pc:docMk/>
          <pc:sldMk cId="1904123398" sldId="3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9/3/2024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9/3/2024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9/3/2024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9/3/2024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9/3/2024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9/3/2024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9/3/2024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1219201" y="431112"/>
            <a:ext cx="9997440" cy="1582578"/>
          </a:xfrm>
        </p:spPr>
        <p:txBody>
          <a:bodyPr anchor="b">
            <a:normAutofit/>
          </a:bodyPr>
          <a:lstStyle/>
          <a:p>
            <a:pPr algn="l"/>
            <a:r>
              <a:rPr lang="en-US" sz="4000" b="1" dirty="0">
                <a:solidFill>
                  <a:srgbClr val="C00000"/>
                </a:solidFill>
                <a:latin typeface="Open Sans" panose="020B0606030504020204" pitchFamily="34" charset="0"/>
              </a:rPr>
              <a:t>Flexibility costs of debt: Danish exporters during the cartoon crisis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464733" y="2269437"/>
            <a:ext cx="7840134" cy="3208867"/>
          </a:xfrm>
        </p:spPr>
        <p:txBody>
          <a:bodyPr>
            <a:normAutofit fontScale="92500" lnSpcReduction="10000"/>
          </a:bodyPr>
          <a:lstStyle/>
          <a:p>
            <a:pPr algn="l"/>
            <a:r>
              <a:rPr lang="en-US" b="1" dirty="0">
                <a:solidFill>
                  <a:srgbClr val="00B050"/>
                </a:solidFill>
              </a:rPr>
              <a:t>Benjamin U. Friedrich </a:t>
            </a:r>
          </a:p>
          <a:p>
            <a:pPr algn="l"/>
            <a:r>
              <a:rPr lang="en-US" dirty="0"/>
              <a:t>Northwestern University, Kellogg School of </a:t>
            </a:r>
            <a:r>
              <a:rPr lang="en-US" dirty="0" err="1"/>
              <a:t>Managemen</a:t>
            </a:r>
            <a:endParaRPr lang="en-US" dirty="0"/>
          </a:p>
          <a:p>
            <a:pPr algn="l"/>
            <a:r>
              <a:rPr lang="en-US" dirty="0"/>
              <a:t>Aarhus University, Department of Economics and Business Economics</a:t>
            </a:r>
          </a:p>
          <a:p>
            <a:pPr algn="l"/>
            <a:r>
              <a:rPr lang="en-US" b="1" dirty="0" err="1">
                <a:solidFill>
                  <a:srgbClr val="00B050"/>
                </a:solidFill>
              </a:rPr>
              <a:t>Michał</a:t>
            </a:r>
            <a:r>
              <a:rPr lang="en-US" b="1" dirty="0">
                <a:solidFill>
                  <a:srgbClr val="00B050"/>
                </a:solidFill>
              </a:rPr>
              <a:t> Zator</a:t>
            </a:r>
          </a:p>
          <a:p>
            <a:pPr algn="l"/>
            <a:r>
              <a:rPr lang="en-US" dirty="0"/>
              <a:t>University of Notre Dame, Mendoza College of Business</a:t>
            </a:r>
          </a:p>
          <a:p>
            <a:pPr algn="l"/>
            <a:r>
              <a:rPr lang="en-US" dirty="0">
                <a:solidFill>
                  <a:srgbClr val="00B050"/>
                </a:solidFill>
              </a:rPr>
              <a:t>Journal of Financial Economics </a:t>
            </a:r>
          </a:p>
          <a:p>
            <a:pPr algn="l"/>
            <a:r>
              <a:rPr lang="en-US" dirty="0">
                <a:solidFill>
                  <a:srgbClr val="00B050"/>
                </a:solidFill>
              </a:rPr>
              <a:t>March 2023</a:t>
            </a:r>
          </a:p>
          <a:p>
            <a:pPr algn="l"/>
            <a:r>
              <a:rPr lang="en-US" u="sng" dirty="0">
                <a:solidFill>
                  <a:srgbClr val="0070C0"/>
                </a:solidFill>
              </a:rPr>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1120107"/>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Goal/Question</a:t>
            </a:r>
            <a:r>
              <a:rPr lang="en-US" sz="3600" dirty="0">
                <a:solidFill>
                  <a:srgbClr val="C00000"/>
                </a:solidFill>
                <a:latin typeface="Arial" panose="020B0604020202020204" pitchFamily="34" charset="0"/>
                <a:cs typeface="Arial" panose="020B0604020202020204" pitchFamily="34" charset="0"/>
              </a:rPr>
              <a:t>:</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632857" y="2164702"/>
            <a:ext cx="9815804" cy="2814003"/>
          </a:xfrm>
        </p:spPr>
        <p:txBody>
          <a:bodyPr>
            <a:normAutofit/>
          </a:bodyPr>
          <a:lstStyle/>
          <a:p>
            <a:pPr algn="l"/>
            <a:r>
              <a:rPr lang="en-US" sz="2400" dirty="0"/>
              <a:t>How do firms respond to an unexpected demand shock?</a:t>
            </a:r>
          </a:p>
          <a:p>
            <a:pPr algn="l"/>
            <a:endParaRPr lang="en-US" sz="2400" dirty="0">
              <a:latin typeface="Arial" panose="020B0604020202020204" pitchFamily="34" charset="0"/>
              <a:cs typeface="Arial" panose="020B0604020202020204" pitchFamily="34" charset="0"/>
            </a:endParaRPr>
          </a:p>
          <a:p>
            <a:pPr algn="l"/>
            <a:r>
              <a:rPr lang="en-US" sz="2400" dirty="0"/>
              <a:t>How important is financial flexibility considerations in firms’ capital structure decisions in times of crisis?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Cartoon crisis</a:t>
            </a:r>
            <a:endParaRPr lang="en-US" sz="3200" b="1"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9AB0BF49-E80D-DBCB-4C42-05CFFE57A525}"/>
              </a:ext>
            </a:extLst>
          </p:cNvPr>
          <p:cNvSpPr txBox="1"/>
          <p:nvPr/>
        </p:nvSpPr>
        <p:spPr>
          <a:xfrm>
            <a:off x="152400" y="1087120"/>
            <a:ext cx="11714480" cy="1569660"/>
          </a:xfrm>
          <a:prstGeom prst="rect">
            <a:avLst/>
          </a:prstGeom>
          <a:noFill/>
        </p:spPr>
        <p:txBody>
          <a:bodyPr wrap="square">
            <a:spAutoFit/>
          </a:bodyPr>
          <a:lstStyle/>
          <a:p>
            <a:r>
              <a:rPr lang="en-US" sz="2400" dirty="0"/>
              <a:t>In September 2005, a Danish newspaper published caricatures of prophet Muhammad, which is considered blasphemous by Muslims. The publication led to a widespread boycott of Danish products in Muslim countries, which affected Danish exporters for at least one year.</a:t>
            </a:r>
          </a:p>
        </p:txBody>
      </p:sp>
    </p:spTree>
    <p:extLst>
      <p:ext uri="{BB962C8B-B14F-4D97-AF65-F5344CB8AC3E}">
        <p14:creationId xmlns:p14="http://schemas.microsoft.com/office/powerpoint/2010/main" val="39364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rmAutofit fontScale="90000"/>
          </a:bodyPr>
          <a:lstStyle/>
          <a:p>
            <a:r>
              <a:rPr lang="en-US" sz="2800" b="1" dirty="0">
                <a:solidFill>
                  <a:srgbClr val="C00000"/>
                </a:solidFill>
              </a:rPr>
              <a:t>Cartoon </a:t>
            </a:r>
            <a:r>
              <a:rPr lang="en-US" sz="3100" b="1" dirty="0">
                <a:solidFill>
                  <a:srgbClr val="C00000"/>
                </a:solidFill>
              </a:rPr>
              <a:t>crisis</a:t>
            </a:r>
            <a:endParaRPr lang="en-US" sz="3100" b="1"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178788D1-A743-57FD-214E-DE4BDA78E5CC}"/>
              </a:ext>
            </a:extLst>
          </p:cNvPr>
          <p:cNvPicPr>
            <a:picLocks noChangeAspect="1"/>
          </p:cNvPicPr>
          <p:nvPr/>
        </p:nvPicPr>
        <p:blipFill>
          <a:blip r:embed="rId3"/>
          <a:stretch>
            <a:fillRect/>
          </a:stretch>
        </p:blipFill>
        <p:spPr>
          <a:xfrm>
            <a:off x="337662" y="869776"/>
            <a:ext cx="8908416" cy="3913239"/>
          </a:xfrm>
          <a:prstGeom prst="rect">
            <a:avLst/>
          </a:prstGeom>
        </p:spPr>
      </p:pic>
      <p:sp>
        <p:nvSpPr>
          <p:cNvPr id="7" name="TextBox 6">
            <a:extLst>
              <a:ext uri="{FF2B5EF4-FFF2-40B4-BE49-F238E27FC236}">
                <a16:creationId xmlns:a16="http://schemas.microsoft.com/office/drawing/2014/main" id="{98F8AF3C-49B0-4E0F-53EA-6F4993DD725C}"/>
              </a:ext>
            </a:extLst>
          </p:cNvPr>
          <p:cNvSpPr txBox="1"/>
          <p:nvPr/>
        </p:nvSpPr>
        <p:spPr>
          <a:xfrm>
            <a:off x="243986" y="4966145"/>
            <a:ext cx="11238767" cy="584775"/>
          </a:xfrm>
          <a:prstGeom prst="rect">
            <a:avLst/>
          </a:prstGeom>
          <a:noFill/>
        </p:spPr>
        <p:txBody>
          <a:bodyPr wrap="square">
            <a:spAutoFit/>
          </a:bodyPr>
          <a:lstStyle/>
          <a:p>
            <a:r>
              <a:rPr lang="en-US" sz="1600" dirty="0"/>
              <a:t>The figure shows that while exports from other European countries continued to grow over this period at their previous rate of around 10%, Danish exports experienced a sudden drop and remained at 25% below their previous level for more than one year</a:t>
            </a:r>
          </a:p>
        </p:txBody>
      </p:sp>
      <p:sp>
        <p:nvSpPr>
          <p:cNvPr id="9" name="TextBox 8">
            <a:extLst>
              <a:ext uri="{FF2B5EF4-FFF2-40B4-BE49-F238E27FC236}">
                <a16:creationId xmlns:a16="http://schemas.microsoft.com/office/drawing/2014/main" id="{AE2CC97F-6C3C-AF74-DDCC-9B91CB0AF7F1}"/>
              </a:ext>
            </a:extLst>
          </p:cNvPr>
          <p:cNvSpPr txBox="1"/>
          <p:nvPr/>
        </p:nvSpPr>
        <p:spPr>
          <a:xfrm>
            <a:off x="9317648" y="1532376"/>
            <a:ext cx="2536690" cy="2862322"/>
          </a:xfrm>
          <a:prstGeom prst="rect">
            <a:avLst/>
          </a:prstGeom>
          <a:noFill/>
        </p:spPr>
        <p:txBody>
          <a:bodyPr wrap="square">
            <a:spAutoFit/>
          </a:bodyPr>
          <a:lstStyle/>
          <a:p>
            <a:r>
              <a:rPr lang="en-US" dirty="0"/>
              <a:t>At least 10% of these firms persistently lost their entire presence in Muslim countries, and effects for the median firm show a substantial export decline which these firms were unable to recover in subsequent years.</a:t>
            </a:r>
          </a:p>
        </p:txBody>
      </p:sp>
    </p:spTree>
    <p:extLst>
      <p:ext uri="{BB962C8B-B14F-4D97-AF65-F5344CB8AC3E}">
        <p14:creationId xmlns:p14="http://schemas.microsoft.com/office/powerpoint/2010/main" val="2389474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800" b="1" dirty="0">
                <a:solidFill>
                  <a:srgbClr val="C00000"/>
                </a:solidFill>
              </a:rPr>
              <a:t>Cartoon</a:t>
            </a:r>
            <a:r>
              <a:rPr lang="en-US" sz="2800" b="1" dirty="0"/>
              <a:t> </a:t>
            </a:r>
            <a:r>
              <a:rPr lang="en-US" sz="2800" b="1" dirty="0">
                <a:solidFill>
                  <a:srgbClr val="C00000"/>
                </a:solidFill>
              </a:rPr>
              <a:t>crisis</a:t>
            </a:r>
            <a:endParaRPr lang="en-US" sz="2800" b="1"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7" name="TextBox 6">
            <a:extLst>
              <a:ext uri="{FF2B5EF4-FFF2-40B4-BE49-F238E27FC236}">
                <a16:creationId xmlns:a16="http://schemas.microsoft.com/office/drawing/2014/main" id="{98F8AF3C-49B0-4E0F-53EA-6F4993DD725C}"/>
              </a:ext>
            </a:extLst>
          </p:cNvPr>
          <p:cNvSpPr txBox="1"/>
          <p:nvPr/>
        </p:nvSpPr>
        <p:spPr>
          <a:xfrm>
            <a:off x="243986" y="4966145"/>
            <a:ext cx="11238767" cy="338554"/>
          </a:xfrm>
          <a:prstGeom prst="rect">
            <a:avLst/>
          </a:prstGeom>
          <a:noFill/>
        </p:spPr>
        <p:txBody>
          <a:bodyPr wrap="square">
            <a:spAutoFit/>
          </a:bodyPr>
          <a:lstStyle/>
          <a:p>
            <a:r>
              <a:rPr lang="en-US" sz="1600" dirty="0"/>
              <a:t>Construction and consumer products experienced the largest drop in exports</a:t>
            </a:r>
          </a:p>
        </p:txBody>
      </p:sp>
      <p:sp>
        <p:nvSpPr>
          <p:cNvPr id="9" name="TextBox 8">
            <a:extLst>
              <a:ext uri="{FF2B5EF4-FFF2-40B4-BE49-F238E27FC236}">
                <a16:creationId xmlns:a16="http://schemas.microsoft.com/office/drawing/2014/main" id="{AE2CC97F-6C3C-AF74-DDCC-9B91CB0AF7F1}"/>
              </a:ext>
            </a:extLst>
          </p:cNvPr>
          <p:cNvSpPr txBox="1"/>
          <p:nvPr/>
        </p:nvSpPr>
        <p:spPr>
          <a:xfrm>
            <a:off x="9317648" y="1532376"/>
            <a:ext cx="2536690" cy="2031325"/>
          </a:xfrm>
          <a:prstGeom prst="rect">
            <a:avLst/>
          </a:prstGeom>
          <a:noFill/>
        </p:spPr>
        <p:txBody>
          <a:bodyPr wrap="square">
            <a:spAutoFit/>
          </a:bodyPr>
          <a:lstStyle/>
          <a:p>
            <a:r>
              <a:rPr lang="en-US" dirty="0"/>
              <a:t>The boycott was most salient in the Arab countries, observed export changes are similar as those for Muslim countries as a whole</a:t>
            </a:r>
          </a:p>
        </p:txBody>
      </p:sp>
      <p:pic>
        <p:nvPicPr>
          <p:cNvPr id="4" name="Picture 3">
            <a:extLst>
              <a:ext uri="{FF2B5EF4-FFF2-40B4-BE49-F238E27FC236}">
                <a16:creationId xmlns:a16="http://schemas.microsoft.com/office/drawing/2014/main" id="{A6415270-9A0C-4A1B-799F-0F49FC7DD579}"/>
              </a:ext>
            </a:extLst>
          </p:cNvPr>
          <p:cNvPicPr>
            <a:picLocks noChangeAspect="1"/>
          </p:cNvPicPr>
          <p:nvPr/>
        </p:nvPicPr>
        <p:blipFill>
          <a:blip r:embed="rId3"/>
          <a:stretch>
            <a:fillRect/>
          </a:stretch>
        </p:blipFill>
        <p:spPr>
          <a:xfrm>
            <a:off x="87923" y="602664"/>
            <a:ext cx="9295043" cy="3891290"/>
          </a:xfrm>
          <a:prstGeom prst="rect">
            <a:avLst/>
          </a:prstGeom>
        </p:spPr>
      </p:pic>
    </p:spTree>
    <p:extLst>
      <p:ext uri="{BB962C8B-B14F-4D97-AF65-F5344CB8AC3E}">
        <p14:creationId xmlns:p14="http://schemas.microsoft.com/office/powerpoint/2010/main" val="1672721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800" b="1" dirty="0">
                <a:solidFill>
                  <a:srgbClr val="C00000"/>
                </a:solidFill>
              </a:rPr>
              <a:t>Data</a:t>
            </a:r>
            <a:endParaRPr lang="en-US" sz="2800" b="1"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A502381D-3751-6A59-C791-EA3E29FFCFE4}"/>
              </a:ext>
            </a:extLst>
          </p:cNvPr>
          <p:cNvSpPr txBox="1"/>
          <p:nvPr/>
        </p:nvSpPr>
        <p:spPr>
          <a:xfrm>
            <a:off x="527538" y="685800"/>
            <a:ext cx="11403624" cy="4401205"/>
          </a:xfrm>
          <a:prstGeom prst="rect">
            <a:avLst/>
          </a:prstGeom>
          <a:noFill/>
        </p:spPr>
        <p:txBody>
          <a:bodyPr wrap="square">
            <a:spAutoFit/>
          </a:bodyPr>
          <a:lstStyle/>
          <a:p>
            <a:pPr marL="285750" indent="-285750">
              <a:buFont typeface="Arial" panose="020B0604020202020204" pitchFamily="34" charset="0"/>
              <a:buChar char="•"/>
            </a:pPr>
            <a:r>
              <a:rPr lang="en-US" sz="2000" b="1" dirty="0">
                <a:solidFill>
                  <a:srgbClr val="FF0000"/>
                </a:solidFill>
              </a:rPr>
              <a:t>The Danish Foreign Trade Statistics Register (UHDI): </a:t>
            </a:r>
            <a:r>
              <a:rPr lang="en-US" sz="2000" dirty="0"/>
              <a:t>annual firm-level trade value by product-destination pairs at the CN-8-digit product level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solidFill>
                  <a:srgbClr val="FF0000"/>
                </a:solidFill>
              </a:rPr>
              <a:t>The Accounting Register (FIRE): </a:t>
            </a:r>
            <a:r>
              <a:rPr lang="en-US" sz="2000" dirty="0"/>
              <a:t>financial statements of firms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solidFill>
                  <a:srgbClr val="FF0000"/>
                </a:solidFill>
              </a:rPr>
              <a:t>The Danish Business Register (FIRM): </a:t>
            </a:r>
            <a:r>
              <a:rPr lang="en-US" sz="2000" dirty="0"/>
              <a:t>additional information on founding date, sales, employment, industry, and firm exit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solidFill>
                  <a:srgbClr val="FF0000"/>
                </a:solidFill>
              </a:rPr>
              <a:t>Danish banks: </a:t>
            </a:r>
            <a:r>
              <a:rPr lang="en-US" sz="2000" dirty="0"/>
              <a:t>loan-level data on secured and unsecured loans (excluding mortgages) issued to Danish firms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Use firm identifiers from the Firm-Integrated Database for Labor Market Research (FIDA) to match firm level data with worker-level information from the Danish Integrated Database for Labor Market Research (IDA)</a:t>
            </a:r>
          </a:p>
        </p:txBody>
      </p:sp>
    </p:spTree>
    <p:extLst>
      <p:ext uri="{BB962C8B-B14F-4D97-AF65-F5344CB8AC3E}">
        <p14:creationId xmlns:p14="http://schemas.microsoft.com/office/powerpoint/2010/main" val="1992345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575681"/>
          </a:xfrm>
        </p:spPr>
        <p:txBody>
          <a:bodyPr>
            <a:normAutofit/>
          </a:bodyPr>
          <a:lstStyle/>
          <a:p>
            <a:r>
              <a:rPr lang="en-US" sz="2800" b="1" dirty="0">
                <a:solidFill>
                  <a:srgbClr val="C00000"/>
                </a:solidFill>
              </a:rPr>
              <a:t>Selected Summary Statistics</a:t>
            </a:r>
            <a:endParaRPr lang="en-US" sz="2800" b="1"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6" name="Picture 5">
            <a:extLst>
              <a:ext uri="{FF2B5EF4-FFF2-40B4-BE49-F238E27FC236}">
                <a16:creationId xmlns:a16="http://schemas.microsoft.com/office/drawing/2014/main" id="{040DD459-2AC9-E7C1-EDEC-1709697235B7}"/>
              </a:ext>
            </a:extLst>
          </p:cNvPr>
          <p:cNvPicPr>
            <a:picLocks noChangeAspect="1"/>
          </p:cNvPicPr>
          <p:nvPr/>
        </p:nvPicPr>
        <p:blipFill>
          <a:blip r:embed="rId3"/>
          <a:stretch>
            <a:fillRect/>
          </a:stretch>
        </p:blipFill>
        <p:spPr>
          <a:xfrm>
            <a:off x="171481" y="902274"/>
            <a:ext cx="5039428" cy="5792008"/>
          </a:xfrm>
          <a:prstGeom prst="rect">
            <a:avLst/>
          </a:prstGeom>
        </p:spPr>
      </p:pic>
      <p:sp>
        <p:nvSpPr>
          <p:cNvPr id="8" name="Rectangle 7">
            <a:extLst>
              <a:ext uri="{FF2B5EF4-FFF2-40B4-BE49-F238E27FC236}">
                <a16:creationId xmlns:a16="http://schemas.microsoft.com/office/drawing/2014/main" id="{9CA58BB6-1537-5F21-7048-AE62DAEE039A}"/>
              </a:ext>
            </a:extLst>
          </p:cNvPr>
          <p:cNvSpPr/>
          <p:nvPr/>
        </p:nvSpPr>
        <p:spPr>
          <a:xfrm>
            <a:off x="2839916" y="4800600"/>
            <a:ext cx="685800" cy="3956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9" name="Rectangle 8">
            <a:extLst>
              <a:ext uri="{FF2B5EF4-FFF2-40B4-BE49-F238E27FC236}">
                <a16:creationId xmlns:a16="http://schemas.microsoft.com/office/drawing/2014/main" id="{CB948837-187A-E8C2-C238-B0041529632D}"/>
              </a:ext>
            </a:extLst>
          </p:cNvPr>
          <p:cNvSpPr/>
          <p:nvPr/>
        </p:nvSpPr>
        <p:spPr>
          <a:xfrm>
            <a:off x="2839916" y="3736731"/>
            <a:ext cx="685800" cy="395654"/>
          </a:xfrm>
          <a:prstGeom prst="rect">
            <a:avLst/>
          </a:prstGeom>
          <a:no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7B2BC28-5C5D-D865-AA71-86F68A8E78E0}"/>
              </a:ext>
            </a:extLst>
          </p:cNvPr>
          <p:cNvSpPr/>
          <p:nvPr/>
        </p:nvSpPr>
        <p:spPr>
          <a:xfrm>
            <a:off x="3710354" y="3736731"/>
            <a:ext cx="545124" cy="23739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A5862AD-F85A-FEEC-91A3-BD14C7F6EA0F}"/>
              </a:ext>
            </a:extLst>
          </p:cNvPr>
          <p:cNvSpPr/>
          <p:nvPr/>
        </p:nvSpPr>
        <p:spPr>
          <a:xfrm>
            <a:off x="3710354" y="4800600"/>
            <a:ext cx="545124" cy="237392"/>
          </a:xfrm>
          <a:prstGeom prst="ellipse">
            <a:avLst/>
          </a:prstGeom>
          <a:no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EEDA9A8-C35E-44A2-A9FE-92E879E48ED5}"/>
              </a:ext>
            </a:extLst>
          </p:cNvPr>
          <p:cNvSpPr txBox="1"/>
          <p:nvPr/>
        </p:nvSpPr>
        <p:spPr>
          <a:xfrm>
            <a:off x="5382390" y="1171527"/>
            <a:ext cx="6097464" cy="1754326"/>
          </a:xfrm>
          <a:prstGeom prst="rect">
            <a:avLst/>
          </a:prstGeom>
          <a:noFill/>
        </p:spPr>
        <p:txBody>
          <a:bodyPr wrap="square">
            <a:spAutoFit/>
          </a:bodyPr>
          <a:lstStyle/>
          <a:p>
            <a:pPr marL="285750" indent="-285750">
              <a:buFont typeface="Arial" panose="020B0604020202020204" pitchFamily="34" charset="0"/>
              <a:buChar char="•"/>
            </a:pPr>
            <a:r>
              <a:rPr lang="en-US" dirty="0"/>
              <a:t>Exposed firms are over two times larger compared to control-group firms and significantly more export-oriented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Muslim markets are rather distant and exotic markets for Danish firms, and hence are not typically served by very small firms</a:t>
            </a:r>
          </a:p>
        </p:txBody>
      </p:sp>
    </p:spTree>
    <p:extLst>
      <p:ext uri="{BB962C8B-B14F-4D97-AF65-F5344CB8AC3E}">
        <p14:creationId xmlns:p14="http://schemas.microsoft.com/office/powerpoint/2010/main" val="479549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18423"/>
            <a:ext cx="9144000" cy="524371"/>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Empirical</a:t>
            </a:r>
            <a:r>
              <a:rPr lang="en-US" sz="2800" b="1" dirty="0">
                <a:latin typeface="Arial" panose="020B0604020202020204" pitchFamily="34" charset="0"/>
                <a:cs typeface="Arial" panose="020B0604020202020204" pitchFamily="34" charset="0"/>
              </a:rPr>
              <a:t> </a:t>
            </a:r>
            <a:r>
              <a:rPr lang="en-US" sz="2800" b="1" dirty="0">
                <a:solidFill>
                  <a:srgbClr val="C00000"/>
                </a:solidFill>
                <a:latin typeface="Arial" panose="020B0604020202020204" pitchFamily="34" charset="0"/>
                <a:cs typeface="Arial" panose="020B0604020202020204" pitchFamily="34" charset="0"/>
              </a:rPr>
              <a:t>strategy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2267693A-7F43-E00F-71F0-B428CF1B892A}"/>
              </a:ext>
            </a:extLst>
          </p:cNvPr>
          <p:cNvPicPr>
            <a:picLocks noChangeAspect="1"/>
          </p:cNvPicPr>
          <p:nvPr/>
        </p:nvPicPr>
        <p:blipFill>
          <a:blip r:embed="rId3"/>
          <a:stretch>
            <a:fillRect/>
          </a:stretch>
        </p:blipFill>
        <p:spPr>
          <a:xfrm>
            <a:off x="406023" y="1928418"/>
            <a:ext cx="5849166" cy="381053"/>
          </a:xfrm>
          <a:prstGeom prst="rect">
            <a:avLst/>
          </a:prstGeom>
        </p:spPr>
      </p:pic>
      <p:sp>
        <p:nvSpPr>
          <p:cNvPr id="7" name="TextBox 6">
            <a:extLst>
              <a:ext uri="{FF2B5EF4-FFF2-40B4-BE49-F238E27FC236}">
                <a16:creationId xmlns:a16="http://schemas.microsoft.com/office/drawing/2014/main" id="{0BBA90A6-57D5-FC07-9242-4D2E21064016}"/>
              </a:ext>
            </a:extLst>
          </p:cNvPr>
          <p:cNvSpPr txBox="1"/>
          <p:nvPr/>
        </p:nvSpPr>
        <p:spPr>
          <a:xfrm>
            <a:off x="326217" y="666823"/>
            <a:ext cx="11539566" cy="646331"/>
          </a:xfrm>
          <a:prstGeom prst="rect">
            <a:avLst/>
          </a:prstGeom>
          <a:noFill/>
        </p:spPr>
        <p:txBody>
          <a:bodyPr wrap="square">
            <a:spAutoFit/>
          </a:bodyPr>
          <a:lstStyle/>
          <a:p>
            <a:r>
              <a:rPr lang="en-US" dirty="0"/>
              <a:t>A difference-in-differences specification (</a:t>
            </a:r>
            <a:r>
              <a:rPr lang="en-US" dirty="0" err="1"/>
              <a:t>DiD</a:t>
            </a:r>
            <a:r>
              <a:rPr lang="en-US" dirty="0"/>
              <a:t>) that compares firms exposed to Muslim markets to other exporters pre- and post-boycott</a:t>
            </a:r>
          </a:p>
        </p:txBody>
      </p:sp>
      <p:pic>
        <p:nvPicPr>
          <p:cNvPr id="9" name="Picture 8">
            <a:extLst>
              <a:ext uri="{FF2B5EF4-FFF2-40B4-BE49-F238E27FC236}">
                <a16:creationId xmlns:a16="http://schemas.microsoft.com/office/drawing/2014/main" id="{55C2E6C8-FE90-9053-584F-5F8D55E5C222}"/>
              </a:ext>
            </a:extLst>
          </p:cNvPr>
          <p:cNvPicPr>
            <a:picLocks noChangeAspect="1"/>
          </p:cNvPicPr>
          <p:nvPr/>
        </p:nvPicPr>
        <p:blipFill>
          <a:blip r:embed="rId4"/>
          <a:stretch>
            <a:fillRect/>
          </a:stretch>
        </p:blipFill>
        <p:spPr>
          <a:xfrm>
            <a:off x="406023" y="2327918"/>
            <a:ext cx="5849166" cy="1105054"/>
          </a:xfrm>
          <a:prstGeom prst="rect">
            <a:avLst/>
          </a:prstGeom>
        </p:spPr>
      </p:pic>
      <p:pic>
        <p:nvPicPr>
          <p:cNvPr id="11" name="Picture 10">
            <a:extLst>
              <a:ext uri="{FF2B5EF4-FFF2-40B4-BE49-F238E27FC236}">
                <a16:creationId xmlns:a16="http://schemas.microsoft.com/office/drawing/2014/main" id="{A0F8CC33-8099-8AFD-277F-0FEE5AB7DF38}"/>
              </a:ext>
            </a:extLst>
          </p:cNvPr>
          <p:cNvPicPr>
            <a:picLocks noChangeAspect="1"/>
          </p:cNvPicPr>
          <p:nvPr/>
        </p:nvPicPr>
        <p:blipFill>
          <a:blip r:embed="rId5"/>
          <a:stretch>
            <a:fillRect/>
          </a:stretch>
        </p:blipFill>
        <p:spPr>
          <a:xfrm>
            <a:off x="406023" y="4006929"/>
            <a:ext cx="5734850" cy="895475"/>
          </a:xfrm>
          <a:prstGeom prst="rect">
            <a:avLst/>
          </a:prstGeom>
        </p:spPr>
      </p:pic>
      <p:sp>
        <p:nvSpPr>
          <p:cNvPr id="13" name="TextBox 12">
            <a:extLst>
              <a:ext uri="{FF2B5EF4-FFF2-40B4-BE49-F238E27FC236}">
                <a16:creationId xmlns:a16="http://schemas.microsoft.com/office/drawing/2014/main" id="{8E874B03-FE35-0F11-C3AD-24EAFAC8199F}"/>
              </a:ext>
            </a:extLst>
          </p:cNvPr>
          <p:cNvSpPr txBox="1"/>
          <p:nvPr/>
        </p:nvSpPr>
        <p:spPr>
          <a:xfrm>
            <a:off x="326217" y="3652429"/>
            <a:ext cx="6097464" cy="369332"/>
          </a:xfrm>
          <a:prstGeom prst="rect">
            <a:avLst/>
          </a:prstGeom>
          <a:noFill/>
        </p:spPr>
        <p:txBody>
          <a:bodyPr wrap="square">
            <a:spAutoFit/>
          </a:bodyPr>
          <a:lstStyle/>
          <a:p>
            <a:r>
              <a:rPr lang="en-US" b="1" dirty="0">
                <a:solidFill>
                  <a:srgbClr val="92D050"/>
                </a:solidFill>
              </a:rPr>
              <a:t>To estimate the heterogeneous response to the boycott</a:t>
            </a:r>
          </a:p>
        </p:txBody>
      </p:sp>
      <p:sp>
        <p:nvSpPr>
          <p:cNvPr id="15" name="TextBox 14">
            <a:extLst>
              <a:ext uri="{FF2B5EF4-FFF2-40B4-BE49-F238E27FC236}">
                <a16:creationId xmlns:a16="http://schemas.microsoft.com/office/drawing/2014/main" id="{377C9989-E4CC-2F74-21F1-8E18508FF8D7}"/>
              </a:ext>
            </a:extLst>
          </p:cNvPr>
          <p:cNvSpPr txBox="1"/>
          <p:nvPr/>
        </p:nvSpPr>
        <p:spPr>
          <a:xfrm>
            <a:off x="294880" y="1409039"/>
            <a:ext cx="8809372" cy="369332"/>
          </a:xfrm>
          <a:prstGeom prst="rect">
            <a:avLst/>
          </a:prstGeom>
          <a:noFill/>
        </p:spPr>
        <p:txBody>
          <a:bodyPr wrap="square">
            <a:spAutoFit/>
          </a:bodyPr>
          <a:lstStyle/>
          <a:p>
            <a:r>
              <a:rPr lang="en-US" b="1" dirty="0">
                <a:solidFill>
                  <a:srgbClr val="92D050"/>
                </a:solidFill>
              </a:rPr>
              <a:t>Compares firms exposed to Muslim markets to other exporters pre- and post-boycott:</a:t>
            </a:r>
          </a:p>
        </p:txBody>
      </p:sp>
      <p:pic>
        <p:nvPicPr>
          <p:cNvPr id="17" name="Picture 16">
            <a:extLst>
              <a:ext uri="{FF2B5EF4-FFF2-40B4-BE49-F238E27FC236}">
                <a16:creationId xmlns:a16="http://schemas.microsoft.com/office/drawing/2014/main" id="{1A506CF5-BAC7-5095-1746-E1E983CE9664}"/>
              </a:ext>
            </a:extLst>
          </p:cNvPr>
          <p:cNvPicPr>
            <a:picLocks noChangeAspect="1"/>
          </p:cNvPicPr>
          <p:nvPr/>
        </p:nvPicPr>
        <p:blipFill>
          <a:blip r:embed="rId6"/>
          <a:stretch>
            <a:fillRect/>
          </a:stretch>
        </p:blipFill>
        <p:spPr>
          <a:xfrm>
            <a:off x="386970" y="4964261"/>
            <a:ext cx="5753903" cy="362001"/>
          </a:xfrm>
          <a:prstGeom prst="rect">
            <a:avLst/>
          </a:prstGeom>
        </p:spPr>
      </p:pic>
      <p:sp>
        <p:nvSpPr>
          <p:cNvPr id="19" name="TextBox 18">
            <a:extLst>
              <a:ext uri="{FF2B5EF4-FFF2-40B4-BE49-F238E27FC236}">
                <a16:creationId xmlns:a16="http://schemas.microsoft.com/office/drawing/2014/main" id="{9BAC1991-11B5-0DA7-4B18-7A446F7E987C}"/>
              </a:ext>
            </a:extLst>
          </p:cNvPr>
          <p:cNvSpPr txBox="1"/>
          <p:nvPr/>
        </p:nvSpPr>
        <p:spPr>
          <a:xfrm>
            <a:off x="6880594" y="2009853"/>
            <a:ext cx="4693339" cy="2308324"/>
          </a:xfrm>
          <a:prstGeom prst="rect">
            <a:avLst/>
          </a:prstGeom>
          <a:noFill/>
        </p:spPr>
        <p:txBody>
          <a:bodyPr wrap="square">
            <a:spAutoFit/>
          </a:bodyPr>
          <a:lstStyle/>
          <a:p>
            <a:r>
              <a:rPr lang="en-US" b="1" dirty="0" err="1">
                <a:solidFill>
                  <a:srgbClr val="92D050"/>
                </a:solidFill>
              </a:rPr>
              <a:t>dst</a:t>
            </a:r>
            <a:r>
              <a:rPr lang="en-US" b="1" dirty="0">
                <a:solidFill>
                  <a:srgbClr val="92D050"/>
                </a:solidFill>
              </a:rPr>
              <a:t>: </a:t>
            </a:r>
            <a:r>
              <a:rPr lang="en-US" dirty="0"/>
              <a:t>industry-year fixed effects </a:t>
            </a:r>
          </a:p>
          <a:p>
            <a:r>
              <a:rPr lang="el-GR" b="1" dirty="0">
                <a:solidFill>
                  <a:srgbClr val="92D050"/>
                </a:solidFill>
              </a:rPr>
              <a:t>μ</a:t>
            </a:r>
            <a:r>
              <a:rPr lang="en-US" b="1" baseline="-25000" dirty="0">
                <a:solidFill>
                  <a:srgbClr val="92D050"/>
                </a:solidFill>
              </a:rPr>
              <a:t>i</a:t>
            </a:r>
            <a:r>
              <a:rPr lang="en-US" b="1" dirty="0">
                <a:solidFill>
                  <a:srgbClr val="92D050"/>
                </a:solidFill>
              </a:rPr>
              <a:t>:</a:t>
            </a:r>
            <a:r>
              <a:rPr lang="en-US" dirty="0"/>
              <a:t> firm-fixed effects</a:t>
            </a:r>
            <a:endParaRPr lang="en-US" b="1" dirty="0">
              <a:solidFill>
                <a:srgbClr val="92D050"/>
              </a:solidFill>
            </a:endParaRPr>
          </a:p>
          <a:p>
            <a:r>
              <a:rPr lang="en-US" dirty="0">
                <a:solidFill>
                  <a:srgbClr val="92D050"/>
                </a:solidFill>
              </a:rPr>
              <a:t>Estimate</a:t>
            </a:r>
            <a:r>
              <a:rPr lang="en-US" dirty="0"/>
              <a:t> an event-study regression extending Eq. (1) and subsequently plot the annual coefficient estimates capturing differences between groups, </a:t>
            </a:r>
            <a:r>
              <a:rPr lang="en-US" dirty="0" err="1"/>
              <a:t>λt</a:t>
            </a:r>
            <a:r>
              <a:rPr lang="en-US" dirty="0"/>
              <a:t>, where we normalize the coefficient in the year before the boycott to zero, λ2005 = 0. </a:t>
            </a:r>
          </a:p>
        </p:txBody>
      </p:sp>
      <p:sp>
        <p:nvSpPr>
          <p:cNvPr id="22" name="TextBox 21">
            <a:extLst>
              <a:ext uri="{FF2B5EF4-FFF2-40B4-BE49-F238E27FC236}">
                <a16:creationId xmlns:a16="http://schemas.microsoft.com/office/drawing/2014/main" id="{ECBB3875-619B-E1AE-9629-9C01DABAB10E}"/>
              </a:ext>
            </a:extLst>
          </p:cNvPr>
          <p:cNvSpPr txBox="1"/>
          <p:nvPr/>
        </p:nvSpPr>
        <p:spPr>
          <a:xfrm>
            <a:off x="6179263" y="4463526"/>
            <a:ext cx="6096000" cy="1200329"/>
          </a:xfrm>
          <a:prstGeom prst="rect">
            <a:avLst/>
          </a:prstGeom>
          <a:noFill/>
        </p:spPr>
        <p:txBody>
          <a:bodyPr wrap="square">
            <a:spAutoFit/>
          </a:bodyPr>
          <a:lstStyle/>
          <a:p>
            <a:r>
              <a:rPr lang="en-US" dirty="0" err="1"/>
              <a:t>d</a:t>
            </a:r>
            <a:r>
              <a:rPr lang="en-US" baseline="-25000" dirty="0" err="1"/>
              <a:t>lte</a:t>
            </a:r>
            <a:r>
              <a:rPr lang="en-US" dirty="0"/>
              <a:t> and </a:t>
            </a:r>
            <a:r>
              <a:rPr lang="en-US" dirty="0" err="1"/>
              <a:t>d</a:t>
            </a:r>
            <a:r>
              <a:rPr lang="en-US" baseline="-25000" dirty="0" err="1"/>
              <a:t>hte</a:t>
            </a:r>
            <a:r>
              <a:rPr lang="en-US" dirty="0"/>
              <a:t> are indicators for low- and high leverage firms, respectively, interacted with year and exposure fixed effects (e.g., </a:t>
            </a:r>
            <a:r>
              <a:rPr lang="en-US" dirty="0" err="1"/>
              <a:t>d</a:t>
            </a:r>
            <a:r>
              <a:rPr lang="en-US" baseline="-25000" dirty="0" err="1"/>
              <a:t>lte</a:t>
            </a:r>
            <a:r>
              <a:rPr lang="en-US" dirty="0"/>
              <a:t> = </a:t>
            </a:r>
            <a:r>
              <a:rPr lang="en-US" dirty="0" err="1"/>
              <a:t>Exposed</a:t>
            </a:r>
            <a:r>
              <a:rPr lang="en-US" baseline="-25000" dirty="0" err="1"/>
              <a:t>i</a:t>
            </a:r>
            <a:r>
              <a:rPr lang="en-US" dirty="0"/>
              <a:t> · d</a:t>
            </a:r>
            <a:r>
              <a:rPr lang="en-US" baseline="-25000" dirty="0"/>
              <a:t>l</a:t>
            </a:r>
            <a:r>
              <a:rPr lang="en-US" dirty="0"/>
              <a:t> · d</a:t>
            </a:r>
            <a:r>
              <a:rPr lang="en-US" baseline="-25000" dirty="0"/>
              <a:t>t</a:t>
            </a:r>
            <a:r>
              <a:rPr lang="en-US" dirty="0"/>
              <a:t>) and we normalize δ</a:t>
            </a:r>
            <a:r>
              <a:rPr lang="en-US" baseline="-25000" dirty="0"/>
              <a:t>l2005</a:t>
            </a:r>
            <a:r>
              <a:rPr lang="en-US" dirty="0"/>
              <a:t> = 0 and δ</a:t>
            </a:r>
            <a:r>
              <a:rPr lang="en-US" baseline="-25000" dirty="0"/>
              <a:t>h2005</a:t>
            </a:r>
            <a:r>
              <a:rPr lang="en-US" dirty="0"/>
              <a:t> = 0</a:t>
            </a:r>
          </a:p>
        </p:txBody>
      </p:sp>
    </p:spTree>
    <p:extLst>
      <p:ext uri="{BB962C8B-B14F-4D97-AF65-F5344CB8AC3E}">
        <p14:creationId xmlns:p14="http://schemas.microsoft.com/office/powerpoint/2010/main" val="3935108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659657"/>
          </a:xfrm>
        </p:spPr>
        <p:txBody>
          <a:bodyPr>
            <a:normAutofit/>
          </a:bodyPr>
          <a:lstStyle/>
          <a:p>
            <a:r>
              <a:rPr lang="en-US" sz="2800" b="1" dirty="0">
                <a:solidFill>
                  <a:srgbClr val="C00000"/>
                </a:solidFill>
              </a:rPr>
              <a:t>Heterogeneity by capital structure – identifying variation</a:t>
            </a:r>
            <a:endParaRPr lang="en-US" sz="2800" b="1"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7" name="Picture 6">
            <a:extLst>
              <a:ext uri="{FF2B5EF4-FFF2-40B4-BE49-F238E27FC236}">
                <a16:creationId xmlns:a16="http://schemas.microsoft.com/office/drawing/2014/main" id="{8E0441F7-1661-EC09-FCD5-87E8857A757C}"/>
              </a:ext>
            </a:extLst>
          </p:cNvPr>
          <p:cNvPicPr>
            <a:picLocks noChangeAspect="1"/>
          </p:cNvPicPr>
          <p:nvPr/>
        </p:nvPicPr>
        <p:blipFill>
          <a:blip r:embed="rId3"/>
          <a:stretch>
            <a:fillRect/>
          </a:stretch>
        </p:blipFill>
        <p:spPr>
          <a:xfrm>
            <a:off x="254000" y="1024506"/>
            <a:ext cx="8552173" cy="3775405"/>
          </a:xfrm>
          <a:prstGeom prst="rect">
            <a:avLst/>
          </a:prstGeom>
        </p:spPr>
      </p:pic>
      <p:sp>
        <p:nvSpPr>
          <p:cNvPr id="9" name="TextBox 8">
            <a:extLst>
              <a:ext uri="{FF2B5EF4-FFF2-40B4-BE49-F238E27FC236}">
                <a16:creationId xmlns:a16="http://schemas.microsoft.com/office/drawing/2014/main" id="{48D55A6C-C9DD-10A9-16A7-522707F5723E}"/>
              </a:ext>
            </a:extLst>
          </p:cNvPr>
          <p:cNvSpPr txBox="1"/>
          <p:nvPr/>
        </p:nvSpPr>
        <p:spPr>
          <a:xfrm flipH="1">
            <a:off x="9143997" y="1286934"/>
            <a:ext cx="2904070" cy="2031325"/>
          </a:xfrm>
          <a:prstGeom prst="rect">
            <a:avLst/>
          </a:prstGeom>
          <a:noFill/>
        </p:spPr>
        <p:txBody>
          <a:bodyPr wrap="square">
            <a:spAutoFit/>
          </a:bodyPr>
          <a:lstStyle/>
          <a:p>
            <a:pPr marL="285750" indent="-285750">
              <a:buFont typeface="Arial" panose="020B0604020202020204" pitchFamily="34" charset="0"/>
              <a:buChar char="•"/>
            </a:pPr>
            <a:r>
              <a:rPr lang="en-US" dirty="0"/>
              <a:t>similar distributions of leverage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no statistical difference in the degree of exposure between the two groups</a:t>
            </a:r>
          </a:p>
        </p:txBody>
      </p:sp>
    </p:spTree>
    <p:extLst>
      <p:ext uri="{BB962C8B-B14F-4D97-AF65-F5344CB8AC3E}">
        <p14:creationId xmlns:p14="http://schemas.microsoft.com/office/powerpoint/2010/main" val="399960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91733" y="23527"/>
            <a:ext cx="9144000" cy="659657"/>
          </a:xfrm>
        </p:spPr>
        <p:txBody>
          <a:bodyPr>
            <a:normAutofit/>
          </a:bodyPr>
          <a:lstStyle/>
          <a:p>
            <a:r>
              <a:rPr lang="en-US" sz="1100" dirty="0">
                <a:solidFill>
                  <a:srgbClr val="C00000"/>
                </a:solidFill>
              </a:rPr>
              <a:t> </a:t>
            </a:r>
            <a:r>
              <a:rPr lang="en-US" sz="3600" b="1" dirty="0">
                <a:solidFill>
                  <a:srgbClr val="C00000"/>
                </a:solidFill>
                <a:latin typeface="Arial" panose="020B0604020202020204" pitchFamily="34" charset="0"/>
                <a:cs typeface="Arial" panose="020B0604020202020204" pitchFamily="34" charset="0"/>
              </a:rPr>
              <a:t>Average response to the boycott</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E9D8DE99-E7D6-1268-5AC4-01BF70A33C19}"/>
              </a:ext>
            </a:extLst>
          </p:cNvPr>
          <p:cNvPicPr>
            <a:picLocks noChangeAspect="1"/>
          </p:cNvPicPr>
          <p:nvPr/>
        </p:nvPicPr>
        <p:blipFill>
          <a:blip r:embed="rId3"/>
          <a:stretch>
            <a:fillRect/>
          </a:stretch>
        </p:blipFill>
        <p:spPr>
          <a:xfrm>
            <a:off x="232528" y="876824"/>
            <a:ext cx="5931205" cy="4311872"/>
          </a:xfrm>
          <a:prstGeom prst="rect">
            <a:avLst/>
          </a:prstGeom>
        </p:spPr>
      </p:pic>
      <p:sp>
        <p:nvSpPr>
          <p:cNvPr id="8" name="TextBox 7">
            <a:extLst>
              <a:ext uri="{FF2B5EF4-FFF2-40B4-BE49-F238E27FC236}">
                <a16:creationId xmlns:a16="http://schemas.microsoft.com/office/drawing/2014/main" id="{FD8CF160-027F-9280-1DB0-E45F14A88EC4}"/>
              </a:ext>
            </a:extLst>
          </p:cNvPr>
          <p:cNvSpPr txBox="1"/>
          <p:nvPr/>
        </p:nvSpPr>
        <p:spPr>
          <a:xfrm>
            <a:off x="6163733" y="1022973"/>
            <a:ext cx="6096000" cy="2031325"/>
          </a:xfrm>
          <a:prstGeom prst="rect">
            <a:avLst/>
          </a:prstGeom>
          <a:noFill/>
        </p:spPr>
        <p:txBody>
          <a:bodyPr wrap="square">
            <a:spAutoFit/>
          </a:bodyPr>
          <a:lstStyle/>
          <a:p>
            <a:r>
              <a:rPr lang="en-US" dirty="0"/>
              <a:t>After the boycott, there is a significant decline in the exports to Muslim markets, accompanied by an increase in exports to non-Muslim markets</a:t>
            </a:r>
          </a:p>
          <a:p>
            <a:endParaRPr lang="en-US" dirty="0"/>
          </a:p>
          <a:p>
            <a:r>
              <a:rPr lang="en-US" dirty="0"/>
              <a:t>a large and statistically significant decline in total exports, and a smaller decline in total sales that is only significant at 10% level</a:t>
            </a:r>
          </a:p>
        </p:txBody>
      </p:sp>
    </p:spTree>
    <p:extLst>
      <p:ext uri="{BB962C8B-B14F-4D97-AF65-F5344CB8AC3E}">
        <p14:creationId xmlns:p14="http://schemas.microsoft.com/office/powerpoint/2010/main" val="4242151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91733" y="23527"/>
            <a:ext cx="9144000" cy="659657"/>
          </a:xfrm>
        </p:spPr>
        <p:txBody>
          <a:bodyPr>
            <a:normAutofit/>
          </a:bodyPr>
          <a:lstStyle/>
          <a:p>
            <a:r>
              <a:rPr lang="en-US" sz="1100" dirty="0"/>
              <a:t> </a:t>
            </a:r>
            <a:r>
              <a:rPr lang="en-US" sz="3600" b="1" dirty="0">
                <a:solidFill>
                  <a:srgbClr val="C00000"/>
                </a:solidFill>
                <a:latin typeface="Arial" panose="020B0604020202020204" pitchFamily="34" charset="0"/>
                <a:cs typeface="Arial" panose="020B0604020202020204" pitchFamily="34" charset="0"/>
              </a:rPr>
              <a:t>Average response to the boycott</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150C5B07-6DB9-B0E2-C702-ED7958322F15}"/>
              </a:ext>
            </a:extLst>
          </p:cNvPr>
          <p:cNvPicPr>
            <a:picLocks noChangeAspect="1"/>
          </p:cNvPicPr>
          <p:nvPr/>
        </p:nvPicPr>
        <p:blipFill>
          <a:blip r:embed="rId3"/>
          <a:stretch>
            <a:fillRect/>
          </a:stretch>
        </p:blipFill>
        <p:spPr>
          <a:xfrm>
            <a:off x="217794" y="1238214"/>
            <a:ext cx="10774279" cy="2695951"/>
          </a:xfrm>
          <a:prstGeom prst="rect">
            <a:avLst/>
          </a:prstGeom>
        </p:spPr>
      </p:pic>
      <p:pic>
        <p:nvPicPr>
          <p:cNvPr id="7" name="Picture 6">
            <a:extLst>
              <a:ext uri="{FF2B5EF4-FFF2-40B4-BE49-F238E27FC236}">
                <a16:creationId xmlns:a16="http://schemas.microsoft.com/office/drawing/2014/main" id="{4ACEF633-EE1E-22EB-6B5E-152F68CE0988}"/>
              </a:ext>
            </a:extLst>
          </p:cNvPr>
          <p:cNvPicPr>
            <a:picLocks noChangeAspect="1"/>
          </p:cNvPicPr>
          <p:nvPr/>
        </p:nvPicPr>
        <p:blipFill>
          <a:blip r:embed="rId4"/>
          <a:stretch>
            <a:fillRect/>
          </a:stretch>
        </p:blipFill>
        <p:spPr>
          <a:xfrm>
            <a:off x="217794" y="847634"/>
            <a:ext cx="1609950" cy="390580"/>
          </a:xfrm>
          <a:prstGeom prst="rect">
            <a:avLst/>
          </a:prstGeom>
        </p:spPr>
      </p:pic>
      <p:sp>
        <p:nvSpPr>
          <p:cNvPr id="9" name="TextBox 8">
            <a:extLst>
              <a:ext uri="{FF2B5EF4-FFF2-40B4-BE49-F238E27FC236}">
                <a16:creationId xmlns:a16="http://schemas.microsoft.com/office/drawing/2014/main" id="{9561FD9C-22EE-AAF5-1FFA-3DBFDB826641}"/>
              </a:ext>
            </a:extLst>
          </p:cNvPr>
          <p:cNvSpPr txBox="1"/>
          <p:nvPr/>
        </p:nvSpPr>
        <p:spPr>
          <a:xfrm>
            <a:off x="372533" y="3926167"/>
            <a:ext cx="11446934" cy="1815882"/>
          </a:xfrm>
          <a:prstGeom prst="rect">
            <a:avLst/>
          </a:prstGeom>
          <a:noFill/>
        </p:spPr>
        <p:txBody>
          <a:bodyPr wrap="square">
            <a:spAutoFit/>
          </a:bodyPr>
          <a:lstStyle/>
          <a:p>
            <a:pPr marL="285750" indent="-285750">
              <a:buFont typeface="Arial" panose="020B0604020202020204" pitchFamily="34" charset="0"/>
              <a:buChar char="•"/>
            </a:pPr>
            <a:r>
              <a:rPr lang="en-US" sz="1600" b="1" dirty="0"/>
              <a:t>Arc-percent changes </a:t>
            </a:r>
            <a:r>
              <a:rPr lang="en-US" sz="1600" dirty="0"/>
              <a:t>accounts for that 26.2% of exposed firms stopped exporting to Muslim countries all together</a:t>
            </a:r>
          </a:p>
          <a:p>
            <a:pPr marL="285750" indent="-285750">
              <a:buFont typeface="Arial" panose="020B0604020202020204" pitchFamily="34" charset="0"/>
              <a:buChar char="•"/>
            </a:pPr>
            <a:r>
              <a:rPr lang="en-US" sz="1600" dirty="0"/>
              <a:t>Columns 1 and 2: a dramatic decline of export activity to Muslim markets</a:t>
            </a:r>
          </a:p>
          <a:p>
            <a:pPr marL="285750" indent="-285750">
              <a:buFont typeface="Arial" panose="020B0604020202020204" pitchFamily="34" charset="0"/>
              <a:buChar char="•"/>
            </a:pPr>
            <a:r>
              <a:rPr lang="en-US" sz="1600" dirty="0"/>
              <a:t>Column 3: the estimates for log-changes of exports to non-Muslim markets</a:t>
            </a:r>
          </a:p>
          <a:p>
            <a:pPr marL="285750" indent="-285750">
              <a:buFont typeface="Arial" panose="020B0604020202020204" pitchFamily="34" charset="0"/>
              <a:buChar char="•"/>
            </a:pPr>
            <a:r>
              <a:rPr lang="en-US" sz="1600" dirty="0"/>
              <a:t>Column 4: significant decline to total export market</a:t>
            </a:r>
          </a:p>
          <a:p>
            <a:pPr marL="285750" indent="-285750">
              <a:buFont typeface="Arial" panose="020B0604020202020204" pitchFamily="34" charset="0"/>
              <a:buChar char="•"/>
            </a:pPr>
            <a:r>
              <a:rPr lang="en-US" sz="1600" dirty="0"/>
              <a:t>Column 5: a significant decline in the number of product-country pairs served</a:t>
            </a:r>
          </a:p>
          <a:p>
            <a:pPr marL="285750" indent="-285750">
              <a:buFont typeface="Arial" panose="020B0604020202020204" pitchFamily="34" charset="0"/>
              <a:buChar char="•"/>
            </a:pPr>
            <a:r>
              <a:rPr lang="en-US" sz="1600" dirty="0"/>
              <a:t>Column 6: Unit prices at the HS-6 product level did not change differentially</a:t>
            </a:r>
          </a:p>
          <a:p>
            <a:pPr marL="285750" indent="-285750">
              <a:buFont typeface="Arial" panose="020B0604020202020204" pitchFamily="34" charset="0"/>
              <a:buChar char="•"/>
            </a:pPr>
            <a:r>
              <a:rPr lang="en-US" sz="1600" dirty="0"/>
              <a:t>columns 7 and 8 suggest that the boycott led to a decline in sales and employment</a:t>
            </a:r>
          </a:p>
        </p:txBody>
      </p:sp>
    </p:spTree>
    <p:extLst>
      <p:ext uri="{BB962C8B-B14F-4D97-AF65-F5344CB8AC3E}">
        <p14:creationId xmlns:p14="http://schemas.microsoft.com/office/powerpoint/2010/main" val="1070049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
            <a:ext cx="9144000" cy="659386"/>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Heterogeneity analysis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F61386F9-C71E-50FA-89D9-66543FDE6DA7}"/>
              </a:ext>
            </a:extLst>
          </p:cNvPr>
          <p:cNvPicPr>
            <a:picLocks noChangeAspect="1"/>
          </p:cNvPicPr>
          <p:nvPr/>
        </p:nvPicPr>
        <p:blipFill>
          <a:blip r:embed="rId3"/>
          <a:stretch>
            <a:fillRect/>
          </a:stretch>
        </p:blipFill>
        <p:spPr>
          <a:xfrm>
            <a:off x="193954" y="1041368"/>
            <a:ext cx="3591426" cy="457264"/>
          </a:xfrm>
          <a:prstGeom prst="rect">
            <a:avLst/>
          </a:prstGeom>
        </p:spPr>
      </p:pic>
      <p:pic>
        <p:nvPicPr>
          <p:cNvPr id="7" name="Picture 6">
            <a:extLst>
              <a:ext uri="{FF2B5EF4-FFF2-40B4-BE49-F238E27FC236}">
                <a16:creationId xmlns:a16="http://schemas.microsoft.com/office/drawing/2014/main" id="{BDF3CC01-CF44-EED8-7FAE-A8142073B4FE}"/>
              </a:ext>
            </a:extLst>
          </p:cNvPr>
          <p:cNvPicPr>
            <a:picLocks noChangeAspect="1"/>
          </p:cNvPicPr>
          <p:nvPr/>
        </p:nvPicPr>
        <p:blipFill>
          <a:blip r:embed="rId4"/>
          <a:stretch>
            <a:fillRect/>
          </a:stretch>
        </p:blipFill>
        <p:spPr>
          <a:xfrm>
            <a:off x="193954" y="1498632"/>
            <a:ext cx="6565467" cy="5410561"/>
          </a:xfrm>
          <a:prstGeom prst="rect">
            <a:avLst/>
          </a:prstGeom>
        </p:spPr>
      </p:pic>
      <p:sp>
        <p:nvSpPr>
          <p:cNvPr id="4" name="TextBox 3">
            <a:extLst>
              <a:ext uri="{FF2B5EF4-FFF2-40B4-BE49-F238E27FC236}">
                <a16:creationId xmlns:a16="http://schemas.microsoft.com/office/drawing/2014/main" id="{9C8D8FC0-7A40-E4B9-46AA-82726ADF751D}"/>
              </a:ext>
            </a:extLst>
          </p:cNvPr>
          <p:cNvSpPr txBox="1"/>
          <p:nvPr/>
        </p:nvSpPr>
        <p:spPr>
          <a:xfrm>
            <a:off x="6759421" y="762000"/>
            <a:ext cx="5238625" cy="4247317"/>
          </a:xfrm>
          <a:prstGeom prst="rect">
            <a:avLst/>
          </a:prstGeom>
          <a:noFill/>
        </p:spPr>
        <p:txBody>
          <a:bodyPr wrap="square">
            <a:spAutoFit/>
          </a:bodyPr>
          <a:lstStyle/>
          <a:p>
            <a:r>
              <a:rPr lang="en-US" dirty="0">
                <a:solidFill>
                  <a:srgbClr val="FF0000"/>
                </a:solidFill>
              </a:rPr>
              <a:t>Panel A &amp; B: </a:t>
            </a:r>
            <a:r>
              <a:rPr lang="en-US" dirty="0"/>
              <a:t>large firms and firms with higher paid managers do slightly better in terms of total sales and employment, but nonsignificant</a:t>
            </a:r>
          </a:p>
          <a:p>
            <a:endParaRPr lang="en-US" dirty="0"/>
          </a:p>
          <a:p>
            <a:r>
              <a:rPr lang="en-US" dirty="0">
                <a:solidFill>
                  <a:srgbClr val="FF0000"/>
                </a:solidFill>
              </a:rPr>
              <a:t>Panel C:  </a:t>
            </a:r>
            <a:r>
              <a:rPr lang="en-US" dirty="0"/>
              <a:t>firms with larger product-market portfolio do better in terms of total exports (column 3), firms that are already serving many markets before the boycott further increase the number of product-country pairs in their export portfolio, despite losing some sales in Muslim markets</a:t>
            </a:r>
          </a:p>
          <a:p>
            <a:endParaRPr lang="en-US" dirty="0"/>
          </a:p>
          <a:p>
            <a:r>
              <a:rPr lang="en-US" dirty="0">
                <a:solidFill>
                  <a:srgbClr val="FF0000"/>
                </a:solidFill>
              </a:rPr>
              <a:t>Panel D: </a:t>
            </a:r>
            <a:r>
              <a:rPr lang="en-US" dirty="0"/>
              <a:t>low leverage firms are more successful at increasing exports to other markets (column 2), and hence total exports decline more for high-leverage firms (column 3)</a:t>
            </a:r>
          </a:p>
        </p:txBody>
      </p:sp>
    </p:spTree>
    <p:extLst>
      <p:ext uri="{BB962C8B-B14F-4D97-AF65-F5344CB8AC3E}">
        <p14:creationId xmlns:p14="http://schemas.microsoft.com/office/powerpoint/2010/main" val="1344486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659657"/>
          </a:xfrm>
        </p:spPr>
        <p:txBody>
          <a:bodyPr>
            <a:normAutofit/>
          </a:bodyPr>
          <a:lstStyle/>
          <a:p>
            <a:r>
              <a:rPr lang="en-US" sz="2800" b="1" dirty="0">
                <a:solidFill>
                  <a:srgbClr val="C00000"/>
                </a:solidFill>
              </a:rPr>
              <a:t>Market entry</a:t>
            </a:r>
            <a:endParaRPr lang="en-US" sz="2800" b="1"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32D8F072-6D87-FF1E-BBC9-3F5D45F97390}"/>
              </a:ext>
            </a:extLst>
          </p:cNvPr>
          <p:cNvPicPr>
            <a:picLocks noChangeAspect="1"/>
          </p:cNvPicPr>
          <p:nvPr/>
        </p:nvPicPr>
        <p:blipFill>
          <a:blip r:embed="rId3"/>
          <a:stretch>
            <a:fillRect/>
          </a:stretch>
        </p:blipFill>
        <p:spPr>
          <a:xfrm>
            <a:off x="254000" y="1101306"/>
            <a:ext cx="9188922" cy="4121362"/>
          </a:xfrm>
          <a:prstGeom prst="rect">
            <a:avLst/>
          </a:prstGeom>
        </p:spPr>
      </p:pic>
      <p:sp>
        <p:nvSpPr>
          <p:cNvPr id="7" name="TextBox 6">
            <a:extLst>
              <a:ext uri="{FF2B5EF4-FFF2-40B4-BE49-F238E27FC236}">
                <a16:creationId xmlns:a16="http://schemas.microsoft.com/office/drawing/2014/main" id="{03EFDA00-55E3-98B1-5E19-0716CBB764CA}"/>
              </a:ext>
            </a:extLst>
          </p:cNvPr>
          <p:cNvSpPr txBox="1"/>
          <p:nvPr/>
        </p:nvSpPr>
        <p:spPr>
          <a:xfrm>
            <a:off x="9570720" y="1540985"/>
            <a:ext cx="2438400" cy="3416320"/>
          </a:xfrm>
          <a:prstGeom prst="rect">
            <a:avLst/>
          </a:prstGeom>
          <a:noFill/>
        </p:spPr>
        <p:txBody>
          <a:bodyPr wrap="square">
            <a:spAutoFit/>
          </a:bodyPr>
          <a:lstStyle/>
          <a:p>
            <a:r>
              <a:rPr lang="en-US" dirty="0"/>
              <a:t>low-leverage firms respond to the boycott by increasing the number of non-Muslim product country pairs in which they are present. </a:t>
            </a:r>
          </a:p>
          <a:p>
            <a:endParaRPr lang="en-US" dirty="0"/>
          </a:p>
          <a:p>
            <a:r>
              <a:rPr lang="en-US" dirty="0"/>
              <a:t>The response for high-leverage firms (dashed line) is close to zero and insignificant.</a:t>
            </a:r>
          </a:p>
        </p:txBody>
      </p:sp>
    </p:spTree>
    <p:extLst>
      <p:ext uri="{BB962C8B-B14F-4D97-AF65-F5344CB8AC3E}">
        <p14:creationId xmlns:p14="http://schemas.microsoft.com/office/powerpoint/2010/main" val="1904123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
            <a:ext cx="9144000" cy="548639"/>
          </a:xfrm>
        </p:spPr>
        <p:txBody>
          <a:bodyPr>
            <a:normAutofit/>
          </a:bodyPr>
          <a:lstStyle/>
          <a:p>
            <a:r>
              <a:rPr lang="en-US" sz="2800" b="1" dirty="0">
                <a:solidFill>
                  <a:srgbClr val="FF0000"/>
                </a:solidFill>
              </a:rPr>
              <a:t>Market entry</a:t>
            </a:r>
            <a:endParaRPr lang="en-US" sz="28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6" name="Picture 5">
            <a:extLst>
              <a:ext uri="{FF2B5EF4-FFF2-40B4-BE49-F238E27FC236}">
                <a16:creationId xmlns:a16="http://schemas.microsoft.com/office/drawing/2014/main" id="{14A22629-F54F-B778-6670-8148598B4034}"/>
              </a:ext>
            </a:extLst>
          </p:cNvPr>
          <p:cNvPicPr>
            <a:picLocks noChangeAspect="1"/>
          </p:cNvPicPr>
          <p:nvPr/>
        </p:nvPicPr>
        <p:blipFill>
          <a:blip r:embed="rId3"/>
          <a:stretch>
            <a:fillRect/>
          </a:stretch>
        </p:blipFill>
        <p:spPr>
          <a:xfrm>
            <a:off x="0" y="548640"/>
            <a:ext cx="8554644" cy="5477639"/>
          </a:xfrm>
          <a:prstGeom prst="rect">
            <a:avLst/>
          </a:prstGeom>
        </p:spPr>
      </p:pic>
      <p:sp>
        <p:nvSpPr>
          <p:cNvPr id="3" name="TextBox 2">
            <a:extLst>
              <a:ext uri="{FF2B5EF4-FFF2-40B4-BE49-F238E27FC236}">
                <a16:creationId xmlns:a16="http://schemas.microsoft.com/office/drawing/2014/main" id="{1B02C37C-1304-18E2-2633-50CFEE135898}"/>
              </a:ext>
            </a:extLst>
          </p:cNvPr>
          <p:cNvSpPr txBox="1"/>
          <p:nvPr/>
        </p:nvSpPr>
        <p:spPr>
          <a:xfrm flipH="1">
            <a:off x="8636000" y="548640"/>
            <a:ext cx="3556000" cy="3785652"/>
          </a:xfrm>
          <a:prstGeom prst="rect">
            <a:avLst/>
          </a:prstGeom>
          <a:noFill/>
        </p:spPr>
        <p:txBody>
          <a:bodyPr wrap="square">
            <a:spAutoFit/>
          </a:bodyPr>
          <a:lstStyle/>
          <a:p>
            <a:r>
              <a:rPr lang="en-US" sz="2000" dirty="0"/>
              <a:t>low-leverage firms increase their entry into new non-Muslim markets, which allows them to keep the total number of product-country pairs unchanged : due to the boycott, the total number of countries they serve decreases, but they stabilize the number of markets they serve in part with an increase in the number of exported products</a:t>
            </a:r>
          </a:p>
        </p:txBody>
      </p:sp>
    </p:spTree>
    <p:extLst>
      <p:ext uri="{BB962C8B-B14F-4D97-AF65-F5344CB8AC3E}">
        <p14:creationId xmlns:p14="http://schemas.microsoft.com/office/powerpoint/2010/main" val="876119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50"/>
            <a:ext cx="9144000" cy="392944"/>
          </a:xfrm>
        </p:spPr>
        <p:txBody>
          <a:bodyPr>
            <a:normAutofit fontScale="90000"/>
          </a:bodyPr>
          <a:lstStyle/>
          <a:p>
            <a:r>
              <a:rPr lang="en-US" sz="2800" b="1" dirty="0">
                <a:solidFill>
                  <a:srgbClr val="FF0000"/>
                </a:solidFill>
              </a:rPr>
              <a:t>Country dimension of the market entry response</a:t>
            </a:r>
            <a:endParaRPr lang="en-US" sz="28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13" name="TextBox 12">
            <a:extLst>
              <a:ext uri="{FF2B5EF4-FFF2-40B4-BE49-F238E27FC236}">
                <a16:creationId xmlns:a16="http://schemas.microsoft.com/office/drawing/2014/main" id="{C1BF1C00-63FB-7E91-FC45-3D99C3B45892}"/>
              </a:ext>
            </a:extLst>
          </p:cNvPr>
          <p:cNvSpPr txBox="1"/>
          <p:nvPr/>
        </p:nvSpPr>
        <p:spPr>
          <a:xfrm>
            <a:off x="5415280" y="776186"/>
            <a:ext cx="6350000" cy="3416320"/>
          </a:xfrm>
          <a:prstGeom prst="rect">
            <a:avLst/>
          </a:prstGeom>
          <a:noFill/>
        </p:spPr>
        <p:txBody>
          <a:bodyPr wrap="square">
            <a:spAutoFit/>
          </a:bodyPr>
          <a:lstStyle/>
          <a:p>
            <a:pPr marL="285750" indent="-285750">
              <a:buFont typeface="Arial" panose="020B0604020202020204" pitchFamily="34" charset="0"/>
              <a:buChar char="•"/>
            </a:pPr>
            <a:r>
              <a:rPr lang="en-US" dirty="0"/>
              <a:t>The top-left panel demonstrates that the market entry response of low-leverage firms is significantly larger for countries with above-average level and past growth in exports of all Danish firms before the boycott.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top-right panel suggests that post-boycott market entry of low-leverage firms is also slightly stronger for markets where a given firm itself sold more in the past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 significant effects in any of the country groups for high-leverage firms, but significant effects for low-leverage firms in a large variety of market types</a:t>
            </a:r>
          </a:p>
        </p:txBody>
      </p:sp>
      <p:pic>
        <p:nvPicPr>
          <p:cNvPr id="3" name="Picture 2">
            <a:extLst>
              <a:ext uri="{FF2B5EF4-FFF2-40B4-BE49-F238E27FC236}">
                <a16:creationId xmlns:a16="http://schemas.microsoft.com/office/drawing/2014/main" id="{BAF65B68-2DAE-739D-CA3D-3D5983A64F92}"/>
              </a:ext>
            </a:extLst>
          </p:cNvPr>
          <p:cNvPicPr>
            <a:picLocks noChangeAspect="1"/>
          </p:cNvPicPr>
          <p:nvPr/>
        </p:nvPicPr>
        <p:blipFill>
          <a:blip r:embed="rId3"/>
          <a:stretch>
            <a:fillRect/>
          </a:stretch>
        </p:blipFill>
        <p:spPr>
          <a:xfrm>
            <a:off x="176417" y="682193"/>
            <a:ext cx="5167743" cy="5549707"/>
          </a:xfrm>
          <a:prstGeom prst="rect">
            <a:avLst/>
          </a:prstGeom>
        </p:spPr>
      </p:pic>
    </p:spTree>
    <p:extLst>
      <p:ext uri="{BB962C8B-B14F-4D97-AF65-F5344CB8AC3E}">
        <p14:creationId xmlns:p14="http://schemas.microsoft.com/office/powerpoint/2010/main" val="4013603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91441"/>
            <a:ext cx="9144000" cy="455493"/>
          </a:xfrm>
        </p:spPr>
        <p:txBody>
          <a:bodyPr>
            <a:normAutofit fontScale="90000"/>
          </a:bodyPr>
          <a:lstStyle/>
          <a:p>
            <a:r>
              <a:rPr lang="en-US" sz="2800" b="1" dirty="0">
                <a:solidFill>
                  <a:srgbClr val="FF0000"/>
                </a:solidFill>
              </a:rPr>
              <a:t>Product dimension of the market entry response</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2" name="Picture 1">
            <a:extLst>
              <a:ext uri="{FF2B5EF4-FFF2-40B4-BE49-F238E27FC236}">
                <a16:creationId xmlns:a16="http://schemas.microsoft.com/office/drawing/2014/main" id="{19F4EA81-85C8-4B2C-F005-45BDD82E631B}"/>
              </a:ext>
            </a:extLst>
          </p:cNvPr>
          <p:cNvPicPr>
            <a:picLocks noChangeAspect="1"/>
          </p:cNvPicPr>
          <p:nvPr/>
        </p:nvPicPr>
        <p:blipFill>
          <a:blip r:embed="rId3"/>
          <a:stretch>
            <a:fillRect/>
          </a:stretch>
        </p:blipFill>
        <p:spPr>
          <a:xfrm>
            <a:off x="0" y="546934"/>
            <a:ext cx="8040222" cy="5982535"/>
          </a:xfrm>
          <a:prstGeom prst="rect">
            <a:avLst/>
          </a:prstGeom>
        </p:spPr>
      </p:pic>
      <p:sp>
        <p:nvSpPr>
          <p:cNvPr id="4" name="TextBox 3">
            <a:extLst>
              <a:ext uri="{FF2B5EF4-FFF2-40B4-BE49-F238E27FC236}">
                <a16:creationId xmlns:a16="http://schemas.microsoft.com/office/drawing/2014/main" id="{053B9DE3-B939-E5CF-A103-B2A863181C6C}"/>
              </a:ext>
            </a:extLst>
          </p:cNvPr>
          <p:cNvSpPr txBox="1"/>
          <p:nvPr/>
        </p:nvSpPr>
        <p:spPr>
          <a:xfrm>
            <a:off x="8040222" y="678656"/>
            <a:ext cx="4009538" cy="3693319"/>
          </a:xfrm>
          <a:prstGeom prst="rect">
            <a:avLst/>
          </a:prstGeom>
          <a:noFill/>
        </p:spPr>
        <p:txBody>
          <a:bodyPr wrap="square">
            <a:spAutoFit/>
          </a:bodyPr>
          <a:lstStyle/>
          <a:p>
            <a:r>
              <a:rPr lang="en-US" dirty="0"/>
              <a:t>The share of firms redirecting trade towards non-Muslim countries </a:t>
            </a:r>
          </a:p>
          <a:p>
            <a:endParaRPr lang="en-US" dirty="0"/>
          </a:p>
          <a:p>
            <a:r>
              <a:rPr lang="en-US" dirty="0"/>
              <a:t>Trade direction response significant for both low and high leverage</a:t>
            </a:r>
          </a:p>
          <a:p>
            <a:endParaRPr lang="en-US" dirty="0"/>
          </a:p>
          <a:p>
            <a:r>
              <a:rPr lang="en-US" dirty="0"/>
              <a:t>Low leverage significant all: share of Entry; previously exported HS-2 product categories; firm’s past export growth </a:t>
            </a:r>
          </a:p>
          <a:p>
            <a:endParaRPr lang="en-US" dirty="0"/>
          </a:p>
          <a:p>
            <a:r>
              <a:rPr lang="en-US" dirty="0"/>
              <a:t>High leverage: only above share of Entry</a:t>
            </a:r>
          </a:p>
        </p:txBody>
      </p:sp>
    </p:spTree>
    <p:extLst>
      <p:ext uri="{BB962C8B-B14F-4D97-AF65-F5344CB8AC3E}">
        <p14:creationId xmlns:p14="http://schemas.microsoft.com/office/powerpoint/2010/main" val="4130257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117600" y="10215"/>
            <a:ext cx="9144000" cy="659657"/>
          </a:xfrm>
        </p:spPr>
        <p:txBody>
          <a:bodyPr>
            <a:normAutofit fontScale="90000"/>
          </a:bodyPr>
          <a:lstStyle/>
          <a:p>
            <a:r>
              <a:rPr lang="en-US" sz="3600" b="1" dirty="0">
                <a:solidFill>
                  <a:srgbClr val="FF0000"/>
                </a:solidFill>
              </a:rPr>
              <a:t>Product dimension of the market entry response</a:t>
            </a:r>
            <a:endParaRPr lang="en-US" sz="36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4FC65314-AAB7-82D6-B5AD-23362E8305AB}"/>
              </a:ext>
            </a:extLst>
          </p:cNvPr>
          <p:cNvPicPr>
            <a:picLocks noChangeAspect="1"/>
          </p:cNvPicPr>
          <p:nvPr/>
        </p:nvPicPr>
        <p:blipFill>
          <a:blip r:embed="rId3"/>
          <a:stretch>
            <a:fillRect/>
          </a:stretch>
        </p:blipFill>
        <p:spPr>
          <a:xfrm>
            <a:off x="0" y="948906"/>
            <a:ext cx="6544588" cy="5630061"/>
          </a:xfrm>
          <a:prstGeom prst="rect">
            <a:avLst/>
          </a:prstGeom>
        </p:spPr>
      </p:pic>
      <p:sp>
        <p:nvSpPr>
          <p:cNvPr id="4" name="TextBox 3">
            <a:extLst>
              <a:ext uri="{FF2B5EF4-FFF2-40B4-BE49-F238E27FC236}">
                <a16:creationId xmlns:a16="http://schemas.microsoft.com/office/drawing/2014/main" id="{676578C7-B8D9-EECA-52BD-5479E189DE08}"/>
              </a:ext>
            </a:extLst>
          </p:cNvPr>
          <p:cNvSpPr txBox="1"/>
          <p:nvPr/>
        </p:nvSpPr>
        <p:spPr>
          <a:xfrm>
            <a:off x="7061200" y="1148080"/>
            <a:ext cx="4927600" cy="1200329"/>
          </a:xfrm>
          <a:prstGeom prst="rect">
            <a:avLst/>
          </a:prstGeom>
          <a:noFill/>
        </p:spPr>
        <p:txBody>
          <a:bodyPr wrap="square">
            <a:spAutoFit/>
          </a:bodyPr>
          <a:lstStyle/>
          <a:p>
            <a:r>
              <a:rPr lang="en-US" dirty="0"/>
              <a:t>Low leverage firms exposed to the boycott introduce differentially more new products in 2006, compared to other firms and to their past behavior</a:t>
            </a:r>
          </a:p>
        </p:txBody>
      </p:sp>
    </p:spTree>
    <p:extLst>
      <p:ext uri="{BB962C8B-B14F-4D97-AF65-F5344CB8AC3E}">
        <p14:creationId xmlns:p14="http://schemas.microsoft.com/office/powerpoint/2010/main" val="2924960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914400" y="0"/>
            <a:ext cx="9144000" cy="659657"/>
          </a:xfrm>
        </p:spPr>
        <p:txBody>
          <a:bodyPr>
            <a:normAutofit/>
          </a:bodyPr>
          <a:lstStyle/>
          <a:p>
            <a:r>
              <a:rPr lang="en-US" sz="3600" b="1" dirty="0">
                <a:solidFill>
                  <a:srgbClr val="FF0000"/>
                </a:solidFill>
                <a:latin typeface="Arial" panose="020B0604020202020204" pitchFamily="34" charset="0"/>
                <a:cs typeface="Arial" panose="020B0604020202020204" pitchFamily="34" charset="0"/>
              </a:rPr>
              <a:t>Spending and debt response</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2" name="Picture 1">
            <a:extLst>
              <a:ext uri="{FF2B5EF4-FFF2-40B4-BE49-F238E27FC236}">
                <a16:creationId xmlns:a16="http://schemas.microsoft.com/office/drawing/2014/main" id="{A1229AE9-CBF7-EB3E-1B58-105D99D832EE}"/>
              </a:ext>
            </a:extLst>
          </p:cNvPr>
          <p:cNvPicPr>
            <a:picLocks noChangeAspect="1"/>
          </p:cNvPicPr>
          <p:nvPr/>
        </p:nvPicPr>
        <p:blipFill>
          <a:blip r:embed="rId3"/>
          <a:stretch>
            <a:fillRect/>
          </a:stretch>
        </p:blipFill>
        <p:spPr>
          <a:xfrm>
            <a:off x="71638" y="543772"/>
            <a:ext cx="8364117" cy="5306165"/>
          </a:xfrm>
          <a:prstGeom prst="rect">
            <a:avLst/>
          </a:prstGeom>
        </p:spPr>
      </p:pic>
      <p:sp>
        <p:nvSpPr>
          <p:cNvPr id="4" name="TextBox 3">
            <a:extLst>
              <a:ext uri="{FF2B5EF4-FFF2-40B4-BE49-F238E27FC236}">
                <a16:creationId xmlns:a16="http://schemas.microsoft.com/office/drawing/2014/main" id="{4D2773D5-AC47-2236-9355-99BCC6146A40}"/>
              </a:ext>
            </a:extLst>
          </p:cNvPr>
          <p:cNvSpPr txBox="1"/>
          <p:nvPr/>
        </p:nvSpPr>
        <p:spPr>
          <a:xfrm>
            <a:off x="8435755" y="543772"/>
            <a:ext cx="3756245" cy="3416320"/>
          </a:xfrm>
          <a:prstGeom prst="rect">
            <a:avLst/>
          </a:prstGeom>
          <a:noFill/>
        </p:spPr>
        <p:txBody>
          <a:bodyPr wrap="square" rtlCol="0">
            <a:spAutoFit/>
          </a:bodyPr>
          <a:lstStyle/>
          <a:p>
            <a:r>
              <a:rPr lang="en-US" dirty="0"/>
              <a:t>Low leverage firms increase in SG&amp;A expenditure, investment, and debt while high leverage firms not.</a:t>
            </a:r>
          </a:p>
          <a:p>
            <a:endParaRPr lang="en-US" dirty="0"/>
          </a:p>
          <a:p>
            <a:r>
              <a:rPr lang="en-US" dirty="0"/>
              <a:t>Low leverage firms do not significantly change labor inputs while high leverage firms reduce their use of more rigid employment contracts and increase their flexibility by outsourcing</a:t>
            </a:r>
          </a:p>
          <a:p>
            <a:endParaRPr lang="en-US" dirty="0"/>
          </a:p>
          <a:p>
            <a:endParaRPr lang="en-US" dirty="0"/>
          </a:p>
        </p:txBody>
      </p:sp>
    </p:spTree>
    <p:extLst>
      <p:ext uri="{BB962C8B-B14F-4D97-AF65-F5344CB8AC3E}">
        <p14:creationId xmlns:p14="http://schemas.microsoft.com/office/powerpoint/2010/main" val="3176726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
            <a:ext cx="9144000" cy="675412"/>
          </a:xfrm>
        </p:spPr>
        <p:txBody>
          <a:bodyPr>
            <a:normAutofit/>
          </a:bodyPr>
          <a:lstStyle/>
          <a:p>
            <a:r>
              <a:rPr lang="en-US" sz="3600" b="1" dirty="0">
                <a:solidFill>
                  <a:srgbClr val="FF0000"/>
                </a:solidFill>
                <a:latin typeface="Arial" panose="020B0604020202020204" pitchFamily="34" charset="0"/>
                <a:cs typeface="Arial" panose="020B0604020202020204" pitchFamily="34" charset="0"/>
              </a:rPr>
              <a:t>Differences in debt maturity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3C23D486-EAB8-FF5B-A39A-634C39E022DC}"/>
              </a:ext>
            </a:extLst>
          </p:cNvPr>
          <p:cNvPicPr>
            <a:picLocks noChangeAspect="1"/>
          </p:cNvPicPr>
          <p:nvPr/>
        </p:nvPicPr>
        <p:blipFill>
          <a:blip r:embed="rId3"/>
          <a:stretch>
            <a:fillRect/>
          </a:stretch>
        </p:blipFill>
        <p:spPr>
          <a:xfrm>
            <a:off x="0" y="592536"/>
            <a:ext cx="8792802" cy="6182588"/>
          </a:xfrm>
          <a:prstGeom prst="rect">
            <a:avLst/>
          </a:prstGeom>
        </p:spPr>
      </p:pic>
      <p:sp>
        <p:nvSpPr>
          <p:cNvPr id="2" name="TextBox 1">
            <a:extLst>
              <a:ext uri="{FF2B5EF4-FFF2-40B4-BE49-F238E27FC236}">
                <a16:creationId xmlns:a16="http://schemas.microsoft.com/office/drawing/2014/main" id="{45306690-0A03-D49B-29D6-AE961AD9EB7F}"/>
              </a:ext>
            </a:extLst>
          </p:cNvPr>
          <p:cNvSpPr txBox="1"/>
          <p:nvPr/>
        </p:nvSpPr>
        <p:spPr>
          <a:xfrm>
            <a:off x="8890000" y="592536"/>
            <a:ext cx="2895600" cy="4801314"/>
          </a:xfrm>
          <a:prstGeom prst="rect">
            <a:avLst/>
          </a:prstGeom>
          <a:noFill/>
        </p:spPr>
        <p:txBody>
          <a:bodyPr wrap="square" rtlCol="0">
            <a:spAutoFit/>
          </a:bodyPr>
          <a:lstStyle/>
          <a:p>
            <a:r>
              <a:rPr lang="en-US" dirty="0"/>
              <a:t>firms with debt maturing soon behave very similarly to firms with high leverage: </a:t>
            </a:r>
          </a:p>
          <a:p>
            <a:endParaRPr lang="en-US" dirty="0"/>
          </a:p>
          <a:p>
            <a:r>
              <a:rPr lang="en-US" dirty="0"/>
              <a:t>hit by the same shock as other firms and lose the same share of exports to Muslim countries but can’t recoup lost sales by increasing exports elsewhere</a:t>
            </a:r>
          </a:p>
          <a:p>
            <a:endParaRPr lang="en-US" dirty="0"/>
          </a:p>
          <a:p>
            <a:r>
              <a:rPr lang="en-US" dirty="0"/>
              <a:t>a significantly larger decline in destination countries and no increase in the number of exported product categories </a:t>
            </a:r>
          </a:p>
        </p:txBody>
      </p:sp>
      <p:sp>
        <p:nvSpPr>
          <p:cNvPr id="4" name="Rectangle 3">
            <a:extLst>
              <a:ext uri="{FF2B5EF4-FFF2-40B4-BE49-F238E27FC236}">
                <a16:creationId xmlns:a16="http://schemas.microsoft.com/office/drawing/2014/main" id="{B6407CC6-289B-EC52-39BA-F9DDA8A3CD2C}"/>
              </a:ext>
            </a:extLst>
          </p:cNvPr>
          <p:cNvSpPr/>
          <p:nvPr/>
        </p:nvSpPr>
        <p:spPr>
          <a:xfrm>
            <a:off x="4521200" y="3799840"/>
            <a:ext cx="1026160" cy="4775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ACC1ABA-6558-9FEE-6E7B-B06AF4EBB934}"/>
              </a:ext>
            </a:extLst>
          </p:cNvPr>
          <p:cNvSpPr txBox="1"/>
          <p:nvPr/>
        </p:nvSpPr>
        <p:spPr>
          <a:xfrm>
            <a:off x="4521200" y="3596640"/>
            <a:ext cx="1026160" cy="246221"/>
          </a:xfrm>
          <a:prstGeom prst="rect">
            <a:avLst/>
          </a:prstGeom>
          <a:noFill/>
        </p:spPr>
        <p:txBody>
          <a:bodyPr wrap="square" rtlCol="0">
            <a:spAutoFit/>
          </a:bodyPr>
          <a:lstStyle/>
          <a:p>
            <a:r>
              <a:rPr lang="en-US" sz="1000" dirty="0">
                <a:solidFill>
                  <a:schemeClr val="bg2"/>
                </a:solidFill>
              </a:rPr>
              <a:t>Market entry</a:t>
            </a:r>
          </a:p>
        </p:txBody>
      </p:sp>
    </p:spTree>
    <p:extLst>
      <p:ext uri="{BB962C8B-B14F-4D97-AF65-F5344CB8AC3E}">
        <p14:creationId xmlns:p14="http://schemas.microsoft.com/office/powerpoint/2010/main" val="3658208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81281"/>
            <a:ext cx="9144000" cy="480693"/>
          </a:xfrm>
        </p:spPr>
        <p:txBody>
          <a:bodyPr>
            <a:noAutofit/>
          </a:bodyPr>
          <a:lstStyle/>
          <a:p>
            <a:r>
              <a:rPr lang="en-US" sz="2800" b="1" dirty="0">
                <a:solidFill>
                  <a:srgbClr val="C00000"/>
                </a:solidFill>
              </a:rPr>
              <a:t>Alternative explanations</a:t>
            </a:r>
            <a:endParaRPr lang="en-US" sz="2800" b="1"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2" name="Picture 1">
            <a:extLst>
              <a:ext uri="{FF2B5EF4-FFF2-40B4-BE49-F238E27FC236}">
                <a16:creationId xmlns:a16="http://schemas.microsoft.com/office/drawing/2014/main" id="{C744B07B-2459-D22B-E1BB-46C20CB54E1B}"/>
              </a:ext>
            </a:extLst>
          </p:cNvPr>
          <p:cNvPicPr>
            <a:picLocks noChangeAspect="1"/>
          </p:cNvPicPr>
          <p:nvPr/>
        </p:nvPicPr>
        <p:blipFill>
          <a:blip r:embed="rId3"/>
          <a:stretch>
            <a:fillRect/>
          </a:stretch>
        </p:blipFill>
        <p:spPr>
          <a:xfrm>
            <a:off x="0" y="561974"/>
            <a:ext cx="7819584" cy="5663601"/>
          </a:xfrm>
          <a:prstGeom prst="rect">
            <a:avLst/>
          </a:prstGeom>
        </p:spPr>
      </p:pic>
      <p:sp>
        <p:nvSpPr>
          <p:cNvPr id="3" name="TextBox 2">
            <a:extLst>
              <a:ext uri="{FF2B5EF4-FFF2-40B4-BE49-F238E27FC236}">
                <a16:creationId xmlns:a16="http://schemas.microsoft.com/office/drawing/2014/main" id="{C3125F1C-A403-E750-9194-0DE5AE1C7F01}"/>
              </a:ext>
            </a:extLst>
          </p:cNvPr>
          <p:cNvSpPr txBox="1"/>
          <p:nvPr/>
        </p:nvSpPr>
        <p:spPr>
          <a:xfrm>
            <a:off x="7819584" y="561974"/>
            <a:ext cx="4220016" cy="2554545"/>
          </a:xfrm>
          <a:prstGeom prst="rect">
            <a:avLst/>
          </a:prstGeom>
          <a:noFill/>
        </p:spPr>
        <p:txBody>
          <a:bodyPr wrap="square" rtlCol="0">
            <a:spAutoFit/>
          </a:bodyPr>
          <a:lstStyle/>
          <a:p>
            <a:r>
              <a:rPr lang="en-US" sz="2000" dirty="0"/>
              <a:t>Some possible omitted factors that cause the documented differences between low- and high-leverage firms: </a:t>
            </a:r>
          </a:p>
          <a:p>
            <a:pPr marL="342900" indent="-342900">
              <a:buFont typeface="Arial" panose="020B0604020202020204" pitchFamily="34" charset="0"/>
              <a:buChar char="•"/>
            </a:pPr>
            <a:r>
              <a:rPr lang="en-US" sz="2000" dirty="0"/>
              <a:t>Number of Export Products</a:t>
            </a:r>
          </a:p>
          <a:p>
            <a:pPr marL="342900" indent="-342900">
              <a:buFont typeface="Arial" panose="020B0604020202020204" pitchFamily="34" charset="0"/>
              <a:buChar char="•"/>
            </a:pPr>
            <a:r>
              <a:rPr lang="en-US" sz="2000" dirty="0"/>
              <a:t>Manager Pay</a:t>
            </a:r>
          </a:p>
          <a:p>
            <a:pPr marL="342900" indent="-342900">
              <a:buFont typeface="Arial" panose="020B0604020202020204" pitchFamily="34" charset="0"/>
              <a:buChar char="•"/>
            </a:pPr>
            <a:r>
              <a:rPr lang="en-US" sz="2000" dirty="0"/>
              <a:t>Sales Volatility</a:t>
            </a:r>
          </a:p>
          <a:p>
            <a:pPr marL="342900" indent="-342900">
              <a:buFont typeface="Arial" panose="020B0604020202020204" pitchFamily="34" charset="0"/>
              <a:buChar char="•"/>
            </a:pPr>
            <a:r>
              <a:rPr lang="en-US" sz="2000" dirty="0"/>
              <a:t>Pre-Boycott Growth</a:t>
            </a:r>
          </a:p>
        </p:txBody>
      </p:sp>
    </p:spTree>
    <p:extLst>
      <p:ext uri="{BB962C8B-B14F-4D97-AF65-F5344CB8AC3E}">
        <p14:creationId xmlns:p14="http://schemas.microsoft.com/office/powerpoint/2010/main" val="1873294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11762"/>
            <a:ext cx="9144000" cy="508336"/>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76200" y="685800"/>
            <a:ext cx="11652381" cy="4753947"/>
          </a:xfrm>
        </p:spPr>
        <p:txBody>
          <a:bodyPr>
            <a:normAutofit/>
          </a:bodyPr>
          <a:lstStyle/>
          <a:p>
            <a:pPr marL="571500" indent="-571500" algn="l">
              <a:buFont typeface="Arial" panose="020B0604020202020204" pitchFamily="34" charset="0"/>
              <a:buChar char="•"/>
            </a:pPr>
            <a:r>
              <a:rPr lang="en-US" dirty="0"/>
              <a:t>Low leverage firms are able to enter new markets and recoup lost sales to counteract the negative demand shock</a:t>
            </a:r>
          </a:p>
          <a:p>
            <a:pPr marL="571500" indent="-571500" algn="l">
              <a:buFont typeface="Arial" panose="020B0604020202020204" pitchFamily="34" charset="0"/>
              <a:buChar char="•"/>
            </a:pPr>
            <a:r>
              <a:rPr lang="en-US" dirty="0"/>
              <a:t>For high-leverage firms, the expansion response is muted and total sales and employment decline</a:t>
            </a:r>
          </a:p>
          <a:p>
            <a:pPr marL="571500" indent="-571500" algn="l">
              <a:buFont typeface="Arial" panose="020B0604020202020204" pitchFamily="34" charset="0"/>
              <a:buChar char="•"/>
            </a:pPr>
            <a:r>
              <a:rPr lang="en-US" dirty="0"/>
              <a:t>Limitations: </a:t>
            </a:r>
          </a:p>
          <a:p>
            <a:pPr algn="l"/>
            <a:r>
              <a:rPr lang="en-US" dirty="0"/>
              <a:t>          - The shock studied is small, negative and affects only a subset of markets in which the firm operates. What results will be if studying a larger shock or a positive and broader shock?</a:t>
            </a:r>
          </a:p>
          <a:p>
            <a:pPr algn="l"/>
            <a:r>
              <a:rPr lang="en-US" dirty="0"/>
              <a:t>          - An important element that determines the relationship between capital structure and flexibility </a:t>
            </a:r>
            <a:r>
              <a:rPr lang="en-US" dirty="0">
                <a:latin typeface="Calibri" panose="020F0502020204030204" pitchFamily="34" charset="0"/>
                <a:ea typeface="Calibri" panose="020F0502020204030204" pitchFamily="34" charset="0"/>
                <a:cs typeface="Calibri" panose="020F0502020204030204" pitchFamily="34" charset="0"/>
              </a:rPr>
              <a:t>−</a:t>
            </a:r>
            <a:r>
              <a:rPr lang="en-US" dirty="0"/>
              <a:t> the ability for debt renegotiation </a:t>
            </a:r>
            <a:r>
              <a:rPr lang="en-US" dirty="0">
                <a:latin typeface="Calibri" panose="020F0502020204030204" pitchFamily="34" charset="0"/>
                <a:ea typeface="Calibri" panose="020F0502020204030204" pitchFamily="34" charset="0"/>
                <a:cs typeface="Calibri" panose="020F0502020204030204" pitchFamily="34" charset="0"/>
              </a:rPr>
              <a:t>−</a:t>
            </a:r>
            <a:r>
              <a:rPr lang="en-US" dirty="0"/>
              <a:t> is missing.</a:t>
            </a:r>
          </a:p>
          <a:p>
            <a:pPr algn="l"/>
            <a:r>
              <a:rPr lang="en-US" dirty="0"/>
              <a:t>          - The main results about firms’ adaptation to this shock capture short-term responses within one year after the boycott started but not later years</a:t>
            </a:r>
          </a:p>
          <a:p>
            <a:pPr algn="l"/>
            <a:endParaRPr lang="en-US" dirty="0"/>
          </a:p>
          <a:p>
            <a:pPr algn="l"/>
            <a:endParaRPr lang="en-US" dirty="0"/>
          </a:p>
          <a:p>
            <a:pPr marL="571500" indent="-571500" algn="l">
              <a:buFont typeface="Arial" panose="020B0604020202020204" pitchFamily="34" charset="0"/>
              <a:buChar char="•"/>
            </a:pPr>
            <a:endParaRPr lang="en-US" sz="32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097280" y="356703"/>
            <a:ext cx="9144000" cy="325880"/>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Marginal Contributions to Literature</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 y="829735"/>
            <a:ext cx="12073466" cy="4610012"/>
          </a:xfrm>
        </p:spPr>
        <p:txBody>
          <a:bodyPr>
            <a:noAutofit/>
          </a:bodyPr>
          <a:lstStyle/>
          <a:p>
            <a:pPr marL="571500" indent="-571500" algn="l">
              <a:buFont typeface="Arial" panose="020B0604020202020204" pitchFamily="34" charset="0"/>
              <a:buChar char="•"/>
            </a:pPr>
            <a:r>
              <a:rPr lang="en-US" sz="2800" dirty="0"/>
              <a:t>Contribute to a larger literature on the impact of capital structure and financial constraints on real outcomes: The findings about the link between capital structure and firm’s ability to adapt to a shock extend the evidence from several studies that analyze flexibility in pricing (</a:t>
            </a:r>
            <a:r>
              <a:rPr lang="en-US" sz="2800" dirty="0" err="1"/>
              <a:t>D’Acunto</a:t>
            </a:r>
            <a:r>
              <a:rPr lang="en-US" sz="2800" dirty="0"/>
              <a:t> et al., 2018), production technology (</a:t>
            </a:r>
            <a:r>
              <a:rPr lang="en-US" sz="2800" dirty="0" err="1"/>
              <a:t>Reinartz</a:t>
            </a:r>
            <a:r>
              <a:rPr lang="en-US" sz="2800" dirty="0"/>
              <a:t> and Schmid, 2016), employment contracts (</a:t>
            </a:r>
            <a:r>
              <a:rPr lang="en-US" sz="2800" dirty="0" err="1"/>
              <a:t>Simintzi</a:t>
            </a:r>
            <a:r>
              <a:rPr lang="en-US" sz="2800" dirty="0"/>
              <a:t> et al., 2014; </a:t>
            </a:r>
            <a:r>
              <a:rPr lang="en-US" sz="2800" dirty="0" err="1"/>
              <a:t>Serfling</a:t>
            </a:r>
            <a:r>
              <a:rPr lang="en-US" sz="2800" dirty="0"/>
              <a:t>, 2016; Kuzmina, 2022), and the general link between financial and operational flexibility.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3808</TotalTime>
  <Words>1457</Words>
  <Application>Microsoft Office PowerPoint</Application>
  <PresentationFormat>Widescreen</PresentationFormat>
  <Paragraphs>114</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Calisto MT</vt:lpstr>
      <vt:lpstr>Open Sans</vt:lpstr>
      <vt:lpstr>Wingdings 2</vt:lpstr>
      <vt:lpstr>Slate</vt:lpstr>
      <vt:lpstr>Flexibility costs of debt: Danish exporters during the cartoon crisis</vt:lpstr>
      <vt:lpstr>Research Goal/Question:</vt:lpstr>
      <vt:lpstr>Cartoon crisis</vt:lpstr>
      <vt:lpstr>Cartoon crisis</vt:lpstr>
      <vt:lpstr>Cartoon crisis</vt:lpstr>
      <vt:lpstr>Data</vt:lpstr>
      <vt:lpstr>Selected Summary Statistics</vt:lpstr>
      <vt:lpstr>Empirical strategy</vt:lpstr>
      <vt:lpstr>Heterogeneity by capital structure – identifying variation</vt:lpstr>
      <vt:lpstr> Average response to the boycott</vt:lpstr>
      <vt:lpstr> Average response to the boycott</vt:lpstr>
      <vt:lpstr>Heterogeneity analysis</vt:lpstr>
      <vt:lpstr>Market entry</vt:lpstr>
      <vt:lpstr>Market entry</vt:lpstr>
      <vt:lpstr>Country dimension of the market entry response</vt:lpstr>
      <vt:lpstr>Product dimension of the market entry response</vt:lpstr>
      <vt:lpstr>Product dimension of the market entry response</vt:lpstr>
      <vt:lpstr>Spending and debt response</vt:lpstr>
      <vt:lpstr>Differences in debt maturity</vt:lpstr>
      <vt:lpstr>Alternative explanations</vt:lpstr>
      <vt:lpstr>Conclusions</vt:lpstr>
      <vt:lpstr>Marginal Contributions to Literature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165</cp:revision>
  <dcterms:created xsi:type="dcterms:W3CDTF">2024-01-18T13:26:59Z</dcterms:created>
  <dcterms:modified xsi:type="dcterms:W3CDTF">2024-09-03T13:20:14Z</dcterms:modified>
</cp:coreProperties>
</file>