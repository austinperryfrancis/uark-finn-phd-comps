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62" r:id="rId9"/>
    <p:sldId id="270" r:id="rId10"/>
    <p:sldId id="263" r:id="rId11"/>
    <p:sldId id="264" r:id="rId12"/>
    <p:sldId id="265" r:id="rId13"/>
    <p:sldId id="271" r:id="rId14"/>
    <p:sldId id="261" r:id="rId15"/>
    <p:sldId id="267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CDC58-B774-4D9D-B72B-E102788D0C64}" v="25" dt="2024-08-30T15:47:33.429"/>
    <p1510:client id="{4779FC66-9730-A4E5-02FD-0CB5A55F6D51}" v="7" dt="2024-08-30T15:46:53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966" autoAdjust="0"/>
  </p:normalViewPr>
  <p:slideViewPr>
    <p:cSldViewPr snapToGrid="0">
      <p:cViewPr>
        <p:scale>
          <a:sx n="100" d="100"/>
          <a:sy n="100" d="100"/>
        </p:scale>
        <p:origin x="228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054BE-6D6F-44ED-BD09-40DD72BCDEDC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DF6E8-DB8D-41D8-B08B-D14FBA09D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1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total number of debt issues analyzed is 54,403, with 53% being loans and 47% being bonds.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Median total assets for bond issuers is $3,858 million compared to $663 million for loan issuers.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49% of bond issuers have an investment-grade rating, whereas only 14% of loan issuers have such a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59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2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example, the coefficient estimate of −0.06 in the fixed effects linear probability model specification implies that bank loans are 6% less likely following a competitive shock.”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51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Firms are likelier to choose bank loans following a variety of antitakeover measures (and related court decisions), not just business combination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3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covenant strictness of loans is higher following antitakeover laws and lower following import penetration.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87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DF6E8-DB8D-41D8-B08B-D14FBA09DE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4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4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2519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2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6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9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2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649"/>
            <a:ext cx="12204192" cy="10098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External Governance and Debt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Sreedhar T. Bharath and Michael </a:t>
            </a:r>
            <a:r>
              <a:rPr lang="en-US" dirty="0" err="1"/>
              <a:t>Hertzel</a:t>
            </a:r>
            <a:endParaRPr lang="en-US" dirty="0"/>
          </a:p>
          <a:p>
            <a:r>
              <a:rPr lang="en-US" dirty="0"/>
              <a:t>Presented by Nicholas Thompson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E1D8-008D-EFF0-153E-363DD3B9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1E5B8-7168-97B3-FA5F-AFA99561D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external governance pressure, particularly from product markets and the market for corporate control, influence a firm’s choice between bank loans and public debt?</a:t>
            </a:r>
          </a:p>
        </p:txBody>
      </p:sp>
    </p:spTree>
    <p:extLst>
      <p:ext uri="{BB962C8B-B14F-4D97-AF65-F5344CB8AC3E}">
        <p14:creationId xmlns:p14="http://schemas.microsoft.com/office/powerpoint/2010/main" val="31233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2B38-D355-32AF-3BCA-29298AF8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F3961-60F5-ACB5-C24A-4CEC7C73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Traditionally, corporate governance literature focuses primarily on shareholders’ influence on managers, neglecting creditors’ role, emphasizing it only in payment default states or agency conflicts.</a:t>
            </a:r>
          </a:p>
          <a:p>
            <a:r>
              <a:rPr lang="en-US" dirty="0"/>
              <a:t>Recent studies, however, suggest that creditors, particularly banks, play a role in governance outside payment default states (Denis &amp; Wang, 2014).</a:t>
            </a:r>
          </a:p>
          <a:p>
            <a:r>
              <a:rPr lang="en-US" dirty="0"/>
              <a:t>Following technical default (i.e., debt covenant violations), creditors impose tighter restrictions on managers that benefit equity holders and debt holders, and CEO turnover increases (</a:t>
            </a:r>
            <a:r>
              <a:rPr lang="en-US" dirty="0" err="1"/>
              <a:t>Nini</a:t>
            </a:r>
            <a:r>
              <a:rPr lang="en-US" dirty="0"/>
              <a:t>, Smith, &amp; Sufi, 2012).</a:t>
            </a:r>
          </a:p>
          <a:p>
            <a:r>
              <a:rPr lang="en-US" dirty="0"/>
              <a:t>Several papers provide evidence consistent with firms endogenously trading off creditor governance with other governance mechanisms (termed the “substitution of governance mechanisms” hypothesis).</a:t>
            </a:r>
          </a:p>
        </p:txBody>
      </p:sp>
    </p:spTree>
    <p:extLst>
      <p:ext uri="{BB962C8B-B14F-4D97-AF65-F5344CB8AC3E}">
        <p14:creationId xmlns:p14="http://schemas.microsoft.com/office/powerpoint/2010/main" val="78801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8D9E-FEA7-32FC-44BF-A1D6BF1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6C514-16B3-E30C-5BB0-FB531483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“The central hypothesis of our study is that strong external governance, as measured by an unfettered and active takeover market, as well as by a competitive product market, reduces the demand for the governance provided by banks and, thus, increases the likelihood that firms will issue debt publicly as opposed to borrowing from banks.”</a:t>
            </a:r>
          </a:p>
        </p:txBody>
      </p:sp>
    </p:spTree>
    <p:extLst>
      <p:ext uri="{BB962C8B-B14F-4D97-AF65-F5344CB8AC3E}">
        <p14:creationId xmlns:p14="http://schemas.microsoft.com/office/powerpoint/2010/main" val="305301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5620-4741-9B77-E16A-16778469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9597-B279-3A8D-73D5-32A557FC0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Period: 1982 to 2010</a:t>
            </a:r>
          </a:p>
          <a:p>
            <a:r>
              <a:rPr lang="en-US" dirty="0"/>
              <a:t>Bank loan data: </a:t>
            </a:r>
            <a:r>
              <a:rPr lang="en-US" dirty="0" err="1"/>
              <a:t>DealScan</a:t>
            </a:r>
            <a:endParaRPr lang="en-US" dirty="0"/>
          </a:p>
          <a:p>
            <a:r>
              <a:rPr lang="en-US" dirty="0"/>
              <a:t>Public bond data: Securities Data Corporation (SDC) and </a:t>
            </a:r>
            <a:r>
              <a:rPr lang="en-US" dirty="0" err="1"/>
              <a:t>Mergent</a:t>
            </a:r>
            <a:r>
              <a:rPr lang="en-US" dirty="0"/>
              <a:t> FISD</a:t>
            </a:r>
          </a:p>
          <a:p>
            <a:r>
              <a:rPr lang="en-US" dirty="0"/>
              <a:t>Accounting data and information on company headquarters: </a:t>
            </a:r>
            <a:r>
              <a:rPr lang="en-US" dirty="0" err="1"/>
              <a:t>Compustat</a:t>
            </a:r>
            <a:endParaRPr lang="en-US" dirty="0"/>
          </a:p>
          <a:p>
            <a:r>
              <a:rPr lang="en-US" dirty="0"/>
              <a:t>Industry information and competition measures: </a:t>
            </a:r>
            <a:r>
              <a:rPr lang="en-US" dirty="0" err="1"/>
              <a:t>Hoberg</a:t>
            </a:r>
            <a:r>
              <a:rPr lang="en-US" dirty="0"/>
              <a:t>-Phillips Data Library</a:t>
            </a:r>
          </a:p>
        </p:txBody>
      </p:sp>
    </p:spTree>
    <p:extLst>
      <p:ext uri="{BB962C8B-B14F-4D97-AF65-F5344CB8AC3E}">
        <p14:creationId xmlns:p14="http://schemas.microsoft.com/office/powerpoint/2010/main" val="86561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8F24-8C90-8AE0-A934-67C0B1FB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ED2A3-C312-2515-0D24-8F2041A1B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Herfindahl-Hirschman Index (HHI) of industry concentration: A higher level of HHI implies greater industry concentration, which means less intense competitive pressure.</a:t>
            </a:r>
          </a:p>
          <a:p>
            <a:r>
              <a:rPr lang="en-US" dirty="0"/>
              <a:t>Competition1: Indicator variable set to one for all firms below the median value of the (text-based) TNIC HHI.</a:t>
            </a:r>
          </a:p>
          <a:p>
            <a:r>
              <a:rPr lang="en-US" dirty="0"/>
              <a:t>Competition2: Similar, except it substitutes missing values of TNIC HHI with a (more general) fitted HHI.</a:t>
            </a:r>
          </a:p>
        </p:txBody>
      </p:sp>
    </p:spTree>
    <p:extLst>
      <p:ext uri="{BB962C8B-B14F-4D97-AF65-F5344CB8AC3E}">
        <p14:creationId xmlns:p14="http://schemas.microsoft.com/office/powerpoint/2010/main" val="133066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22A92-6D19-F781-AF17-A7DE5BFFA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32559"/>
            <a:ext cx="12188109" cy="5454179"/>
          </a:xfrm>
          <a:noFill/>
        </p:spPr>
      </p:pic>
    </p:spTree>
    <p:extLst>
      <p:ext uri="{BB962C8B-B14F-4D97-AF65-F5344CB8AC3E}">
        <p14:creationId xmlns:p14="http://schemas.microsoft.com/office/powerpoint/2010/main" val="3551919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5639BD-1983-5CF7-A64D-99BC5E5C8B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815"/>
          <a:stretch/>
        </p:blipFill>
        <p:spPr>
          <a:xfrm>
            <a:off x="0" y="1"/>
            <a:ext cx="7428216" cy="5835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E5F1D6-BA1B-8ED4-8C90-4D315259E5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225"/>
          <a:stretch/>
        </p:blipFill>
        <p:spPr>
          <a:xfrm>
            <a:off x="7423933" y="3359761"/>
            <a:ext cx="4768067" cy="2475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6D7BD-594D-EE7B-0AA0-C7193CB7DC75}"/>
              </a:ext>
            </a:extLst>
          </p:cNvPr>
          <p:cNvSpPr txBox="1"/>
          <p:nvPr/>
        </p:nvSpPr>
        <p:spPr>
          <a:xfrm>
            <a:off x="7423933" y="1022949"/>
            <a:ext cx="4768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Logit (Columns 1-3) and linear probability firm fixed effects (Columns 4-6):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Control variables indicate weaker, less profitable firms are more likely to choose bank loans.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Competition1 and Competition2 indicate firms in less competitive industries are more likely to choose bank loans.</a:t>
            </a:r>
          </a:p>
        </p:txBody>
      </p:sp>
    </p:spTree>
    <p:extLst>
      <p:ext uri="{BB962C8B-B14F-4D97-AF65-F5344CB8AC3E}">
        <p14:creationId xmlns:p14="http://schemas.microsoft.com/office/powerpoint/2010/main" val="219855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5620-4741-9B77-E16A-16778469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Quasi-natural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9597-B279-3A8D-73D5-32A557FC0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paper uses two quasi-natural experiments to isolate the causal effects of external governance on debt choice: reductions in industry-level import tariffs and passage of state antitakeover business combination (BC) laws.</a:t>
            </a:r>
          </a:p>
          <a:p>
            <a:r>
              <a:rPr lang="en-US" dirty="0"/>
              <a:t>Import tariff reductions are used as an exogenous shock to increase product market competition, thereby increasing external governance pressure.</a:t>
            </a:r>
          </a:p>
          <a:p>
            <a:r>
              <a:rPr lang="en-US" dirty="0"/>
              <a:t>The passage of BC laws helps to measure a decrease in governance pressure from the takeover market.</a:t>
            </a:r>
          </a:p>
        </p:txBody>
      </p:sp>
    </p:spTree>
    <p:extLst>
      <p:ext uri="{BB962C8B-B14F-4D97-AF65-F5344CB8AC3E}">
        <p14:creationId xmlns:p14="http://schemas.microsoft.com/office/powerpoint/2010/main" val="241047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FC372-760B-F33D-8050-10FD956B75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090"/>
          <a:stretch/>
        </p:blipFill>
        <p:spPr>
          <a:xfrm>
            <a:off x="0" y="0"/>
            <a:ext cx="6961562" cy="5825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E4B05-7106-9D88-B12F-039984D00B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910"/>
          <a:stretch/>
        </p:blipFill>
        <p:spPr>
          <a:xfrm>
            <a:off x="6961562" y="4115744"/>
            <a:ext cx="5230438" cy="17097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97F276-2ABE-4D46-28D2-03F2568749E7}"/>
              </a:ext>
            </a:extLst>
          </p:cNvPr>
          <p:cNvSpPr txBox="1"/>
          <p:nvPr/>
        </p:nvSpPr>
        <p:spPr>
          <a:xfrm>
            <a:off x="6961562" y="881398"/>
            <a:ext cx="5230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Logit (Columns 1-4) and linear probability firm fixed effects (Columns 5-8):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Following import penetration (tariff reductions), firms are less likely to choose bank loans.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Following antitakeover BC laws, firms are more likely to choose bank loans.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result is consistent when combining variables.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C3BBF-5ED0-0C4D-6D15-6C635E9BAA5C}"/>
              </a:ext>
            </a:extLst>
          </p:cNvPr>
          <p:cNvSpPr/>
          <p:nvPr/>
        </p:nvSpPr>
        <p:spPr>
          <a:xfrm>
            <a:off x="77190" y="1111331"/>
            <a:ext cx="6762997" cy="104074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9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695CC-5FC7-CA29-B21C-3AC3A064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85" y="0"/>
            <a:ext cx="9985630" cy="585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5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2770E-CF9C-8EC2-4329-02185B09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95" y="0"/>
            <a:ext cx="9718010" cy="58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0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5620-4741-9B77-E16A-16778469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Cross-sectional analysis of the effect of external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9597-B279-3A8D-73D5-32A557FC0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paper examines whether the impact of external governance shocks varies across different industry characteristics, such as industry competition and the importance of long-term customer-supplier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019014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064F57-C0D4-B889-98ED-DFA3CD70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68" y="0"/>
            <a:ext cx="6640314" cy="58426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8EB842-9D23-442E-2701-EA35FD25670E}"/>
              </a:ext>
            </a:extLst>
          </p:cNvPr>
          <p:cNvSpPr txBox="1"/>
          <p:nvPr/>
        </p:nvSpPr>
        <p:spPr>
          <a:xfrm>
            <a:off x="7406382" y="843677"/>
            <a:ext cx="41016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0000"/>
                </a:solidFill>
              </a:rPr>
              <a:t>Columns 1 and 2 use a median split of HHI, and Columns 3-6 compare firms in the upper versus lower quartiles of HHI.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0000"/>
                </a:solidFill>
              </a:rPr>
              <a:t>Conclusion: Firms in more concentrated industries tend to have a greater need for governance, as indicated by their increased reliance on bank debt.</a:t>
            </a:r>
          </a:p>
        </p:txBody>
      </p:sp>
    </p:spTree>
    <p:extLst>
      <p:ext uri="{BB962C8B-B14F-4D97-AF65-F5344CB8AC3E}">
        <p14:creationId xmlns:p14="http://schemas.microsoft.com/office/powerpoint/2010/main" val="424026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DEAD77-D8A7-DD74-A3DD-9E570B8173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" r="1817" b="815"/>
          <a:stretch/>
        </p:blipFill>
        <p:spPr>
          <a:xfrm>
            <a:off x="468709" y="0"/>
            <a:ext cx="7025482" cy="5829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C883D5-2D1E-4BE1-EFD5-374BBE4F660E}"/>
              </a:ext>
            </a:extLst>
          </p:cNvPr>
          <p:cNvSpPr txBox="1"/>
          <p:nvPr/>
        </p:nvSpPr>
        <p:spPr>
          <a:xfrm>
            <a:off x="7827566" y="1437322"/>
            <a:ext cx="3895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There is a greater substitution effect for firms in relationship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This effect is driven mostly by the subsample of firms in the BC law experiment.</a:t>
            </a:r>
            <a:endParaRPr lang="en-US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874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AC3B-8C96-6CE0-B01C-936CFF72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84A3-CE97-A21A-54B2-53AEF7D92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paper provides evidence that firms substitute different governance mechanisms in response to changes in external governance pressure.</a:t>
            </a:r>
          </a:p>
          <a:p>
            <a:r>
              <a:rPr lang="en-US" dirty="0"/>
              <a:t>Firms facing increased competition rely less on bank debt, whereas firms facing reduced takeover threats take on more, suggesting that external governance mechanisms can substitute for bank monitoring.</a:t>
            </a:r>
          </a:p>
        </p:txBody>
      </p:sp>
    </p:spTree>
    <p:extLst>
      <p:ext uri="{BB962C8B-B14F-4D97-AF65-F5344CB8AC3E}">
        <p14:creationId xmlns:p14="http://schemas.microsoft.com/office/powerpoint/2010/main" val="958686072"/>
      </p:ext>
    </p:extLst>
  </p:cSld>
  <p:clrMapOvr>
    <a:masterClrMapping/>
  </p:clrMapOvr>
</p:sld>
</file>

<file path=ppt/theme/theme1.xml><?xml version="1.0" encoding="utf-8"?>
<a:theme xmlns:a="http://schemas.openxmlformats.org/drawingml/2006/main" name="WCOB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OB Theme" id="{DA4194B0-34BD-4C70-B2FC-BFD2593C6676}" vid="{647C9F4F-C2D3-49DA-9726-30103746F5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WCOB Theme</Template>
  <TotalTime>592</TotalTime>
  <Words>832</Words>
  <Application>Microsoft Office PowerPoint</Application>
  <PresentationFormat>Widescreen</PresentationFormat>
  <Paragraphs>54</Paragraphs>
  <Slides>16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WCOB Theme</vt:lpstr>
      <vt:lpstr>External Governance and Debt Structure</vt:lpstr>
      <vt:lpstr>Research question</vt:lpstr>
      <vt:lpstr>Prior literature</vt:lpstr>
      <vt:lpstr>Hypothesis</vt:lpstr>
      <vt:lpstr>Data</vt:lpstr>
      <vt:lpstr>Competition variables</vt:lpstr>
      <vt:lpstr>PowerPoint Presentation</vt:lpstr>
      <vt:lpstr>PowerPoint Presentation</vt:lpstr>
      <vt:lpstr>Quasi-natural experiments</vt:lpstr>
      <vt:lpstr>PowerPoint Presentation</vt:lpstr>
      <vt:lpstr>PowerPoint Presentation</vt:lpstr>
      <vt:lpstr>PowerPoint Presentation</vt:lpstr>
      <vt:lpstr>Cross-sectional analysis of the effect of external governance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Nicholas Thompson</cp:lastModifiedBy>
  <cp:revision>2</cp:revision>
  <dcterms:created xsi:type="dcterms:W3CDTF">2024-08-29T18:58:59Z</dcterms:created>
  <dcterms:modified xsi:type="dcterms:W3CDTF">2024-09-03T13:55:22Z</dcterms:modified>
</cp:coreProperties>
</file>