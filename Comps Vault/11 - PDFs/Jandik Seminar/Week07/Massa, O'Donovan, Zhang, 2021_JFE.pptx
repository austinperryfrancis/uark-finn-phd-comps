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56" r:id="rId5"/>
    <p:sldId id="315" r:id="rId6"/>
    <p:sldId id="346" r:id="rId7"/>
    <p:sldId id="535" r:id="rId8"/>
    <p:sldId id="530" r:id="rId9"/>
    <p:sldId id="531" r:id="rId10"/>
    <p:sldId id="533" r:id="rId11"/>
    <p:sldId id="534" r:id="rId12"/>
    <p:sldId id="549" r:id="rId13"/>
    <p:sldId id="550" r:id="rId14"/>
    <p:sldId id="468" r:id="rId15"/>
    <p:sldId id="495" r:id="rId16"/>
    <p:sldId id="536" r:id="rId17"/>
    <p:sldId id="537" r:id="rId18"/>
    <p:sldId id="538" r:id="rId19"/>
    <p:sldId id="539" r:id="rId20"/>
    <p:sldId id="540" r:id="rId21"/>
    <p:sldId id="541" r:id="rId22"/>
    <p:sldId id="542" r:id="rId23"/>
    <p:sldId id="543" r:id="rId24"/>
    <p:sldId id="544" r:id="rId25"/>
    <p:sldId id="545" r:id="rId26"/>
    <p:sldId id="546" r:id="rId27"/>
    <p:sldId id="548" r:id="rId28"/>
    <p:sldId id="515" r:id="rId29"/>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535"/>
            <p14:sldId id="530"/>
            <p14:sldId id="531"/>
            <p14:sldId id="533"/>
            <p14:sldId id="534"/>
            <p14:sldId id="549"/>
            <p14:sldId id="550"/>
            <p14:sldId id="468"/>
            <p14:sldId id="495"/>
            <p14:sldId id="536"/>
            <p14:sldId id="537"/>
            <p14:sldId id="538"/>
            <p14:sldId id="539"/>
            <p14:sldId id="540"/>
            <p14:sldId id="541"/>
            <p14:sldId id="542"/>
            <p14:sldId id="543"/>
            <p14:sldId id="544"/>
            <p14:sldId id="545"/>
            <p14:sldId id="546"/>
            <p14:sldId id="548"/>
            <p14:sldId id="515"/>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71503" autoAdjust="0"/>
  </p:normalViewPr>
  <p:slideViewPr>
    <p:cSldViewPr snapToGrid="0">
      <p:cViewPr varScale="1">
        <p:scale>
          <a:sx n="78" d="100"/>
          <a:sy n="78" d="100"/>
        </p:scale>
        <p:origin x="1560"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10/1/2024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a:p>
        </p:txBody>
      </p:sp>
    </p:spTree>
    <p:extLst>
      <p:ext uri="{BB962C8B-B14F-4D97-AF65-F5344CB8AC3E}">
        <p14:creationId xmlns:p14="http://schemas.microsoft.com/office/powerpoint/2010/main" val="746346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a:p>
        </p:txBody>
      </p:sp>
    </p:spTree>
    <p:extLst>
      <p:ext uri="{BB962C8B-B14F-4D97-AF65-F5344CB8AC3E}">
        <p14:creationId xmlns:p14="http://schemas.microsoft.com/office/powerpoint/2010/main" val="303408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a:p>
        </p:txBody>
      </p:sp>
    </p:spTree>
    <p:extLst>
      <p:ext uri="{BB962C8B-B14F-4D97-AF65-F5344CB8AC3E}">
        <p14:creationId xmlns:p14="http://schemas.microsoft.com/office/powerpoint/2010/main" val="3662784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7</a:t>
            </a:fld>
            <a:endParaRPr lang="en-US"/>
          </a:p>
        </p:txBody>
      </p:sp>
    </p:spTree>
    <p:extLst>
      <p:ext uri="{BB962C8B-B14F-4D97-AF65-F5344CB8AC3E}">
        <p14:creationId xmlns:p14="http://schemas.microsoft.com/office/powerpoint/2010/main" val="2253414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Key Takeaways:</a:t>
            </a:r>
            <a:endParaRPr lang="en-US" dirty="0"/>
          </a:p>
          <a:p>
            <a:pPr>
              <a:buFont typeface="+mj-lt"/>
              <a:buAutoNum type="arabicPeriod"/>
            </a:pPr>
            <a:r>
              <a:rPr lang="en-US" b="1" dirty="0"/>
              <a:t>Central firms are larger and more valuable than non-central firms.</a:t>
            </a:r>
            <a:endParaRPr lang="en-US" dirty="0"/>
          </a:p>
          <a:p>
            <a:pPr marL="742950" lvl="1" indent="-285750">
              <a:buFont typeface="+mj-lt"/>
              <a:buAutoNum type="arabicPeriod"/>
            </a:pPr>
            <a:r>
              <a:rPr lang="en-US" b="1" dirty="0"/>
              <a:t>Centrality:</a:t>
            </a:r>
            <a:r>
              <a:rPr lang="en-US" dirty="0"/>
              <a:t> The mean centrality for the central firms is 0.71 compared to 0.04 for non-central firms.</a:t>
            </a:r>
          </a:p>
          <a:p>
            <a:pPr marL="742950" lvl="1" indent="-285750">
              <a:buFont typeface="+mj-lt"/>
              <a:buAutoNum type="arabicPeriod"/>
            </a:pPr>
            <a:r>
              <a:rPr lang="en-US" b="1" dirty="0"/>
              <a:t>Total Assets:</a:t>
            </a:r>
            <a:r>
              <a:rPr lang="en-US" dirty="0"/>
              <a:t> Central firms average $20.13 billion, while non-central firms average only $2.94 billion.</a:t>
            </a:r>
          </a:p>
          <a:p>
            <a:pPr>
              <a:buFont typeface="+mj-lt"/>
              <a:buAutoNum type="arabicPeriod"/>
            </a:pPr>
            <a:r>
              <a:rPr lang="en-US" b="1" dirty="0"/>
              <a:t>Ownership is more concentrated in central firms.</a:t>
            </a:r>
            <a:endParaRPr lang="en-US" dirty="0"/>
          </a:p>
          <a:p>
            <a:pPr marL="742950" lvl="1" indent="-285750">
              <a:buFont typeface="+mj-lt"/>
              <a:buAutoNum type="arabicPeriod"/>
            </a:pPr>
            <a:r>
              <a:rPr lang="en-US" b="1" dirty="0"/>
              <a:t>Ownership stake of ultimate owner:</a:t>
            </a:r>
            <a:r>
              <a:rPr lang="en-US" dirty="0"/>
              <a:t> Central firms have an average ownership stake of 50%, while non-central firms average 43%.</a:t>
            </a:r>
          </a:p>
          <a:p>
            <a:pPr>
              <a:buFont typeface="+mj-lt"/>
              <a:buAutoNum type="arabicPeriod"/>
            </a:pPr>
            <a:r>
              <a:rPr lang="en-US" b="1" dirty="0"/>
              <a:t>Older firms tend to be central.</a:t>
            </a:r>
            <a:endParaRPr lang="en-US" dirty="0"/>
          </a:p>
          <a:p>
            <a:pPr marL="742950" lvl="1" indent="-285750">
              <a:buFont typeface="+mj-lt"/>
              <a:buAutoNum type="arabicPeriod"/>
            </a:pPr>
            <a:r>
              <a:rPr lang="en-US" b="1" dirty="0"/>
              <a:t>Age of firms:</a:t>
            </a:r>
            <a:r>
              <a:rPr lang="en-US" dirty="0"/>
              <a:t> Central firms average 42.77 years since incorporation, while non-central firms average 41.10 years.</a:t>
            </a:r>
            <a:br>
              <a:rPr lang="en-US" dirty="0"/>
            </a:br>
            <a:br>
              <a:rPr lang="en-US" dirty="0"/>
            </a:br>
            <a:r>
              <a:rPr lang="en-US" b="1" dirty="0"/>
              <a:t>What it shows simply:</a:t>
            </a:r>
            <a:br>
              <a:rPr lang="en-US" dirty="0"/>
            </a:br>
            <a:r>
              <a:rPr lang="en-US" dirty="0"/>
              <a:t>This table highlights that central firms, often larger, more valuable, and older, are crucial to the structure of business groups and show distinct differences in characteristics from non-central firms.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a:p>
        </p:txBody>
      </p:sp>
    </p:spTree>
    <p:extLst>
      <p:ext uri="{BB962C8B-B14F-4D97-AF65-F5344CB8AC3E}">
        <p14:creationId xmlns:p14="http://schemas.microsoft.com/office/powerpoint/2010/main" val="2199744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Dependent variable: </a:t>
            </a:r>
            <a:br>
              <a:rPr lang="en-US" b="1" dirty="0"/>
            </a:br>
            <a:r>
              <a:rPr lang="en-US" b="1" dirty="0"/>
              <a:t>What it proves:</a:t>
            </a:r>
            <a:br>
              <a:rPr lang="en-US" dirty="0"/>
            </a:br>
            <a:r>
              <a:rPr lang="en-US" dirty="0"/>
              <a:t>This table shows how unexpected industry shocks affect firm valuation and returns, highlighting the impact of centrality. It compares the market-to-book ratio and idiosyncratic returns of central vs. non-central firms during negative industry and commodity shocks.</a:t>
            </a:r>
          </a:p>
          <a:p>
            <a:r>
              <a:rPr lang="en-US" b="1" dirty="0"/>
              <a:t>Key Takeaways:</a:t>
            </a:r>
            <a:endParaRPr lang="en-US" dirty="0"/>
          </a:p>
          <a:p>
            <a:pPr>
              <a:buFont typeface="+mj-lt"/>
              <a:buAutoNum type="arabicPeriod"/>
            </a:pPr>
            <a:r>
              <a:rPr lang="en-US" b="1" dirty="0"/>
              <a:t>Central firms are better protected from industry shocks.</a:t>
            </a:r>
            <a:endParaRPr lang="en-US" dirty="0"/>
          </a:p>
          <a:p>
            <a:pPr marL="742950" lvl="1" indent="-285750">
              <a:buFont typeface="+mj-lt"/>
              <a:buAutoNum type="arabicPeriod"/>
            </a:pPr>
            <a:r>
              <a:rPr lang="en-US" b="1" dirty="0"/>
              <a:t>Centrality × Shock:</a:t>
            </a:r>
            <a:r>
              <a:rPr lang="en-US" dirty="0"/>
              <a:t> The interaction term has a significantly negative coefficient of -0.37 in Model 1, meaning central firms are less sensitive to negative shocks.</a:t>
            </a:r>
          </a:p>
          <a:p>
            <a:pPr marL="742950" lvl="1" indent="-285750">
              <a:buFont typeface="+mj-lt"/>
              <a:buAutoNum type="arabicPeriod"/>
            </a:pPr>
            <a:r>
              <a:rPr lang="en-US" dirty="0"/>
              <a:t>A one standard deviation increase in centrality offsets about </a:t>
            </a:r>
            <a:r>
              <a:rPr lang="en-US" b="1" dirty="0"/>
              <a:t>12% of the negative impact</a:t>
            </a:r>
            <a:r>
              <a:rPr lang="en-US" dirty="0"/>
              <a:t> of an industry shock.</a:t>
            </a:r>
          </a:p>
          <a:p>
            <a:pPr>
              <a:buFont typeface="+mj-lt"/>
              <a:buAutoNum type="arabicPeriod"/>
            </a:pPr>
            <a:r>
              <a:rPr lang="en-US" b="1" dirty="0"/>
              <a:t>Central firms show lower sensitivity to commodity shocks as well.</a:t>
            </a:r>
            <a:endParaRPr lang="en-US" dirty="0"/>
          </a:p>
          <a:p>
            <a:pPr marL="742950" lvl="1" indent="-285750">
              <a:buFont typeface="+mj-lt"/>
              <a:buAutoNum type="arabicPeriod"/>
            </a:pPr>
            <a:r>
              <a:rPr lang="en-US" b="1" dirty="0"/>
              <a:t>Idiosyncratic returns:</a:t>
            </a:r>
            <a:r>
              <a:rPr lang="en-US" dirty="0"/>
              <a:t> The interaction of centrality with commodity shocks in Model 5 shows that a one standard deviation increase in centrality offsets about </a:t>
            </a:r>
            <a:r>
              <a:rPr lang="en-US" b="1" dirty="0"/>
              <a:t>32% of the negative impact</a:t>
            </a:r>
            <a:r>
              <a:rPr lang="en-US" dirty="0"/>
              <a:t>.</a:t>
            </a:r>
          </a:p>
          <a:p>
            <a:pPr>
              <a:buFont typeface="+mj-lt"/>
              <a:buAutoNum type="arabicPeriod"/>
            </a:pPr>
            <a:r>
              <a:rPr lang="en-US" b="1" dirty="0"/>
              <a:t>The strategic position of central firms mitigates the adverse effects of both types of shocks.</a:t>
            </a:r>
            <a:endParaRPr lang="en-US" dirty="0"/>
          </a:p>
          <a:p>
            <a:pPr marL="742950" lvl="1" indent="-285750">
              <a:buFont typeface="+mj-lt"/>
              <a:buAutoNum type="arabicPeriod"/>
            </a:pPr>
            <a:r>
              <a:rPr lang="en-US" dirty="0"/>
              <a:t>The results indicate central firms are insulated from negative shocks, as their business group status provides them a protective buffer, evidenced by significant negative coefficients on interaction terms.</a:t>
            </a:r>
          </a:p>
          <a:p>
            <a:r>
              <a:rPr lang="en-US" b="1" dirty="0"/>
              <a:t>What it shows simply:</a:t>
            </a:r>
            <a:br>
              <a:rPr lang="en-US" dirty="0"/>
            </a:br>
            <a:r>
              <a:rPr lang="en-US" dirty="0"/>
              <a:t>This table demonstrates that central firms within business groups are shielded from economic downturns or shocks, making them more resilient than non-central firms.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a:p>
        </p:txBody>
      </p:sp>
    </p:spTree>
    <p:extLst>
      <p:ext uri="{BB962C8B-B14F-4D97-AF65-F5344CB8AC3E}">
        <p14:creationId xmlns:p14="http://schemas.microsoft.com/office/powerpoint/2010/main" val="108418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Annual stock returns</a:t>
            </a:r>
            <a:r>
              <a:rPr lang="en-US" dirty="0"/>
              <a:t> (in percentage) are the dependent variable</a:t>
            </a:r>
            <a:br>
              <a:rPr lang="en-US" b="1" dirty="0"/>
            </a:br>
            <a:r>
              <a:rPr lang="en-US" b="1" dirty="0"/>
              <a:t>What it proves:</a:t>
            </a:r>
            <a:br>
              <a:rPr lang="en-US" dirty="0"/>
            </a:br>
            <a:r>
              <a:rPr lang="en-US" dirty="0"/>
              <a:t>This table shows how central firms react to exogenous sovereign downgrades and compares their resilience to non-central firms.</a:t>
            </a:r>
          </a:p>
          <a:p>
            <a:r>
              <a:rPr lang="en-US" b="1" dirty="0"/>
              <a:t>Key Takeaways:</a:t>
            </a:r>
            <a:endParaRPr lang="en-US" dirty="0"/>
          </a:p>
          <a:p>
            <a:pPr>
              <a:buFont typeface="+mj-lt"/>
              <a:buAutoNum type="arabicPeriod"/>
            </a:pPr>
            <a:r>
              <a:rPr lang="en-US" b="1" dirty="0"/>
              <a:t>Central firms are shielded from the negative impact of sovereign downgrades.</a:t>
            </a:r>
            <a:endParaRPr lang="en-US" dirty="0"/>
          </a:p>
          <a:p>
            <a:pPr marL="742950" lvl="1" indent="-285750">
              <a:buFont typeface="+mj-lt"/>
              <a:buAutoNum type="arabicPeriod"/>
            </a:pPr>
            <a:r>
              <a:rPr lang="en-US" dirty="0"/>
              <a:t>The interaction term </a:t>
            </a:r>
            <a:r>
              <a:rPr lang="en-US" b="1" dirty="0"/>
              <a:t>Centrality × Downgrade × Bound</a:t>
            </a:r>
            <a:r>
              <a:rPr lang="en-US" dirty="0"/>
              <a:t> has a positive coefficient (1.24 to 1.67 across models), meaning central firms face significantly less negative returns than non-central firms during downgrades.</a:t>
            </a:r>
          </a:p>
          <a:p>
            <a:pPr>
              <a:buFont typeface="+mj-lt"/>
              <a:buAutoNum type="arabicPeriod"/>
            </a:pPr>
            <a:r>
              <a:rPr lang="en-US" b="1" dirty="0"/>
              <a:t>Central firms exhibit strategic insulation.</a:t>
            </a:r>
            <a:endParaRPr lang="en-US" dirty="0"/>
          </a:p>
          <a:p>
            <a:pPr marL="742950" lvl="1" indent="-285750">
              <a:buFont typeface="+mj-lt"/>
              <a:buAutoNum type="arabicPeriod"/>
            </a:pPr>
            <a:r>
              <a:rPr lang="en-US" dirty="0"/>
              <a:t>The protection is strong: a </a:t>
            </a:r>
            <a:r>
              <a:rPr lang="en-US" b="1" dirty="0"/>
              <a:t>90% reduction</a:t>
            </a:r>
            <a:r>
              <a:rPr lang="en-US" dirty="0"/>
              <a:t> in the negative price impact for highly central firms is observed in the full model with all controls.</a:t>
            </a:r>
          </a:p>
          <a:p>
            <a:pPr>
              <a:buFont typeface="+mj-lt"/>
              <a:buAutoNum type="arabicPeriod"/>
            </a:pPr>
            <a:r>
              <a:rPr lang="en-US" b="1" dirty="0"/>
              <a:t>Downgraded countries see a lower impact on central firms.</a:t>
            </a:r>
            <a:endParaRPr lang="en-US" dirty="0"/>
          </a:p>
          <a:p>
            <a:pPr marL="742950" lvl="1" indent="-285750">
              <a:buFont typeface="+mj-lt"/>
              <a:buAutoNum type="arabicPeriod"/>
            </a:pPr>
            <a:r>
              <a:rPr lang="en-US" dirty="0"/>
              <a:t>The results highlight how business groups may use centrality to protect core assets even under severe external shocks like sovereign downgrades.</a:t>
            </a:r>
          </a:p>
          <a:p>
            <a:r>
              <a:rPr lang="en-US" b="1" dirty="0"/>
              <a:t>What it shows simply:</a:t>
            </a:r>
            <a:br>
              <a:rPr lang="en-US" dirty="0"/>
            </a:br>
            <a:r>
              <a:rPr lang="en-US" dirty="0"/>
              <a:t>Central firms are insulated by their strategic importance within business groups, shielding them from market downturns caused by sovereign credit downgrades.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13</a:t>
            </a:fld>
            <a:endParaRPr lang="en-US"/>
          </a:p>
        </p:txBody>
      </p:sp>
    </p:spTree>
    <p:extLst>
      <p:ext uri="{BB962C8B-B14F-4D97-AF65-F5344CB8AC3E}">
        <p14:creationId xmlns:p14="http://schemas.microsoft.com/office/powerpoint/2010/main" val="45137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Raw stock returns</a:t>
            </a:r>
            <a:r>
              <a:rPr lang="en-US" dirty="0"/>
              <a:t> (Panel A) and </a:t>
            </a:r>
            <a:r>
              <a:rPr lang="en-US" b="1" dirty="0"/>
              <a:t>DGTW-adjusted stock returns</a:t>
            </a:r>
            <a:r>
              <a:rPr lang="en-US" dirty="0"/>
              <a:t> (Panel B) are the dependent variables.</a:t>
            </a:r>
            <a:br>
              <a:rPr lang="en-US" b="1" dirty="0"/>
            </a:br>
            <a:r>
              <a:rPr lang="en-US" b="1" dirty="0"/>
              <a:t>What it proves:</a:t>
            </a:r>
            <a:br>
              <a:rPr lang="en-US" dirty="0"/>
            </a:br>
            <a:r>
              <a:rPr lang="en-US" dirty="0"/>
              <a:t>This table explores how centrality predicts stock returns by running </a:t>
            </a:r>
            <a:r>
              <a:rPr lang="en-US" dirty="0" err="1"/>
              <a:t>Fama</a:t>
            </a:r>
            <a:r>
              <a:rPr lang="en-US" dirty="0"/>
              <a:t>-MacBeth regressions, revealing whether centrality has a significant impact on stock performance.</a:t>
            </a:r>
          </a:p>
          <a:p>
            <a:r>
              <a:rPr lang="en-US" b="1" dirty="0"/>
              <a:t>Key Takeaways:</a:t>
            </a:r>
            <a:endParaRPr lang="en-US" dirty="0"/>
          </a:p>
          <a:p>
            <a:pPr>
              <a:buFont typeface="+mj-lt"/>
              <a:buAutoNum type="arabicPeriod"/>
            </a:pPr>
            <a:r>
              <a:rPr lang="en-US" b="1" dirty="0"/>
              <a:t>Higher centrality leads to lower stock returns.</a:t>
            </a:r>
            <a:endParaRPr lang="en-US" dirty="0"/>
          </a:p>
          <a:p>
            <a:pPr marL="742950" lvl="1" indent="-285750">
              <a:buFont typeface="+mj-lt"/>
              <a:buAutoNum type="arabicPeriod"/>
            </a:pPr>
            <a:r>
              <a:rPr lang="en-US" dirty="0"/>
              <a:t>Across all models, </a:t>
            </a:r>
            <a:r>
              <a:rPr lang="en-US" b="1" dirty="0"/>
              <a:t>centrality</a:t>
            </a:r>
            <a:r>
              <a:rPr lang="en-US" dirty="0"/>
              <a:t> consistently shows a negative relation with returns (e.g., -0.51 in Model 2), suggesting central firms underperform in terms of excess returns.</a:t>
            </a:r>
          </a:p>
          <a:p>
            <a:pPr>
              <a:buFont typeface="+mj-lt"/>
              <a:buAutoNum type="arabicPeriod"/>
            </a:pPr>
            <a:r>
              <a:rPr lang="en-US" b="1" dirty="0"/>
              <a:t>Size and value matter.</a:t>
            </a:r>
            <a:endParaRPr lang="en-US" dirty="0"/>
          </a:p>
          <a:p>
            <a:pPr marL="742950" lvl="1" indent="-285750">
              <a:buFont typeface="+mj-lt"/>
              <a:buAutoNum type="arabicPeriod"/>
            </a:pPr>
            <a:r>
              <a:rPr lang="en-US" dirty="0"/>
              <a:t>Firms with </a:t>
            </a:r>
            <a:r>
              <a:rPr lang="en-US" b="1" dirty="0"/>
              <a:t>higher book-to-market ratios</a:t>
            </a:r>
            <a:r>
              <a:rPr lang="en-US" dirty="0"/>
              <a:t> have higher returns (0.38 to 0.45), while firms with larger market values have lower returns (-0.11 to -0.06).</a:t>
            </a:r>
          </a:p>
          <a:p>
            <a:pPr>
              <a:buFont typeface="+mj-lt"/>
              <a:buAutoNum type="arabicPeriod"/>
            </a:pPr>
            <a:r>
              <a:rPr lang="en-US" b="1" dirty="0"/>
              <a:t>Lagged returns show negative momentum.</a:t>
            </a:r>
            <a:endParaRPr lang="en-US" dirty="0"/>
          </a:p>
          <a:p>
            <a:pPr marL="742950" lvl="1" indent="-285750">
              <a:buFont typeface="+mj-lt"/>
              <a:buAutoNum type="arabicPeriod"/>
            </a:pPr>
            <a:r>
              <a:rPr lang="en-US" dirty="0"/>
              <a:t>Firms that performed well in the past show negative future returns, suggesting a reversal pattern in central firms.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a:p>
        </p:txBody>
      </p:sp>
    </p:spTree>
    <p:extLst>
      <p:ext uri="{BB962C8B-B14F-4D97-AF65-F5344CB8AC3E}">
        <p14:creationId xmlns:p14="http://schemas.microsoft.com/office/powerpoint/2010/main" val="3248476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proves:</a:t>
            </a:r>
            <a:br>
              <a:rPr lang="en-US" dirty="0"/>
            </a:br>
            <a:r>
              <a:rPr lang="en-US" dirty="0"/>
              <a:t>This table explores how centrality predicts stock returns by running </a:t>
            </a:r>
            <a:r>
              <a:rPr lang="en-US" dirty="0" err="1"/>
              <a:t>Fama</a:t>
            </a:r>
            <a:r>
              <a:rPr lang="en-US" dirty="0"/>
              <a:t>-MacBeth regressions, revealing whether centrality has a significant impact on stock performance.</a:t>
            </a:r>
          </a:p>
          <a:p>
            <a:r>
              <a:rPr lang="en-US" b="1" dirty="0"/>
              <a:t>Key Takeaways:</a:t>
            </a:r>
            <a:endParaRPr lang="en-US" dirty="0"/>
          </a:p>
          <a:p>
            <a:pPr>
              <a:buFont typeface="+mj-lt"/>
              <a:buAutoNum type="arabicPeriod"/>
            </a:pPr>
            <a:r>
              <a:rPr lang="en-US" b="1" dirty="0"/>
              <a:t>Higher centrality leads to lower stock returns.</a:t>
            </a:r>
            <a:endParaRPr lang="en-US" dirty="0"/>
          </a:p>
          <a:p>
            <a:pPr marL="742950" lvl="1" indent="-285750">
              <a:buFont typeface="+mj-lt"/>
              <a:buAutoNum type="arabicPeriod"/>
            </a:pPr>
            <a:r>
              <a:rPr lang="en-US" dirty="0"/>
              <a:t>Across all models, </a:t>
            </a:r>
            <a:r>
              <a:rPr lang="en-US" b="1" dirty="0"/>
              <a:t>centrality</a:t>
            </a:r>
            <a:r>
              <a:rPr lang="en-US" dirty="0"/>
              <a:t> consistently shows a negative relation with returns (e.g., -0.51 in Model 2), suggesting central firms underperform in terms of excess returns.</a:t>
            </a:r>
          </a:p>
          <a:p>
            <a:pPr>
              <a:buFont typeface="+mj-lt"/>
              <a:buAutoNum type="arabicPeriod"/>
            </a:pPr>
            <a:r>
              <a:rPr lang="en-US" b="1" dirty="0"/>
              <a:t>Size and value matter.</a:t>
            </a:r>
            <a:endParaRPr lang="en-US" dirty="0"/>
          </a:p>
          <a:p>
            <a:pPr marL="742950" lvl="1" indent="-285750">
              <a:buFont typeface="+mj-lt"/>
              <a:buAutoNum type="arabicPeriod"/>
            </a:pPr>
            <a:r>
              <a:rPr lang="en-US" dirty="0"/>
              <a:t>Firms with </a:t>
            </a:r>
            <a:r>
              <a:rPr lang="en-US" b="1" dirty="0"/>
              <a:t>higher book-to-market ratios</a:t>
            </a:r>
            <a:r>
              <a:rPr lang="en-US" dirty="0"/>
              <a:t> have higher returns (0.38 to 0.45), while firms with larger market values have lower returns (-0.11 to -0.06).</a:t>
            </a:r>
          </a:p>
          <a:p>
            <a:pPr>
              <a:buFont typeface="+mj-lt"/>
              <a:buAutoNum type="arabicPeriod"/>
            </a:pPr>
            <a:r>
              <a:rPr lang="en-US" b="1" dirty="0"/>
              <a:t>Lagged returns show negative momentum.</a:t>
            </a:r>
            <a:endParaRPr lang="en-US" dirty="0"/>
          </a:p>
          <a:p>
            <a:pPr marL="742950" lvl="1" indent="-285750">
              <a:buFont typeface="+mj-lt"/>
              <a:buAutoNum type="arabicPeriod"/>
            </a:pPr>
            <a:r>
              <a:rPr lang="en-US" dirty="0"/>
              <a:t>Firms that performed well in the past show negative future returns, suggesting a reversal pattern in central firms.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a:p>
        </p:txBody>
      </p:sp>
    </p:spTree>
    <p:extLst>
      <p:ext uri="{BB962C8B-B14F-4D97-AF65-F5344CB8AC3E}">
        <p14:creationId xmlns:p14="http://schemas.microsoft.com/office/powerpoint/2010/main" val="2424095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risk-adjusted portfolio returns</a:t>
            </a:r>
            <a:r>
              <a:rPr lang="en-US" dirty="0"/>
              <a:t> (sorted by centrality) are the dependent variable</a:t>
            </a:r>
            <a:br>
              <a:rPr lang="en-US" dirty="0"/>
            </a:br>
            <a:br>
              <a:rPr lang="en-US" dirty="0"/>
            </a:br>
            <a:r>
              <a:rPr lang="en-US" dirty="0"/>
              <a:t>This table presents the performance of portfolios composed of central and non-central firms, highlighting the relative returns between them.</a:t>
            </a:r>
          </a:p>
          <a:p>
            <a:r>
              <a:rPr lang="en-US" b="1" dirty="0"/>
              <a:t>Key Takeaways:</a:t>
            </a:r>
            <a:endParaRPr lang="en-US" dirty="0"/>
          </a:p>
          <a:p>
            <a:pPr>
              <a:buFont typeface="+mj-lt"/>
              <a:buAutoNum type="arabicPeriod"/>
            </a:pPr>
            <a:r>
              <a:rPr lang="en-US" b="1" dirty="0"/>
              <a:t>Low-centrality firms outperform high-centrality firms.</a:t>
            </a:r>
            <a:endParaRPr lang="en-US" dirty="0"/>
          </a:p>
          <a:p>
            <a:pPr marL="742950" lvl="1" indent="-285750">
              <a:buFont typeface="+mj-lt"/>
              <a:buAutoNum type="arabicPeriod"/>
            </a:pPr>
            <a:r>
              <a:rPr lang="en-US" dirty="0"/>
              <a:t>In all specifications, </a:t>
            </a:r>
            <a:r>
              <a:rPr lang="en-US" b="1" dirty="0"/>
              <a:t>high-minus-low centrality portfolios</a:t>
            </a:r>
            <a:r>
              <a:rPr lang="en-US" dirty="0"/>
              <a:t> deliver negative returns (e.g., -0.72 in Model 2), indicating that low-centrality firms outperform.</a:t>
            </a:r>
          </a:p>
          <a:p>
            <a:pPr>
              <a:buFont typeface="+mj-lt"/>
              <a:buAutoNum type="arabicPeriod"/>
            </a:pPr>
            <a:r>
              <a:rPr lang="en-US" b="1" dirty="0"/>
              <a:t>Market risk dominates.</a:t>
            </a:r>
            <a:endParaRPr lang="en-US" dirty="0"/>
          </a:p>
          <a:p>
            <a:pPr marL="742950" lvl="1" indent="-285750">
              <a:buFont typeface="+mj-lt"/>
              <a:buAutoNum type="arabicPeriod"/>
            </a:pPr>
            <a:r>
              <a:rPr lang="en-US" dirty="0"/>
              <a:t>The </a:t>
            </a:r>
            <a:r>
              <a:rPr lang="en-US" b="1" dirty="0"/>
              <a:t>market factor</a:t>
            </a:r>
            <a:r>
              <a:rPr lang="en-US" dirty="0"/>
              <a:t> is highly significant and positive across models, contributing the most to portfolio returns (31.57 in Model 1).</a:t>
            </a:r>
          </a:p>
          <a:p>
            <a:pPr>
              <a:buFont typeface="+mj-lt"/>
              <a:buAutoNum type="arabicPeriod"/>
            </a:pPr>
            <a:r>
              <a:rPr lang="en-US" b="1" dirty="0"/>
              <a:t>Size and value factors are significant.</a:t>
            </a:r>
            <a:endParaRPr lang="en-US" dirty="0"/>
          </a:p>
          <a:p>
            <a:pPr marL="742950" lvl="1" indent="-285750">
              <a:buFont typeface="+mj-lt"/>
              <a:buAutoNum type="arabicPeriod"/>
            </a:pPr>
            <a:r>
              <a:rPr lang="en-US" dirty="0"/>
              <a:t>The </a:t>
            </a:r>
            <a:r>
              <a:rPr lang="en-US" b="1" dirty="0"/>
              <a:t>size factor</a:t>
            </a:r>
            <a:r>
              <a:rPr lang="en-US" dirty="0"/>
              <a:t> is negatively associated with returns (-29.96 in Model 1), while the </a:t>
            </a:r>
            <a:r>
              <a:rPr lang="en-US" b="1" dirty="0"/>
              <a:t>value factor</a:t>
            </a:r>
            <a:r>
              <a:rPr lang="en-US" dirty="0"/>
              <a:t> is positively related to returns (19.65 in Model 1).</a:t>
            </a:r>
          </a:p>
          <a:p>
            <a:r>
              <a:rPr lang="en-US" b="1" dirty="0"/>
              <a:t>What it shows simply:</a:t>
            </a:r>
            <a:br>
              <a:rPr lang="en-US" dirty="0"/>
            </a:br>
            <a:r>
              <a:rPr lang="en-US" dirty="0"/>
              <a:t>Firms with lower centrality generate better portfolio returns, likely because higher centrality firms are more conservative and less volatile.</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16</a:t>
            </a:fld>
            <a:endParaRPr lang="en-US"/>
          </a:p>
        </p:txBody>
      </p:sp>
    </p:spTree>
    <p:extLst>
      <p:ext uri="{BB962C8B-B14F-4D97-AF65-F5344CB8AC3E}">
        <p14:creationId xmlns:p14="http://schemas.microsoft.com/office/powerpoint/2010/main" val="722342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check</a:t>
            </a:r>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a:p>
        </p:txBody>
      </p:sp>
    </p:spTree>
    <p:extLst>
      <p:ext uri="{BB962C8B-B14F-4D97-AF65-F5344CB8AC3E}">
        <p14:creationId xmlns:p14="http://schemas.microsoft.com/office/powerpoint/2010/main" val="118970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compares the Sharpe ratios of different asset pricing models with and without the centrality factor, demonstrating that adding centrality improves risk-adjusted performance.</a:t>
            </a:r>
          </a:p>
          <a:p>
            <a:r>
              <a:rPr lang="en-US" b="1" dirty="0"/>
              <a:t>Key Takeaways:</a:t>
            </a:r>
            <a:endParaRPr lang="en-US" dirty="0"/>
          </a:p>
          <a:p>
            <a:pPr>
              <a:buFont typeface="+mj-lt"/>
              <a:buAutoNum type="arabicPeriod"/>
            </a:pPr>
            <a:r>
              <a:rPr lang="en-US" b="1" dirty="0"/>
              <a:t>Centrality factor enhances portfolio performance.</a:t>
            </a:r>
            <a:endParaRPr lang="en-US" dirty="0"/>
          </a:p>
          <a:p>
            <a:pPr marL="742950" lvl="1" indent="-285750">
              <a:buFont typeface="+mj-lt"/>
              <a:buAutoNum type="arabicPeriod"/>
            </a:pPr>
            <a:r>
              <a:rPr lang="en-US" b="1" dirty="0"/>
              <a:t>Squared Sharpe Ratio:</a:t>
            </a:r>
            <a:r>
              <a:rPr lang="en-US" dirty="0"/>
              <a:t> Adding centrality to a </a:t>
            </a:r>
            <a:r>
              <a:rPr lang="en-US" dirty="0" err="1"/>
              <a:t>Fama</a:t>
            </a:r>
            <a:r>
              <a:rPr lang="en-US" dirty="0"/>
              <a:t>-French 3-factor model increases the squared Sharpe ratio by 0.02 (Model 3F vs. 3F + CMP), showing improved risk-adjusted returns.</a:t>
            </a:r>
          </a:p>
          <a:p>
            <a:pPr>
              <a:buFont typeface="+mj-lt"/>
              <a:buAutoNum type="arabicPeriod"/>
            </a:pPr>
            <a:r>
              <a:rPr lang="en-US" b="1" dirty="0"/>
              <a:t>Statistically significant improvements.</a:t>
            </a:r>
            <a:endParaRPr lang="en-US" dirty="0"/>
          </a:p>
          <a:p>
            <a:pPr marL="742950" lvl="1" indent="-285750">
              <a:buFont typeface="+mj-lt"/>
              <a:buAutoNum type="arabicPeriod"/>
            </a:pPr>
            <a:r>
              <a:rPr lang="en-US" b="1" dirty="0"/>
              <a:t>P-values:</a:t>
            </a:r>
            <a:r>
              <a:rPr lang="en-US" dirty="0"/>
              <a:t> The improvement in the squared Sharpe ratio is statistically significant at the 5% level, with p-values of 0.00 for most comparisons, demonstrating that models with centrality outperform.</a:t>
            </a:r>
          </a:p>
          <a:p>
            <a:pPr>
              <a:buFont typeface="+mj-lt"/>
              <a:buAutoNum type="arabicPeriod"/>
            </a:pPr>
            <a:r>
              <a:rPr lang="en-US" b="1" dirty="0"/>
              <a:t>Robust across various models.</a:t>
            </a:r>
            <a:endParaRPr lang="en-US" dirty="0"/>
          </a:p>
          <a:p>
            <a:pPr marL="742950" lvl="1" indent="-285750">
              <a:buFont typeface="+mj-lt"/>
              <a:buAutoNum type="arabicPeriod"/>
            </a:pPr>
            <a:r>
              <a:rPr lang="en-US" b="1" dirty="0"/>
              <a:t>Model Comparisons:</a:t>
            </a:r>
            <a:r>
              <a:rPr lang="en-US" dirty="0"/>
              <a:t> Across the CAPM, </a:t>
            </a:r>
            <a:r>
              <a:rPr lang="en-US" dirty="0" err="1"/>
              <a:t>Fama</a:t>
            </a:r>
            <a:r>
              <a:rPr lang="en-US" dirty="0"/>
              <a:t>-French, and Carhart models, adding centrality consistently improves performance, reinforcing that centrality is a significant risk factor.</a:t>
            </a:r>
          </a:p>
          <a:p>
            <a:r>
              <a:rPr lang="en-US" b="1" dirty="0"/>
              <a:t>What it shows simply:</a:t>
            </a:r>
            <a:br>
              <a:rPr lang="en-US" dirty="0"/>
            </a:br>
            <a:r>
              <a:rPr lang="en-US" dirty="0"/>
              <a:t>This table highlights that including the centrality factor in asset pricing models improves their performance, as measured by the Sharpe ratio, indicating better risk-adjusted returns.</a:t>
            </a:r>
            <a:br>
              <a:rPr lang="en-US" dirty="0"/>
            </a:br>
            <a:br>
              <a:rPr lang="en-US" dirty="0"/>
            </a:br>
            <a:br>
              <a:rPr lang="en-US" dirty="0"/>
            </a:br>
            <a:r>
              <a:rPr lang="en-US" dirty="0"/>
              <a:t>CMP and ICRF refer to specific factors used in the asset pricing models being tested.</a:t>
            </a:r>
          </a:p>
          <a:p>
            <a:pPr>
              <a:buFont typeface="+mj-lt"/>
              <a:buAutoNum type="arabicPeriod"/>
            </a:pPr>
            <a:r>
              <a:rPr lang="en-US" b="1" dirty="0"/>
              <a:t>CMP (Central Minus Peripheral):</a:t>
            </a:r>
            <a:endParaRPr lang="en-US" dirty="0"/>
          </a:p>
          <a:p>
            <a:pPr marL="742950" lvl="1" indent="-285750">
              <a:buFont typeface="+mj-lt"/>
              <a:buAutoNum type="arabicPeriod"/>
            </a:pPr>
            <a:r>
              <a:rPr lang="en-US" dirty="0"/>
              <a:t>CMP is a </a:t>
            </a:r>
            <a:r>
              <a:rPr lang="en-US" b="1" dirty="0"/>
              <a:t>centrality-based factor</a:t>
            </a:r>
            <a:r>
              <a:rPr lang="en-US" dirty="0"/>
              <a:t> created by forming a mimicking portfolio of central firms versus peripheral firms. It is similar in concept to traditional factors like the market, size, or value factors in asset pricing models (e.g., the SMB factor for size). The CMP factor represents the difference in returns between central firms (which are more important in business groups) and peripheral firms (less important), and it's used to capture the effect of centrality on stock returns.</a:t>
            </a:r>
          </a:p>
          <a:p>
            <a:pPr>
              <a:buFont typeface="+mj-lt"/>
              <a:buAutoNum type="arabicPeriod"/>
            </a:pPr>
            <a:r>
              <a:rPr lang="en-US" b="1" dirty="0"/>
              <a:t>ICRF (Intertemporal Centrality Risk Factor):</a:t>
            </a:r>
            <a:endParaRPr lang="en-US" dirty="0"/>
          </a:p>
          <a:p>
            <a:pPr marL="742950" lvl="1" indent="-285750">
              <a:buFont typeface="+mj-lt"/>
              <a:buAutoNum type="arabicPeriod"/>
            </a:pPr>
            <a:r>
              <a:rPr lang="en-US" dirty="0"/>
              <a:t>ICRF is an </a:t>
            </a:r>
            <a:r>
              <a:rPr lang="en-US" b="1" dirty="0"/>
              <a:t>intertemporal risk factor</a:t>
            </a:r>
            <a:r>
              <a:rPr lang="en-US" dirty="0"/>
              <a:t> associated with centrality, based on the idea that central firms face different risk dynamics over time compared to peripheral firms. It builds on the notion from Merton's Intertemporal Capital Asset Pricing Model (ICAPM), where long-term investors hedge against changes in their investment opportunities. The ICRF represents risks that arise due to the strategic behavior of business groups in reallocating risk between central and peripheral firms over time.</a:t>
            </a:r>
          </a:p>
          <a:p>
            <a:r>
              <a:rPr lang="en-US" dirty="0"/>
              <a:t>In short, CMP and ICRF are both factors designed to capture the influence of </a:t>
            </a:r>
            <a:r>
              <a:rPr lang="en-US" b="1" dirty="0"/>
              <a:t>centrality</a:t>
            </a:r>
            <a:r>
              <a:rPr lang="en-US" dirty="0"/>
              <a:t> on asset returns, but CMP is a cross-sectional factor, while ICRF is an intertemporal risk factor.</a:t>
            </a:r>
          </a:p>
          <a:p>
            <a:endParaRPr lang="en-US" dirty="0"/>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20</a:t>
            </a:fld>
            <a:endParaRPr lang="en-US"/>
          </a:p>
        </p:txBody>
      </p:sp>
    </p:spTree>
    <p:extLst>
      <p:ext uri="{BB962C8B-B14F-4D97-AF65-F5344CB8AC3E}">
        <p14:creationId xmlns:p14="http://schemas.microsoft.com/office/powerpoint/2010/main" val="3238966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stock returns</a:t>
            </a:r>
            <a:r>
              <a:rPr lang="en-US" dirty="0"/>
              <a:t> (monthly or annual, depending on the specific model) are the dependent variable. The table explores how central firms perform under different states of economic uncertainty (e.g., high VIX, high default spreads).</a:t>
            </a:r>
            <a:br>
              <a:rPr lang="en-US" dirty="0"/>
            </a:br>
            <a:br>
              <a:rPr lang="en-US" dirty="0"/>
            </a:br>
            <a:r>
              <a:rPr lang="en-US" dirty="0"/>
              <a:t>This table examines the relationship between centrality and stock returns across different states of the economy, showing that central firms perform differently based on economic conditions.</a:t>
            </a:r>
          </a:p>
          <a:p>
            <a:r>
              <a:rPr lang="en-US" b="1" dirty="0"/>
              <a:t>Key Takeaways:</a:t>
            </a:r>
            <a:endParaRPr lang="en-US" dirty="0"/>
          </a:p>
          <a:p>
            <a:pPr>
              <a:buFont typeface="+mj-lt"/>
              <a:buAutoNum type="arabicPeriod"/>
            </a:pPr>
            <a:r>
              <a:rPr lang="en-US" b="1" dirty="0"/>
              <a:t>Higher centrality firms perform worse during periods of high uncertainty.</a:t>
            </a:r>
            <a:endParaRPr lang="en-US" dirty="0"/>
          </a:p>
          <a:p>
            <a:pPr marL="742950" lvl="1" indent="-285750">
              <a:buFont typeface="+mj-lt"/>
              <a:buAutoNum type="arabicPeriod"/>
            </a:pPr>
            <a:r>
              <a:rPr lang="en-US" b="1" dirty="0"/>
              <a:t>Coefficient:</a:t>
            </a:r>
            <a:r>
              <a:rPr lang="en-US" dirty="0"/>
              <a:t> Centrality is negatively associated with returns during high VIX periods (-0.79), indicating central firms are more vulnerable to economic uncertainty.</a:t>
            </a:r>
          </a:p>
          <a:p>
            <a:pPr>
              <a:buFont typeface="+mj-lt"/>
              <a:buAutoNum type="arabicPeriod"/>
            </a:pPr>
            <a:r>
              <a:rPr lang="en-US" b="1" dirty="0"/>
              <a:t>Mixed performance in different economic states.</a:t>
            </a:r>
            <a:endParaRPr lang="en-US" dirty="0"/>
          </a:p>
          <a:p>
            <a:pPr marL="742950" lvl="1" indent="-285750">
              <a:buFont typeface="+mj-lt"/>
              <a:buAutoNum type="arabicPeriod"/>
            </a:pPr>
            <a:r>
              <a:rPr lang="en-US" b="1" dirty="0"/>
              <a:t>Default Spread:</a:t>
            </a:r>
            <a:r>
              <a:rPr lang="en-US" dirty="0"/>
              <a:t> In high default spread periods, central firms have a lower return (-0.51), but the effect is less severe compared to VIX periods.</a:t>
            </a:r>
          </a:p>
          <a:p>
            <a:pPr>
              <a:buFont typeface="+mj-lt"/>
              <a:buAutoNum type="arabicPeriod"/>
            </a:pPr>
            <a:r>
              <a:rPr lang="en-US" b="1" dirty="0"/>
              <a:t>In low uncertainty, centrality has less influence.</a:t>
            </a:r>
            <a:endParaRPr lang="en-US" dirty="0"/>
          </a:p>
          <a:p>
            <a:pPr marL="742950" lvl="1" indent="-285750">
              <a:buFont typeface="+mj-lt"/>
              <a:buAutoNum type="arabicPeriod"/>
            </a:pPr>
            <a:r>
              <a:rPr lang="en-US" b="1" dirty="0"/>
              <a:t>Low Uncertainty Periods:</a:t>
            </a:r>
            <a:r>
              <a:rPr lang="en-US" dirty="0"/>
              <a:t> The coefficients for centrality during low VIX and low default spread periods are not statistically significant, </a:t>
            </a:r>
            <a:r>
              <a:rPr lang="en-US" b="1" dirty="0"/>
              <a:t>suggesting that centrality matters most during crises</a:t>
            </a:r>
            <a:r>
              <a:rPr lang="en-US" dirty="0"/>
              <a:t>.</a:t>
            </a:r>
          </a:p>
          <a:p>
            <a:r>
              <a:rPr lang="en-US" b="1" dirty="0"/>
              <a:t>What it shows simply:</a:t>
            </a:r>
            <a:br>
              <a:rPr lang="en-US" dirty="0"/>
            </a:br>
            <a:r>
              <a:rPr lang="en-US" dirty="0"/>
              <a:t>This table demonstrates that central firms are more vulnerable during economic downturns, but in stable periods, their centrality has less impact on returns.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22</a:t>
            </a:fld>
            <a:endParaRPr lang="en-US"/>
          </a:p>
        </p:txBody>
      </p:sp>
    </p:spTree>
    <p:extLst>
      <p:ext uri="{BB962C8B-B14F-4D97-AF65-F5344CB8AC3E}">
        <p14:creationId xmlns:p14="http://schemas.microsoft.com/office/powerpoint/2010/main" val="3533276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dirty="0"/>
              <a:t>The </a:t>
            </a:r>
            <a:r>
              <a:rPr lang="en-US" b="1" dirty="0"/>
              <a:t>stock returns</a:t>
            </a:r>
            <a:r>
              <a:rPr lang="en-US" dirty="0"/>
              <a:t> (raw and adjusted) are the dependent variable.</a:t>
            </a:r>
            <a:br>
              <a:rPr lang="en-US" dirty="0"/>
            </a:br>
            <a:br>
              <a:rPr lang="en-US" dirty="0"/>
            </a:br>
            <a:r>
              <a:rPr lang="en-US" b="1" dirty="0"/>
              <a:t>E1 (Dummy for Highest Stake of Ultimate Owner):</a:t>
            </a:r>
            <a:endParaRPr lang="en-US" dirty="0"/>
          </a:p>
          <a:p>
            <a:pPr marL="742950" lvl="1" indent="-285750">
              <a:buFont typeface="+mj-lt"/>
              <a:buAutoNum type="arabicPeriod"/>
            </a:pPr>
            <a:r>
              <a:rPr lang="en-US" dirty="0"/>
              <a:t>E1 is a </a:t>
            </a:r>
            <a:r>
              <a:rPr lang="en-US" b="1" dirty="0"/>
              <a:t>dummy variable</a:t>
            </a:r>
            <a:r>
              <a:rPr lang="en-US" dirty="0"/>
              <a:t> that equals 1 if the firm has the </a:t>
            </a:r>
            <a:r>
              <a:rPr lang="en-US" b="1" dirty="0"/>
              <a:t>highest ownership stake</a:t>
            </a:r>
            <a:r>
              <a:rPr lang="en-US" dirty="0"/>
              <a:t> by the ultimate owner within the business group, and 0 otherwise. It is used to identify the firm in the group where the ultimate owner holds the most significant direct ownership stake. This measure is commonly used to represent the firm that plays a crucial role in control, since it has the highest direct ownership.</a:t>
            </a:r>
          </a:p>
          <a:p>
            <a:pPr>
              <a:buFont typeface="+mj-lt"/>
              <a:buAutoNum type="arabicPeriod"/>
            </a:pPr>
            <a:r>
              <a:rPr lang="en-US" b="1" dirty="0"/>
              <a:t>E2 (Dummy for Highest Value of Owned Cash Flow Rights):</a:t>
            </a:r>
            <a:endParaRPr lang="en-US" dirty="0"/>
          </a:p>
          <a:p>
            <a:pPr marL="742950" lvl="1" indent="-285750">
              <a:buFont typeface="+mj-lt"/>
              <a:buAutoNum type="arabicPeriod"/>
            </a:pPr>
            <a:r>
              <a:rPr lang="en-US" dirty="0"/>
              <a:t>E2 is a </a:t>
            </a:r>
            <a:r>
              <a:rPr lang="en-US" b="1" dirty="0"/>
              <a:t>dummy variable</a:t>
            </a:r>
            <a:r>
              <a:rPr lang="en-US" dirty="0"/>
              <a:t> that equals 1 if the firm has the </a:t>
            </a:r>
            <a:r>
              <a:rPr lang="en-US" b="1" dirty="0"/>
              <a:t>highest cash flow rights</a:t>
            </a:r>
            <a:r>
              <a:rPr lang="en-US" dirty="0"/>
              <a:t> within the business group, and 0 otherwise. This means that E2 identifies the firm in the group where the ultimate owner is entitled to the largest share of the group's cash flows. It reflects the separation of control and cash flow rights, which can occur when the firm with the highest control (E1) is not necessarily the firm receiving the most cash flows.</a:t>
            </a:r>
          </a:p>
          <a:p>
            <a:r>
              <a:rPr lang="en-US" dirty="0"/>
              <a:t>In summary, </a:t>
            </a:r>
            <a:r>
              <a:rPr lang="en-US" b="1" dirty="0"/>
              <a:t>E1</a:t>
            </a:r>
            <a:r>
              <a:rPr lang="en-US" dirty="0"/>
              <a:t> is focused on ownership control, while </a:t>
            </a:r>
            <a:r>
              <a:rPr lang="en-US" b="1" dirty="0"/>
              <a:t>E2</a:t>
            </a:r>
            <a:r>
              <a:rPr lang="en-US" dirty="0"/>
              <a:t> is centered on cash flow entitlements. Both E1 and E2 are used in robustness tests to see how different aspects of centrality (control vs. cash flows) affect stock performance.</a:t>
            </a:r>
          </a:p>
          <a:p>
            <a:br>
              <a:rPr lang="en-US" dirty="0"/>
            </a:br>
            <a:br>
              <a:rPr lang="en-US" dirty="0"/>
            </a:br>
            <a:r>
              <a:rPr lang="en-US" dirty="0"/>
              <a:t>This table explores alternative ways to measure centrality and their impact on returns, showing that central firms consistently have lower returns across different metrics.</a:t>
            </a:r>
          </a:p>
          <a:p>
            <a:r>
              <a:rPr lang="en-US" b="1" dirty="0"/>
              <a:t>Key Takeaways:</a:t>
            </a:r>
            <a:endParaRPr lang="en-US" dirty="0"/>
          </a:p>
          <a:p>
            <a:pPr>
              <a:buFont typeface="+mj-lt"/>
              <a:buAutoNum type="arabicPeriod"/>
            </a:pPr>
            <a:r>
              <a:rPr lang="en-US" b="1" dirty="0"/>
              <a:t>Firms with the highest stake of ultimate owners perform worse.</a:t>
            </a:r>
            <a:endParaRPr lang="en-US" dirty="0"/>
          </a:p>
          <a:p>
            <a:pPr marL="742950" lvl="1" indent="-285750">
              <a:buFont typeface="+mj-lt"/>
              <a:buAutoNum type="arabicPeriod"/>
            </a:pPr>
            <a:r>
              <a:rPr lang="en-US" b="1" dirty="0"/>
              <a:t>Coefficient:</a:t>
            </a:r>
            <a:r>
              <a:rPr lang="en-US" dirty="0"/>
              <a:t> Firms with the highest ownership stake (E1) have significantly lower returns (-0.40), suggesting a strong negative relationship between ownership concentration and performance.</a:t>
            </a:r>
          </a:p>
          <a:p>
            <a:pPr>
              <a:buFont typeface="+mj-lt"/>
              <a:buAutoNum type="arabicPeriod"/>
            </a:pPr>
            <a:r>
              <a:rPr lang="en-US" b="1" dirty="0"/>
              <a:t>Cash flow rights and returns show a weaker link.</a:t>
            </a:r>
            <a:endParaRPr lang="en-US" dirty="0"/>
          </a:p>
          <a:p>
            <a:pPr marL="742950" lvl="1" indent="-285750">
              <a:buFont typeface="+mj-lt"/>
              <a:buAutoNum type="arabicPeriod"/>
            </a:pPr>
            <a:r>
              <a:rPr lang="en-US" b="1" dirty="0"/>
              <a:t>Coefficient:</a:t>
            </a:r>
            <a:r>
              <a:rPr lang="en-US" dirty="0"/>
              <a:t> The impact of cash flow rights (E2) on returns is smaller (-0.06) and not significant, indicating this measure has less predictive power than ownership stakes.</a:t>
            </a:r>
          </a:p>
          <a:p>
            <a:pPr>
              <a:buFont typeface="+mj-lt"/>
              <a:buAutoNum type="arabicPeriod"/>
            </a:pPr>
            <a:r>
              <a:rPr lang="en-US" b="1" dirty="0"/>
              <a:t>Consistent findings across centrality measures.</a:t>
            </a:r>
            <a:endParaRPr lang="en-US" dirty="0"/>
          </a:p>
          <a:p>
            <a:pPr marL="742950" lvl="1" indent="-285750">
              <a:buFont typeface="+mj-lt"/>
              <a:buAutoNum type="arabicPeriod"/>
            </a:pPr>
            <a:r>
              <a:rPr lang="en-US" b="1" dirty="0"/>
              <a:t>Centrality Dummy:</a:t>
            </a:r>
            <a:r>
              <a:rPr lang="en-US" dirty="0"/>
              <a:t> The centrality dummy variable is also negatively related to returns, confirming the robustness of the centrality-return relationship across different definitions.</a:t>
            </a:r>
          </a:p>
          <a:p>
            <a:r>
              <a:rPr lang="en-US" b="1" dirty="0"/>
              <a:t>What it shows simply:</a:t>
            </a:r>
            <a:br>
              <a:rPr lang="en-US" dirty="0"/>
            </a:br>
            <a:r>
              <a:rPr lang="en-US" dirty="0"/>
              <a:t>Different ways to measure centrality (ownership stake, cash flow rights) consistently show that central firms have lower returns, reinforcing the negative impact of centrality on performance.</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a:p>
        </p:txBody>
      </p:sp>
    </p:spTree>
    <p:extLst>
      <p:ext uri="{BB962C8B-B14F-4D97-AF65-F5344CB8AC3E}">
        <p14:creationId xmlns:p14="http://schemas.microsoft.com/office/powerpoint/2010/main" val="2880321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Dependent Variable:</a:t>
            </a:r>
            <a:br>
              <a:rPr lang="en-US" dirty="0"/>
            </a:br>
            <a:r>
              <a:rPr lang="en-US" dirty="0"/>
              <a:t>The </a:t>
            </a:r>
            <a:r>
              <a:rPr lang="en-US" b="1" dirty="0"/>
              <a:t>idiosyncratic volatility</a:t>
            </a:r>
            <a:r>
              <a:rPr lang="en-US" dirty="0"/>
              <a:t> of firms is the dependent variable. The table examines the relationship between centrality and the amount of firm-specific risk (volatility not explained by market movements).</a:t>
            </a:r>
            <a:br>
              <a:rPr lang="en-US" dirty="0"/>
            </a:br>
            <a:br>
              <a:rPr lang="en-US" dirty="0"/>
            </a:br>
            <a:r>
              <a:rPr lang="en-US" dirty="0"/>
              <a:t>This table tests the relationship between centrality and idiosyncratic risk, showing that more central firms tend to have lower idiosyncratic volatility.</a:t>
            </a:r>
          </a:p>
          <a:p>
            <a:r>
              <a:rPr lang="en-US" b="1" dirty="0"/>
              <a:t>Key Takeaways:</a:t>
            </a:r>
            <a:endParaRPr lang="en-US" dirty="0"/>
          </a:p>
          <a:p>
            <a:pPr>
              <a:buFont typeface="+mj-lt"/>
              <a:buAutoNum type="arabicPeriod"/>
            </a:pPr>
            <a:r>
              <a:rPr lang="en-US" b="1" dirty="0"/>
              <a:t>Central firms have lower idiosyncratic risk.</a:t>
            </a:r>
            <a:endParaRPr lang="en-US" dirty="0"/>
          </a:p>
          <a:p>
            <a:pPr marL="742950" lvl="1" indent="-285750">
              <a:buFont typeface="+mj-lt"/>
              <a:buAutoNum type="arabicPeriod"/>
            </a:pPr>
            <a:r>
              <a:rPr lang="en-US" b="1" dirty="0"/>
              <a:t>Coefficient:</a:t>
            </a:r>
            <a:r>
              <a:rPr lang="en-US" dirty="0"/>
              <a:t> Centrality is negatively associated with idiosyncratic volatility (-0.03), indicating that more central firms experience less firm-specific risk.</a:t>
            </a:r>
          </a:p>
          <a:p>
            <a:pPr>
              <a:buFont typeface="+mj-lt"/>
              <a:buAutoNum type="arabicPeriod"/>
            </a:pPr>
            <a:r>
              <a:rPr lang="en-US" b="1" dirty="0"/>
              <a:t>Economic significance of the effect.</a:t>
            </a:r>
            <a:endParaRPr lang="en-US" dirty="0"/>
          </a:p>
          <a:p>
            <a:pPr marL="742950" lvl="1" indent="-285750">
              <a:buFont typeface="+mj-lt"/>
              <a:buAutoNum type="arabicPeriod"/>
            </a:pPr>
            <a:r>
              <a:rPr lang="en-US" b="1" dirty="0"/>
              <a:t>Impact:</a:t>
            </a:r>
            <a:r>
              <a:rPr lang="en-US" dirty="0"/>
              <a:t> A one standard deviation increase in centrality results in a 0.01 decrease in idiosyncratic volatility, which is economically significant, reducing risk by about 0.1 standard deviations.</a:t>
            </a:r>
          </a:p>
          <a:p>
            <a:pPr>
              <a:buFont typeface="+mj-lt"/>
              <a:buAutoNum type="arabicPeriod"/>
            </a:pPr>
            <a:r>
              <a:rPr lang="en-US" b="1" dirty="0"/>
              <a:t>Robust findings across models.</a:t>
            </a:r>
            <a:endParaRPr lang="en-US" dirty="0"/>
          </a:p>
          <a:p>
            <a:pPr marL="742950" lvl="1" indent="-285750">
              <a:buFont typeface="+mj-lt"/>
              <a:buAutoNum type="arabicPeriod"/>
            </a:pPr>
            <a:r>
              <a:rPr lang="en-US" b="1" dirty="0"/>
              <a:t>Various Controls:</a:t>
            </a:r>
            <a:r>
              <a:rPr lang="en-US" dirty="0"/>
              <a:t> The negative relationship between centrality and idiosyncratic volatility holds across different model specifications, showing the robustness of the results.</a:t>
            </a:r>
          </a:p>
          <a:p>
            <a:r>
              <a:rPr lang="en-US" b="1" dirty="0"/>
              <a:t>What it shows simply:</a:t>
            </a:r>
            <a:br>
              <a:rPr lang="en-US" dirty="0"/>
            </a:br>
            <a:r>
              <a:rPr lang="en-US" dirty="0"/>
              <a:t>This table demonstrates that central firms have lower idiosyncratic risk, meaning they are less exposed to firm-specific shocks, likely due to strategic risk reallocation within business groups.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24</a:t>
            </a:fld>
            <a:endParaRPr lang="en-US"/>
          </a:p>
        </p:txBody>
      </p:sp>
    </p:spTree>
    <p:extLst>
      <p:ext uri="{BB962C8B-B14F-4D97-AF65-F5344CB8AC3E}">
        <p14:creationId xmlns:p14="http://schemas.microsoft.com/office/powerpoint/2010/main" val="2881556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b="1" dirty="0"/>
              <a:t>Central firms are strategically protected within business groups, especially during bad economic times.</a:t>
            </a:r>
            <a:endParaRPr lang="en-US" dirty="0"/>
          </a:p>
          <a:p>
            <a:pPr marL="742950" lvl="1" indent="-285750">
              <a:buFont typeface="+mj-lt"/>
              <a:buAutoNum type="arabicPeriod"/>
            </a:pPr>
            <a:r>
              <a:rPr lang="en-US" dirty="0"/>
              <a:t>Central firms (those critical to group control) are better shielded from negative economic shocks, such as industry downturns or sovereign downgrades. For example, a one standard deviation increase in centrality offsets about </a:t>
            </a:r>
            <a:r>
              <a:rPr lang="en-US" b="1" dirty="0"/>
              <a:t>12% of the negative impact of industry shocks</a:t>
            </a:r>
            <a:r>
              <a:rPr lang="en-US" dirty="0"/>
              <a:t> and </a:t>
            </a:r>
            <a:r>
              <a:rPr lang="en-US" b="1" dirty="0"/>
              <a:t>90% of the negative impact of sovereign downgrades</a:t>
            </a:r>
            <a:r>
              <a:rPr lang="en-US" dirty="0"/>
              <a:t>. This strategic risk reallocation protects these firms, while peripheral firms bear more risk.</a:t>
            </a:r>
          </a:p>
          <a:p>
            <a:pPr>
              <a:buFont typeface="+mj-lt"/>
              <a:buAutoNum type="arabicPeriod"/>
            </a:pPr>
            <a:r>
              <a:rPr lang="en-US" b="1" dirty="0"/>
              <a:t>Central firms consistently earn lower returns compared to non-central firms.</a:t>
            </a:r>
            <a:endParaRPr lang="en-US" dirty="0"/>
          </a:p>
          <a:p>
            <a:pPr marL="742950" lvl="1" indent="-285750">
              <a:buFont typeface="+mj-lt"/>
              <a:buAutoNum type="arabicPeriod"/>
            </a:pPr>
            <a:r>
              <a:rPr lang="en-US" dirty="0"/>
              <a:t>The paper finds that central firms have lower expected stock returns than peripheral firms, despite being better protected from risk. For instance, a one standard deviation increase in centrality is associated with a </a:t>
            </a:r>
            <a:r>
              <a:rPr lang="en-US" b="1" dirty="0"/>
              <a:t>14 basis points lower monthly return</a:t>
            </a:r>
            <a:r>
              <a:rPr lang="en-US" dirty="0"/>
              <a:t> (DGTW-adjusted). This suggests that the market prices in the protection given to central firms, leading to a lower risk premium.</a:t>
            </a:r>
          </a:p>
          <a:p>
            <a:pPr>
              <a:buFont typeface="+mj-lt"/>
              <a:buAutoNum type="arabicPeriod"/>
            </a:pPr>
            <a:r>
              <a:rPr lang="en-US" b="1" dirty="0"/>
              <a:t>The centrality factor (CMP) is a significant addition to traditional asset pricing models.</a:t>
            </a:r>
            <a:endParaRPr lang="en-US" dirty="0"/>
          </a:p>
          <a:p>
            <a:pPr marL="742950" lvl="1" indent="-285750">
              <a:buFont typeface="+mj-lt"/>
              <a:buAutoNum type="arabicPeriod"/>
            </a:pPr>
            <a:r>
              <a:rPr lang="en-US" dirty="0"/>
              <a:t>The introduction of the </a:t>
            </a:r>
            <a:r>
              <a:rPr lang="en-US" b="1" dirty="0"/>
              <a:t>Central Minus Peripheral (CMP)</a:t>
            </a:r>
            <a:r>
              <a:rPr lang="en-US" dirty="0"/>
              <a:t> factor significantly improves the explanatory power of traditional models like the </a:t>
            </a:r>
            <a:r>
              <a:rPr lang="en-US" dirty="0" err="1"/>
              <a:t>Fama</a:t>
            </a:r>
            <a:r>
              <a:rPr lang="en-US" dirty="0"/>
              <a:t>-French 3-factor or Carhart 4-factor models. The CMP factor captures the unique risks and return dynamics of central firms in business groups, and adding it increases the </a:t>
            </a:r>
            <a:r>
              <a:rPr lang="en-US" b="1" dirty="0"/>
              <a:t>Sharpe ratio</a:t>
            </a:r>
            <a:r>
              <a:rPr lang="en-US" dirty="0"/>
              <a:t> and overall model performance. This demonstrates that traditional asset pricing models, which don't account for strategic business groups, are incomplete.</a:t>
            </a:r>
          </a:p>
          <a:p>
            <a:r>
              <a:rPr lang="en-US" dirty="0"/>
              <a:t>These findings collectively highlight the critical role of </a:t>
            </a:r>
            <a:r>
              <a:rPr lang="en-US" b="1" dirty="0"/>
              <a:t>business group structure</a:t>
            </a:r>
            <a:r>
              <a:rPr lang="en-US" dirty="0"/>
              <a:t> and </a:t>
            </a:r>
            <a:r>
              <a:rPr lang="en-US" b="1" dirty="0"/>
              <a:t>strategic centrality</a:t>
            </a:r>
            <a:r>
              <a:rPr lang="en-US" dirty="0"/>
              <a:t> in shaping risk, returns, and asset pricing in international markets.</a:t>
            </a:r>
          </a:p>
          <a:p>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a:p>
        </p:txBody>
      </p:sp>
    </p:spTree>
    <p:extLst>
      <p:ext uri="{BB962C8B-B14F-4D97-AF65-F5344CB8AC3E}">
        <p14:creationId xmlns:p14="http://schemas.microsoft.com/office/powerpoint/2010/main" val="3882397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10/1/2024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10/1/2024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10/1/2024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10/1/2024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10/1/2024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10/1/2024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8264"/>
            <a:ext cx="7772400" cy="1102519"/>
          </a:xfrm>
        </p:spPr>
        <p:txBody>
          <a:bodyPr>
            <a:normAutofit fontScale="90000"/>
          </a:bodyPr>
          <a:lstStyle/>
          <a:p>
            <a:r>
              <a:rPr lang="en-US" sz="3600" dirty="0">
                <a:ea typeface="+mj-lt"/>
                <a:cs typeface="+mj-lt"/>
              </a:rPr>
              <a:t>International Asset Pricing with Strategic Business Groups</a:t>
            </a:r>
          </a:p>
        </p:txBody>
      </p:sp>
      <p:sp>
        <p:nvSpPr>
          <p:cNvPr id="3" name="Subtitle 2"/>
          <p:cNvSpPr>
            <a:spLocks noGrp="1"/>
          </p:cNvSpPr>
          <p:nvPr>
            <p:ph type="subTitle" idx="1"/>
          </p:nvPr>
        </p:nvSpPr>
        <p:spPr>
          <a:xfrm>
            <a:off x="1073150" y="1589529"/>
            <a:ext cx="6997700" cy="2639787"/>
          </a:xfrm>
        </p:spPr>
        <p:txBody>
          <a:bodyPr vert="horz" lIns="91440" tIns="45720" rIns="91440" bIns="45720" rtlCol="0" anchor="t">
            <a:normAutofit fontScale="62500" lnSpcReduction="20000"/>
          </a:bodyPr>
          <a:lstStyle/>
          <a:p>
            <a:endParaRPr lang="en-US" sz="2900" b="1" dirty="0">
              <a:solidFill>
                <a:schemeClr val="tx1"/>
              </a:solidFill>
              <a:latin typeface="+mj-lt"/>
              <a:ea typeface="Calibri"/>
              <a:cs typeface="Times New Roman" panose="02020603050405020304" pitchFamily="18" charset="0"/>
            </a:endParaRPr>
          </a:p>
          <a:p>
            <a:r>
              <a:rPr lang="en-US" sz="2900" b="1" dirty="0">
                <a:solidFill>
                  <a:schemeClr val="tx1"/>
                </a:solidFill>
                <a:ea typeface="Calibri"/>
                <a:cs typeface="Calibri"/>
              </a:rPr>
              <a:t>Massimo Massa</a:t>
            </a:r>
            <a:br>
              <a:rPr lang="en-US" sz="2900" dirty="0">
                <a:solidFill>
                  <a:schemeClr val="tx1"/>
                </a:solidFill>
                <a:ea typeface="Calibri"/>
                <a:cs typeface="Calibri"/>
              </a:rPr>
            </a:br>
            <a:r>
              <a:rPr lang="en-US" sz="2900" dirty="0">
                <a:solidFill>
                  <a:schemeClr val="tx1"/>
                </a:solidFill>
                <a:ea typeface="Calibri"/>
                <a:cs typeface="Calibri"/>
              </a:rPr>
              <a:t>INSEAD, 1 Ayer Rajah Avenue, Singapore 138676, Singapore</a:t>
            </a:r>
          </a:p>
          <a:p>
            <a:br>
              <a:rPr lang="en-US" sz="2900" b="1" dirty="0">
                <a:ea typeface="Calibri"/>
                <a:cs typeface="Calibri"/>
              </a:rPr>
            </a:br>
            <a:r>
              <a:rPr lang="en-US" sz="2900" b="1" dirty="0">
                <a:solidFill>
                  <a:schemeClr val="tx1"/>
                </a:solidFill>
                <a:ea typeface="Calibri"/>
                <a:cs typeface="Calibri"/>
              </a:rPr>
              <a:t>James O’Donovan</a:t>
            </a:r>
            <a:br>
              <a:rPr lang="en-US" sz="2900" dirty="0">
                <a:solidFill>
                  <a:schemeClr val="tx1"/>
                </a:solidFill>
                <a:ea typeface="Calibri"/>
                <a:cs typeface="Calibri"/>
              </a:rPr>
            </a:br>
            <a:r>
              <a:rPr lang="en-US" sz="2900" dirty="0">
                <a:solidFill>
                  <a:schemeClr val="tx1"/>
                </a:solidFill>
                <a:ea typeface="Calibri"/>
                <a:cs typeface="Calibri"/>
              </a:rPr>
              <a:t>City University of Hong Kong, Hong Kong</a:t>
            </a:r>
          </a:p>
          <a:p>
            <a:br>
              <a:rPr lang="en-US" sz="2900" dirty="0">
                <a:solidFill>
                  <a:schemeClr val="tx1"/>
                </a:solidFill>
                <a:ea typeface="Calibri"/>
                <a:cs typeface="Calibri"/>
              </a:rPr>
            </a:br>
            <a:r>
              <a:rPr lang="en-US" sz="2900" b="1" dirty="0">
                <a:solidFill>
                  <a:schemeClr val="tx1"/>
                </a:solidFill>
                <a:ea typeface="Calibri"/>
                <a:cs typeface="Calibri"/>
              </a:rPr>
              <a:t>Hong Zhang</a:t>
            </a:r>
            <a:br>
              <a:rPr lang="en-US" sz="2900" b="1" dirty="0">
                <a:ea typeface="Calibri"/>
                <a:cs typeface="Calibri"/>
              </a:rPr>
            </a:br>
            <a:r>
              <a:rPr lang="en-US" sz="2900" dirty="0">
                <a:solidFill>
                  <a:schemeClr val="tx1"/>
                </a:solidFill>
                <a:ea typeface="Calibri"/>
                <a:cs typeface="Calibri"/>
              </a:rPr>
              <a:t>Tsinghua University, PBC School of Finance, China</a:t>
            </a: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Calibri"/>
                <a:cs typeface="Times New Roman"/>
              </a:rPr>
              <a:t>The paper investigates how the strategic behavior of business groups, specifically their ability to reallocate risk across affiliated firms, affects international asset pricing.</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08824"/>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790350"/>
            <a:ext cx="8229600" cy="3384671"/>
          </a:xfrm>
        </p:spPr>
        <p:txBody>
          <a:bodyPr vert="horz" lIns="91440" tIns="45720" rIns="91440" bIns="45720" rtlCol="0" anchor="t">
            <a:noAutofit/>
          </a:bodyPr>
          <a:lstStyle/>
          <a:p>
            <a:pPr marL="342900" lvl="1" indent="-342900">
              <a:buFont typeface="Arial"/>
              <a:buChar char="•"/>
            </a:pPr>
            <a:r>
              <a:rPr lang="en-US" sz="2000" b="1" dirty="0">
                <a:ea typeface="Calibri"/>
                <a:cs typeface="Calibri"/>
              </a:rPr>
              <a:t>Business Groups and Asset Allocation: </a:t>
            </a:r>
            <a:r>
              <a:rPr lang="en-US" sz="2000" dirty="0">
                <a:ea typeface="Calibri"/>
                <a:cs typeface="Calibri"/>
              </a:rPr>
              <a:t>Prior research suggests business groups can manage risk internally through capital markets (e.g., Stein, 1997; Johnson et al., 2000; Bertrand et al., 2002). Groups are able to shift assets and risks across firms, centralizing control in key </a:t>
            </a:r>
            <a:r>
              <a:rPr lang="en-US" sz="2000" dirty="0" err="1">
                <a:ea typeface="Calibri"/>
                <a:cs typeface="Calibri"/>
              </a:rPr>
              <a:t>companies.Asset</a:t>
            </a:r>
            <a:r>
              <a:rPr lang="en-US" sz="2000" dirty="0">
                <a:ea typeface="Calibri"/>
                <a:cs typeface="Calibri"/>
              </a:rPr>
              <a:t> </a:t>
            </a:r>
          </a:p>
          <a:p>
            <a:pPr marL="342900" lvl="1" indent="-342900">
              <a:buFont typeface="Arial"/>
              <a:buChar char="•"/>
            </a:pPr>
            <a:r>
              <a:rPr lang="en-US" sz="2000" b="1" dirty="0">
                <a:ea typeface="Calibri"/>
                <a:cs typeface="Calibri"/>
              </a:rPr>
              <a:t>Pricing Models: </a:t>
            </a:r>
            <a:r>
              <a:rPr lang="en-US" sz="2000" dirty="0">
                <a:ea typeface="Calibri"/>
                <a:cs typeface="Calibri"/>
              </a:rPr>
              <a:t>Traditional asset pricing models assume independence among firms, which is more applicable to U.S.-listed firms (</a:t>
            </a:r>
            <a:r>
              <a:rPr lang="en-US" sz="2000" dirty="0" err="1">
                <a:ea typeface="Calibri"/>
                <a:cs typeface="Calibri"/>
              </a:rPr>
              <a:t>Claessens</a:t>
            </a:r>
            <a:r>
              <a:rPr lang="en-US" sz="2000" dirty="0">
                <a:ea typeface="Calibri"/>
                <a:cs typeface="Calibri"/>
              </a:rPr>
              <a:t> et al., 2000; </a:t>
            </a:r>
            <a:r>
              <a:rPr lang="en-US" sz="2000" dirty="0" err="1">
                <a:ea typeface="Calibri"/>
                <a:cs typeface="Calibri"/>
              </a:rPr>
              <a:t>Faccio</a:t>
            </a:r>
            <a:r>
              <a:rPr lang="en-US" sz="2000" dirty="0">
                <a:ea typeface="Calibri"/>
                <a:cs typeface="Calibri"/>
              </a:rPr>
              <a:t> and Lang, 2002). This fails to account for business groups prevalent in international markets.</a:t>
            </a: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08824"/>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790350"/>
            <a:ext cx="8229600" cy="3384671"/>
          </a:xfrm>
        </p:spPr>
        <p:txBody>
          <a:bodyPr vert="horz" lIns="91440" tIns="45720" rIns="91440" bIns="45720" rtlCol="0" anchor="t">
            <a:noAutofit/>
          </a:bodyPr>
          <a:lstStyle/>
          <a:p>
            <a:pPr marL="342900" lvl="1" indent="-342900">
              <a:buFont typeface="Arial"/>
              <a:buChar char="•"/>
            </a:pPr>
            <a:r>
              <a:rPr lang="en-US" sz="2000" b="1" dirty="0">
                <a:ea typeface="Calibri"/>
                <a:cs typeface="Calibri"/>
              </a:rPr>
              <a:t>Strategic Risk Reallocation: </a:t>
            </a:r>
            <a:r>
              <a:rPr lang="en-US" sz="2000" dirty="0">
                <a:ea typeface="Calibri"/>
                <a:cs typeface="Calibri"/>
              </a:rPr>
              <a:t>Studies suggest that during bad times, business groups protect their most critical (central) firms to maintain control (Almeida and </a:t>
            </a:r>
            <a:r>
              <a:rPr lang="en-US" sz="2000" dirty="0" err="1">
                <a:ea typeface="Calibri"/>
                <a:cs typeface="Calibri"/>
              </a:rPr>
              <a:t>Wolfenzon</a:t>
            </a:r>
            <a:r>
              <a:rPr lang="en-US" sz="2000" dirty="0">
                <a:ea typeface="Calibri"/>
                <a:cs typeface="Calibri"/>
              </a:rPr>
              <a:t>, 2006; Jiang et al., 2010). This behavior leads to systematic differences in risk profiles across affiliated firms.</a:t>
            </a:r>
          </a:p>
          <a:p>
            <a:pPr marL="342900" lvl="1" indent="-342900">
              <a:buFont typeface="Arial"/>
              <a:buChar char="•"/>
            </a:pPr>
            <a:r>
              <a:rPr lang="en-US" sz="2000" b="1" dirty="0">
                <a:ea typeface="Calibri"/>
                <a:cs typeface="Calibri"/>
              </a:rPr>
              <a:t>New Risk Factors in Asset Pricing: </a:t>
            </a:r>
            <a:r>
              <a:rPr lang="en-US" sz="2000" dirty="0">
                <a:ea typeface="Calibri"/>
                <a:cs typeface="Calibri"/>
              </a:rPr>
              <a:t>Merton's (1973) intertemporal asset pricing model proposes that investors may want to hedge against unfavorable shifts in risk. This can lead to the creation of new risk factors, such as those arising from the strategic reallocation of risk within business groups.</a:t>
            </a:r>
          </a:p>
          <a:p>
            <a:pPr marL="342900" lvl="1" indent="-342900">
              <a:buFont typeface="Arial"/>
              <a:buChar char="•"/>
            </a:pPr>
            <a:endParaRPr lang="en-US" sz="1600" dirty="0">
              <a:ea typeface="Calibri"/>
              <a:cs typeface="Calibri"/>
            </a:endParaRPr>
          </a:p>
        </p:txBody>
      </p:sp>
    </p:spTree>
    <p:extLst>
      <p:ext uri="{BB962C8B-B14F-4D97-AF65-F5344CB8AC3E}">
        <p14:creationId xmlns:p14="http://schemas.microsoft.com/office/powerpoint/2010/main" val="4292105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A56A5-86C3-A8D8-A981-308591F1FD23}"/>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7B4ECBA-3526-6C84-D51B-7013452FF46B}"/>
              </a:ext>
            </a:extLst>
          </p:cNvPr>
          <p:cNvSpPr>
            <a:spLocks noGrp="1"/>
          </p:cNvSpPr>
          <p:nvPr>
            <p:ph idx="1"/>
          </p:nvPr>
        </p:nvSpPr>
        <p:spPr/>
        <p:txBody>
          <a:bodyPr/>
          <a:lstStyle/>
          <a:p>
            <a:r>
              <a:rPr lang="en-US" dirty="0"/>
              <a:t>Central firms in business groups are protected in bad times through the strategic reallocation of resources and risk, leading to lower risk exposure and lower expected returns compared to peripheral firms.</a:t>
            </a:r>
          </a:p>
        </p:txBody>
      </p:sp>
    </p:spTree>
    <p:extLst>
      <p:ext uri="{BB962C8B-B14F-4D97-AF65-F5344CB8AC3E}">
        <p14:creationId xmlns:p14="http://schemas.microsoft.com/office/powerpoint/2010/main" val="3996482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CD4B-C4C6-9D72-EEB6-51AD7218BC16}"/>
              </a:ext>
            </a:extLst>
          </p:cNvPr>
          <p:cNvSpPr>
            <a:spLocks noGrp="1"/>
          </p:cNvSpPr>
          <p:nvPr>
            <p:ph type="title"/>
          </p:nvPr>
        </p:nvSpPr>
        <p:spPr/>
        <p:txBody>
          <a:bodyPr/>
          <a:lstStyle/>
          <a:p>
            <a:r>
              <a:rPr lang="en-US" dirty="0"/>
              <a:t>Key Metrics</a:t>
            </a:r>
          </a:p>
        </p:txBody>
      </p:sp>
      <p:sp>
        <p:nvSpPr>
          <p:cNvPr id="3" name="Content Placeholder 2">
            <a:extLst>
              <a:ext uri="{FF2B5EF4-FFF2-40B4-BE49-F238E27FC236}">
                <a16:creationId xmlns:a16="http://schemas.microsoft.com/office/drawing/2014/main" id="{EAB73B4E-31D4-F34C-B410-EB6A2B8EEEC3}"/>
              </a:ext>
            </a:extLst>
          </p:cNvPr>
          <p:cNvSpPr>
            <a:spLocks noGrp="1"/>
          </p:cNvSpPr>
          <p:nvPr>
            <p:ph idx="1"/>
          </p:nvPr>
        </p:nvSpPr>
        <p:spPr>
          <a:xfrm>
            <a:off x="457200" y="1063229"/>
            <a:ext cx="8229600" cy="3394472"/>
          </a:xfrm>
        </p:spPr>
        <p:txBody>
          <a:bodyPr>
            <a:normAutofit fontScale="92500"/>
          </a:bodyPr>
          <a:lstStyle/>
          <a:p>
            <a:r>
              <a:rPr lang="en-US" sz="2400" b="1" dirty="0"/>
              <a:t>Centrality: </a:t>
            </a:r>
            <a:r>
              <a:rPr lang="en-US" sz="2400" dirty="0"/>
              <a:t>Measures the importance of a firm within a business group, i.e., the degree to which losing control of the firm affects the group’s control over total assets.</a:t>
            </a:r>
          </a:p>
          <a:p>
            <a:r>
              <a:rPr lang="en-US" sz="2400" b="1" dirty="0"/>
              <a:t>Unexpected Shocks: </a:t>
            </a:r>
            <a:r>
              <a:rPr lang="en-US" sz="2400" dirty="0"/>
              <a:t>Negative industry or sovereign downgrade shocks to assess how central firms are protected.</a:t>
            </a:r>
          </a:p>
          <a:p>
            <a:r>
              <a:rPr lang="en-US" sz="2400" b="1" dirty="0"/>
              <a:t>Stock Returns: </a:t>
            </a:r>
            <a:r>
              <a:rPr lang="en-US" sz="2400" dirty="0"/>
              <a:t>Out-of-sample stock returns adjusted for size, book-to-market, and momentum.</a:t>
            </a:r>
          </a:p>
          <a:p>
            <a:r>
              <a:rPr lang="en-US" sz="2400" b="1" dirty="0"/>
              <a:t>Intertemporal Risk Factor: </a:t>
            </a:r>
            <a:r>
              <a:rPr lang="en-US" sz="2400" dirty="0"/>
              <a:t>A central minus peripheral mimicking portfolio that captures the strategic behavior of business groups.</a:t>
            </a:r>
          </a:p>
        </p:txBody>
      </p:sp>
    </p:spTree>
    <p:extLst>
      <p:ext uri="{BB962C8B-B14F-4D97-AF65-F5344CB8AC3E}">
        <p14:creationId xmlns:p14="http://schemas.microsoft.com/office/powerpoint/2010/main" val="144076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C2FF-A745-F5D3-D8DB-B77CF69A33F4}"/>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AFB31E7E-BB03-7F85-9FA9-B35E5C0A08A1}"/>
              </a:ext>
            </a:extLst>
          </p:cNvPr>
          <p:cNvSpPr>
            <a:spLocks noGrp="1"/>
          </p:cNvSpPr>
          <p:nvPr>
            <p:ph idx="1"/>
          </p:nvPr>
        </p:nvSpPr>
        <p:spPr>
          <a:xfrm>
            <a:off x="457200" y="1063229"/>
            <a:ext cx="8229600" cy="3394472"/>
          </a:xfrm>
        </p:spPr>
        <p:txBody>
          <a:bodyPr>
            <a:normAutofit fontScale="70000" lnSpcReduction="20000"/>
          </a:bodyPr>
          <a:lstStyle/>
          <a:p>
            <a:r>
              <a:rPr lang="en-US" b="1" dirty="0"/>
              <a:t>Central Firms Are Protected: </a:t>
            </a:r>
            <a:r>
              <a:rPr lang="en-US" dirty="0"/>
              <a:t>Central firms are less affected by negative shocks compared to peripheral firms, confirming the hypothesis that business groups strategically protect these key firms in bad times.</a:t>
            </a:r>
          </a:p>
          <a:p>
            <a:r>
              <a:rPr lang="en-US" b="1" dirty="0"/>
              <a:t>Lower Expected Returns for Central Firms: </a:t>
            </a:r>
            <a:r>
              <a:rPr lang="en-US" dirty="0"/>
              <a:t>Central firms earn lower expected returns, even after controlling for size, book-to-market, and momentum, due to their lower risk exposure.</a:t>
            </a:r>
          </a:p>
          <a:p>
            <a:r>
              <a:rPr lang="en-US" b="1" dirty="0"/>
              <a:t>New Risk Factor in Asset Pricing: </a:t>
            </a:r>
            <a:r>
              <a:rPr lang="en-US" dirty="0"/>
              <a:t>The centrality-based factor adds explanatory power to traditional asset pricing models, suggesting that the strategic behavior of business groups introduces an additional risk factor in international markets</a:t>
            </a:r>
          </a:p>
        </p:txBody>
      </p:sp>
    </p:spTree>
    <p:extLst>
      <p:ext uri="{BB962C8B-B14F-4D97-AF65-F5344CB8AC3E}">
        <p14:creationId xmlns:p14="http://schemas.microsoft.com/office/powerpoint/2010/main" val="2280721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7CF-9F86-8098-130C-FD3F046D2086}"/>
              </a:ext>
            </a:extLst>
          </p:cNvPr>
          <p:cNvSpPr>
            <a:spLocks noGrp="1"/>
          </p:cNvSpPr>
          <p:nvPr>
            <p:ph type="title"/>
          </p:nvPr>
        </p:nvSpPr>
        <p:spPr/>
        <p:txBody>
          <a:bodyPr/>
          <a:lstStyle/>
          <a:p>
            <a:r>
              <a:rPr lang="en-US" dirty="0"/>
              <a:t>Data Collection</a:t>
            </a:r>
          </a:p>
        </p:txBody>
      </p:sp>
      <p:sp>
        <p:nvSpPr>
          <p:cNvPr id="3" name="Content Placeholder 2">
            <a:extLst>
              <a:ext uri="{FF2B5EF4-FFF2-40B4-BE49-F238E27FC236}">
                <a16:creationId xmlns:a16="http://schemas.microsoft.com/office/drawing/2014/main" id="{15D56D45-BDC3-3D0B-671F-78DDB007EF2F}"/>
              </a:ext>
            </a:extLst>
          </p:cNvPr>
          <p:cNvSpPr>
            <a:spLocks noGrp="1"/>
          </p:cNvSpPr>
          <p:nvPr>
            <p:ph idx="1"/>
          </p:nvPr>
        </p:nvSpPr>
        <p:spPr/>
        <p:txBody>
          <a:bodyPr/>
          <a:lstStyle/>
          <a:p>
            <a:r>
              <a:rPr lang="en-US" dirty="0"/>
              <a:t>Orbis database</a:t>
            </a:r>
          </a:p>
          <a:p>
            <a:r>
              <a:rPr lang="en-US" dirty="0"/>
              <a:t>Ownership data on 150,343 unique international firms</a:t>
            </a:r>
          </a:p>
        </p:txBody>
      </p:sp>
    </p:spTree>
    <p:extLst>
      <p:ext uri="{BB962C8B-B14F-4D97-AF65-F5344CB8AC3E}">
        <p14:creationId xmlns:p14="http://schemas.microsoft.com/office/powerpoint/2010/main" val="102931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796E9-590D-DB3B-CD26-C461E2D602A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749E218-9D01-42C9-87C3-519DDB3962DD}"/>
              </a:ext>
            </a:extLst>
          </p:cNvPr>
          <p:cNvPicPr>
            <a:picLocks noGrp="1" noChangeAspect="1"/>
          </p:cNvPicPr>
          <p:nvPr>
            <p:ph idx="1"/>
          </p:nvPr>
        </p:nvPicPr>
        <p:blipFill>
          <a:blip r:embed="rId2"/>
          <a:stretch>
            <a:fillRect/>
          </a:stretch>
        </p:blipFill>
        <p:spPr>
          <a:xfrm>
            <a:off x="282865" y="300805"/>
            <a:ext cx="8861135" cy="4541889"/>
          </a:xfrm>
        </p:spPr>
      </p:pic>
    </p:spTree>
    <p:extLst>
      <p:ext uri="{BB962C8B-B14F-4D97-AF65-F5344CB8AC3E}">
        <p14:creationId xmlns:p14="http://schemas.microsoft.com/office/powerpoint/2010/main" val="688766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2A05F-9FDC-0F29-470D-24DA9E9098D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0B042CF-43DF-A5BA-0B46-F6F873625565}"/>
              </a:ext>
            </a:extLst>
          </p:cNvPr>
          <p:cNvPicPr>
            <a:picLocks noGrp="1" noChangeAspect="1"/>
          </p:cNvPicPr>
          <p:nvPr>
            <p:ph idx="1"/>
          </p:nvPr>
        </p:nvPicPr>
        <p:blipFill>
          <a:blip r:embed="rId2"/>
          <a:stretch>
            <a:fillRect/>
          </a:stretch>
        </p:blipFill>
        <p:spPr>
          <a:xfrm>
            <a:off x="190373" y="98937"/>
            <a:ext cx="8807880" cy="3942121"/>
          </a:xfrm>
        </p:spPr>
      </p:pic>
    </p:spTree>
    <p:extLst>
      <p:ext uri="{BB962C8B-B14F-4D97-AF65-F5344CB8AC3E}">
        <p14:creationId xmlns:p14="http://schemas.microsoft.com/office/powerpoint/2010/main" val="10035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91740" y="-3459"/>
            <a:ext cx="9177086" cy="857250"/>
          </a:xfrm>
        </p:spPr>
        <p:txBody>
          <a:bodyPr>
            <a:noAutofit/>
          </a:bodyPr>
          <a:lstStyle/>
          <a:p>
            <a:r>
              <a:rPr lang="en-US" sz="2800" dirty="0"/>
              <a:t>Table 1 – </a:t>
            </a:r>
            <a:endParaRPr lang="en-US" sz="2800" dirty="0">
              <a:ea typeface="Calibri"/>
              <a:cs typeface="Calibri"/>
            </a:endParaRPr>
          </a:p>
        </p:txBody>
      </p:sp>
      <p:sp>
        <p:nvSpPr>
          <p:cNvPr id="5" name="Content Placeholder 4">
            <a:extLst>
              <a:ext uri="{FF2B5EF4-FFF2-40B4-BE49-F238E27FC236}">
                <a16:creationId xmlns:a16="http://schemas.microsoft.com/office/drawing/2014/main" id="{DFB81298-68B3-C48E-33D0-602330F88063}"/>
              </a:ext>
            </a:extLst>
          </p:cNvPr>
          <p:cNvSpPr>
            <a:spLocks noGrp="1"/>
          </p:cNvSpPr>
          <p:nvPr>
            <p:ph idx="1"/>
          </p:nvPr>
        </p:nvSpPr>
        <p:spPr>
          <a:xfrm>
            <a:off x="457200" y="969039"/>
            <a:ext cx="8229600" cy="857250"/>
          </a:xfrm>
        </p:spPr>
        <p:txBody>
          <a:bodyPr/>
          <a:lstStyle/>
          <a:p>
            <a:endParaRPr lang="en-US" dirty="0"/>
          </a:p>
        </p:txBody>
      </p:sp>
      <p:pic>
        <p:nvPicPr>
          <p:cNvPr id="10" name="Picture 9">
            <a:extLst>
              <a:ext uri="{FF2B5EF4-FFF2-40B4-BE49-F238E27FC236}">
                <a16:creationId xmlns:a16="http://schemas.microsoft.com/office/drawing/2014/main" id="{A7B37A72-9D8D-786B-770D-507E535305B7}"/>
              </a:ext>
            </a:extLst>
          </p:cNvPr>
          <p:cNvPicPr>
            <a:picLocks noChangeAspect="1"/>
          </p:cNvPicPr>
          <p:nvPr/>
        </p:nvPicPr>
        <p:blipFill>
          <a:blip r:embed="rId3"/>
          <a:stretch>
            <a:fillRect/>
          </a:stretch>
        </p:blipFill>
        <p:spPr>
          <a:xfrm>
            <a:off x="878110" y="753775"/>
            <a:ext cx="7387780" cy="4389725"/>
          </a:xfrm>
          <a:prstGeom prst="rect">
            <a:avLst/>
          </a:prstGeom>
        </p:spPr>
      </p:pic>
      <p:sp>
        <p:nvSpPr>
          <p:cNvPr id="11" name="Rectangle 10">
            <a:extLst>
              <a:ext uri="{FF2B5EF4-FFF2-40B4-BE49-F238E27FC236}">
                <a16:creationId xmlns:a16="http://schemas.microsoft.com/office/drawing/2014/main" id="{D25D3D9E-31FC-D9F0-018B-E4CD1D0B6989}"/>
              </a:ext>
            </a:extLst>
          </p:cNvPr>
          <p:cNvSpPr/>
          <p:nvPr/>
        </p:nvSpPr>
        <p:spPr>
          <a:xfrm>
            <a:off x="6597445" y="1602658"/>
            <a:ext cx="884903" cy="137652"/>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7FBC48B-C083-0E61-2CE7-F29C06ED512D}"/>
              </a:ext>
            </a:extLst>
          </p:cNvPr>
          <p:cNvSpPr/>
          <p:nvPr/>
        </p:nvSpPr>
        <p:spPr>
          <a:xfrm>
            <a:off x="6597444" y="2150711"/>
            <a:ext cx="884903" cy="137652"/>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8961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6DC14-03AD-E880-1939-2FC3A8E563AB}"/>
              </a:ext>
            </a:extLst>
          </p:cNvPr>
          <p:cNvSpPr>
            <a:spLocks noGrp="1"/>
          </p:cNvSpPr>
          <p:nvPr>
            <p:ph type="title"/>
          </p:nvPr>
        </p:nvSpPr>
        <p:spPr/>
        <p:txBody>
          <a:bodyPr>
            <a:normAutofit/>
          </a:bodyPr>
          <a:lstStyle/>
          <a:p>
            <a:r>
              <a:rPr lang="en-US" dirty="0"/>
              <a:t>Table 2 – Sensitivity to shocks</a:t>
            </a:r>
          </a:p>
        </p:txBody>
      </p:sp>
      <p:sp>
        <p:nvSpPr>
          <p:cNvPr id="4" name="Content Placeholder 3">
            <a:extLst>
              <a:ext uri="{FF2B5EF4-FFF2-40B4-BE49-F238E27FC236}">
                <a16:creationId xmlns:a16="http://schemas.microsoft.com/office/drawing/2014/main" id="{18E8A082-1645-005B-B856-978015824BE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64B9ABCD-6DD7-4173-BCEF-90DB054D1EB5}"/>
              </a:ext>
            </a:extLst>
          </p:cNvPr>
          <p:cNvPicPr>
            <a:picLocks noChangeAspect="1"/>
          </p:cNvPicPr>
          <p:nvPr/>
        </p:nvPicPr>
        <p:blipFill>
          <a:blip r:embed="rId3"/>
          <a:stretch>
            <a:fillRect/>
          </a:stretch>
        </p:blipFill>
        <p:spPr>
          <a:xfrm>
            <a:off x="143365" y="1200151"/>
            <a:ext cx="8716591" cy="2591162"/>
          </a:xfrm>
          <a:prstGeom prst="rect">
            <a:avLst/>
          </a:prstGeom>
        </p:spPr>
      </p:pic>
      <p:sp>
        <p:nvSpPr>
          <p:cNvPr id="8" name="Rectangle 7">
            <a:extLst>
              <a:ext uri="{FF2B5EF4-FFF2-40B4-BE49-F238E27FC236}">
                <a16:creationId xmlns:a16="http://schemas.microsoft.com/office/drawing/2014/main" id="{092B80F8-17B4-11D6-F4A9-78A8BF5E6AD3}"/>
              </a:ext>
            </a:extLst>
          </p:cNvPr>
          <p:cNvSpPr/>
          <p:nvPr/>
        </p:nvSpPr>
        <p:spPr>
          <a:xfrm>
            <a:off x="3195483" y="2320413"/>
            <a:ext cx="2369575" cy="251337"/>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C3FD79A-E939-FB0F-2C04-D55CCA7C4003}"/>
              </a:ext>
            </a:extLst>
          </p:cNvPr>
          <p:cNvSpPr/>
          <p:nvPr/>
        </p:nvSpPr>
        <p:spPr>
          <a:xfrm>
            <a:off x="6490381" y="2295717"/>
            <a:ext cx="2369575" cy="251337"/>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8198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99070-3A9E-B1E9-13A6-058A30D837DD}"/>
              </a:ext>
            </a:extLst>
          </p:cNvPr>
          <p:cNvSpPr>
            <a:spLocks noGrp="1"/>
          </p:cNvSpPr>
          <p:nvPr>
            <p:ph type="title"/>
          </p:nvPr>
        </p:nvSpPr>
        <p:spPr>
          <a:xfrm>
            <a:off x="-70338" y="0"/>
            <a:ext cx="9214338" cy="857250"/>
          </a:xfrm>
        </p:spPr>
        <p:txBody>
          <a:bodyPr>
            <a:normAutofit fontScale="90000"/>
          </a:bodyPr>
          <a:lstStyle/>
          <a:p>
            <a:r>
              <a:rPr lang="en-US" dirty="0"/>
              <a:t>Table 3 – Exogenous Sovereign Downgrades</a:t>
            </a:r>
          </a:p>
        </p:txBody>
      </p:sp>
      <p:pic>
        <p:nvPicPr>
          <p:cNvPr id="5" name="Content Placeholder 4">
            <a:extLst>
              <a:ext uri="{FF2B5EF4-FFF2-40B4-BE49-F238E27FC236}">
                <a16:creationId xmlns:a16="http://schemas.microsoft.com/office/drawing/2014/main" id="{D5874AE8-5846-135B-6427-7466ECFC2401}"/>
              </a:ext>
            </a:extLst>
          </p:cNvPr>
          <p:cNvPicPr>
            <a:picLocks noGrp="1" noChangeAspect="1"/>
          </p:cNvPicPr>
          <p:nvPr>
            <p:ph idx="1"/>
          </p:nvPr>
        </p:nvPicPr>
        <p:blipFill>
          <a:blip r:embed="rId3"/>
          <a:stretch>
            <a:fillRect/>
          </a:stretch>
        </p:blipFill>
        <p:spPr>
          <a:xfrm>
            <a:off x="1077779" y="857250"/>
            <a:ext cx="6988442" cy="3967502"/>
          </a:xfrm>
        </p:spPr>
      </p:pic>
      <p:sp>
        <p:nvSpPr>
          <p:cNvPr id="8" name="Rectangle 7">
            <a:extLst>
              <a:ext uri="{FF2B5EF4-FFF2-40B4-BE49-F238E27FC236}">
                <a16:creationId xmlns:a16="http://schemas.microsoft.com/office/drawing/2014/main" id="{C21F0848-4AA9-C626-C6D3-BFFB26420E43}"/>
              </a:ext>
            </a:extLst>
          </p:cNvPr>
          <p:cNvSpPr/>
          <p:nvPr/>
        </p:nvSpPr>
        <p:spPr>
          <a:xfrm>
            <a:off x="3274141" y="1189703"/>
            <a:ext cx="4630994" cy="245807"/>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5938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C8BFB-DCEF-9312-836A-DEB1F22BA998}"/>
              </a:ext>
            </a:extLst>
          </p:cNvPr>
          <p:cNvSpPr>
            <a:spLocks noGrp="1"/>
          </p:cNvSpPr>
          <p:nvPr>
            <p:ph type="title"/>
          </p:nvPr>
        </p:nvSpPr>
        <p:spPr>
          <a:xfrm>
            <a:off x="0" y="205979"/>
            <a:ext cx="8686800" cy="857250"/>
          </a:xfrm>
        </p:spPr>
        <p:txBody>
          <a:bodyPr>
            <a:normAutofit fontScale="90000"/>
          </a:bodyPr>
          <a:lstStyle/>
          <a:p>
            <a:r>
              <a:rPr lang="en-US" dirty="0"/>
              <a:t>Table 4 - Return Predictability of Centrality in </a:t>
            </a:r>
            <a:r>
              <a:rPr lang="en-US" dirty="0" err="1"/>
              <a:t>Fama</a:t>
            </a:r>
            <a:r>
              <a:rPr lang="en-US" dirty="0"/>
              <a:t>-MacBeth Regressions</a:t>
            </a:r>
          </a:p>
        </p:txBody>
      </p:sp>
      <p:sp>
        <p:nvSpPr>
          <p:cNvPr id="3" name="Content Placeholder 2">
            <a:extLst>
              <a:ext uri="{FF2B5EF4-FFF2-40B4-BE49-F238E27FC236}">
                <a16:creationId xmlns:a16="http://schemas.microsoft.com/office/drawing/2014/main" id="{DCD457FC-CB31-C249-FAFC-4CA96FE11B7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30DBEDD-2554-35B2-1124-0746541F9893}"/>
              </a:ext>
            </a:extLst>
          </p:cNvPr>
          <p:cNvPicPr>
            <a:picLocks noChangeAspect="1"/>
          </p:cNvPicPr>
          <p:nvPr/>
        </p:nvPicPr>
        <p:blipFill>
          <a:blip r:embed="rId3"/>
          <a:stretch>
            <a:fillRect/>
          </a:stretch>
        </p:blipFill>
        <p:spPr>
          <a:xfrm>
            <a:off x="170836" y="1311593"/>
            <a:ext cx="8802328" cy="3419952"/>
          </a:xfrm>
          <a:prstGeom prst="rect">
            <a:avLst/>
          </a:prstGeom>
        </p:spPr>
      </p:pic>
      <p:sp>
        <p:nvSpPr>
          <p:cNvPr id="6" name="Rectangle 5">
            <a:extLst>
              <a:ext uri="{FF2B5EF4-FFF2-40B4-BE49-F238E27FC236}">
                <a16:creationId xmlns:a16="http://schemas.microsoft.com/office/drawing/2014/main" id="{505A058B-F0E1-ADA9-A838-145900E2A74D}"/>
              </a:ext>
            </a:extLst>
          </p:cNvPr>
          <p:cNvSpPr/>
          <p:nvPr/>
        </p:nvSpPr>
        <p:spPr>
          <a:xfrm>
            <a:off x="2256503" y="1848464"/>
            <a:ext cx="6602362" cy="471949"/>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9656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BD817-BBE8-67AE-9ED9-D0E6226F43B8}"/>
              </a:ext>
            </a:extLst>
          </p:cNvPr>
          <p:cNvSpPr>
            <a:spLocks noGrp="1"/>
          </p:cNvSpPr>
          <p:nvPr>
            <p:ph type="title"/>
          </p:nvPr>
        </p:nvSpPr>
        <p:spPr>
          <a:xfrm>
            <a:off x="127819" y="205979"/>
            <a:ext cx="8558981" cy="857250"/>
          </a:xfrm>
        </p:spPr>
        <p:txBody>
          <a:bodyPr>
            <a:normAutofit fontScale="90000"/>
          </a:bodyPr>
          <a:lstStyle/>
          <a:p>
            <a:r>
              <a:rPr lang="en-US" dirty="0"/>
              <a:t>Table 4 - Return Predictability of Centrality in </a:t>
            </a:r>
            <a:r>
              <a:rPr lang="en-US" dirty="0" err="1"/>
              <a:t>Fama</a:t>
            </a:r>
            <a:r>
              <a:rPr lang="en-US" dirty="0"/>
              <a:t>-MacBeth Regressions</a:t>
            </a:r>
          </a:p>
        </p:txBody>
      </p:sp>
      <p:pic>
        <p:nvPicPr>
          <p:cNvPr id="5" name="Content Placeholder 4">
            <a:extLst>
              <a:ext uri="{FF2B5EF4-FFF2-40B4-BE49-F238E27FC236}">
                <a16:creationId xmlns:a16="http://schemas.microsoft.com/office/drawing/2014/main" id="{C0E5774A-34DE-D09C-AD43-D557716C8CAB}"/>
              </a:ext>
            </a:extLst>
          </p:cNvPr>
          <p:cNvPicPr>
            <a:picLocks noGrp="1" noChangeAspect="1"/>
          </p:cNvPicPr>
          <p:nvPr>
            <p:ph idx="1"/>
          </p:nvPr>
        </p:nvPicPr>
        <p:blipFill>
          <a:blip r:embed="rId3"/>
          <a:stretch>
            <a:fillRect/>
          </a:stretch>
        </p:blipFill>
        <p:spPr>
          <a:xfrm>
            <a:off x="457200" y="1323488"/>
            <a:ext cx="8229600" cy="3147398"/>
          </a:xfrm>
        </p:spPr>
      </p:pic>
      <p:sp>
        <p:nvSpPr>
          <p:cNvPr id="6" name="Rectangle 5">
            <a:extLst>
              <a:ext uri="{FF2B5EF4-FFF2-40B4-BE49-F238E27FC236}">
                <a16:creationId xmlns:a16="http://schemas.microsoft.com/office/drawing/2014/main" id="{4A6F9401-C162-0DF0-894E-74F658BB9F55}"/>
              </a:ext>
            </a:extLst>
          </p:cNvPr>
          <p:cNvSpPr/>
          <p:nvPr/>
        </p:nvSpPr>
        <p:spPr>
          <a:xfrm>
            <a:off x="2256503" y="1779638"/>
            <a:ext cx="6602362" cy="471949"/>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9162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8397-04E5-8C37-CDED-A52BD222B362}"/>
              </a:ext>
            </a:extLst>
          </p:cNvPr>
          <p:cNvSpPr>
            <a:spLocks noGrp="1"/>
          </p:cNvSpPr>
          <p:nvPr>
            <p:ph type="title"/>
          </p:nvPr>
        </p:nvSpPr>
        <p:spPr/>
        <p:txBody>
          <a:bodyPr/>
          <a:lstStyle/>
          <a:p>
            <a:r>
              <a:rPr lang="en-US" dirty="0"/>
              <a:t>Table 5 – Portfolio Analysis</a:t>
            </a:r>
          </a:p>
        </p:txBody>
      </p:sp>
      <p:pic>
        <p:nvPicPr>
          <p:cNvPr id="5" name="Content Placeholder 4">
            <a:extLst>
              <a:ext uri="{FF2B5EF4-FFF2-40B4-BE49-F238E27FC236}">
                <a16:creationId xmlns:a16="http://schemas.microsoft.com/office/drawing/2014/main" id="{53783881-B922-E520-413C-C457EF31C00F}"/>
              </a:ext>
            </a:extLst>
          </p:cNvPr>
          <p:cNvPicPr>
            <a:picLocks noGrp="1" noChangeAspect="1"/>
          </p:cNvPicPr>
          <p:nvPr>
            <p:ph idx="1"/>
          </p:nvPr>
        </p:nvPicPr>
        <p:blipFill>
          <a:blip r:embed="rId3"/>
          <a:stretch>
            <a:fillRect/>
          </a:stretch>
        </p:blipFill>
        <p:spPr>
          <a:xfrm>
            <a:off x="137747" y="1153370"/>
            <a:ext cx="8868505" cy="2836760"/>
          </a:xfrm>
        </p:spPr>
      </p:pic>
      <p:sp>
        <p:nvSpPr>
          <p:cNvPr id="6" name="Rectangle 5">
            <a:extLst>
              <a:ext uri="{FF2B5EF4-FFF2-40B4-BE49-F238E27FC236}">
                <a16:creationId xmlns:a16="http://schemas.microsoft.com/office/drawing/2014/main" id="{2AAB31B2-AA09-DAE7-3E16-2747F947F6C2}"/>
              </a:ext>
            </a:extLst>
          </p:cNvPr>
          <p:cNvSpPr/>
          <p:nvPr/>
        </p:nvSpPr>
        <p:spPr>
          <a:xfrm>
            <a:off x="2635044" y="1691149"/>
            <a:ext cx="6125497" cy="432620"/>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2914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8397-04E5-8C37-CDED-A52BD222B362}"/>
              </a:ext>
            </a:extLst>
          </p:cNvPr>
          <p:cNvSpPr>
            <a:spLocks noGrp="1"/>
          </p:cNvSpPr>
          <p:nvPr>
            <p:ph type="title"/>
          </p:nvPr>
        </p:nvSpPr>
        <p:spPr/>
        <p:txBody>
          <a:bodyPr/>
          <a:lstStyle/>
          <a:p>
            <a:r>
              <a:rPr lang="en-US" dirty="0"/>
              <a:t>Table 5 – Portfolio Analysis</a:t>
            </a:r>
          </a:p>
        </p:txBody>
      </p:sp>
      <p:pic>
        <p:nvPicPr>
          <p:cNvPr id="7" name="Content Placeholder 6">
            <a:extLst>
              <a:ext uri="{FF2B5EF4-FFF2-40B4-BE49-F238E27FC236}">
                <a16:creationId xmlns:a16="http://schemas.microsoft.com/office/drawing/2014/main" id="{F6B478A3-66B0-8F99-E588-31BD16F74725}"/>
              </a:ext>
            </a:extLst>
          </p:cNvPr>
          <p:cNvPicPr>
            <a:picLocks noGrp="1" noChangeAspect="1"/>
          </p:cNvPicPr>
          <p:nvPr>
            <p:ph idx="1"/>
          </p:nvPr>
        </p:nvPicPr>
        <p:blipFill>
          <a:blip r:embed="rId2"/>
          <a:stretch>
            <a:fillRect/>
          </a:stretch>
        </p:blipFill>
        <p:spPr>
          <a:xfrm>
            <a:off x="296088" y="1234371"/>
            <a:ext cx="8551823" cy="2674758"/>
          </a:xfrm>
        </p:spPr>
      </p:pic>
      <p:sp>
        <p:nvSpPr>
          <p:cNvPr id="8" name="Rectangle 7">
            <a:extLst>
              <a:ext uri="{FF2B5EF4-FFF2-40B4-BE49-F238E27FC236}">
                <a16:creationId xmlns:a16="http://schemas.microsoft.com/office/drawing/2014/main" id="{A13D1FC3-0186-73A0-E90C-BB77BDBA597B}"/>
              </a:ext>
            </a:extLst>
          </p:cNvPr>
          <p:cNvSpPr/>
          <p:nvPr/>
        </p:nvSpPr>
        <p:spPr>
          <a:xfrm>
            <a:off x="2635044" y="1691149"/>
            <a:ext cx="6125497" cy="432620"/>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1123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8397-04E5-8C37-CDED-A52BD222B362}"/>
              </a:ext>
            </a:extLst>
          </p:cNvPr>
          <p:cNvSpPr>
            <a:spLocks noGrp="1"/>
          </p:cNvSpPr>
          <p:nvPr>
            <p:ph type="title"/>
          </p:nvPr>
        </p:nvSpPr>
        <p:spPr/>
        <p:txBody>
          <a:bodyPr/>
          <a:lstStyle/>
          <a:p>
            <a:r>
              <a:rPr lang="en-US" dirty="0"/>
              <a:t>Table 5 – Portfolio Analysis</a:t>
            </a:r>
          </a:p>
        </p:txBody>
      </p:sp>
      <p:pic>
        <p:nvPicPr>
          <p:cNvPr id="6" name="Content Placeholder 5">
            <a:extLst>
              <a:ext uri="{FF2B5EF4-FFF2-40B4-BE49-F238E27FC236}">
                <a16:creationId xmlns:a16="http://schemas.microsoft.com/office/drawing/2014/main" id="{E6275F57-2BD9-2AE7-DFED-FF096C23E66D}"/>
              </a:ext>
            </a:extLst>
          </p:cNvPr>
          <p:cNvPicPr>
            <a:picLocks noGrp="1" noChangeAspect="1"/>
          </p:cNvPicPr>
          <p:nvPr>
            <p:ph idx="1"/>
          </p:nvPr>
        </p:nvPicPr>
        <p:blipFill>
          <a:blip r:embed="rId3"/>
          <a:stretch>
            <a:fillRect/>
          </a:stretch>
        </p:blipFill>
        <p:spPr>
          <a:xfrm>
            <a:off x="232229" y="1063229"/>
            <a:ext cx="8679541" cy="3874292"/>
          </a:xfrm>
        </p:spPr>
      </p:pic>
      <p:sp>
        <p:nvSpPr>
          <p:cNvPr id="8" name="Rectangle 7">
            <a:extLst>
              <a:ext uri="{FF2B5EF4-FFF2-40B4-BE49-F238E27FC236}">
                <a16:creationId xmlns:a16="http://schemas.microsoft.com/office/drawing/2014/main" id="{786AC2A6-D2F5-FD12-AC14-7A397B2D3A27}"/>
              </a:ext>
            </a:extLst>
          </p:cNvPr>
          <p:cNvSpPr/>
          <p:nvPr/>
        </p:nvSpPr>
        <p:spPr>
          <a:xfrm>
            <a:off x="3460955" y="1563330"/>
            <a:ext cx="5490144" cy="432620"/>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9430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68397-04E5-8C37-CDED-A52BD222B362}"/>
              </a:ext>
            </a:extLst>
          </p:cNvPr>
          <p:cNvSpPr>
            <a:spLocks noGrp="1"/>
          </p:cNvSpPr>
          <p:nvPr>
            <p:ph type="title"/>
          </p:nvPr>
        </p:nvSpPr>
        <p:spPr/>
        <p:txBody>
          <a:bodyPr/>
          <a:lstStyle/>
          <a:p>
            <a:r>
              <a:rPr lang="en-US" dirty="0"/>
              <a:t>Table 5 – Portfolio Analysis</a:t>
            </a:r>
          </a:p>
        </p:txBody>
      </p:sp>
      <p:pic>
        <p:nvPicPr>
          <p:cNvPr id="7" name="Content Placeholder 6">
            <a:extLst>
              <a:ext uri="{FF2B5EF4-FFF2-40B4-BE49-F238E27FC236}">
                <a16:creationId xmlns:a16="http://schemas.microsoft.com/office/drawing/2014/main" id="{38791AE1-5600-BF89-6A52-B176F6C500CA}"/>
              </a:ext>
            </a:extLst>
          </p:cNvPr>
          <p:cNvPicPr>
            <a:picLocks noGrp="1" noChangeAspect="1"/>
          </p:cNvPicPr>
          <p:nvPr>
            <p:ph idx="1"/>
          </p:nvPr>
        </p:nvPicPr>
        <p:blipFill>
          <a:blip r:embed="rId2"/>
          <a:stretch>
            <a:fillRect/>
          </a:stretch>
        </p:blipFill>
        <p:spPr>
          <a:xfrm>
            <a:off x="202649" y="1063229"/>
            <a:ext cx="8738702" cy="3988580"/>
          </a:xfrm>
        </p:spPr>
      </p:pic>
      <p:sp>
        <p:nvSpPr>
          <p:cNvPr id="8" name="Rectangle 7">
            <a:extLst>
              <a:ext uri="{FF2B5EF4-FFF2-40B4-BE49-F238E27FC236}">
                <a16:creationId xmlns:a16="http://schemas.microsoft.com/office/drawing/2014/main" id="{A314FDF5-A43F-675E-14B2-96DEE689C321}"/>
              </a:ext>
            </a:extLst>
          </p:cNvPr>
          <p:cNvSpPr/>
          <p:nvPr/>
        </p:nvSpPr>
        <p:spPr>
          <a:xfrm>
            <a:off x="3451207" y="1487859"/>
            <a:ext cx="5490144" cy="432620"/>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3039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2ABA0-4723-6EBA-7183-68581875D800}"/>
              </a:ext>
            </a:extLst>
          </p:cNvPr>
          <p:cNvSpPr>
            <a:spLocks noGrp="1"/>
          </p:cNvSpPr>
          <p:nvPr>
            <p:ph type="title"/>
          </p:nvPr>
        </p:nvSpPr>
        <p:spPr>
          <a:xfrm>
            <a:off x="457200" y="31400"/>
            <a:ext cx="8229600" cy="857250"/>
          </a:xfrm>
        </p:spPr>
        <p:txBody>
          <a:bodyPr/>
          <a:lstStyle/>
          <a:p>
            <a:r>
              <a:rPr lang="en-US" dirty="0"/>
              <a:t>Table 6 – Model Comparisons</a:t>
            </a:r>
          </a:p>
        </p:txBody>
      </p:sp>
      <p:pic>
        <p:nvPicPr>
          <p:cNvPr id="5" name="Content Placeholder 4">
            <a:extLst>
              <a:ext uri="{FF2B5EF4-FFF2-40B4-BE49-F238E27FC236}">
                <a16:creationId xmlns:a16="http://schemas.microsoft.com/office/drawing/2014/main" id="{7B752CB4-5680-F401-CE7B-18F478C617AB}"/>
              </a:ext>
            </a:extLst>
          </p:cNvPr>
          <p:cNvPicPr>
            <a:picLocks noGrp="1" noChangeAspect="1"/>
          </p:cNvPicPr>
          <p:nvPr>
            <p:ph idx="1"/>
          </p:nvPr>
        </p:nvPicPr>
        <p:blipFill>
          <a:blip r:embed="rId3"/>
          <a:stretch>
            <a:fillRect/>
          </a:stretch>
        </p:blipFill>
        <p:spPr>
          <a:xfrm>
            <a:off x="160832" y="888650"/>
            <a:ext cx="8822336" cy="4071111"/>
          </a:xfrm>
        </p:spPr>
      </p:pic>
    </p:spTree>
    <p:extLst>
      <p:ext uri="{BB962C8B-B14F-4D97-AF65-F5344CB8AC3E}">
        <p14:creationId xmlns:p14="http://schemas.microsoft.com/office/powerpoint/2010/main" val="1487645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BFA3-C416-C2C6-15DF-A1C23374D025}"/>
              </a:ext>
            </a:extLst>
          </p:cNvPr>
          <p:cNvSpPr>
            <a:spLocks noGrp="1"/>
          </p:cNvSpPr>
          <p:nvPr>
            <p:ph type="title"/>
          </p:nvPr>
        </p:nvSpPr>
        <p:spPr/>
        <p:txBody>
          <a:bodyPr/>
          <a:lstStyle/>
          <a:p>
            <a:r>
              <a:rPr lang="en-US" dirty="0"/>
              <a:t>Table 6 – Model Comparisons</a:t>
            </a:r>
          </a:p>
        </p:txBody>
      </p:sp>
      <p:pic>
        <p:nvPicPr>
          <p:cNvPr id="5" name="Content Placeholder 4">
            <a:extLst>
              <a:ext uri="{FF2B5EF4-FFF2-40B4-BE49-F238E27FC236}">
                <a16:creationId xmlns:a16="http://schemas.microsoft.com/office/drawing/2014/main" id="{FF4DC137-5D9D-55A1-FB57-25E59CF6D0CA}"/>
              </a:ext>
            </a:extLst>
          </p:cNvPr>
          <p:cNvPicPr>
            <a:picLocks noGrp="1" noChangeAspect="1"/>
          </p:cNvPicPr>
          <p:nvPr>
            <p:ph idx="1"/>
          </p:nvPr>
        </p:nvPicPr>
        <p:blipFill>
          <a:blip r:embed="rId2"/>
          <a:stretch>
            <a:fillRect/>
          </a:stretch>
        </p:blipFill>
        <p:spPr>
          <a:xfrm>
            <a:off x="0" y="1392037"/>
            <a:ext cx="9144000" cy="2359426"/>
          </a:xfrm>
        </p:spPr>
      </p:pic>
    </p:spTree>
    <p:extLst>
      <p:ext uri="{BB962C8B-B14F-4D97-AF65-F5344CB8AC3E}">
        <p14:creationId xmlns:p14="http://schemas.microsoft.com/office/powerpoint/2010/main" val="2547513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83FC2-EACB-75C4-ACC5-82AE88084B0C}"/>
              </a:ext>
            </a:extLst>
          </p:cNvPr>
          <p:cNvSpPr>
            <a:spLocks noGrp="1"/>
          </p:cNvSpPr>
          <p:nvPr>
            <p:ph type="title"/>
          </p:nvPr>
        </p:nvSpPr>
        <p:spPr/>
        <p:txBody>
          <a:bodyPr/>
          <a:lstStyle/>
          <a:p>
            <a:r>
              <a:rPr lang="en-US" dirty="0"/>
              <a:t>Table 7 - Robustness Checks</a:t>
            </a:r>
          </a:p>
        </p:txBody>
      </p:sp>
      <p:pic>
        <p:nvPicPr>
          <p:cNvPr id="5" name="Content Placeholder 4">
            <a:extLst>
              <a:ext uri="{FF2B5EF4-FFF2-40B4-BE49-F238E27FC236}">
                <a16:creationId xmlns:a16="http://schemas.microsoft.com/office/drawing/2014/main" id="{4DE4E051-1437-49B0-B28E-D893AD5E53C7}"/>
              </a:ext>
            </a:extLst>
          </p:cNvPr>
          <p:cNvPicPr>
            <a:picLocks noGrp="1" noChangeAspect="1"/>
          </p:cNvPicPr>
          <p:nvPr>
            <p:ph idx="1"/>
          </p:nvPr>
        </p:nvPicPr>
        <p:blipFill>
          <a:blip r:embed="rId3"/>
          <a:stretch>
            <a:fillRect/>
          </a:stretch>
        </p:blipFill>
        <p:spPr>
          <a:xfrm>
            <a:off x="95416" y="1063229"/>
            <a:ext cx="8953167" cy="3210724"/>
          </a:xfrm>
        </p:spPr>
      </p:pic>
      <p:sp>
        <p:nvSpPr>
          <p:cNvPr id="6" name="Rectangle 5">
            <a:extLst>
              <a:ext uri="{FF2B5EF4-FFF2-40B4-BE49-F238E27FC236}">
                <a16:creationId xmlns:a16="http://schemas.microsoft.com/office/drawing/2014/main" id="{DB1E91B0-9FC2-09CB-4414-9F1C55CD8C50}"/>
              </a:ext>
            </a:extLst>
          </p:cNvPr>
          <p:cNvSpPr/>
          <p:nvPr/>
        </p:nvSpPr>
        <p:spPr>
          <a:xfrm>
            <a:off x="1907542" y="1920479"/>
            <a:ext cx="7141041" cy="432620"/>
          </a:xfrm>
          <a:prstGeom prst="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7113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5A34E-AE31-E81C-DA3C-DCE0E832DC1A}"/>
              </a:ext>
            </a:extLst>
          </p:cNvPr>
          <p:cNvSpPr>
            <a:spLocks noGrp="1"/>
          </p:cNvSpPr>
          <p:nvPr>
            <p:ph type="title"/>
          </p:nvPr>
        </p:nvSpPr>
        <p:spPr/>
        <p:txBody>
          <a:bodyPr/>
          <a:lstStyle/>
          <a:p>
            <a:r>
              <a:rPr lang="en-US" dirty="0"/>
              <a:t>Table 8 - Alternative Measures</a:t>
            </a:r>
          </a:p>
        </p:txBody>
      </p:sp>
      <p:pic>
        <p:nvPicPr>
          <p:cNvPr id="5" name="Content Placeholder 4">
            <a:extLst>
              <a:ext uri="{FF2B5EF4-FFF2-40B4-BE49-F238E27FC236}">
                <a16:creationId xmlns:a16="http://schemas.microsoft.com/office/drawing/2014/main" id="{E531062F-FA82-F40C-B600-D823A198DB37}"/>
              </a:ext>
            </a:extLst>
          </p:cNvPr>
          <p:cNvPicPr>
            <a:picLocks noGrp="1" noChangeAspect="1"/>
          </p:cNvPicPr>
          <p:nvPr>
            <p:ph idx="1"/>
          </p:nvPr>
        </p:nvPicPr>
        <p:blipFill>
          <a:blip r:embed="rId3"/>
          <a:stretch>
            <a:fillRect/>
          </a:stretch>
        </p:blipFill>
        <p:spPr>
          <a:xfrm>
            <a:off x="257997" y="1424968"/>
            <a:ext cx="8628005" cy="2936015"/>
          </a:xfrm>
        </p:spPr>
      </p:pic>
    </p:spTree>
    <p:extLst>
      <p:ext uri="{BB962C8B-B14F-4D97-AF65-F5344CB8AC3E}">
        <p14:creationId xmlns:p14="http://schemas.microsoft.com/office/powerpoint/2010/main" val="3230942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A15C3-FCE5-3C58-E3C7-EBABA661F658}"/>
              </a:ext>
            </a:extLst>
          </p:cNvPr>
          <p:cNvSpPr>
            <a:spLocks noGrp="1"/>
          </p:cNvSpPr>
          <p:nvPr>
            <p:ph type="title"/>
          </p:nvPr>
        </p:nvSpPr>
        <p:spPr>
          <a:xfrm>
            <a:off x="5697415" y="140678"/>
            <a:ext cx="3356150" cy="4180114"/>
          </a:xfrm>
        </p:spPr>
        <p:txBody>
          <a:bodyPr/>
          <a:lstStyle/>
          <a:p>
            <a:r>
              <a:rPr lang="en-US" dirty="0"/>
              <a:t>Table 9 - Centrality and Alternative Risk Factors </a:t>
            </a:r>
          </a:p>
        </p:txBody>
      </p:sp>
      <p:pic>
        <p:nvPicPr>
          <p:cNvPr id="5" name="Content Placeholder 4">
            <a:extLst>
              <a:ext uri="{FF2B5EF4-FFF2-40B4-BE49-F238E27FC236}">
                <a16:creationId xmlns:a16="http://schemas.microsoft.com/office/drawing/2014/main" id="{9BA367B2-554C-821D-A906-87F42AB92CDB}"/>
              </a:ext>
            </a:extLst>
          </p:cNvPr>
          <p:cNvPicPr>
            <a:picLocks noGrp="1" noChangeAspect="1"/>
          </p:cNvPicPr>
          <p:nvPr>
            <p:ph idx="1"/>
          </p:nvPr>
        </p:nvPicPr>
        <p:blipFill>
          <a:blip r:embed="rId3"/>
          <a:stretch>
            <a:fillRect/>
          </a:stretch>
        </p:blipFill>
        <p:spPr>
          <a:xfrm>
            <a:off x="0" y="0"/>
            <a:ext cx="5590014" cy="5143500"/>
          </a:xfrm>
        </p:spPr>
      </p:pic>
    </p:spTree>
    <p:extLst>
      <p:ext uri="{BB962C8B-B14F-4D97-AF65-F5344CB8AC3E}">
        <p14:creationId xmlns:p14="http://schemas.microsoft.com/office/powerpoint/2010/main" val="1124225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894D3-909B-BD96-164C-2B73DA61960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809D06F-99B2-9518-6B5C-65EF09135218}"/>
              </a:ext>
            </a:extLst>
          </p:cNvPr>
          <p:cNvSpPr>
            <a:spLocks noGrp="1"/>
          </p:cNvSpPr>
          <p:nvPr>
            <p:ph idx="1"/>
          </p:nvPr>
        </p:nvSpPr>
        <p:spPr>
          <a:xfrm>
            <a:off x="457200" y="1063229"/>
            <a:ext cx="8229600" cy="3394472"/>
          </a:xfrm>
        </p:spPr>
        <p:txBody>
          <a:bodyPr>
            <a:normAutofit/>
          </a:bodyPr>
          <a:lstStyle/>
          <a:p>
            <a:r>
              <a:rPr lang="en-US" sz="2400" dirty="0"/>
              <a:t>Central firms are strategically protected within business groups, especially during bad economic times.</a:t>
            </a:r>
          </a:p>
          <a:p>
            <a:r>
              <a:rPr lang="en-US" sz="2400" dirty="0"/>
              <a:t>Central firms consistently earn lower returns compared to non-central firms.</a:t>
            </a:r>
          </a:p>
          <a:p>
            <a:r>
              <a:rPr lang="en-US" sz="2400" dirty="0"/>
              <a:t>The centrality factor (CMP) is a significant addition to traditional asset pricing models.</a:t>
            </a:r>
          </a:p>
        </p:txBody>
      </p:sp>
    </p:spTree>
    <p:extLst>
      <p:ext uri="{BB962C8B-B14F-4D97-AF65-F5344CB8AC3E}">
        <p14:creationId xmlns:p14="http://schemas.microsoft.com/office/powerpoint/2010/main" val="32356645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E64A7C7C8D8942ABE466F3AC32BB0E" ma:contentTypeVersion="6" ma:contentTypeDescription="Create a new document." ma:contentTypeScope="" ma:versionID="ef648cd0a4d738a27aa9253740c30aa6">
  <xsd:schema xmlns:xsd="http://www.w3.org/2001/XMLSchema" xmlns:xs="http://www.w3.org/2001/XMLSchema" xmlns:p="http://schemas.microsoft.com/office/2006/metadata/properties" xmlns:ns3="1fe8f82f-0556-4c42-a658-6aa8fd4f9ee2" targetNamespace="http://schemas.microsoft.com/office/2006/metadata/properties" ma:root="true" ma:fieldsID="5f081ffb0889366177bbb0fe137485fe" ns3:_="">
    <xsd:import namespace="1fe8f82f-0556-4c42-a658-6aa8fd4f9ee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e8f82f-0556-4c42-a658-6aa8fd4f9ee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fe8f82f-0556-4c42-a658-6aa8fd4f9ee2" xsi:nil="true"/>
  </documentManagement>
</p:properties>
</file>

<file path=customXml/itemProps1.xml><?xml version="1.0" encoding="utf-8"?>
<ds:datastoreItem xmlns:ds="http://schemas.openxmlformats.org/officeDocument/2006/customXml" ds:itemID="{8F324E69-EE82-4883-B96D-18BE646D0B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e8f82f-0556-4c42-a658-6aa8fd4f9e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9F502D-FA94-4398-A8EF-92E089490A40}">
  <ds:schemaRefs>
    <ds:schemaRef ds:uri="http://schemas.microsoft.com/sharepoint/v3/contenttype/forms"/>
  </ds:schemaRefs>
</ds:datastoreItem>
</file>

<file path=customXml/itemProps3.xml><?xml version="1.0" encoding="utf-8"?>
<ds:datastoreItem xmlns:ds="http://schemas.openxmlformats.org/officeDocument/2006/customXml" ds:itemID="{6A5FFBEB-A448-4BA1-A8D8-5F9D7FB6B153}">
  <ds:schemaRefs>
    <ds:schemaRef ds:uri="http://purl.org/dc/elements/1.1/"/>
    <ds:schemaRef ds:uri="http://schemas.microsoft.com/office/2006/metadata/properties"/>
    <ds:schemaRef ds:uri="http://schemas.openxmlformats.org/package/2006/metadata/core-properties"/>
    <ds:schemaRef ds:uri="http://schemas.microsoft.com/office/2006/documentManagement/types"/>
    <ds:schemaRef ds:uri="1fe8f82f-0556-4c42-a658-6aa8fd4f9ee2"/>
    <ds:schemaRef ds:uri="http://schemas.microsoft.com/office/infopath/2007/PartnerControls"/>
    <ds:schemaRef ds:uri="http://www.w3.org/XML/1998/namespace"/>
    <ds:schemaRef ds:uri="http://purl.org/dc/dcmitype/"/>
    <ds:schemaRef ds:uri="http://purl.org/dc/terms/"/>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1682</TotalTime>
  <Words>3205</Words>
  <Application>Microsoft Office PowerPoint</Application>
  <PresentationFormat>On-screen Show (16:9)</PresentationFormat>
  <Paragraphs>171</Paragraphs>
  <Slides>25</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International Asset Pricing with Strategic Business Groups</vt:lpstr>
      <vt:lpstr>Research Question</vt:lpstr>
      <vt:lpstr>Prior Literature</vt:lpstr>
      <vt:lpstr>Prior Literature</vt:lpstr>
      <vt:lpstr>Hypothesis</vt:lpstr>
      <vt:lpstr>Key Metrics</vt:lpstr>
      <vt:lpstr>Results</vt:lpstr>
      <vt:lpstr>Data Collection</vt:lpstr>
      <vt:lpstr>PowerPoint Presentation</vt:lpstr>
      <vt:lpstr>PowerPoint Presentation</vt:lpstr>
      <vt:lpstr>Table 1 – </vt:lpstr>
      <vt:lpstr>Table 2 – Sensitivity to shocks</vt:lpstr>
      <vt:lpstr>Table 3 – Exogenous Sovereign Downgrades</vt:lpstr>
      <vt:lpstr>Table 4 - Return Predictability of Centrality in Fama-MacBeth Regressions</vt:lpstr>
      <vt:lpstr>Table 4 - Return Predictability of Centrality in Fama-MacBeth Regressions</vt:lpstr>
      <vt:lpstr>Table 5 – Portfolio Analysis</vt:lpstr>
      <vt:lpstr>Table 5 – Portfolio Analysis</vt:lpstr>
      <vt:lpstr>Table 5 – Portfolio Analysis</vt:lpstr>
      <vt:lpstr>Table 5 – Portfolio Analysis</vt:lpstr>
      <vt:lpstr>Table 6 – Model Comparisons</vt:lpstr>
      <vt:lpstr>Table 6 – Model Comparisons</vt:lpstr>
      <vt:lpstr>Table 7 - Robustness Checks</vt:lpstr>
      <vt:lpstr>Table 8 - Alternative Measures</vt:lpstr>
      <vt:lpstr>Table 9 - Centrality and Alternative Risk Factors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Austin Francis</cp:lastModifiedBy>
  <cp:revision>353</cp:revision>
  <dcterms:created xsi:type="dcterms:W3CDTF">2020-09-10T18:37:45Z</dcterms:created>
  <dcterms:modified xsi:type="dcterms:W3CDTF">2024-10-01T14:07:49Z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0x01010092E64A7C7C8D8942ABE466F3AC32BB0E</vt:lpwstr>
  </property>
</Properties>
</file>