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2" r:id="rId19"/>
    <p:sldId id="275" r:id="rId20"/>
    <p:sldId id="2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76025" autoAdjust="0"/>
  </p:normalViewPr>
  <p:slideViewPr>
    <p:cSldViewPr snapToGrid="0">
      <p:cViewPr varScale="1">
        <p:scale>
          <a:sx n="110" d="100"/>
          <a:sy n="110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2F10D-489C-48D7-B867-8D248BBEB66F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D6DFC-53C5-490D-B7A7-D0F170852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6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Diversification discount: Conglomerates are often valued lower than the sum of their parts.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notion of the diversification discount is subject to </a:t>
            </a:r>
            <a:r>
              <a:rPr lang="en-US" b="1" dirty="0"/>
              <a:t>endogeneity</a:t>
            </a:r>
            <a:r>
              <a:rPr lang="en-US" dirty="0"/>
              <a:t> concerns, as the decision to diversify may itself be influenced by factors such as </a:t>
            </a:r>
            <a:r>
              <a:rPr lang="en-US" b="1" dirty="0"/>
              <a:t>firm characteristics</a:t>
            </a:r>
            <a:r>
              <a:rPr lang="en-US" dirty="0"/>
              <a:t>, </a:t>
            </a:r>
            <a:r>
              <a:rPr lang="en-US" b="1" dirty="0"/>
              <a:t>managerial ability</a:t>
            </a:r>
            <a:r>
              <a:rPr lang="en-US" dirty="0"/>
              <a:t>, or </a:t>
            </a:r>
            <a:r>
              <a:rPr lang="en-US" b="1" dirty="0"/>
              <a:t>investment opportunities</a:t>
            </a:r>
            <a:r>
              <a:rPr lang="en-US" dirty="0"/>
              <a:t> that simultaneously affect firm 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7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v: Total value of the conglomerate.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W: The matrix containing conglomerate exposure to different industries.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q^C</a:t>
            </a:r>
            <a:r>
              <a:rPr lang="en-US" dirty="0"/>
              <a:t>: The vector of industry-specific valuation ratios (Tobin’s Q) for each industry.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Key insight</a:t>
            </a:r>
            <a:r>
              <a:rPr lang="en-US" dirty="0"/>
              <a:t>: Traditional methods sum up the valuation of each conglomerate division based on standalone industry valuations, which might ignore how divisions are interconnected.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6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uses </a:t>
            </a:r>
            <a:r>
              <a:rPr lang="en-US" b="1" dirty="0"/>
              <a:t>conglomerate-level data</a:t>
            </a:r>
            <a:r>
              <a:rPr lang="en-US" dirty="0"/>
              <a:t>, not standalone firm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𝑣~(𝑖): Value of the conglomerate scaled by the sum of fundamentals.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W~(</a:t>
            </a:r>
            <a:r>
              <a:rPr lang="en-US" dirty="0" err="1"/>
              <a:t>i,k</a:t>
            </a:r>
            <a:r>
              <a:rPr lang="en-US" dirty="0"/>
              <a:t>): Fundamentals of each division are scaled by the total conglomerate fundamentals.</a:t>
            </a:r>
          </a:p>
          <a:p>
            <a:pPr algn="l"/>
            <a:r>
              <a:rPr lang="en-US" b="1" dirty="0"/>
              <a:t>Key insight</a:t>
            </a:r>
            <a:r>
              <a:rPr lang="en-US" dirty="0"/>
              <a:t>: </a:t>
            </a:r>
            <a:r>
              <a:rPr lang="en-US" sz="1800" b="0" i="0" u="none" strike="noStrike" baseline="0" dirty="0">
                <a:latin typeface="NewCenturySchlbk-Roman"/>
              </a:rPr>
              <a:t>Rather than building up synthetic conglomerates from individual pieces (standalone firms), we break down actual conglomerates into their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36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The figure clearly shows that our method results in </a:t>
            </a:r>
            <a:r>
              <a:rPr lang="en-US" sz="1800" b="1" i="0" u="none" strike="noStrike" baseline="0" dirty="0">
                <a:latin typeface="NewCenturySchlbk-Roman"/>
              </a:rPr>
              <a:t>excess value estimates</a:t>
            </a:r>
            <a:r>
              <a:rPr lang="en-US" sz="1800" b="0" i="0" u="none" strike="noStrike" baseline="0" dirty="0">
                <a:latin typeface="NewCenturySchlbk-Roman"/>
              </a:rPr>
              <a:t> with a </a:t>
            </a:r>
            <a:r>
              <a:rPr lang="en-US" sz="1800" b="1" i="0" u="none" strike="noStrike" baseline="0" dirty="0">
                <a:latin typeface="NewCenturySchlbk-Roman"/>
              </a:rPr>
              <a:t>lower standard deviation</a:t>
            </a:r>
            <a:r>
              <a:rPr lang="en-US" sz="1800" b="0" i="0" u="none" strike="noStrike" baseline="0" dirty="0">
                <a:latin typeface="NewCenturySchlbk-Roman"/>
              </a:rPr>
              <a:t> than the estimates produced using the traditional approach of Berger and </a:t>
            </a:r>
            <a:r>
              <a:rPr lang="en-US" sz="1800" b="0" i="0" u="none" strike="noStrike" baseline="0" dirty="0" err="1">
                <a:latin typeface="NewCenturySchlbk-Roman"/>
              </a:rPr>
              <a:t>Ofek</a:t>
            </a:r>
            <a:r>
              <a:rPr lang="en-US" sz="1800" b="0" i="0" u="none" strike="noStrike" baseline="0" dirty="0">
                <a:latin typeface="NewCenturySchlbk-Roman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This evidence suggests that, despite being defined at a coarser industry level, the new estimates of intra-conglomerate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</a:t>
            </a:r>
            <a:r>
              <a:rPr lang="en-US" sz="1800" b="1" i="0" u="none" strike="noStrike" baseline="0" dirty="0">
                <a:latin typeface="NewCenturySchlbk-Roman"/>
              </a:rPr>
              <a:t>more closely approximate the true conglomerate value</a:t>
            </a:r>
            <a:r>
              <a:rPr lang="en-US" sz="1800" b="0" i="0" u="none" strike="noStrike" baseline="0" dirty="0">
                <a:latin typeface="NewCenturySchlbk-Roman"/>
              </a:rPr>
              <a:t> than the standard industry-median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of standalone 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83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NewCenturySchlbk-Roman"/>
              </a:rPr>
              <a:t>The valuation multiples of conglomerate divisions are significantly different from those of standalone firms.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NewCenturySchlbk-Roman"/>
              </a:rPr>
              <a:t>The valuation multiples of divisions relative to standalone firms vary considerably across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05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CenturySchlbk-Roman"/>
              </a:rPr>
              <a:t>considerable within-industry variation in RDQs over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5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Panel A: </a:t>
            </a:r>
            <a:r>
              <a:rPr lang="en-US" sz="1800" b="0" i="0" u="none" strike="noStrike" baseline="0" dirty="0">
                <a:latin typeface="NewCenturySchlbk-Roman"/>
              </a:rPr>
              <a:t>A conglomerate’s choice of industries is nonrandom.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Panel B: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First row indicates when the sample is limited to conglomerates that do not operate in the nondurables sector, divisions in the durables industry have estimated </a:t>
            </a:r>
            <a:r>
              <a:rPr lang="en-US" sz="1800" b="0" i="0" u="none" strike="noStrike" baseline="0" dirty="0" err="1">
                <a:latin typeface="NewCenturySchlbk-Roman"/>
              </a:rPr>
              <a:t>qs</a:t>
            </a:r>
            <a:r>
              <a:rPr lang="en-US" sz="1800" b="0" i="0" u="none" strike="noStrike" baseline="0" dirty="0">
                <a:latin typeface="NewCenturySchlbk-Roman"/>
              </a:rPr>
              <a:t> that are 11% smaller than those of standalone firms.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Overall, this evidence suggests that the endogenous within-conglomerate industry matching does not have a material effect on our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64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CenturySchlbk-Roman"/>
              </a:rPr>
              <a:t>Divisional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are </a:t>
            </a:r>
            <a:r>
              <a:rPr lang="en-US" sz="1800" b="1" i="0" u="none" strike="noStrike" baseline="0" dirty="0">
                <a:latin typeface="NewCenturySchlbk-Roman"/>
              </a:rPr>
              <a:t>less sensitive to aggregate economic conditions</a:t>
            </a:r>
            <a:r>
              <a:rPr lang="en-US" sz="1800" b="0" i="0" u="none" strike="noStrike" baseline="0" dirty="0">
                <a:latin typeface="NewCenturySchlbk-Roman"/>
              </a:rPr>
              <a:t> than standalone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49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of conglomerate divisions are significantly less sensitive to credit shocks than those of standalone 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98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High coinsurance potential</a:t>
            </a:r>
            <a:r>
              <a:rPr lang="en-US" sz="2800" dirty="0"/>
              <a:t> means that a division has a </a:t>
            </a:r>
            <a:r>
              <a:rPr lang="en-US" sz="2800" b="1" dirty="0"/>
              <a:t>low covariance</a:t>
            </a:r>
            <a:r>
              <a:rPr lang="en-US" sz="2800" dirty="0"/>
              <a:t> with the other divisions.</a:t>
            </a:r>
            <a:endParaRPr lang="en-US" sz="1800" b="0" i="0" u="none" strike="noStrike" baseline="0" dirty="0">
              <a:latin typeface="NewCenturySchlbk-Roman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External financing frictions play an important role in divisional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through internal capital reallocation across unrelated divisions.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9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CenturySchlbk-Roman"/>
              </a:rPr>
              <a:t>After including credit shocks, other economic shocks do not help to explain the differences in the sensitivities.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09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Dependent variable: ratio of capex to sales of conglomerate divisions and standalone firms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Unlike divisional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, standalone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do not account for coinsurance and covariances across conglomerate divisions, and hence cannot fully explain conglomerate investment.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dirty="0"/>
              <a:t>The interaction between Standalone q and C is mostly insignificant, suggesting that standalone q does not strongly impact investment in conglomerate divisions.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dirty="0"/>
              <a:t>The interaction between Divisional q and C is positive and significant across all columns, suggesting that divisional q plays a more significant role in explaining investment in conglomerate divisions.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78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Dependent variable: ratio of capex to sales of affected entities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NewCenturySchlbk-Roman"/>
              </a:rPr>
              <a:t>Before the spinoff, divisional investment is highly related to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estimated from conglomerates, whereas after the spinoff, it is only responsive to </a:t>
            </a:r>
            <a:r>
              <a:rPr lang="en-US" sz="1800" b="0" i="1" u="none" strike="noStrike" baseline="0" dirty="0" err="1">
                <a:latin typeface="NewCenturySchlbk-Italic"/>
              </a:rPr>
              <a:t>q</a:t>
            </a:r>
            <a:r>
              <a:rPr lang="en-US" sz="1800" b="0" i="0" u="none" strike="noStrike" baseline="0" dirty="0" err="1">
                <a:latin typeface="NewCenturySchlbk-Roman"/>
              </a:rPr>
              <a:t>s</a:t>
            </a:r>
            <a:r>
              <a:rPr lang="en-US" sz="1800" b="0" i="0" u="none" strike="noStrike" baseline="0" dirty="0">
                <a:latin typeface="NewCenturySchlbk-Roman"/>
              </a:rPr>
              <a:t> estimated from standalone 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00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CenturySchlbk-Roman"/>
              </a:rPr>
              <a:t>The significantly positive and economically meaningful coefficients on RDQ suggest that higher values of conglomeration relative to focused organizational structures correspond to greater diversifying acquisition activity in the next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98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CenturySchlbk-Roman"/>
              </a:rPr>
              <a:t>RDQs positively predict announcement returns of diversifying acquisitions.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D6DFC-53C5-490D-B7A7-D0F1708527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8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3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5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69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5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5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5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4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2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649"/>
            <a:ext cx="12204192" cy="10098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B83E6-496D-413D-8A1D-18357C51241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51D79-C35C-47B7-9438-DB44BF5E1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0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9083-87AA-2C09-7419-EB549B09B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Dissecting Conglomerate Valuations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5E39A-BDCD-1CC7-20BC-11CED8277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Oliver </a:t>
            </a:r>
            <a:r>
              <a:rPr lang="en-US" dirty="0" err="1"/>
              <a:t>Boguth</a:t>
            </a:r>
            <a:r>
              <a:rPr lang="en-US" dirty="0"/>
              <a:t>, Ran </a:t>
            </a:r>
            <a:r>
              <a:rPr lang="en-US" dirty="0" err="1"/>
              <a:t>Duchin</a:t>
            </a:r>
            <a:r>
              <a:rPr lang="en-US" dirty="0"/>
              <a:t>, and Mikhail </a:t>
            </a:r>
            <a:r>
              <a:rPr lang="en-US" dirty="0" err="1"/>
              <a:t>Simutin</a:t>
            </a:r>
            <a:r>
              <a:rPr lang="en-US" dirty="0"/>
              <a:t> (2022)</a:t>
            </a:r>
          </a:p>
          <a:p>
            <a:r>
              <a:rPr lang="en-US" dirty="0"/>
              <a:t>Presented by Nicholas Thompson</a:t>
            </a:r>
          </a:p>
        </p:txBody>
      </p:sp>
    </p:spTree>
    <p:extLst>
      <p:ext uri="{BB962C8B-B14F-4D97-AF65-F5344CB8AC3E}">
        <p14:creationId xmlns:p14="http://schemas.microsoft.com/office/powerpoint/2010/main" val="193428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8679-B74B-8DB1-58FF-4080CF21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8AA0E-C2F2-A2CF-FBFF-DF70B2612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estimate the Tobin’s Q of conglomerate divisions without relying on standalone firms?</a:t>
            </a:r>
          </a:p>
          <a:p>
            <a:pPr lvl="1"/>
            <a:r>
              <a:rPr lang="en-US" dirty="0"/>
              <a:t>Using these estimates, what are the differences between conglomerates and standalone firms?</a:t>
            </a:r>
          </a:p>
        </p:txBody>
      </p:sp>
    </p:spTree>
    <p:extLst>
      <p:ext uri="{BB962C8B-B14F-4D97-AF65-F5344CB8AC3E}">
        <p14:creationId xmlns:p14="http://schemas.microsoft.com/office/powerpoint/2010/main" val="158228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027-684F-9619-86AF-F2AC83ED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F035-F474-E983-3906-169F1A18B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Conglomerate Valuations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Lang and </a:t>
            </a:r>
            <a:r>
              <a:rPr lang="en-US" dirty="0" err="1"/>
              <a:t>Stulz</a:t>
            </a:r>
            <a:r>
              <a:rPr lang="en-US" dirty="0"/>
              <a:t> (1994) and Berger and </a:t>
            </a:r>
            <a:r>
              <a:rPr lang="en-US" dirty="0" err="1"/>
              <a:t>Ofek</a:t>
            </a:r>
            <a:r>
              <a:rPr lang="en-US" dirty="0"/>
              <a:t> (1995) introduced the concept of “diversification discount” using standalone Qs to assess conglomerate divisions.</a:t>
            </a:r>
          </a:p>
          <a:p>
            <a:pPr lvl="1"/>
            <a:r>
              <a:rPr lang="en-US" dirty="0"/>
              <a:t>Maksimovic and Phillips (2002) and Gomes and </a:t>
            </a:r>
            <a:r>
              <a:rPr lang="en-US" dirty="0" err="1"/>
              <a:t>Livdan</a:t>
            </a:r>
            <a:r>
              <a:rPr lang="en-US" dirty="0"/>
              <a:t> (2004) proposed models with different Qs for conglomerates and standalone firms.</a:t>
            </a:r>
          </a:p>
          <a:p>
            <a:r>
              <a:rPr lang="en-US" b="1" dirty="0"/>
              <a:t>Internal Capital Markets</a:t>
            </a:r>
            <a:r>
              <a:rPr lang="en-US" dirty="0"/>
              <a:t>: There is an important role of capital reallocation inside conglomerates in the presence of external financial frictions (e.g., </a:t>
            </a:r>
            <a:r>
              <a:rPr lang="en-US" dirty="0" err="1"/>
              <a:t>Alchian</a:t>
            </a:r>
            <a:r>
              <a:rPr lang="en-US" dirty="0"/>
              <a:t> (1969), Weston (1970), Stein (1997), Hadlock, </a:t>
            </a:r>
            <a:r>
              <a:rPr lang="en-US" dirty="0" err="1"/>
              <a:t>Ryngaert</a:t>
            </a:r>
            <a:r>
              <a:rPr lang="en-US" dirty="0"/>
              <a:t>, and Thomas (2001), </a:t>
            </a:r>
            <a:r>
              <a:rPr lang="en-US" dirty="0" err="1"/>
              <a:t>Matsusaka</a:t>
            </a:r>
            <a:r>
              <a:rPr lang="en-US" dirty="0"/>
              <a:t> and Nanda (2002), </a:t>
            </a:r>
            <a:r>
              <a:rPr lang="en-US" dirty="0" err="1"/>
              <a:t>Matvos</a:t>
            </a:r>
            <a:r>
              <a:rPr lang="en-US" dirty="0"/>
              <a:t> and </a:t>
            </a:r>
            <a:r>
              <a:rPr lang="en-US" dirty="0" err="1"/>
              <a:t>Seru</a:t>
            </a:r>
            <a:r>
              <a:rPr lang="en-US" dirty="0"/>
              <a:t> (2014)).</a:t>
            </a:r>
          </a:p>
          <a:p>
            <a:r>
              <a:rPr lang="en-US" b="1" dirty="0"/>
              <a:t>Measurement Limitations</a:t>
            </a:r>
            <a:r>
              <a:rPr lang="en-US" dirty="0"/>
              <a:t>: Traditional approaches rely on standalone firms to proxy divisional Qs, missing </a:t>
            </a:r>
            <a:r>
              <a:rPr lang="en-US" dirty="0" err="1"/>
              <a:t>intraconglomerate</a:t>
            </a:r>
            <a:r>
              <a:rPr lang="en-US" dirty="0"/>
              <a:t> linkages and economic differences.</a:t>
            </a:r>
          </a:p>
        </p:txBody>
      </p:sp>
    </p:spTree>
    <p:extLst>
      <p:ext uri="{BB962C8B-B14F-4D97-AF65-F5344CB8AC3E}">
        <p14:creationId xmlns:p14="http://schemas.microsoft.com/office/powerpoint/2010/main" val="716365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A166-C551-4AB7-1D06-087BF6E9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C8F4-8E82-2B42-CBC2-90DCFF4D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Source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Compustat</a:t>
            </a:r>
            <a:r>
              <a:rPr lang="en-US" dirty="0"/>
              <a:t>: Firm-level accounting variables and SIC industry classifications.</a:t>
            </a:r>
          </a:p>
          <a:p>
            <a:pPr lvl="1"/>
            <a:r>
              <a:rPr lang="en-US" dirty="0" err="1"/>
              <a:t>Compustat</a:t>
            </a:r>
            <a:r>
              <a:rPr lang="en-US" dirty="0"/>
              <a:t> Segment files: Division-level variables.</a:t>
            </a:r>
          </a:p>
          <a:p>
            <a:r>
              <a:rPr lang="en-US" b="1" dirty="0"/>
              <a:t>Sample Details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Period: 1978–2018</a:t>
            </a:r>
          </a:p>
          <a:p>
            <a:pPr lvl="1"/>
            <a:r>
              <a:rPr lang="en-US" dirty="0"/>
              <a:t>Firms with multiple divisions (excluding financial, agricultural, and governmental).</a:t>
            </a:r>
          </a:p>
          <a:p>
            <a:pPr lvl="1"/>
            <a:r>
              <a:rPr lang="en-US" dirty="0"/>
              <a:t>Focus on U.S. conglomerates diversified across different </a:t>
            </a:r>
            <a:r>
              <a:rPr lang="en-US" dirty="0" err="1"/>
              <a:t>Fama</a:t>
            </a:r>
            <a:r>
              <a:rPr lang="en-US" dirty="0"/>
              <a:t>-French industries.</a:t>
            </a:r>
          </a:p>
        </p:txBody>
      </p:sp>
    </p:spTree>
    <p:extLst>
      <p:ext uri="{BB962C8B-B14F-4D97-AF65-F5344CB8AC3E}">
        <p14:creationId xmlns:p14="http://schemas.microsoft.com/office/powerpoint/2010/main" val="221827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D99368-0653-2D6C-D4EE-90664545D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83" y="2123945"/>
            <a:ext cx="9995633" cy="261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828E383-659B-2571-5015-BAC4E650C65B}"/>
              </a:ext>
            </a:extLst>
          </p:cNvPr>
          <p:cNvGrpSpPr/>
          <p:nvPr/>
        </p:nvGrpSpPr>
        <p:grpSpPr>
          <a:xfrm>
            <a:off x="977169" y="2230820"/>
            <a:ext cx="10237661" cy="2396359"/>
            <a:chOff x="977169" y="2071458"/>
            <a:chExt cx="10237661" cy="239635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3D1A39-FB52-D490-CEB9-DDBCB6464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6092"/>
            <a:stretch/>
          </p:blipFill>
          <p:spPr>
            <a:xfrm>
              <a:off x="977169" y="2071458"/>
              <a:ext cx="10237661" cy="163961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62AE76-E957-F518-AE7A-FEA55CB99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8966"/>
            <a:stretch/>
          </p:blipFill>
          <p:spPr>
            <a:xfrm>
              <a:off x="977169" y="3711072"/>
              <a:ext cx="10237661" cy="7567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872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F8B9D-6E9F-ADCE-CB42-732AD1A5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5" y="110796"/>
            <a:ext cx="10615749" cy="553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2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9C31F-8266-DD49-8D02-71CD314B1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470" y="0"/>
            <a:ext cx="7915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6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CBF35-F0CA-6510-B00F-10A9B8EE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68675" y="-3228809"/>
            <a:ext cx="5254651" cy="11902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2D8FD8-7D57-7921-FAB1-2A4E03D8A5AC}"/>
              </a:ext>
            </a:extLst>
          </p:cNvPr>
          <p:cNvSpPr/>
          <p:nvPr/>
        </p:nvSpPr>
        <p:spPr>
          <a:xfrm>
            <a:off x="144779" y="3429000"/>
            <a:ext cx="11902440" cy="44631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88DFC-18FB-4886-4BCC-CB426925FD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862"/>
          <a:stretch/>
        </p:blipFill>
        <p:spPr>
          <a:xfrm>
            <a:off x="6096000" y="551793"/>
            <a:ext cx="6039045" cy="3629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518031-681C-16BA-C05B-0B8D2550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138"/>
          <a:stretch/>
        </p:blipFill>
        <p:spPr>
          <a:xfrm>
            <a:off x="56955" y="551793"/>
            <a:ext cx="6039045" cy="459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1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6B040-AB9D-D8A5-49E1-C37D7E175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193317" y="-1439403"/>
            <a:ext cx="5805366" cy="86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0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35921-1F9E-9103-967B-AC2606FEE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400" y="0"/>
            <a:ext cx="591519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3DFB52-E493-7923-CC1B-A4C34805829D}"/>
              </a:ext>
            </a:extLst>
          </p:cNvPr>
          <p:cNvSpPr/>
          <p:nvPr/>
        </p:nvSpPr>
        <p:spPr>
          <a:xfrm>
            <a:off x="7872548" y="2786743"/>
            <a:ext cx="531223" cy="394498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2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1E80B-4EED-FB6E-D317-4C5917092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420" y="0"/>
            <a:ext cx="677515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028688-3AD2-9836-4954-CF2ECD45618F}"/>
              </a:ext>
            </a:extLst>
          </p:cNvPr>
          <p:cNvSpPr/>
          <p:nvPr/>
        </p:nvSpPr>
        <p:spPr>
          <a:xfrm>
            <a:off x="8029304" y="3361509"/>
            <a:ext cx="644434" cy="337021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E2A92E-B7C2-3CBA-B264-5F8A29072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886" y="0"/>
            <a:ext cx="6074228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78C6A6-BB2C-A5A3-7053-7E758F09CBB8}"/>
              </a:ext>
            </a:extLst>
          </p:cNvPr>
          <p:cNvSpPr/>
          <p:nvPr/>
        </p:nvSpPr>
        <p:spPr>
          <a:xfrm>
            <a:off x="7785464" y="3744686"/>
            <a:ext cx="644434" cy="305453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29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407F93-F007-7D1B-06CE-CEE8B91EA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476" y="8709"/>
            <a:ext cx="753304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07CCEE-82CC-F49E-7E8D-184B0663EB13}"/>
              </a:ext>
            </a:extLst>
          </p:cNvPr>
          <p:cNvSpPr/>
          <p:nvPr/>
        </p:nvSpPr>
        <p:spPr>
          <a:xfrm>
            <a:off x="7968343" y="3048000"/>
            <a:ext cx="1349827" cy="141078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F574B-0D48-FCD7-0359-617FB12F59A8}"/>
              </a:ext>
            </a:extLst>
          </p:cNvPr>
          <p:cNvSpPr/>
          <p:nvPr/>
        </p:nvSpPr>
        <p:spPr>
          <a:xfrm>
            <a:off x="7968343" y="5299166"/>
            <a:ext cx="1349827" cy="141078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8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6D9B1-702B-F840-278B-429BE460C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609" y="0"/>
            <a:ext cx="713678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9EB904-1CC4-B3BB-EC70-E62B314106AC}"/>
              </a:ext>
            </a:extLst>
          </p:cNvPr>
          <p:cNvSpPr/>
          <p:nvPr/>
        </p:nvSpPr>
        <p:spPr>
          <a:xfrm>
            <a:off x="2527609" y="4014650"/>
            <a:ext cx="7136781" cy="75764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6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C849F-98AF-369A-D69B-831522E4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048" y="0"/>
            <a:ext cx="788390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C9D279-4B63-AB4B-9636-FB63B08A562B}"/>
              </a:ext>
            </a:extLst>
          </p:cNvPr>
          <p:cNvSpPr/>
          <p:nvPr/>
        </p:nvSpPr>
        <p:spPr>
          <a:xfrm>
            <a:off x="6810103" y="3753394"/>
            <a:ext cx="905691" cy="294349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9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7EDA6-E315-B640-F1F1-CB84ABDE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77" y="172487"/>
            <a:ext cx="10181846" cy="55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93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9DF4E9-2CA8-2F99-476E-571C5A983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172763" y="-1459905"/>
            <a:ext cx="5846475" cy="87662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97F9F7-29CF-A95A-CBBB-7C94679CED3C}"/>
              </a:ext>
            </a:extLst>
          </p:cNvPr>
          <p:cNvSpPr/>
          <p:nvPr/>
        </p:nvSpPr>
        <p:spPr>
          <a:xfrm>
            <a:off x="1648043" y="3744686"/>
            <a:ext cx="8831100" cy="1262744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3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A20E-6C89-C217-DD8F-2F7D4952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71FD-C1CE-589D-6050-4497DCFB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There are significant differences between divisional and standalone Tobin’s Q, with conglomerate divisions exhibiting lower sensitivity to economic and credit shocks.</a:t>
            </a:r>
          </a:p>
          <a:p>
            <a:r>
              <a:rPr lang="en-US" dirty="0"/>
              <a:t>Conglomerates effectively use internal capital reallocation to mitigate financial frictions, making divisions more resilient.</a:t>
            </a:r>
          </a:p>
          <a:p>
            <a:r>
              <a:rPr lang="en-US" dirty="0"/>
              <a:t>Prior research may mischaracterize conglomerates by relying on standalone Qs, which do not capture </a:t>
            </a:r>
            <a:r>
              <a:rPr lang="en-US" dirty="0" err="1"/>
              <a:t>intraconglomerate</a:t>
            </a:r>
            <a:r>
              <a:rPr lang="en-US" dirty="0"/>
              <a:t> dynamics.</a:t>
            </a:r>
          </a:p>
          <a:p>
            <a:r>
              <a:rPr lang="en-US" dirty="0"/>
              <a:t>These findings challenge the traditional “diversification discount” narrative, suggesting conglomerates have valuable economic mechanisms through internal capital markets.</a:t>
            </a:r>
          </a:p>
        </p:txBody>
      </p:sp>
    </p:spTree>
    <p:extLst>
      <p:ext uri="{BB962C8B-B14F-4D97-AF65-F5344CB8AC3E}">
        <p14:creationId xmlns:p14="http://schemas.microsoft.com/office/powerpoint/2010/main" val="3006135934"/>
      </p:ext>
    </p:extLst>
  </p:cSld>
  <p:clrMapOvr>
    <a:masterClrMapping/>
  </p:clrMapOvr>
</p:sld>
</file>

<file path=ppt/theme/theme1.xml><?xml version="1.0" encoding="utf-8"?>
<a:theme xmlns:a="http://schemas.openxmlformats.org/drawingml/2006/main" name="WCOB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OB Theme" id="{DF967ADD-BC05-483B-AB52-67CF82BC061D}" vid="{FC698281-B06B-48E0-B35B-6E92E503CB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WCOB Theme</Template>
  <TotalTime>909</TotalTime>
  <Words>957</Words>
  <Application>Microsoft Office PowerPoint</Application>
  <PresentationFormat>Widescreen</PresentationFormat>
  <Paragraphs>73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NewCenturySchlbk-Italic</vt:lpstr>
      <vt:lpstr>NewCenturySchlbk-Roman</vt:lpstr>
      <vt:lpstr>WCOB Theme</vt:lpstr>
      <vt:lpstr>Dissecting Conglomerate Valuations</vt:lpstr>
      <vt:lpstr>Research question</vt:lpstr>
      <vt:lpstr>Prior Literature</vt:lpstr>
      <vt:lpstr>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Thompson</dc:creator>
  <cp:lastModifiedBy>Nicholas Thompson</cp:lastModifiedBy>
  <cp:revision>3</cp:revision>
  <dcterms:created xsi:type="dcterms:W3CDTF">2024-09-26T02:52:42Z</dcterms:created>
  <dcterms:modified xsi:type="dcterms:W3CDTF">2024-10-01T05:20:41Z</dcterms:modified>
</cp:coreProperties>
</file>