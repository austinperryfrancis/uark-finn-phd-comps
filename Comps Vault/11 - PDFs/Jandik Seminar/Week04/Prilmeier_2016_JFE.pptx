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3"/>
  </p:notesMasterIdLst>
  <p:sldIdLst>
    <p:sldId id="291" r:id="rId2"/>
    <p:sldId id="292" r:id="rId3"/>
    <p:sldId id="336" r:id="rId4"/>
    <p:sldId id="365" r:id="rId5"/>
    <p:sldId id="364" r:id="rId6"/>
    <p:sldId id="354" r:id="rId7"/>
    <p:sldId id="352" r:id="rId8"/>
    <p:sldId id="366" r:id="rId9"/>
    <p:sldId id="367" r:id="rId10"/>
    <p:sldId id="368" r:id="rId11"/>
    <p:sldId id="369" r:id="rId12"/>
    <p:sldId id="370" r:id="rId13"/>
    <p:sldId id="371" r:id="rId14"/>
    <p:sldId id="378" r:id="rId15"/>
    <p:sldId id="372" r:id="rId16"/>
    <p:sldId id="373" r:id="rId17"/>
    <p:sldId id="375" r:id="rId18"/>
    <p:sldId id="377" r:id="rId19"/>
    <p:sldId id="379" r:id="rId20"/>
    <p:sldId id="293" r:id="rId21"/>
    <p:sldId id="29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9/9/2024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Why Do Loans Contain Covenants? Evidence from Lending Relationships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b="1" dirty="0">
                <a:solidFill>
                  <a:srgbClr val="00B050"/>
                </a:solidFill>
              </a:rPr>
              <a:t>Robert </a:t>
            </a:r>
            <a:r>
              <a:rPr lang="en-US" b="1" dirty="0" err="1">
                <a:solidFill>
                  <a:srgbClr val="00B050"/>
                </a:solidFill>
              </a:rPr>
              <a:t>Prilmeier</a:t>
            </a:r>
            <a:endParaRPr lang="en-US" b="1" dirty="0">
              <a:solidFill>
                <a:srgbClr val="00B050"/>
              </a:solidFill>
            </a:endParaRPr>
          </a:p>
          <a:p>
            <a:pPr algn="l"/>
            <a:r>
              <a:rPr lang="en-US" dirty="0"/>
              <a:t>Tulane University</a:t>
            </a:r>
          </a:p>
          <a:p>
            <a:pPr algn="l"/>
            <a:r>
              <a:rPr lang="en-US" dirty="0">
                <a:solidFill>
                  <a:srgbClr val="0070C0"/>
                </a:solidFill>
              </a:rPr>
              <a:t>Journal of Financial Economics </a:t>
            </a:r>
          </a:p>
          <a:p>
            <a:pPr algn="l"/>
            <a:r>
              <a:rPr lang="en-US" dirty="0">
                <a:solidFill>
                  <a:srgbClr val="0070C0"/>
                </a:solidFill>
              </a:rPr>
              <a:t>April 2016</a:t>
            </a:r>
          </a:p>
          <a:p>
            <a:pPr algn="l"/>
            <a:r>
              <a:rPr lang="en-US" u="sng" dirty="0">
                <a:solidFill>
                  <a:srgbClr val="0070C0"/>
                </a:solidFill>
              </a:rPr>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dirty="0"/>
              <a:t>How does relationship lending affect the use of loan covenants in a sample of large loans to publicly listed borrowers</a:t>
            </a:r>
          </a:p>
          <a:p>
            <a:pPr algn="l"/>
            <a:r>
              <a:rPr lang="en-US" sz="2000" dirty="0"/>
              <a:t>How should control rights be distributed when relationship lenders acquire information about the borrower</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Measures</a:t>
            </a:r>
            <a:endParaRPr lang="en-US" sz="32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5632311"/>
          </a:xfrm>
          <a:prstGeom prst="rect">
            <a:avLst/>
          </a:prstGeom>
          <a:noFill/>
        </p:spPr>
        <p:txBody>
          <a:bodyPr wrap="square">
            <a:spAutoFit/>
          </a:bodyPr>
          <a:lstStyle/>
          <a:p>
            <a:r>
              <a:rPr lang="en-US" sz="2400" dirty="0">
                <a:solidFill>
                  <a:srgbClr val="92D050"/>
                </a:solidFill>
              </a:rPr>
              <a:t>Relationship intensity: </a:t>
            </a:r>
            <a:r>
              <a:rPr lang="en-US" sz="2400" dirty="0"/>
              <a:t>the proportion of the firm’s loans over the previous five years that have been arranged by the current lender. A low level of relationship intensity implies that the current lender has not previously been the borrower’s main lender. A proxy for how well the lender knows the borrower relative to other lenders</a:t>
            </a:r>
          </a:p>
          <a:p>
            <a:endParaRPr lang="en-US" sz="2400" dirty="0"/>
          </a:p>
          <a:p>
            <a:endParaRPr lang="en-US" sz="2400" dirty="0"/>
          </a:p>
          <a:p>
            <a:endParaRPr lang="en-US" sz="2400" dirty="0"/>
          </a:p>
          <a:p>
            <a:endParaRPr lang="en-US" sz="2400" dirty="0"/>
          </a:p>
          <a:p>
            <a:endParaRPr lang="en-US" sz="2400" dirty="0"/>
          </a:p>
          <a:p>
            <a:r>
              <a:rPr lang="en-US" sz="2400" dirty="0">
                <a:solidFill>
                  <a:srgbClr val="92D050"/>
                </a:solidFill>
              </a:rPr>
              <a:t>Relationship duration: </a:t>
            </a:r>
            <a:r>
              <a:rPr lang="en-US" sz="2400" dirty="0"/>
              <a:t>the duration of the borrower’s relationship with the current lender, a proxy for how well the lender knows the borrower in absolute terms</a:t>
            </a:r>
          </a:p>
          <a:p>
            <a:endParaRPr lang="en-US" sz="2400" dirty="0">
              <a:solidFill>
                <a:srgbClr val="92D050"/>
              </a:solidFill>
            </a:endParaRPr>
          </a:p>
          <a:p>
            <a:endParaRPr lang="en-US" sz="2400" dirty="0">
              <a:solidFill>
                <a:srgbClr val="92D050"/>
              </a:solidFill>
            </a:endParaRPr>
          </a:p>
          <a:p>
            <a:endParaRPr lang="en-US" sz="2400" dirty="0">
              <a:solidFill>
                <a:srgbClr val="92D050"/>
              </a:solidFill>
            </a:endParaRPr>
          </a:p>
          <a:p>
            <a:endParaRPr lang="en-US" sz="2400" dirty="0">
              <a:solidFill>
                <a:srgbClr val="92D050"/>
              </a:solidFill>
            </a:endParaRPr>
          </a:p>
        </p:txBody>
      </p:sp>
      <p:pic>
        <p:nvPicPr>
          <p:cNvPr id="3" name="Picture 2">
            <a:extLst>
              <a:ext uri="{FF2B5EF4-FFF2-40B4-BE49-F238E27FC236}">
                <a16:creationId xmlns:a16="http://schemas.microsoft.com/office/drawing/2014/main" id="{7495149F-AD1A-2998-82CB-76158DF5EA33}"/>
              </a:ext>
            </a:extLst>
          </p:cNvPr>
          <p:cNvPicPr>
            <a:picLocks noChangeAspect="1"/>
          </p:cNvPicPr>
          <p:nvPr/>
        </p:nvPicPr>
        <p:blipFill>
          <a:blip r:embed="rId3"/>
          <a:stretch>
            <a:fillRect/>
          </a:stretch>
        </p:blipFill>
        <p:spPr>
          <a:xfrm>
            <a:off x="2449693" y="2667598"/>
            <a:ext cx="5321573" cy="495325"/>
          </a:xfrm>
          <a:prstGeom prst="rect">
            <a:avLst/>
          </a:prstGeom>
        </p:spPr>
      </p:pic>
      <p:pic>
        <p:nvPicPr>
          <p:cNvPr id="7" name="Picture 6">
            <a:extLst>
              <a:ext uri="{FF2B5EF4-FFF2-40B4-BE49-F238E27FC236}">
                <a16:creationId xmlns:a16="http://schemas.microsoft.com/office/drawing/2014/main" id="{CE26B812-6AA5-61B5-7DCF-AFFB0910E9C2}"/>
              </a:ext>
            </a:extLst>
          </p:cNvPr>
          <p:cNvPicPr>
            <a:picLocks noChangeAspect="1"/>
          </p:cNvPicPr>
          <p:nvPr/>
        </p:nvPicPr>
        <p:blipFill>
          <a:blip r:embed="rId4"/>
          <a:stretch>
            <a:fillRect/>
          </a:stretch>
        </p:blipFill>
        <p:spPr>
          <a:xfrm>
            <a:off x="2449692" y="3314551"/>
            <a:ext cx="5321573" cy="528292"/>
          </a:xfrm>
          <a:prstGeom prst="rect">
            <a:avLst/>
          </a:prstGeom>
        </p:spPr>
      </p:pic>
    </p:spTree>
    <p:extLst>
      <p:ext uri="{BB962C8B-B14F-4D97-AF65-F5344CB8AC3E}">
        <p14:creationId xmlns:p14="http://schemas.microsoft.com/office/powerpoint/2010/main" val="3936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Measures</a:t>
            </a:r>
            <a:endParaRPr lang="en-US" sz="3200" b="1"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3046988"/>
          </a:xfrm>
          <a:prstGeom prst="rect">
            <a:avLst/>
          </a:prstGeom>
          <a:noFill/>
        </p:spPr>
        <p:txBody>
          <a:bodyPr wrap="square">
            <a:spAutoFit/>
          </a:bodyPr>
          <a:lstStyle/>
          <a:p>
            <a:r>
              <a:rPr lang="en-US" sz="2400" dirty="0">
                <a:solidFill>
                  <a:srgbClr val="92D050"/>
                </a:solidFill>
              </a:rPr>
              <a:t>Covenant tightness: </a:t>
            </a:r>
            <a:r>
              <a:rPr lang="en-US" sz="2400" dirty="0"/>
              <a:t>the average ex ante violation probability of a loan’s financial covenants  </a:t>
            </a:r>
          </a:p>
          <a:p>
            <a:r>
              <a:rPr lang="en-US" sz="2400" dirty="0"/>
              <a:t>  </a:t>
            </a:r>
          </a:p>
          <a:p>
            <a:endParaRPr lang="en-US" sz="2400" dirty="0"/>
          </a:p>
          <a:p>
            <a:endParaRPr lang="en-US" sz="2400" dirty="0"/>
          </a:p>
          <a:p>
            <a:endParaRPr lang="en-US" sz="2400" dirty="0"/>
          </a:p>
          <a:p>
            <a:endParaRPr lang="en-US" sz="2400" dirty="0"/>
          </a:p>
          <a:p>
            <a:r>
              <a:rPr lang="en-US" sz="2400" dirty="0">
                <a:solidFill>
                  <a:srgbClr val="92D050"/>
                </a:solidFill>
              </a:rPr>
              <a:t>Covenant intensity: </a:t>
            </a:r>
            <a:r>
              <a:rPr lang="en-US" sz="2400" dirty="0"/>
              <a:t>the number of financial covenants attached to a loan</a:t>
            </a:r>
          </a:p>
        </p:txBody>
      </p:sp>
      <p:pic>
        <p:nvPicPr>
          <p:cNvPr id="3" name="Picture 2">
            <a:extLst>
              <a:ext uri="{FF2B5EF4-FFF2-40B4-BE49-F238E27FC236}">
                <a16:creationId xmlns:a16="http://schemas.microsoft.com/office/drawing/2014/main" id="{5ACB9828-9471-055E-6A0F-D04E8346F36B}"/>
              </a:ext>
            </a:extLst>
          </p:cNvPr>
          <p:cNvPicPr>
            <a:picLocks noChangeAspect="1"/>
          </p:cNvPicPr>
          <p:nvPr/>
        </p:nvPicPr>
        <p:blipFill>
          <a:blip r:embed="rId3"/>
          <a:stretch>
            <a:fillRect/>
          </a:stretch>
        </p:blipFill>
        <p:spPr>
          <a:xfrm>
            <a:off x="614574" y="2029447"/>
            <a:ext cx="4115011" cy="482625"/>
          </a:xfrm>
          <a:prstGeom prst="rect">
            <a:avLst/>
          </a:prstGeom>
        </p:spPr>
      </p:pic>
      <p:sp>
        <p:nvSpPr>
          <p:cNvPr id="6" name="TextBox 5">
            <a:extLst>
              <a:ext uri="{FF2B5EF4-FFF2-40B4-BE49-F238E27FC236}">
                <a16:creationId xmlns:a16="http://schemas.microsoft.com/office/drawing/2014/main" id="{DF902D60-8843-EEC7-47CC-C7A59A8F321D}"/>
              </a:ext>
            </a:extLst>
          </p:cNvPr>
          <p:cNvSpPr txBox="1"/>
          <p:nvPr/>
        </p:nvSpPr>
        <p:spPr>
          <a:xfrm>
            <a:off x="5069840" y="1849120"/>
            <a:ext cx="6969760" cy="923330"/>
          </a:xfrm>
          <a:prstGeom prst="rect">
            <a:avLst/>
          </a:prstGeom>
          <a:noFill/>
        </p:spPr>
        <p:txBody>
          <a:bodyPr wrap="square" rtlCol="0">
            <a:spAutoFit/>
          </a:bodyPr>
          <a:lstStyle/>
          <a:p>
            <a:pPr marL="285750" indent="-285750">
              <a:buFont typeface="Arial" panose="020B0604020202020204" pitchFamily="34" charset="0"/>
              <a:buChar char="•"/>
            </a:pPr>
            <a:r>
              <a:rPr lang="en-US" dirty="0"/>
              <a:t>Φ denotes the cumulative standard normal distribution function</a:t>
            </a:r>
          </a:p>
          <a:p>
            <a:pPr marL="285750" indent="-285750">
              <a:buFont typeface="Arial" panose="020B0604020202020204" pitchFamily="34" charset="0"/>
              <a:buChar char="•"/>
            </a:pPr>
            <a:r>
              <a:rPr lang="en-US" dirty="0"/>
              <a:t>Slack is measured using the difference between the financial ratio in the quarter prior to the loan start date and the covenant trigger.</a:t>
            </a:r>
          </a:p>
        </p:txBody>
      </p:sp>
    </p:spTree>
    <p:extLst>
      <p:ext uri="{BB962C8B-B14F-4D97-AF65-F5344CB8AC3E}">
        <p14:creationId xmlns:p14="http://schemas.microsoft.com/office/powerpoint/2010/main" val="1206973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1050" dirty="0"/>
              <a:t> </a:t>
            </a:r>
            <a:r>
              <a:rPr lang="en-US" sz="3200" b="1" dirty="0">
                <a:solidFill>
                  <a:srgbClr val="C00000"/>
                </a:solidFill>
              </a:rPr>
              <a:t>Institutional background and covenant theories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01600" y="579514"/>
            <a:ext cx="11765280" cy="4893647"/>
          </a:xfrm>
          <a:prstGeom prst="rect">
            <a:avLst/>
          </a:prstGeom>
          <a:noFill/>
        </p:spPr>
        <p:txBody>
          <a:bodyPr wrap="square">
            <a:spAutoFit/>
          </a:bodyPr>
          <a:lstStyle/>
          <a:p>
            <a:r>
              <a:rPr lang="en-US" sz="2400" b="1" dirty="0">
                <a:solidFill>
                  <a:srgbClr val="92D050"/>
                </a:solidFill>
              </a:rPr>
              <a:t>Financial covenants as a monitoring device: </a:t>
            </a:r>
            <a:r>
              <a:rPr lang="en-US" sz="2400" dirty="0"/>
              <a:t>Financial covenants require the borrower to maintain certain accounting measures of financial health, such as a minimum net worth or a maximum debt-to-EBITDA ratio.</a:t>
            </a:r>
          </a:p>
          <a:p>
            <a:r>
              <a:rPr lang="en-US" sz="2400" b="1" dirty="0">
                <a:solidFill>
                  <a:srgbClr val="92D050"/>
                </a:solidFill>
              </a:rPr>
              <a:t>Theories of covenant use: </a:t>
            </a:r>
          </a:p>
          <a:p>
            <a:pPr marL="342900" indent="-342900">
              <a:buFont typeface="Wingdings" panose="05000000000000000000" pitchFamily="2" charset="2"/>
              <a:buChar char="Ø"/>
            </a:pPr>
            <a:r>
              <a:rPr lang="en-US" sz="2400" dirty="0">
                <a:solidFill>
                  <a:srgbClr val="92D050"/>
                </a:solidFill>
              </a:rPr>
              <a:t>Protection against information asymmetries:</a:t>
            </a:r>
          </a:p>
          <a:p>
            <a:pPr marL="342900" indent="-342900">
              <a:buFont typeface="Arial" panose="020B0604020202020204" pitchFamily="34" charset="0"/>
              <a:buChar char="•"/>
            </a:pPr>
            <a:r>
              <a:rPr lang="en-US" sz="2400" dirty="0"/>
              <a:t> to the extent that information asymmetries decline over the course of a lending relationship, covenants should become less restrictive.</a:t>
            </a:r>
          </a:p>
          <a:p>
            <a:pPr marL="342900" indent="-342900">
              <a:buFont typeface="Arial" panose="020B0604020202020204" pitchFamily="34" charset="0"/>
              <a:buChar char="•"/>
            </a:pPr>
            <a:r>
              <a:rPr lang="en-US" sz="2400" dirty="0"/>
              <a:t>this effect should be stronger for more opaque borrowers for whom ex ante information asymmetries are likely to be larger</a:t>
            </a:r>
          </a:p>
          <a:p>
            <a:pPr marL="342900" indent="-342900">
              <a:buFont typeface="Wingdings" panose="05000000000000000000" pitchFamily="2" charset="2"/>
              <a:buChar char="Ø"/>
            </a:pPr>
            <a:r>
              <a:rPr lang="en-US" sz="2400" dirty="0">
                <a:solidFill>
                  <a:srgbClr val="92D050"/>
                </a:solidFill>
              </a:rPr>
              <a:t>Covenants as a monitoring incentive</a:t>
            </a:r>
          </a:p>
          <a:p>
            <a:pPr marL="342900" indent="-342900">
              <a:buFont typeface="Arial" panose="020B0604020202020204" pitchFamily="34" charset="0"/>
              <a:buChar char="•"/>
            </a:pPr>
            <a:r>
              <a:rPr lang="en-US" sz="2400" dirty="0"/>
              <a:t>The lack of monitoring incentives could subject the borrower to additional contracting costs. Since it makes the loan’s effective maturity contingent on monitoring, loan with covenants increases the bank’s benefits from monitoring relative to not monitoring</a:t>
            </a:r>
          </a:p>
        </p:txBody>
      </p:sp>
    </p:spTree>
    <p:extLst>
      <p:ext uri="{BB962C8B-B14F-4D97-AF65-F5344CB8AC3E}">
        <p14:creationId xmlns:p14="http://schemas.microsoft.com/office/powerpoint/2010/main" val="1992572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Autofit/>
          </a:bodyPr>
          <a:lstStyle/>
          <a:p>
            <a:r>
              <a:rPr lang="en-US" sz="2800" b="1" dirty="0">
                <a:solidFill>
                  <a:srgbClr val="C00000"/>
                </a:solidFill>
              </a:rPr>
              <a:t>Data and measurement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A502381D-3751-6A59-C791-EA3E29FFCFE4}"/>
              </a:ext>
            </a:extLst>
          </p:cNvPr>
          <p:cNvSpPr txBox="1"/>
          <p:nvPr/>
        </p:nvSpPr>
        <p:spPr>
          <a:xfrm>
            <a:off x="527538" y="685800"/>
            <a:ext cx="11403624" cy="1631216"/>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92D050"/>
                </a:solidFill>
              </a:rPr>
              <a:t>Loan Pricing Corporation’s </a:t>
            </a:r>
            <a:r>
              <a:rPr lang="en-US" sz="2000" dirty="0" err="1">
                <a:solidFill>
                  <a:srgbClr val="92D050"/>
                </a:solidFill>
              </a:rPr>
              <a:t>DealScan</a:t>
            </a:r>
            <a:r>
              <a:rPr lang="en-US" sz="2000" dirty="0">
                <a:solidFill>
                  <a:srgbClr val="92D050"/>
                </a:solidFill>
              </a:rPr>
              <a:t> database: </a:t>
            </a:r>
            <a:r>
              <a:rPr lang="en-US" sz="2000" dirty="0"/>
              <a:t>data on syndicated and large sole lender loans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solidFill>
                  <a:srgbClr val="92D050"/>
                </a:solidFill>
              </a:rPr>
              <a:t>Sample: </a:t>
            </a:r>
            <a:r>
              <a:rPr lang="en-US" sz="2000" dirty="0"/>
              <a:t>7,924 loans incurred by 3,171 U.S. borrowers between the years 1995 and 2008</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err="1">
                <a:solidFill>
                  <a:srgbClr val="92D050"/>
                </a:solidFill>
              </a:rPr>
              <a:t>Compustat</a:t>
            </a:r>
            <a:r>
              <a:rPr lang="en-US" sz="2000" dirty="0">
                <a:solidFill>
                  <a:srgbClr val="92D050"/>
                </a:solidFill>
              </a:rPr>
              <a:t>: </a:t>
            </a:r>
            <a:r>
              <a:rPr lang="en-US" sz="2000" dirty="0"/>
              <a:t>the borrowers’ accounting data</a:t>
            </a:r>
            <a:endParaRPr lang="en-US" sz="2000" dirty="0">
              <a:solidFill>
                <a:srgbClr val="92D050"/>
              </a:solidFill>
            </a:endParaRPr>
          </a:p>
        </p:txBody>
      </p:sp>
    </p:spTree>
    <p:extLst>
      <p:ext uri="{BB962C8B-B14F-4D97-AF65-F5344CB8AC3E}">
        <p14:creationId xmlns:p14="http://schemas.microsoft.com/office/powerpoint/2010/main" val="199234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693920" y="289249"/>
            <a:ext cx="6785934" cy="575681"/>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Covenant types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13" name="TextBox 12">
            <a:extLst>
              <a:ext uri="{FF2B5EF4-FFF2-40B4-BE49-F238E27FC236}">
                <a16:creationId xmlns:a16="http://schemas.microsoft.com/office/drawing/2014/main" id="{7EEDA9A8-C35E-44A2-A9FE-92E879E48ED5}"/>
              </a:ext>
            </a:extLst>
          </p:cNvPr>
          <p:cNvSpPr txBox="1"/>
          <p:nvPr/>
        </p:nvSpPr>
        <p:spPr>
          <a:xfrm>
            <a:off x="5382390" y="1171527"/>
            <a:ext cx="6097464" cy="1200329"/>
          </a:xfrm>
          <a:prstGeom prst="rect">
            <a:avLst/>
          </a:prstGeom>
          <a:noFill/>
        </p:spPr>
        <p:txBody>
          <a:bodyPr wrap="square">
            <a:spAutoFit/>
          </a:bodyPr>
          <a:lstStyle/>
          <a:p>
            <a:pPr marL="285750" indent="-285750">
              <a:buFont typeface="Arial" panose="020B0604020202020204" pitchFamily="34" charset="0"/>
              <a:buChar char="•"/>
            </a:pPr>
            <a:r>
              <a:rPr lang="en-US" dirty="0"/>
              <a:t>Sweep provisions require the borrowing firm to repay part or all of the loan prematurely if it takes certain actions such as, in the case of an asset sale sweep, selling assets in excess of certain allowances.</a:t>
            </a:r>
          </a:p>
        </p:txBody>
      </p:sp>
      <p:pic>
        <p:nvPicPr>
          <p:cNvPr id="3" name="Picture 2">
            <a:extLst>
              <a:ext uri="{FF2B5EF4-FFF2-40B4-BE49-F238E27FC236}">
                <a16:creationId xmlns:a16="http://schemas.microsoft.com/office/drawing/2014/main" id="{2359240B-BE73-512D-3137-EEE7B9CC20CA}"/>
              </a:ext>
            </a:extLst>
          </p:cNvPr>
          <p:cNvPicPr>
            <a:picLocks noChangeAspect="1"/>
          </p:cNvPicPr>
          <p:nvPr/>
        </p:nvPicPr>
        <p:blipFill>
          <a:blip r:embed="rId3"/>
          <a:stretch>
            <a:fillRect/>
          </a:stretch>
        </p:blipFill>
        <p:spPr>
          <a:xfrm>
            <a:off x="81280" y="-153191"/>
            <a:ext cx="4145279" cy="6340631"/>
          </a:xfrm>
          <a:prstGeom prst="rect">
            <a:avLst/>
          </a:prstGeom>
        </p:spPr>
      </p:pic>
    </p:spTree>
    <p:extLst>
      <p:ext uri="{BB962C8B-B14F-4D97-AF65-F5344CB8AC3E}">
        <p14:creationId xmlns:p14="http://schemas.microsoft.com/office/powerpoint/2010/main" val="479549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4907280" y="289249"/>
            <a:ext cx="5760720" cy="575681"/>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Data and Measurement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13" name="TextBox 12">
            <a:extLst>
              <a:ext uri="{FF2B5EF4-FFF2-40B4-BE49-F238E27FC236}">
                <a16:creationId xmlns:a16="http://schemas.microsoft.com/office/drawing/2014/main" id="{7EEDA9A8-C35E-44A2-A9FE-92E879E48ED5}"/>
              </a:ext>
            </a:extLst>
          </p:cNvPr>
          <p:cNvSpPr txBox="1"/>
          <p:nvPr/>
        </p:nvSpPr>
        <p:spPr>
          <a:xfrm>
            <a:off x="5382390" y="1171527"/>
            <a:ext cx="6097464" cy="923330"/>
          </a:xfrm>
          <a:prstGeom prst="rect">
            <a:avLst/>
          </a:prstGeom>
          <a:noFill/>
        </p:spPr>
        <p:txBody>
          <a:bodyPr wrap="square">
            <a:spAutoFit/>
          </a:bodyPr>
          <a:lstStyle/>
          <a:p>
            <a:pPr marL="285750" indent="-285750">
              <a:buFont typeface="Arial" panose="020B0604020202020204" pitchFamily="34" charset="0"/>
              <a:buChar char="•"/>
            </a:pPr>
            <a:r>
              <a:rPr lang="en-US" dirty="0"/>
              <a:t>Table 2 shows the number of loans available per firm for the final sample and for the sample used to determine relationship intensity. </a:t>
            </a:r>
          </a:p>
        </p:txBody>
      </p:sp>
      <p:pic>
        <p:nvPicPr>
          <p:cNvPr id="7" name="Picture 6">
            <a:extLst>
              <a:ext uri="{FF2B5EF4-FFF2-40B4-BE49-F238E27FC236}">
                <a16:creationId xmlns:a16="http://schemas.microsoft.com/office/drawing/2014/main" id="{266258B0-5113-71E5-7658-A04D9B30F9AE}"/>
              </a:ext>
            </a:extLst>
          </p:cNvPr>
          <p:cNvPicPr>
            <a:picLocks noChangeAspect="1"/>
          </p:cNvPicPr>
          <p:nvPr/>
        </p:nvPicPr>
        <p:blipFill>
          <a:blip r:embed="rId3"/>
          <a:stretch>
            <a:fillRect/>
          </a:stretch>
        </p:blipFill>
        <p:spPr>
          <a:xfrm>
            <a:off x="0" y="118533"/>
            <a:ext cx="5109142" cy="7269257"/>
          </a:xfrm>
          <a:prstGeom prst="rect">
            <a:avLst/>
          </a:prstGeom>
        </p:spPr>
      </p:pic>
      <p:sp>
        <p:nvSpPr>
          <p:cNvPr id="2" name="Rectangle 1">
            <a:extLst>
              <a:ext uri="{FF2B5EF4-FFF2-40B4-BE49-F238E27FC236}">
                <a16:creationId xmlns:a16="http://schemas.microsoft.com/office/drawing/2014/main" id="{C77F4EB0-0841-C712-C127-A4B6BD41E7E0}"/>
              </a:ext>
            </a:extLst>
          </p:cNvPr>
          <p:cNvSpPr/>
          <p:nvPr/>
        </p:nvSpPr>
        <p:spPr>
          <a:xfrm>
            <a:off x="152400" y="4106333"/>
            <a:ext cx="1947333" cy="186267"/>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24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7162800" y="289249"/>
            <a:ext cx="4785360" cy="575681"/>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Data and Measurement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B5BDE071-E9E3-B56E-E8D7-F4E6F2141B6D}"/>
              </a:ext>
            </a:extLst>
          </p:cNvPr>
          <p:cNvPicPr>
            <a:picLocks noChangeAspect="1"/>
          </p:cNvPicPr>
          <p:nvPr/>
        </p:nvPicPr>
        <p:blipFill>
          <a:blip r:embed="rId3"/>
          <a:stretch>
            <a:fillRect/>
          </a:stretch>
        </p:blipFill>
        <p:spPr>
          <a:xfrm>
            <a:off x="74799" y="88582"/>
            <a:ext cx="6742560" cy="433032"/>
          </a:xfrm>
          <a:prstGeom prst="rect">
            <a:avLst/>
          </a:prstGeom>
        </p:spPr>
      </p:pic>
      <p:pic>
        <p:nvPicPr>
          <p:cNvPr id="6" name="Picture 5">
            <a:extLst>
              <a:ext uri="{FF2B5EF4-FFF2-40B4-BE49-F238E27FC236}">
                <a16:creationId xmlns:a16="http://schemas.microsoft.com/office/drawing/2014/main" id="{9B664A28-784A-01B6-5674-BABD4322E78D}"/>
              </a:ext>
            </a:extLst>
          </p:cNvPr>
          <p:cNvPicPr>
            <a:picLocks noChangeAspect="1"/>
          </p:cNvPicPr>
          <p:nvPr/>
        </p:nvPicPr>
        <p:blipFill>
          <a:blip r:embed="rId4"/>
          <a:stretch>
            <a:fillRect/>
          </a:stretch>
        </p:blipFill>
        <p:spPr>
          <a:xfrm>
            <a:off x="74799" y="530748"/>
            <a:ext cx="6742561" cy="4385614"/>
          </a:xfrm>
          <a:prstGeom prst="rect">
            <a:avLst/>
          </a:prstGeom>
        </p:spPr>
      </p:pic>
      <p:sp>
        <p:nvSpPr>
          <p:cNvPr id="9" name="TextBox 8">
            <a:extLst>
              <a:ext uri="{FF2B5EF4-FFF2-40B4-BE49-F238E27FC236}">
                <a16:creationId xmlns:a16="http://schemas.microsoft.com/office/drawing/2014/main" id="{A7DA8639-09A7-534F-B476-6177B2DD7E5F}"/>
              </a:ext>
            </a:extLst>
          </p:cNvPr>
          <p:cNvSpPr txBox="1"/>
          <p:nvPr/>
        </p:nvSpPr>
        <p:spPr>
          <a:xfrm>
            <a:off x="6976238" y="864930"/>
            <a:ext cx="5053201" cy="4247317"/>
          </a:xfrm>
          <a:prstGeom prst="rect">
            <a:avLst/>
          </a:prstGeom>
          <a:noFill/>
        </p:spPr>
        <p:txBody>
          <a:bodyPr wrap="square">
            <a:spAutoFit/>
          </a:bodyPr>
          <a:lstStyle/>
          <a:p>
            <a:r>
              <a:rPr lang="en-US" dirty="0"/>
              <a:t>Loans are sorted on relationship intensity as measured by Relation (Maximum)</a:t>
            </a:r>
          </a:p>
          <a:p>
            <a:endParaRPr lang="en-US" dirty="0"/>
          </a:p>
          <a:p>
            <a:r>
              <a:rPr lang="en-US" dirty="0"/>
              <a:t>relationship intensity is </a:t>
            </a:r>
            <a:r>
              <a:rPr lang="en-US" dirty="0">
                <a:solidFill>
                  <a:srgbClr val="FF0000"/>
                </a:solidFill>
              </a:rPr>
              <a:t>“low” </a:t>
            </a:r>
            <a:r>
              <a:rPr lang="en-US" dirty="0"/>
              <a:t>if relationship intensity is less than 30%, </a:t>
            </a:r>
            <a:r>
              <a:rPr lang="en-US" dirty="0">
                <a:solidFill>
                  <a:srgbClr val="FF0000"/>
                </a:solidFill>
              </a:rPr>
              <a:t>“high” </a:t>
            </a:r>
            <a:r>
              <a:rPr lang="en-US" dirty="0"/>
              <a:t>if it is at least 70%, and </a:t>
            </a:r>
            <a:r>
              <a:rPr lang="en-US" dirty="0">
                <a:solidFill>
                  <a:srgbClr val="FF0000"/>
                </a:solidFill>
              </a:rPr>
              <a:t>“medium” </a:t>
            </a:r>
            <a:r>
              <a:rPr lang="en-US" dirty="0"/>
              <a:t>if relationship intensity is between 30% and 70%. </a:t>
            </a:r>
          </a:p>
          <a:p>
            <a:endParaRPr lang="en-US" dirty="0"/>
          </a:p>
          <a:p>
            <a:r>
              <a:rPr lang="en-US" dirty="0"/>
              <a:t>Covenant tightness is lower for loans with high relationship intensity compared to those with low intensity.</a:t>
            </a:r>
          </a:p>
          <a:p>
            <a:endParaRPr lang="en-US" dirty="0"/>
          </a:p>
          <a:p>
            <a:r>
              <a:rPr lang="en-US" dirty="0"/>
              <a:t>Financial covenants increases from the low to the medium category and decreases from the medium to the high category. </a:t>
            </a:r>
          </a:p>
        </p:txBody>
      </p:sp>
      <p:pic>
        <p:nvPicPr>
          <p:cNvPr id="14" name="Picture 13">
            <a:extLst>
              <a:ext uri="{FF2B5EF4-FFF2-40B4-BE49-F238E27FC236}">
                <a16:creationId xmlns:a16="http://schemas.microsoft.com/office/drawing/2014/main" id="{799ABD47-121A-DD3A-42A8-918EC1207FFE}"/>
              </a:ext>
            </a:extLst>
          </p:cNvPr>
          <p:cNvPicPr>
            <a:picLocks noChangeAspect="1"/>
          </p:cNvPicPr>
          <p:nvPr/>
        </p:nvPicPr>
        <p:blipFill>
          <a:blip r:embed="rId5"/>
          <a:stretch>
            <a:fillRect/>
          </a:stretch>
        </p:blipFill>
        <p:spPr>
          <a:xfrm>
            <a:off x="74797" y="4922262"/>
            <a:ext cx="6742561" cy="1079890"/>
          </a:xfrm>
          <a:prstGeom prst="rect">
            <a:avLst/>
          </a:prstGeom>
        </p:spPr>
      </p:pic>
      <p:sp>
        <p:nvSpPr>
          <p:cNvPr id="15" name="Rectangle 14">
            <a:extLst>
              <a:ext uri="{FF2B5EF4-FFF2-40B4-BE49-F238E27FC236}">
                <a16:creationId xmlns:a16="http://schemas.microsoft.com/office/drawing/2014/main" id="{C1A931BE-A5D2-7B26-B553-EC0B8879FC8E}"/>
              </a:ext>
            </a:extLst>
          </p:cNvPr>
          <p:cNvSpPr/>
          <p:nvPr/>
        </p:nvSpPr>
        <p:spPr>
          <a:xfrm>
            <a:off x="233680" y="2164080"/>
            <a:ext cx="6492240" cy="660400"/>
          </a:xfrm>
          <a:prstGeom prst="rect">
            <a:avLst/>
          </a:prstGeom>
          <a:noFill/>
          <a:ln>
            <a:solidFill>
              <a:srgbClr val="CC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055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7162800" y="68165"/>
            <a:ext cx="4785360" cy="462583"/>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Data and Measurement</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B5BDE071-E9E3-B56E-E8D7-F4E6F2141B6D}"/>
              </a:ext>
            </a:extLst>
          </p:cNvPr>
          <p:cNvPicPr>
            <a:picLocks noChangeAspect="1"/>
          </p:cNvPicPr>
          <p:nvPr/>
        </p:nvPicPr>
        <p:blipFill>
          <a:blip r:embed="rId3"/>
          <a:stretch>
            <a:fillRect/>
          </a:stretch>
        </p:blipFill>
        <p:spPr>
          <a:xfrm>
            <a:off x="0" y="68165"/>
            <a:ext cx="6884801" cy="442167"/>
          </a:xfrm>
          <a:prstGeom prst="rect">
            <a:avLst/>
          </a:prstGeom>
        </p:spPr>
      </p:pic>
      <p:pic>
        <p:nvPicPr>
          <p:cNvPr id="4" name="Picture 3">
            <a:extLst>
              <a:ext uri="{FF2B5EF4-FFF2-40B4-BE49-F238E27FC236}">
                <a16:creationId xmlns:a16="http://schemas.microsoft.com/office/drawing/2014/main" id="{02CD1C40-78D6-FA09-D9B1-587D61CBDD10}"/>
              </a:ext>
            </a:extLst>
          </p:cNvPr>
          <p:cNvPicPr>
            <a:picLocks noChangeAspect="1"/>
          </p:cNvPicPr>
          <p:nvPr/>
        </p:nvPicPr>
        <p:blipFill>
          <a:blip r:embed="rId4"/>
          <a:stretch>
            <a:fillRect/>
          </a:stretch>
        </p:blipFill>
        <p:spPr>
          <a:xfrm>
            <a:off x="0" y="530748"/>
            <a:ext cx="7600161" cy="519054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7600161" y="747549"/>
            <a:ext cx="4124479" cy="4247317"/>
          </a:xfrm>
          <a:prstGeom prst="rect">
            <a:avLst/>
          </a:prstGeom>
          <a:noFill/>
        </p:spPr>
        <p:txBody>
          <a:bodyPr wrap="square">
            <a:spAutoFit/>
          </a:bodyPr>
          <a:lstStyle/>
          <a:p>
            <a:r>
              <a:rPr lang="en-US" dirty="0"/>
              <a:t>In Panel B, loans are sorted on relationship duration.</a:t>
            </a:r>
          </a:p>
          <a:p>
            <a:r>
              <a:rPr lang="en-US" dirty="0"/>
              <a:t> Column “Zero” shows loans with no prior relationship. The median relationship duration is 3.95 years.</a:t>
            </a:r>
          </a:p>
          <a:p>
            <a:endParaRPr lang="en-US" dirty="0"/>
          </a:p>
          <a:p>
            <a:r>
              <a:rPr lang="en-US" dirty="0"/>
              <a:t>Covenant tightness is lower for loans with long relationship duration than for non-relationship loans. </a:t>
            </a:r>
          </a:p>
          <a:p>
            <a:endParaRPr lang="en-US" dirty="0"/>
          </a:p>
          <a:p>
            <a:r>
              <a:rPr lang="en-US" dirty="0"/>
              <a:t>Covenant intensity is higher in short duration relationships than in loans with no previous relationship, but declines by from short duration to long duration relationships</a:t>
            </a:r>
          </a:p>
        </p:txBody>
      </p:sp>
      <p:sp>
        <p:nvSpPr>
          <p:cNvPr id="10" name="Rectangle 9">
            <a:extLst>
              <a:ext uri="{FF2B5EF4-FFF2-40B4-BE49-F238E27FC236}">
                <a16:creationId xmlns:a16="http://schemas.microsoft.com/office/drawing/2014/main" id="{977BA594-9946-CD15-DD70-88D7B512E75F}"/>
              </a:ext>
            </a:extLst>
          </p:cNvPr>
          <p:cNvSpPr/>
          <p:nvPr/>
        </p:nvSpPr>
        <p:spPr>
          <a:xfrm>
            <a:off x="203200" y="2082799"/>
            <a:ext cx="7396961" cy="5756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8248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6939280" y="132081"/>
            <a:ext cx="4897120"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Regressions for covenant tightness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6722533" y="904597"/>
            <a:ext cx="5342467" cy="3970318"/>
          </a:xfrm>
          <a:prstGeom prst="rect">
            <a:avLst/>
          </a:prstGeom>
          <a:noFill/>
        </p:spPr>
        <p:txBody>
          <a:bodyPr wrap="square">
            <a:spAutoFit/>
          </a:bodyPr>
          <a:lstStyle/>
          <a:p>
            <a:r>
              <a:rPr lang="en-US" dirty="0">
                <a:solidFill>
                  <a:srgbClr val="0070C0"/>
                </a:solidFill>
              </a:rPr>
              <a:t>Tightness is negatively related to relationship intensity as measured by Relation (Maximum)</a:t>
            </a:r>
          </a:p>
          <a:p>
            <a:endParaRPr lang="en-US" dirty="0">
              <a:solidFill>
                <a:srgbClr val="0070C0"/>
              </a:solidFill>
            </a:endParaRPr>
          </a:p>
          <a:p>
            <a:r>
              <a:rPr lang="en-US" dirty="0">
                <a:solidFill>
                  <a:srgbClr val="0070C0"/>
                </a:solidFill>
              </a:rPr>
              <a:t>Loans with low relationship intensity have significantly tighter covenants than loans with medium relationship intensity</a:t>
            </a:r>
          </a:p>
          <a:p>
            <a:endParaRPr lang="en-US" dirty="0"/>
          </a:p>
          <a:p>
            <a:r>
              <a:rPr lang="en-US" dirty="0">
                <a:solidFill>
                  <a:srgbClr val="FFC000"/>
                </a:solidFill>
              </a:rPr>
              <a:t>The decline in tightness appears to be driven by the duration of a lending relationship rather than relationship intensity</a:t>
            </a:r>
          </a:p>
          <a:p>
            <a:endParaRPr lang="en-US" dirty="0"/>
          </a:p>
          <a:p>
            <a:r>
              <a:rPr lang="en-US" dirty="0">
                <a:solidFill>
                  <a:srgbClr val="00B050"/>
                </a:solidFill>
              </a:rPr>
              <a:t>The decline in covenant tightness is concentrated in small, unrated borrowers and borrowers without access to the commercial paper market</a:t>
            </a:r>
          </a:p>
        </p:txBody>
      </p:sp>
      <p:pic>
        <p:nvPicPr>
          <p:cNvPr id="9" name="Picture 8">
            <a:extLst>
              <a:ext uri="{FF2B5EF4-FFF2-40B4-BE49-F238E27FC236}">
                <a16:creationId xmlns:a16="http://schemas.microsoft.com/office/drawing/2014/main" id="{B040BB02-606B-2F72-A313-F9BA1D7D24D5}"/>
              </a:ext>
            </a:extLst>
          </p:cNvPr>
          <p:cNvPicPr>
            <a:picLocks noChangeAspect="1"/>
          </p:cNvPicPr>
          <p:nvPr/>
        </p:nvPicPr>
        <p:blipFill>
          <a:blip r:embed="rId3"/>
          <a:stretch>
            <a:fillRect/>
          </a:stretch>
        </p:blipFill>
        <p:spPr>
          <a:xfrm>
            <a:off x="56582" y="132081"/>
            <a:ext cx="6426530" cy="234962"/>
          </a:xfrm>
          <a:prstGeom prst="rect">
            <a:avLst/>
          </a:prstGeom>
        </p:spPr>
      </p:pic>
      <p:pic>
        <p:nvPicPr>
          <p:cNvPr id="12" name="Picture 11">
            <a:extLst>
              <a:ext uri="{FF2B5EF4-FFF2-40B4-BE49-F238E27FC236}">
                <a16:creationId xmlns:a16="http://schemas.microsoft.com/office/drawing/2014/main" id="{C16F5C8C-A58C-2E6F-9EC1-3FF290C0B61A}"/>
              </a:ext>
            </a:extLst>
          </p:cNvPr>
          <p:cNvPicPr>
            <a:picLocks noChangeAspect="1"/>
          </p:cNvPicPr>
          <p:nvPr/>
        </p:nvPicPr>
        <p:blipFill>
          <a:blip r:embed="rId4"/>
          <a:stretch>
            <a:fillRect/>
          </a:stretch>
        </p:blipFill>
        <p:spPr>
          <a:xfrm>
            <a:off x="0" y="367043"/>
            <a:ext cx="6539694" cy="5313501"/>
          </a:xfrm>
          <a:prstGeom prst="rect">
            <a:avLst/>
          </a:prstGeom>
        </p:spPr>
      </p:pic>
      <p:sp>
        <p:nvSpPr>
          <p:cNvPr id="2" name="Rectangle 1">
            <a:extLst>
              <a:ext uri="{FF2B5EF4-FFF2-40B4-BE49-F238E27FC236}">
                <a16:creationId xmlns:a16="http://schemas.microsoft.com/office/drawing/2014/main" id="{BE18889E-C5C1-8852-BFFB-3C8D3283F894}"/>
              </a:ext>
            </a:extLst>
          </p:cNvPr>
          <p:cNvSpPr/>
          <p:nvPr/>
        </p:nvSpPr>
        <p:spPr>
          <a:xfrm>
            <a:off x="0" y="2523067"/>
            <a:ext cx="6483112" cy="132926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92150F-57F9-9C0B-7BE4-6FE8ECEF38FB}"/>
              </a:ext>
            </a:extLst>
          </p:cNvPr>
          <p:cNvSpPr/>
          <p:nvPr/>
        </p:nvSpPr>
        <p:spPr>
          <a:xfrm>
            <a:off x="1811868" y="778933"/>
            <a:ext cx="1464732" cy="132926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51447A27-2A5D-90EF-8D95-7610292A7A19}"/>
              </a:ext>
            </a:extLst>
          </p:cNvPr>
          <p:cNvSpPr/>
          <p:nvPr/>
        </p:nvSpPr>
        <p:spPr>
          <a:xfrm>
            <a:off x="3369732" y="778933"/>
            <a:ext cx="745067" cy="147320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483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7281332" y="132081"/>
            <a:ext cx="4819973"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Regressions for covenant tightness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7281333" y="942698"/>
            <a:ext cx="4690534" cy="3693319"/>
          </a:xfrm>
          <a:prstGeom prst="rect">
            <a:avLst/>
          </a:prstGeom>
          <a:noFill/>
        </p:spPr>
        <p:txBody>
          <a:bodyPr wrap="square">
            <a:spAutoFit/>
          </a:bodyPr>
          <a:lstStyle/>
          <a:p>
            <a:r>
              <a:rPr lang="en-US" dirty="0"/>
              <a:t>Borrowers that are located closer to a syndication active bank have significantly longer relationship duration. </a:t>
            </a:r>
          </a:p>
          <a:p>
            <a:endParaRPr lang="en-US" dirty="0"/>
          </a:p>
          <a:p>
            <a:r>
              <a:rPr lang="en-US" dirty="0">
                <a:solidFill>
                  <a:srgbClr val="00B050"/>
                </a:solidFill>
              </a:rPr>
              <a:t>IV: </a:t>
            </a:r>
            <a:r>
              <a:rPr lang="en-US" dirty="0"/>
              <a:t>uses the distance between the borrower and the nearest syndication active bank</a:t>
            </a:r>
          </a:p>
          <a:p>
            <a:endParaRPr lang="en-US" dirty="0"/>
          </a:p>
          <a:p>
            <a:endParaRPr lang="en-US" dirty="0"/>
          </a:p>
          <a:p>
            <a:r>
              <a:rPr lang="en-US" dirty="0"/>
              <a:t>The reduction in covenant tightness is again concentrated in small, unrated borrowers that do not have access to the commercial paper market</a:t>
            </a:r>
          </a:p>
          <a:p>
            <a:endParaRPr lang="en-US" dirty="0"/>
          </a:p>
        </p:txBody>
      </p:sp>
      <p:pic>
        <p:nvPicPr>
          <p:cNvPr id="3" name="Picture 2">
            <a:extLst>
              <a:ext uri="{FF2B5EF4-FFF2-40B4-BE49-F238E27FC236}">
                <a16:creationId xmlns:a16="http://schemas.microsoft.com/office/drawing/2014/main" id="{73E4071B-0213-2A4B-0D4F-4493555C55F0}"/>
              </a:ext>
            </a:extLst>
          </p:cNvPr>
          <p:cNvPicPr>
            <a:picLocks noChangeAspect="1"/>
          </p:cNvPicPr>
          <p:nvPr/>
        </p:nvPicPr>
        <p:blipFill>
          <a:blip r:embed="rId3"/>
          <a:stretch>
            <a:fillRect/>
          </a:stretch>
        </p:blipFill>
        <p:spPr>
          <a:xfrm>
            <a:off x="0" y="73889"/>
            <a:ext cx="7552387" cy="223614"/>
          </a:xfrm>
          <a:prstGeom prst="rect">
            <a:avLst/>
          </a:prstGeom>
        </p:spPr>
      </p:pic>
      <p:pic>
        <p:nvPicPr>
          <p:cNvPr id="6" name="Picture 5">
            <a:extLst>
              <a:ext uri="{FF2B5EF4-FFF2-40B4-BE49-F238E27FC236}">
                <a16:creationId xmlns:a16="http://schemas.microsoft.com/office/drawing/2014/main" id="{2702D6D9-4308-D17B-C998-5EB7C77D0CFB}"/>
              </a:ext>
            </a:extLst>
          </p:cNvPr>
          <p:cNvPicPr>
            <a:picLocks noChangeAspect="1"/>
          </p:cNvPicPr>
          <p:nvPr/>
        </p:nvPicPr>
        <p:blipFill>
          <a:blip r:embed="rId4"/>
          <a:stretch>
            <a:fillRect/>
          </a:stretch>
        </p:blipFill>
        <p:spPr>
          <a:xfrm>
            <a:off x="84483" y="411494"/>
            <a:ext cx="7112366" cy="2743341"/>
          </a:xfrm>
          <a:prstGeom prst="rect">
            <a:avLst/>
          </a:prstGeom>
        </p:spPr>
      </p:pic>
      <p:pic>
        <p:nvPicPr>
          <p:cNvPr id="4" name="Picture 3">
            <a:extLst>
              <a:ext uri="{FF2B5EF4-FFF2-40B4-BE49-F238E27FC236}">
                <a16:creationId xmlns:a16="http://schemas.microsoft.com/office/drawing/2014/main" id="{EF9C4EFF-289F-922A-0149-7114B5FE211E}"/>
              </a:ext>
            </a:extLst>
          </p:cNvPr>
          <p:cNvPicPr>
            <a:picLocks noChangeAspect="1"/>
          </p:cNvPicPr>
          <p:nvPr/>
        </p:nvPicPr>
        <p:blipFill>
          <a:blip r:embed="rId5"/>
          <a:stretch>
            <a:fillRect/>
          </a:stretch>
        </p:blipFill>
        <p:spPr>
          <a:xfrm>
            <a:off x="90694" y="3066600"/>
            <a:ext cx="7112366" cy="2880636"/>
          </a:xfrm>
          <a:prstGeom prst="rect">
            <a:avLst/>
          </a:prstGeom>
        </p:spPr>
      </p:pic>
      <p:sp>
        <p:nvSpPr>
          <p:cNvPr id="7" name="Rectangle 6">
            <a:extLst>
              <a:ext uri="{FF2B5EF4-FFF2-40B4-BE49-F238E27FC236}">
                <a16:creationId xmlns:a16="http://schemas.microsoft.com/office/drawing/2014/main" id="{61C0A151-0624-0822-0CC5-978296665E64}"/>
              </a:ext>
            </a:extLst>
          </p:cNvPr>
          <p:cNvSpPr/>
          <p:nvPr/>
        </p:nvSpPr>
        <p:spPr>
          <a:xfrm>
            <a:off x="186267" y="1397000"/>
            <a:ext cx="7016793" cy="155560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B29BE1-7580-2DEF-00D2-5610CB29F181}"/>
              </a:ext>
            </a:extLst>
          </p:cNvPr>
          <p:cNvSpPr/>
          <p:nvPr/>
        </p:nvSpPr>
        <p:spPr>
          <a:xfrm>
            <a:off x="1888067" y="1018588"/>
            <a:ext cx="685800" cy="37841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534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59267" y="132081"/>
            <a:ext cx="11777133" cy="570652"/>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5D56C447-6F83-9CAF-7231-AABA87E4CEC1}"/>
              </a:ext>
            </a:extLst>
          </p:cNvPr>
          <p:cNvPicPr>
            <a:picLocks noChangeAspect="1"/>
          </p:cNvPicPr>
          <p:nvPr/>
        </p:nvPicPr>
        <p:blipFill>
          <a:blip r:embed="rId3"/>
          <a:stretch>
            <a:fillRect/>
          </a:stretch>
        </p:blipFill>
        <p:spPr>
          <a:xfrm>
            <a:off x="1543560" y="2062128"/>
            <a:ext cx="7868748" cy="485843"/>
          </a:xfrm>
          <a:prstGeom prst="rect">
            <a:avLst/>
          </a:prstGeom>
        </p:spPr>
      </p:pic>
      <p:pic>
        <p:nvPicPr>
          <p:cNvPr id="7" name="Picture 6">
            <a:extLst>
              <a:ext uri="{FF2B5EF4-FFF2-40B4-BE49-F238E27FC236}">
                <a16:creationId xmlns:a16="http://schemas.microsoft.com/office/drawing/2014/main" id="{382AA281-0BC6-A2AC-BF50-A578E44133DF}"/>
              </a:ext>
            </a:extLst>
          </p:cNvPr>
          <p:cNvPicPr>
            <a:picLocks noChangeAspect="1"/>
          </p:cNvPicPr>
          <p:nvPr/>
        </p:nvPicPr>
        <p:blipFill>
          <a:blip r:embed="rId4"/>
          <a:stretch>
            <a:fillRect/>
          </a:stretch>
        </p:blipFill>
        <p:spPr>
          <a:xfrm>
            <a:off x="1374183" y="3200368"/>
            <a:ext cx="8478433" cy="457264"/>
          </a:xfrm>
          <a:prstGeom prst="rect">
            <a:avLst/>
          </a:prstGeom>
        </p:spPr>
      </p:pic>
      <p:sp>
        <p:nvSpPr>
          <p:cNvPr id="11" name="TextBox 10">
            <a:extLst>
              <a:ext uri="{FF2B5EF4-FFF2-40B4-BE49-F238E27FC236}">
                <a16:creationId xmlns:a16="http://schemas.microsoft.com/office/drawing/2014/main" id="{59D9E32A-886D-0DB0-F0EB-82E64BD0AF7C}"/>
              </a:ext>
            </a:extLst>
          </p:cNvPr>
          <p:cNvSpPr txBox="1"/>
          <p:nvPr/>
        </p:nvSpPr>
        <p:spPr>
          <a:xfrm>
            <a:off x="1374183" y="1123949"/>
            <a:ext cx="6096000" cy="369332"/>
          </a:xfrm>
          <a:prstGeom prst="rect">
            <a:avLst/>
          </a:prstGeom>
          <a:noFill/>
        </p:spPr>
        <p:txBody>
          <a:bodyPr wrap="square">
            <a:spAutoFit/>
          </a:bodyPr>
          <a:lstStyle/>
          <a:p>
            <a:r>
              <a:rPr lang="en-US" dirty="0">
                <a:solidFill>
                  <a:srgbClr val="00B050"/>
                </a:solidFill>
              </a:rPr>
              <a:t>Poisson regressions</a:t>
            </a:r>
          </a:p>
        </p:txBody>
      </p:sp>
    </p:spTree>
    <p:extLst>
      <p:ext uri="{BB962C8B-B14F-4D97-AF65-F5344CB8AC3E}">
        <p14:creationId xmlns:p14="http://schemas.microsoft.com/office/powerpoint/2010/main" val="2785481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6939280" y="132081"/>
            <a:ext cx="4897120"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7396961" y="1010999"/>
            <a:ext cx="4704345" cy="3693319"/>
          </a:xfrm>
          <a:prstGeom prst="rect">
            <a:avLst/>
          </a:prstGeom>
          <a:noFill/>
        </p:spPr>
        <p:txBody>
          <a:bodyPr wrap="square">
            <a:spAutoFit/>
          </a:bodyPr>
          <a:lstStyle/>
          <a:p>
            <a:r>
              <a:rPr lang="en-US" dirty="0">
                <a:solidFill>
                  <a:srgbClr val="0070C0"/>
                </a:solidFill>
              </a:rPr>
              <a:t>The effect of both relationship intensity and relationship duration on financial covenant intensity appears to follow an inverted U shape</a:t>
            </a:r>
          </a:p>
          <a:p>
            <a:endParaRPr lang="en-US" dirty="0"/>
          </a:p>
          <a:p>
            <a:r>
              <a:rPr lang="en-US" dirty="0">
                <a:solidFill>
                  <a:srgbClr val="00B050"/>
                </a:solidFill>
              </a:rPr>
              <a:t>Both the low and high relationship dummies indicate a significantly lower covenant intensity compared to loans with medium relationship intensity</a:t>
            </a:r>
          </a:p>
          <a:p>
            <a:endParaRPr lang="en-US" dirty="0">
              <a:solidFill>
                <a:srgbClr val="00B050"/>
              </a:solidFill>
            </a:endParaRPr>
          </a:p>
          <a:p>
            <a:endParaRPr lang="en-US" dirty="0">
              <a:solidFill>
                <a:srgbClr val="00B050"/>
              </a:solidFill>
            </a:endParaRPr>
          </a:p>
          <a:p>
            <a:r>
              <a:rPr lang="en-US" dirty="0">
                <a:solidFill>
                  <a:srgbClr val="FFC000"/>
                </a:solidFill>
              </a:rPr>
              <a:t>Covenant intensity appears to be driven by relationship intensity rather than relationship duration</a:t>
            </a:r>
          </a:p>
        </p:txBody>
      </p:sp>
      <p:pic>
        <p:nvPicPr>
          <p:cNvPr id="4" name="Picture 3">
            <a:extLst>
              <a:ext uri="{FF2B5EF4-FFF2-40B4-BE49-F238E27FC236}">
                <a16:creationId xmlns:a16="http://schemas.microsoft.com/office/drawing/2014/main" id="{92433DC6-FA54-2C62-BF00-025DF32CB367}"/>
              </a:ext>
            </a:extLst>
          </p:cNvPr>
          <p:cNvPicPr>
            <a:picLocks noChangeAspect="1"/>
          </p:cNvPicPr>
          <p:nvPr/>
        </p:nvPicPr>
        <p:blipFill>
          <a:blip r:embed="rId3"/>
          <a:stretch>
            <a:fillRect/>
          </a:stretch>
        </p:blipFill>
        <p:spPr>
          <a:xfrm>
            <a:off x="90694" y="132082"/>
            <a:ext cx="7023792" cy="311498"/>
          </a:xfrm>
          <a:prstGeom prst="rect">
            <a:avLst/>
          </a:prstGeom>
        </p:spPr>
      </p:pic>
      <p:pic>
        <p:nvPicPr>
          <p:cNvPr id="9" name="Picture 8">
            <a:extLst>
              <a:ext uri="{FF2B5EF4-FFF2-40B4-BE49-F238E27FC236}">
                <a16:creationId xmlns:a16="http://schemas.microsoft.com/office/drawing/2014/main" id="{B0112F8F-8201-3E01-838E-EB98C5C3F430}"/>
              </a:ext>
            </a:extLst>
          </p:cNvPr>
          <p:cNvPicPr>
            <a:picLocks noChangeAspect="1"/>
          </p:cNvPicPr>
          <p:nvPr/>
        </p:nvPicPr>
        <p:blipFill>
          <a:blip r:embed="rId4"/>
          <a:stretch>
            <a:fillRect/>
          </a:stretch>
        </p:blipFill>
        <p:spPr>
          <a:xfrm>
            <a:off x="90694" y="443579"/>
            <a:ext cx="7122906" cy="6285778"/>
          </a:xfrm>
          <a:prstGeom prst="rect">
            <a:avLst/>
          </a:prstGeom>
        </p:spPr>
      </p:pic>
      <p:sp>
        <p:nvSpPr>
          <p:cNvPr id="2" name="Rectangle 1">
            <a:extLst>
              <a:ext uri="{FF2B5EF4-FFF2-40B4-BE49-F238E27FC236}">
                <a16:creationId xmlns:a16="http://schemas.microsoft.com/office/drawing/2014/main" id="{BEECEEF2-2004-7274-20DF-7AE4D750D47D}"/>
              </a:ext>
            </a:extLst>
          </p:cNvPr>
          <p:cNvSpPr/>
          <p:nvPr/>
        </p:nvSpPr>
        <p:spPr>
          <a:xfrm>
            <a:off x="1964267" y="1016000"/>
            <a:ext cx="905933" cy="63500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A08464E-5FBE-0CCD-AE34-73346D9567AC}"/>
              </a:ext>
            </a:extLst>
          </p:cNvPr>
          <p:cNvSpPr/>
          <p:nvPr/>
        </p:nvSpPr>
        <p:spPr>
          <a:xfrm>
            <a:off x="3369734" y="2294467"/>
            <a:ext cx="812800" cy="70273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F46693E-9D69-8EE9-BB24-2AA6DB07A99C}"/>
              </a:ext>
            </a:extLst>
          </p:cNvPr>
          <p:cNvSpPr/>
          <p:nvPr/>
        </p:nvSpPr>
        <p:spPr>
          <a:xfrm>
            <a:off x="2734733" y="1710267"/>
            <a:ext cx="812800" cy="58419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CEF20D-5537-DC9D-9311-4E10B11157F0}"/>
              </a:ext>
            </a:extLst>
          </p:cNvPr>
          <p:cNvSpPr/>
          <p:nvPr/>
        </p:nvSpPr>
        <p:spPr>
          <a:xfrm>
            <a:off x="4182534" y="1651000"/>
            <a:ext cx="812800" cy="134620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2703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6939280" y="132081"/>
            <a:ext cx="4897120"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07D2D196-5D0C-3BF7-0F81-F15CC33FE293}"/>
              </a:ext>
            </a:extLst>
          </p:cNvPr>
          <p:cNvPicPr>
            <a:picLocks noChangeAspect="1"/>
          </p:cNvPicPr>
          <p:nvPr/>
        </p:nvPicPr>
        <p:blipFill>
          <a:blip r:embed="rId3"/>
          <a:stretch>
            <a:fillRect/>
          </a:stretch>
        </p:blipFill>
        <p:spPr>
          <a:xfrm>
            <a:off x="90694" y="65372"/>
            <a:ext cx="7244826" cy="393266"/>
          </a:xfrm>
          <a:prstGeom prst="rect">
            <a:avLst/>
          </a:prstGeom>
        </p:spPr>
      </p:pic>
      <p:pic>
        <p:nvPicPr>
          <p:cNvPr id="7" name="Picture 6">
            <a:extLst>
              <a:ext uri="{FF2B5EF4-FFF2-40B4-BE49-F238E27FC236}">
                <a16:creationId xmlns:a16="http://schemas.microsoft.com/office/drawing/2014/main" id="{2BA4E748-0595-0FB6-8925-B2026C264970}"/>
              </a:ext>
            </a:extLst>
          </p:cNvPr>
          <p:cNvPicPr>
            <a:picLocks noChangeAspect="1"/>
          </p:cNvPicPr>
          <p:nvPr/>
        </p:nvPicPr>
        <p:blipFill>
          <a:blip r:embed="rId4"/>
          <a:stretch>
            <a:fillRect/>
          </a:stretch>
        </p:blipFill>
        <p:spPr>
          <a:xfrm>
            <a:off x="90694" y="458638"/>
            <a:ext cx="6462506" cy="3331268"/>
          </a:xfrm>
          <a:prstGeom prst="rect">
            <a:avLst/>
          </a:prstGeom>
        </p:spPr>
      </p:pic>
      <p:pic>
        <p:nvPicPr>
          <p:cNvPr id="13" name="Picture 12">
            <a:extLst>
              <a:ext uri="{FF2B5EF4-FFF2-40B4-BE49-F238E27FC236}">
                <a16:creationId xmlns:a16="http://schemas.microsoft.com/office/drawing/2014/main" id="{FE2D089C-D093-AB92-865A-CD6D61403602}"/>
              </a:ext>
            </a:extLst>
          </p:cNvPr>
          <p:cNvPicPr>
            <a:picLocks noChangeAspect="1"/>
          </p:cNvPicPr>
          <p:nvPr/>
        </p:nvPicPr>
        <p:blipFill>
          <a:blip r:embed="rId5"/>
          <a:stretch>
            <a:fillRect/>
          </a:stretch>
        </p:blipFill>
        <p:spPr>
          <a:xfrm>
            <a:off x="90694" y="3789906"/>
            <a:ext cx="6462506" cy="3595504"/>
          </a:xfrm>
          <a:prstGeom prst="rect">
            <a:avLst/>
          </a:prstGeom>
        </p:spPr>
      </p:pic>
      <p:sp>
        <p:nvSpPr>
          <p:cNvPr id="4" name="TextBox 3">
            <a:extLst>
              <a:ext uri="{FF2B5EF4-FFF2-40B4-BE49-F238E27FC236}">
                <a16:creationId xmlns:a16="http://schemas.microsoft.com/office/drawing/2014/main" id="{34B5876B-DBF5-65B0-2DA1-7D9FA14143B0}"/>
              </a:ext>
            </a:extLst>
          </p:cNvPr>
          <p:cNvSpPr txBox="1"/>
          <p:nvPr/>
        </p:nvSpPr>
        <p:spPr>
          <a:xfrm>
            <a:off x="6634480" y="904597"/>
            <a:ext cx="5349240" cy="3970318"/>
          </a:xfrm>
          <a:prstGeom prst="rect">
            <a:avLst/>
          </a:prstGeom>
          <a:noFill/>
        </p:spPr>
        <p:txBody>
          <a:bodyPr wrap="square">
            <a:spAutoFit/>
          </a:bodyPr>
          <a:lstStyle/>
          <a:p>
            <a:r>
              <a:rPr lang="en-US" dirty="0">
                <a:solidFill>
                  <a:srgbClr val="00B050"/>
                </a:solidFill>
              </a:rPr>
              <a:t>the decrease in covenant intensity for firms in exclusive relationships is concentrated in rated firms and firms that have access to commercial paper</a:t>
            </a:r>
          </a:p>
          <a:p>
            <a:endParaRPr lang="en-US" dirty="0"/>
          </a:p>
          <a:p>
            <a:r>
              <a:rPr lang="en-US" dirty="0">
                <a:solidFill>
                  <a:srgbClr val="0070C0"/>
                </a:solidFill>
              </a:rPr>
              <a:t>the difference in covenant intensity between a loan from a lender with little prior relationship and a loan from a medium intensity relationship lender is stronger for sole lender loans</a:t>
            </a:r>
          </a:p>
          <a:p>
            <a:endParaRPr lang="en-US" dirty="0">
              <a:solidFill>
                <a:srgbClr val="0070C0"/>
              </a:solidFill>
            </a:endParaRPr>
          </a:p>
          <a:p>
            <a:r>
              <a:rPr lang="en-US" dirty="0">
                <a:solidFill>
                  <a:srgbClr val="FFC000"/>
                </a:solidFill>
              </a:rPr>
              <a:t>the inverted U curve is flatter for loans with multiple lead arrangers ( positive significant numbers?)</a:t>
            </a:r>
          </a:p>
          <a:p>
            <a:endParaRPr lang="en-US" dirty="0">
              <a:solidFill>
                <a:srgbClr val="0070C0"/>
              </a:solidFill>
            </a:endParaRPr>
          </a:p>
          <a:p>
            <a:endParaRPr lang="en-US" dirty="0">
              <a:solidFill>
                <a:srgbClr val="0070C0"/>
              </a:solidFill>
            </a:endParaRPr>
          </a:p>
          <a:p>
            <a:endParaRPr lang="en-US" dirty="0"/>
          </a:p>
        </p:txBody>
      </p:sp>
      <p:sp>
        <p:nvSpPr>
          <p:cNvPr id="2" name="Rectangle 1">
            <a:extLst>
              <a:ext uri="{FF2B5EF4-FFF2-40B4-BE49-F238E27FC236}">
                <a16:creationId xmlns:a16="http://schemas.microsoft.com/office/drawing/2014/main" id="{6977217A-708C-3ACE-C9E4-940F7083B0B3}"/>
              </a:ext>
            </a:extLst>
          </p:cNvPr>
          <p:cNvSpPr/>
          <p:nvPr/>
        </p:nvSpPr>
        <p:spPr>
          <a:xfrm>
            <a:off x="182880" y="2171634"/>
            <a:ext cx="4500880" cy="38868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464880-33BC-0F90-ADDA-E4D9AF3665DB}"/>
              </a:ext>
            </a:extLst>
          </p:cNvPr>
          <p:cNvSpPr/>
          <p:nvPr/>
        </p:nvSpPr>
        <p:spPr>
          <a:xfrm>
            <a:off x="182880" y="2953586"/>
            <a:ext cx="5100320" cy="3089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C5C9D93-CC42-CC66-7549-14FC77AB8F16}"/>
              </a:ext>
            </a:extLst>
          </p:cNvPr>
          <p:cNvSpPr/>
          <p:nvPr/>
        </p:nvSpPr>
        <p:spPr>
          <a:xfrm>
            <a:off x="182880" y="3342640"/>
            <a:ext cx="5709920" cy="30891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B7A7BA-2DD9-878F-28F2-D613F5BC88CA}"/>
              </a:ext>
            </a:extLst>
          </p:cNvPr>
          <p:cNvSpPr/>
          <p:nvPr/>
        </p:nvSpPr>
        <p:spPr>
          <a:xfrm>
            <a:off x="90694" y="4115411"/>
            <a:ext cx="6462506" cy="765726"/>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204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6939280" y="132081"/>
            <a:ext cx="4897120"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7061201" y="1070969"/>
            <a:ext cx="4663440" cy="2585323"/>
          </a:xfrm>
          <a:prstGeom prst="rect">
            <a:avLst/>
          </a:prstGeom>
          <a:noFill/>
        </p:spPr>
        <p:txBody>
          <a:bodyPr wrap="square">
            <a:spAutoFit/>
          </a:bodyPr>
          <a:lstStyle/>
          <a:p>
            <a:r>
              <a:rPr lang="en-US" dirty="0"/>
              <a:t>the downward sloping part of the inverted U is stronger for large borrowers, borrowers with a large analyst following and borrowers whose stock is part of the S&amp;P 500. </a:t>
            </a:r>
          </a:p>
          <a:p>
            <a:endParaRPr lang="en-US" dirty="0"/>
          </a:p>
          <a:p>
            <a:r>
              <a:rPr lang="en-US" dirty="0"/>
              <a:t>These results are consistent with the finding that the decrease in covenant count in exclusive relationships is driven by borrowers with better access to capital markets.</a:t>
            </a:r>
          </a:p>
        </p:txBody>
      </p:sp>
      <p:pic>
        <p:nvPicPr>
          <p:cNvPr id="4" name="Picture 3">
            <a:extLst>
              <a:ext uri="{FF2B5EF4-FFF2-40B4-BE49-F238E27FC236}">
                <a16:creationId xmlns:a16="http://schemas.microsoft.com/office/drawing/2014/main" id="{185CCC82-316E-6EE7-9191-06ABFD39A7A0}"/>
              </a:ext>
            </a:extLst>
          </p:cNvPr>
          <p:cNvPicPr>
            <a:picLocks noChangeAspect="1"/>
          </p:cNvPicPr>
          <p:nvPr/>
        </p:nvPicPr>
        <p:blipFill>
          <a:blip r:embed="rId3"/>
          <a:stretch>
            <a:fillRect/>
          </a:stretch>
        </p:blipFill>
        <p:spPr>
          <a:xfrm>
            <a:off x="0" y="-1"/>
            <a:ext cx="6573520" cy="414459"/>
          </a:xfrm>
          <a:prstGeom prst="rect">
            <a:avLst/>
          </a:prstGeom>
        </p:spPr>
      </p:pic>
      <p:pic>
        <p:nvPicPr>
          <p:cNvPr id="9" name="Picture 8">
            <a:extLst>
              <a:ext uri="{FF2B5EF4-FFF2-40B4-BE49-F238E27FC236}">
                <a16:creationId xmlns:a16="http://schemas.microsoft.com/office/drawing/2014/main" id="{E17CF642-5AEB-1A14-3DBE-A8213441917E}"/>
              </a:ext>
            </a:extLst>
          </p:cNvPr>
          <p:cNvPicPr>
            <a:picLocks noChangeAspect="1"/>
          </p:cNvPicPr>
          <p:nvPr/>
        </p:nvPicPr>
        <p:blipFill>
          <a:blip r:embed="rId4"/>
          <a:stretch>
            <a:fillRect/>
          </a:stretch>
        </p:blipFill>
        <p:spPr>
          <a:xfrm>
            <a:off x="0" y="454569"/>
            <a:ext cx="6837461" cy="6138742"/>
          </a:xfrm>
          <a:prstGeom prst="rect">
            <a:avLst/>
          </a:prstGeom>
        </p:spPr>
      </p:pic>
      <p:sp>
        <p:nvSpPr>
          <p:cNvPr id="2" name="Rectangle 1">
            <a:extLst>
              <a:ext uri="{FF2B5EF4-FFF2-40B4-BE49-F238E27FC236}">
                <a16:creationId xmlns:a16="http://schemas.microsoft.com/office/drawing/2014/main" id="{8CFAA6BE-B7CE-35AD-5243-E88E98D0DB3E}"/>
              </a:ext>
            </a:extLst>
          </p:cNvPr>
          <p:cNvSpPr/>
          <p:nvPr/>
        </p:nvSpPr>
        <p:spPr>
          <a:xfrm>
            <a:off x="81280" y="2245360"/>
            <a:ext cx="2672080" cy="48768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EB655EC-FFDA-124E-31CB-51D500B140A1}"/>
              </a:ext>
            </a:extLst>
          </p:cNvPr>
          <p:cNvSpPr/>
          <p:nvPr/>
        </p:nvSpPr>
        <p:spPr>
          <a:xfrm>
            <a:off x="81280" y="5080000"/>
            <a:ext cx="5151120" cy="48768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29F4B2-B8AE-8C6B-BF20-836F38DF4F3E}"/>
              </a:ext>
            </a:extLst>
          </p:cNvPr>
          <p:cNvSpPr/>
          <p:nvPr/>
        </p:nvSpPr>
        <p:spPr>
          <a:xfrm>
            <a:off x="81280" y="4124961"/>
            <a:ext cx="4236720" cy="506975"/>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3181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6939280" y="132081"/>
            <a:ext cx="4897120" cy="772516"/>
          </a:xfrm>
        </p:spPr>
        <p:txBody>
          <a:bodyPr>
            <a:normAutofit fontScale="90000"/>
          </a:bodyPr>
          <a:lstStyle/>
          <a:p>
            <a:r>
              <a:rPr lang="en-US" sz="28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5994401" y="849643"/>
            <a:ext cx="5730240" cy="3693319"/>
          </a:xfrm>
          <a:prstGeom prst="rect">
            <a:avLst/>
          </a:prstGeom>
          <a:noFill/>
        </p:spPr>
        <p:txBody>
          <a:bodyPr wrap="square">
            <a:spAutoFit/>
          </a:bodyPr>
          <a:lstStyle/>
          <a:p>
            <a:r>
              <a:rPr lang="en-US" dirty="0">
                <a:solidFill>
                  <a:srgbClr val="00B050"/>
                </a:solidFill>
              </a:rPr>
              <a:t>Instruments:</a:t>
            </a:r>
          </a:p>
          <a:p>
            <a:pPr marL="285750" indent="-285750">
              <a:buFont typeface="Arial" panose="020B0604020202020204" pitchFamily="34" charset="0"/>
              <a:buChar char="•"/>
            </a:pPr>
            <a:r>
              <a:rPr lang="en-US" dirty="0"/>
              <a:t>the distance between the borrower and the nearest syndication active bank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number of syndication active banks within a one hundred mile radius around the borrower’s headquarters at the time the loan is made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distance between the borrower and the nearest syndication active bank with high capacity</a:t>
            </a:r>
          </a:p>
          <a:p>
            <a:pPr marL="285750" indent="-285750">
              <a:buFont typeface="Arial" panose="020B0604020202020204" pitchFamily="34" charset="0"/>
              <a:buChar char="•"/>
            </a:pPr>
            <a:endParaRPr lang="en-US" dirty="0"/>
          </a:p>
          <a:p>
            <a:r>
              <a:rPr lang="en-US" dirty="0">
                <a:solidFill>
                  <a:srgbClr val="00B050"/>
                </a:solidFill>
              </a:rPr>
              <a:t>Model (2) omits the potentially endogenous variables maturity and syndicate size from the ordered probit. </a:t>
            </a:r>
          </a:p>
        </p:txBody>
      </p:sp>
      <p:pic>
        <p:nvPicPr>
          <p:cNvPr id="4" name="Picture 3">
            <a:extLst>
              <a:ext uri="{FF2B5EF4-FFF2-40B4-BE49-F238E27FC236}">
                <a16:creationId xmlns:a16="http://schemas.microsoft.com/office/drawing/2014/main" id="{F73E48B6-C86E-A1BA-265A-45412B722292}"/>
              </a:ext>
            </a:extLst>
          </p:cNvPr>
          <p:cNvPicPr>
            <a:picLocks noChangeAspect="1"/>
          </p:cNvPicPr>
          <p:nvPr/>
        </p:nvPicPr>
        <p:blipFill>
          <a:blip r:embed="rId3"/>
          <a:stretch>
            <a:fillRect/>
          </a:stretch>
        </p:blipFill>
        <p:spPr>
          <a:xfrm>
            <a:off x="-1" y="46351"/>
            <a:ext cx="5802653" cy="441329"/>
          </a:xfrm>
          <a:prstGeom prst="rect">
            <a:avLst/>
          </a:prstGeom>
        </p:spPr>
      </p:pic>
      <p:pic>
        <p:nvPicPr>
          <p:cNvPr id="7" name="Picture 6">
            <a:extLst>
              <a:ext uri="{FF2B5EF4-FFF2-40B4-BE49-F238E27FC236}">
                <a16:creationId xmlns:a16="http://schemas.microsoft.com/office/drawing/2014/main" id="{2C61BCE8-7FA8-EFCF-0E5A-641436F2722B}"/>
              </a:ext>
            </a:extLst>
          </p:cNvPr>
          <p:cNvPicPr>
            <a:picLocks noChangeAspect="1"/>
          </p:cNvPicPr>
          <p:nvPr/>
        </p:nvPicPr>
        <p:blipFill>
          <a:blip r:embed="rId4"/>
          <a:stretch>
            <a:fillRect/>
          </a:stretch>
        </p:blipFill>
        <p:spPr>
          <a:xfrm>
            <a:off x="-1" y="518339"/>
            <a:ext cx="5802652" cy="4059292"/>
          </a:xfrm>
          <a:prstGeom prst="rect">
            <a:avLst/>
          </a:prstGeom>
        </p:spPr>
      </p:pic>
      <p:sp>
        <p:nvSpPr>
          <p:cNvPr id="3" name="TextBox 2">
            <a:extLst>
              <a:ext uri="{FF2B5EF4-FFF2-40B4-BE49-F238E27FC236}">
                <a16:creationId xmlns:a16="http://schemas.microsoft.com/office/drawing/2014/main" id="{6228D820-A0E2-2F51-3F71-297FB1912653}"/>
              </a:ext>
            </a:extLst>
          </p:cNvPr>
          <p:cNvSpPr txBox="1"/>
          <p:nvPr/>
        </p:nvSpPr>
        <p:spPr>
          <a:xfrm>
            <a:off x="84667" y="4608290"/>
            <a:ext cx="6206067" cy="1477328"/>
          </a:xfrm>
          <a:prstGeom prst="rect">
            <a:avLst/>
          </a:prstGeom>
          <a:noFill/>
        </p:spPr>
        <p:txBody>
          <a:bodyPr wrap="square">
            <a:spAutoFit/>
          </a:bodyPr>
          <a:lstStyle/>
          <a:p>
            <a:r>
              <a:rPr lang="en-US" dirty="0"/>
              <a:t>The instruments continue to negatively predict relationship intensity.</a:t>
            </a:r>
          </a:p>
          <a:p>
            <a:r>
              <a:rPr lang="en-US" dirty="0"/>
              <a:t>Same results: There’s a decline of the number of covenant use for both low and high relationship intensity</a:t>
            </a:r>
          </a:p>
          <a:p>
            <a:endParaRPr lang="en-US" dirty="0"/>
          </a:p>
        </p:txBody>
      </p:sp>
    </p:spTree>
    <p:extLst>
      <p:ext uri="{BB962C8B-B14F-4D97-AF65-F5344CB8AC3E}">
        <p14:creationId xmlns:p14="http://schemas.microsoft.com/office/powerpoint/2010/main" val="1916113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 y="39060"/>
            <a:ext cx="11878732" cy="545140"/>
          </a:xfrm>
        </p:spPr>
        <p:txBody>
          <a:bodyPr>
            <a:noAutofit/>
          </a:bodyPr>
          <a:lstStyle/>
          <a:p>
            <a:r>
              <a:rPr lang="en-US" sz="24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330200" y="702733"/>
            <a:ext cx="11159067" cy="3970318"/>
          </a:xfrm>
          <a:prstGeom prst="rect">
            <a:avLst/>
          </a:prstGeom>
          <a:noFill/>
          <a:ln>
            <a:solidFill>
              <a:srgbClr val="FFC000"/>
            </a:solidFill>
          </a:ln>
        </p:spPr>
        <p:txBody>
          <a:bodyPr wrap="square">
            <a:spAutoFit/>
          </a:bodyPr>
          <a:lstStyle/>
          <a:p>
            <a:r>
              <a:rPr lang="en-US" dirty="0"/>
              <a:t>Investigates whether the effect of relationship intensity on covenant use holds after accounting for the price-covenant trade-off (more covenants, lower interest rate)</a:t>
            </a:r>
          </a:p>
          <a:p>
            <a:endParaRPr lang="en-US" dirty="0">
              <a:solidFill>
                <a:srgbClr val="00B050"/>
              </a:solidFill>
            </a:endParaRPr>
          </a:p>
          <a:p>
            <a:endParaRPr lang="en-US" dirty="0">
              <a:solidFill>
                <a:srgbClr val="00B050"/>
              </a:solidFill>
            </a:endParaRPr>
          </a:p>
          <a:p>
            <a:endParaRPr lang="en-US" dirty="0">
              <a:solidFill>
                <a:srgbClr val="00B050"/>
              </a:solidFill>
            </a:endParaRPr>
          </a:p>
          <a:p>
            <a:endParaRPr lang="en-US" dirty="0">
              <a:solidFill>
                <a:srgbClr val="00B050"/>
              </a:solidFill>
            </a:endParaRPr>
          </a:p>
          <a:p>
            <a:r>
              <a:rPr lang="en-US" dirty="0" err="1"/>
              <a:t>I</a:t>
            </a:r>
            <a:r>
              <a:rPr lang="en-US" baseline="-25000" dirty="0" err="1"/>
              <a:t>i</a:t>
            </a:r>
            <a:r>
              <a:rPr lang="en-US" dirty="0"/>
              <a:t> equals one if the loan includes more than two financial covenants (the sample median) and zero otherwise</a:t>
            </a:r>
          </a:p>
          <a:p>
            <a:endParaRPr lang="en-US" dirty="0"/>
          </a:p>
          <a:p>
            <a:r>
              <a:rPr lang="en-US" dirty="0"/>
              <a:t>(</a:t>
            </a:r>
            <a:r>
              <a:rPr lang="en-US" dirty="0" err="1"/>
              <a:t>y</a:t>
            </a:r>
            <a:r>
              <a:rPr lang="en-US" baseline="-25000" dirty="0" err="1"/>
              <a:t>lowcov,i</a:t>
            </a:r>
            <a:r>
              <a:rPr lang="en-US" baseline="-25000" dirty="0"/>
              <a:t> </a:t>
            </a:r>
            <a:r>
              <a:rPr lang="en-US" dirty="0"/>
              <a:t>− </a:t>
            </a:r>
            <a:r>
              <a:rPr lang="en-US" dirty="0" err="1"/>
              <a:t>y</a:t>
            </a:r>
            <a:r>
              <a:rPr lang="en-US" baseline="-25000" dirty="0" err="1"/>
              <a:t>highcov,i</a:t>
            </a:r>
            <a:r>
              <a:rPr lang="en-US" dirty="0"/>
              <a:t>): yield spread</a:t>
            </a:r>
          </a:p>
          <a:p>
            <a:endParaRPr lang="en-US" dirty="0">
              <a:solidFill>
                <a:srgbClr val="00B050"/>
              </a:solidFill>
            </a:endParaRPr>
          </a:p>
          <a:p>
            <a:r>
              <a:rPr lang="en-US" dirty="0"/>
              <a:t>λ captures the extent to which borrowers are more likely to include the covenant when the resulting yield spread reduction is large</a:t>
            </a:r>
          </a:p>
          <a:p>
            <a:endParaRPr lang="en-US" dirty="0">
              <a:solidFill>
                <a:srgbClr val="00B050"/>
              </a:solidFill>
            </a:endParaRPr>
          </a:p>
          <a:p>
            <a:r>
              <a:rPr lang="en-US" dirty="0"/>
              <a:t>The vector Z</a:t>
            </a:r>
            <a:r>
              <a:rPr lang="en-US" baseline="-25000" dirty="0"/>
              <a:t>i </a:t>
            </a:r>
            <a:r>
              <a:rPr lang="en-US" dirty="0"/>
              <a:t>contains other determinants of covenant choice</a:t>
            </a:r>
            <a:endParaRPr lang="en-US" dirty="0">
              <a:solidFill>
                <a:srgbClr val="00B050"/>
              </a:solidFill>
            </a:endParaRPr>
          </a:p>
        </p:txBody>
      </p:sp>
      <p:pic>
        <p:nvPicPr>
          <p:cNvPr id="7" name="Picture 6">
            <a:extLst>
              <a:ext uri="{FF2B5EF4-FFF2-40B4-BE49-F238E27FC236}">
                <a16:creationId xmlns:a16="http://schemas.microsoft.com/office/drawing/2014/main" id="{3E1DA0C8-42B9-370A-3B12-41ECCD0D4014}"/>
              </a:ext>
            </a:extLst>
          </p:cNvPr>
          <p:cNvPicPr>
            <a:picLocks noChangeAspect="1"/>
          </p:cNvPicPr>
          <p:nvPr/>
        </p:nvPicPr>
        <p:blipFill>
          <a:blip r:embed="rId3"/>
          <a:stretch>
            <a:fillRect/>
          </a:stretch>
        </p:blipFill>
        <p:spPr>
          <a:xfrm>
            <a:off x="2756747" y="1570438"/>
            <a:ext cx="5845387" cy="443623"/>
          </a:xfrm>
          <a:prstGeom prst="rect">
            <a:avLst/>
          </a:prstGeom>
        </p:spPr>
      </p:pic>
    </p:spTree>
    <p:extLst>
      <p:ext uri="{BB962C8B-B14F-4D97-AF65-F5344CB8AC3E}">
        <p14:creationId xmlns:p14="http://schemas.microsoft.com/office/powerpoint/2010/main" val="1917963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5308599" y="39060"/>
            <a:ext cx="6570133" cy="545140"/>
          </a:xfrm>
        </p:spPr>
        <p:txBody>
          <a:bodyPr>
            <a:noAutofit/>
          </a:bodyPr>
          <a:lstStyle/>
          <a:p>
            <a:r>
              <a:rPr lang="en-US" sz="2400" b="1" dirty="0">
                <a:solidFill>
                  <a:srgbClr val="C00000"/>
                </a:solidFill>
                <a:latin typeface="Arial" panose="020B0604020202020204" pitchFamily="34" charset="0"/>
                <a:cs typeface="Arial" panose="020B0604020202020204" pitchFamily="34" charset="0"/>
              </a:rPr>
              <a:t>Multiple regressions for covenant intensity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8" name="TextBox 7">
            <a:extLst>
              <a:ext uri="{FF2B5EF4-FFF2-40B4-BE49-F238E27FC236}">
                <a16:creationId xmlns:a16="http://schemas.microsoft.com/office/drawing/2014/main" id="{D49BA851-78A4-BB81-E652-CBF0F9E0EDE4}"/>
              </a:ext>
            </a:extLst>
          </p:cNvPr>
          <p:cNvSpPr txBox="1"/>
          <p:nvPr/>
        </p:nvSpPr>
        <p:spPr>
          <a:xfrm>
            <a:off x="5161281" y="660400"/>
            <a:ext cx="6948144" cy="3970318"/>
          </a:xfrm>
          <a:prstGeom prst="rect">
            <a:avLst/>
          </a:prstGeom>
          <a:noFill/>
          <a:ln>
            <a:solidFill>
              <a:srgbClr val="FFC000"/>
            </a:solidFill>
          </a:ln>
        </p:spPr>
        <p:txBody>
          <a:bodyPr wrap="square">
            <a:spAutoFit/>
          </a:bodyPr>
          <a:lstStyle/>
          <a:p>
            <a:r>
              <a:rPr lang="en-US" dirty="0"/>
              <a:t>After accounting for the price-covenant trade-off:</a:t>
            </a:r>
          </a:p>
          <a:p>
            <a:endParaRPr lang="en-US" dirty="0"/>
          </a:p>
          <a:p>
            <a:r>
              <a:rPr lang="en-US" dirty="0">
                <a:solidFill>
                  <a:srgbClr val="00B050"/>
                </a:solidFill>
              </a:rPr>
              <a:t>Medium relationship intensity loans are 9.5% more likely to have more than two financial covenants than low relationship intensity loans. High intensity loans are 5.7% less likely to have more than two financial covenants than medium intensity loans.</a:t>
            </a:r>
          </a:p>
          <a:p>
            <a:endParaRPr lang="en-US" dirty="0">
              <a:solidFill>
                <a:srgbClr val="00B050"/>
              </a:solidFill>
            </a:endParaRPr>
          </a:p>
          <a:p>
            <a:r>
              <a:rPr lang="en-US" dirty="0">
                <a:solidFill>
                  <a:srgbClr val="0070C0"/>
                </a:solidFill>
              </a:rPr>
              <a:t>The positive coefficient of the log of the all-in drawn spread suggests that loans with a high covenant load are riskier on average.</a:t>
            </a:r>
          </a:p>
          <a:p>
            <a:endParaRPr lang="en-US" dirty="0">
              <a:solidFill>
                <a:srgbClr val="0070C0"/>
              </a:solidFill>
            </a:endParaRPr>
          </a:p>
          <a:p>
            <a:endParaRPr lang="en-US" dirty="0">
              <a:solidFill>
                <a:srgbClr val="0070C0"/>
              </a:solidFill>
            </a:endParaRPr>
          </a:p>
          <a:p>
            <a:r>
              <a:rPr lang="en-US" dirty="0">
                <a:solidFill>
                  <a:srgbClr val="FFC000"/>
                </a:solidFill>
              </a:rPr>
              <a:t>the predicted difference in yield spread is a positive predictor of high covenant load. </a:t>
            </a:r>
            <a:br>
              <a:rPr lang="en-US" dirty="0">
                <a:solidFill>
                  <a:srgbClr val="FFC000"/>
                </a:solidFill>
              </a:rPr>
            </a:br>
            <a:r>
              <a:rPr lang="en-US">
                <a:solidFill>
                  <a:srgbClr val="FFC000"/>
                </a:solidFill>
              </a:rPr>
              <a:t>Adding </a:t>
            </a:r>
            <a:r>
              <a:rPr lang="en-US" dirty="0">
                <a:solidFill>
                  <a:srgbClr val="FFC000"/>
                </a:solidFill>
              </a:rPr>
              <a:t>this variable has little effect on the relationship terms</a:t>
            </a:r>
          </a:p>
        </p:txBody>
      </p:sp>
      <p:pic>
        <p:nvPicPr>
          <p:cNvPr id="10" name="Picture 9">
            <a:extLst>
              <a:ext uri="{FF2B5EF4-FFF2-40B4-BE49-F238E27FC236}">
                <a16:creationId xmlns:a16="http://schemas.microsoft.com/office/drawing/2014/main" id="{51D5D0EF-A9E8-7694-1311-D1DD159B6784}"/>
              </a:ext>
            </a:extLst>
          </p:cNvPr>
          <p:cNvPicPr>
            <a:picLocks noChangeAspect="1"/>
          </p:cNvPicPr>
          <p:nvPr/>
        </p:nvPicPr>
        <p:blipFill>
          <a:blip r:embed="rId3"/>
          <a:stretch>
            <a:fillRect/>
          </a:stretch>
        </p:blipFill>
        <p:spPr>
          <a:xfrm>
            <a:off x="1" y="39060"/>
            <a:ext cx="5149826" cy="403669"/>
          </a:xfrm>
          <a:prstGeom prst="rect">
            <a:avLst/>
          </a:prstGeom>
        </p:spPr>
      </p:pic>
      <p:pic>
        <p:nvPicPr>
          <p:cNvPr id="12" name="Picture 11">
            <a:extLst>
              <a:ext uri="{FF2B5EF4-FFF2-40B4-BE49-F238E27FC236}">
                <a16:creationId xmlns:a16="http://schemas.microsoft.com/office/drawing/2014/main" id="{7EF1A2D9-DA4A-18EB-1426-B87D0B132889}"/>
              </a:ext>
            </a:extLst>
          </p:cNvPr>
          <p:cNvPicPr>
            <a:picLocks noChangeAspect="1"/>
          </p:cNvPicPr>
          <p:nvPr/>
        </p:nvPicPr>
        <p:blipFill>
          <a:blip r:embed="rId4"/>
          <a:stretch>
            <a:fillRect/>
          </a:stretch>
        </p:blipFill>
        <p:spPr>
          <a:xfrm>
            <a:off x="82575" y="518339"/>
            <a:ext cx="5078705" cy="4626382"/>
          </a:xfrm>
          <a:prstGeom prst="rect">
            <a:avLst/>
          </a:prstGeom>
        </p:spPr>
      </p:pic>
      <p:pic>
        <p:nvPicPr>
          <p:cNvPr id="14" name="Picture 13">
            <a:extLst>
              <a:ext uri="{FF2B5EF4-FFF2-40B4-BE49-F238E27FC236}">
                <a16:creationId xmlns:a16="http://schemas.microsoft.com/office/drawing/2014/main" id="{84A07E41-DA17-E80D-41FB-AB7553979D54}"/>
              </a:ext>
            </a:extLst>
          </p:cNvPr>
          <p:cNvPicPr>
            <a:picLocks noChangeAspect="1"/>
          </p:cNvPicPr>
          <p:nvPr/>
        </p:nvPicPr>
        <p:blipFill>
          <a:blip r:embed="rId5"/>
          <a:stretch>
            <a:fillRect/>
          </a:stretch>
        </p:blipFill>
        <p:spPr>
          <a:xfrm>
            <a:off x="82575" y="5112972"/>
            <a:ext cx="5149825" cy="3137068"/>
          </a:xfrm>
          <a:prstGeom prst="rect">
            <a:avLst/>
          </a:prstGeom>
        </p:spPr>
      </p:pic>
      <p:sp>
        <p:nvSpPr>
          <p:cNvPr id="2" name="Rectangle 1">
            <a:extLst>
              <a:ext uri="{FF2B5EF4-FFF2-40B4-BE49-F238E27FC236}">
                <a16:creationId xmlns:a16="http://schemas.microsoft.com/office/drawing/2014/main" id="{77A06283-5D58-4BC5-BE18-563423234E18}"/>
              </a:ext>
            </a:extLst>
          </p:cNvPr>
          <p:cNvSpPr/>
          <p:nvPr/>
        </p:nvSpPr>
        <p:spPr>
          <a:xfrm>
            <a:off x="1481667" y="753534"/>
            <a:ext cx="702733" cy="78740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A1B6D6A-D8DB-E54C-BDB2-7C080DDBDA79}"/>
              </a:ext>
            </a:extLst>
          </p:cNvPr>
          <p:cNvSpPr/>
          <p:nvPr/>
        </p:nvSpPr>
        <p:spPr>
          <a:xfrm>
            <a:off x="2362200" y="1540934"/>
            <a:ext cx="592667" cy="33866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3016A4-2011-B383-BD46-C953E892CE80}"/>
              </a:ext>
            </a:extLst>
          </p:cNvPr>
          <p:cNvSpPr/>
          <p:nvPr/>
        </p:nvSpPr>
        <p:spPr>
          <a:xfrm>
            <a:off x="155787" y="1879600"/>
            <a:ext cx="4907280" cy="338666"/>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3841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342900" indent="-342900" algn="l">
              <a:buFont typeface="Arial" panose="020B0604020202020204" pitchFamily="34" charset="0"/>
              <a:buChar char="•"/>
            </a:pPr>
            <a:r>
              <a:rPr lang="en-US" dirty="0"/>
              <a:t>Consistent with the information asymmetry theory of covenant use, covenant tightness monotonically decreases over the duration of a lending relationship, especially if borrowers are opaque.</a:t>
            </a:r>
          </a:p>
          <a:p>
            <a:pPr marL="342900" indent="-342900" algn="l">
              <a:buFont typeface="Arial" panose="020B0604020202020204" pitchFamily="34" charset="0"/>
              <a:buChar char="•"/>
            </a:pPr>
            <a:r>
              <a:rPr lang="en-US" dirty="0"/>
              <a:t>Relationship intensity has an inverted U effect on the number of covenants included in a loan, such that the firm’s main relationship lender receives more covenants than other lenders, unless the relationship is exclusive</a:t>
            </a:r>
          </a:p>
          <a:p>
            <a:pPr marL="342900" indent="-342900" algn="l">
              <a:buFont typeface="Arial" panose="020B0604020202020204" pitchFamily="34" charset="0"/>
              <a:buChar char="•"/>
            </a:pPr>
            <a:r>
              <a:rPr lang="en-US" dirty="0"/>
              <a:t>Covenants’ role as monitoring incentives can be a potential explanation for the increase in covenant intensity in lending relationships. The increase in covenant intensity in a lending relationship is stronger for sole lender loans and loans with only one lead arranger, for which covenants can be expected to be more effective in creating monitoring incentives</a:t>
            </a:r>
          </a:p>
          <a:p>
            <a:pPr marL="342900" indent="-342900" algn="l">
              <a:buFont typeface="Arial" panose="020B0604020202020204" pitchFamily="34" charset="0"/>
              <a:buChar char="•"/>
            </a:pPr>
            <a:r>
              <a:rPr lang="en-US" dirty="0"/>
              <a:t>There’s no evidence that the effect of relationship status on covenant count is linked to ex ante lock-in effects or information asymmetries.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097280" y="356703"/>
            <a:ext cx="9144000" cy="3258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Marginal Contributions to Literature</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 y="829735"/>
            <a:ext cx="12073466" cy="4610012"/>
          </a:xfrm>
        </p:spPr>
        <p:txBody>
          <a:bodyPr>
            <a:noAutofit/>
          </a:bodyPr>
          <a:lstStyle/>
          <a:p>
            <a:pPr marL="571500" indent="-571500" algn="l">
              <a:buFont typeface="Arial" panose="020B0604020202020204" pitchFamily="34" charset="0"/>
              <a:buChar char="•"/>
            </a:pPr>
            <a:r>
              <a:rPr lang="en-US" sz="2400" dirty="0"/>
              <a:t>This paper contributes to the growing literature on why debt contains covenants.</a:t>
            </a:r>
          </a:p>
          <a:p>
            <a:pPr marL="571500" indent="-571500" algn="l">
              <a:buFont typeface="Arial" panose="020B0604020202020204" pitchFamily="34" charset="0"/>
              <a:buChar char="•"/>
            </a:pPr>
            <a:r>
              <a:rPr lang="en-US" sz="2400" dirty="0"/>
              <a:t>This paper also contributes to the large literature on lending relationships. this paper is the first to investigate the effect of relationship intensity on covenant use</a:t>
            </a:r>
          </a:p>
          <a:p>
            <a:pPr marL="571500" indent="-571500" algn="l">
              <a:buFont typeface="Arial" panose="020B0604020202020204" pitchFamily="34" charset="0"/>
              <a:buChar char="•"/>
            </a:pPr>
            <a:r>
              <a:rPr lang="en-US" sz="2400" dirty="0"/>
              <a:t>the paper adds to the finding of </a:t>
            </a:r>
            <a:r>
              <a:rPr lang="en-US" sz="2400" dirty="0" err="1"/>
              <a:t>Demiroglu</a:t>
            </a:r>
            <a:r>
              <a:rPr lang="en-US" sz="2400" dirty="0"/>
              <a:t> and James (2010) that covenant tightness contains private information about the firm’s prospects, but covenant intensity does not</a:t>
            </a:r>
            <a:endParaRPr lang="en-US" sz="28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4541</TotalTime>
  <Words>1469</Words>
  <Application>Microsoft Office PowerPoint</Application>
  <PresentationFormat>Widescreen</PresentationFormat>
  <Paragraphs>139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Calisto MT</vt:lpstr>
      <vt:lpstr>Open Sans</vt:lpstr>
      <vt:lpstr>Wingdings</vt:lpstr>
      <vt:lpstr>Wingdings 2</vt:lpstr>
      <vt:lpstr>Slate</vt:lpstr>
      <vt:lpstr>Why Do Loans Contain Covenants? Evidence from Lending Relationships</vt:lpstr>
      <vt:lpstr>Research Question:</vt:lpstr>
      <vt:lpstr>Measures</vt:lpstr>
      <vt:lpstr>Measures</vt:lpstr>
      <vt:lpstr> Institutional background and covenant theories</vt:lpstr>
      <vt:lpstr>Data and measurement</vt:lpstr>
      <vt:lpstr>Covenant types</vt:lpstr>
      <vt:lpstr>Data and Measurement</vt:lpstr>
      <vt:lpstr>Data and Measurement</vt:lpstr>
      <vt:lpstr>Data and Measurement</vt:lpstr>
      <vt:lpstr>Regressions for covenant tightness</vt:lpstr>
      <vt:lpstr>Regressions for covenant tightness</vt:lpstr>
      <vt:lpstr>Multiple regressions for covenant intensity</vt:lpstr>
      <vt:lpstr>Multiple regressions for covenant intensity</vt:lpstr>
      <vt:lpstr>Multiple regressions for covenant intensity</vt:lpstr>
      <vt:lpstr>Multiple regressions for covenant intensity</vt:lpstr>
      <vt:lpstr>Multiple regressions for covenant intensity</vt:lpstr>
      <vt:lpstr>Multiple regressions for covenant intensity</vt:lpstr>
      <vt:lpstr>Multiple regressions for covenant intensity</vt:lpstr>
      <vt:lpstr>Conclusions</vt:lpstr>
      <vt:lpstr>Marginal Contributions to 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197</cp:revision>
  <dcterms:created xsi:type="dcterms:W3CDTF">2024-01-18T13:26:59Z</dcterms:created>
  <dcterms:modified xsi:type="dcterms:W3CDTF">2024-09-09T20:51:58Z</dcterms:modified>
</cp:coreProperties>
</file>